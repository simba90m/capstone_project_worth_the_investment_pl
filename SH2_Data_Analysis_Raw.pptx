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18" r:id="rId2"/>
    <p:sldId id="302" r:id="rId3"/>
    <p:sldId id="303" r:id="rId4"/>
    <p:sldId id="304" r:id="rId5"/>
    <p:sldId id="316" r:id="rId6"/>
    <p:sldId id="306" r:id="rId7"/>
    <p:sldId id="320" r:id="rId8"/>
    <p:sldId id="308" r:id="rId9"/>
    <p:sldId id="314" r:id="rId10"/>
    <p:sldId id="310" r:id="rId11"/>
    <p:sldId id="311" r:id="rId12"/>
    <p:sldId id="317" r:id="rId13"/>
    <p:sldId id="31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3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0F1B3D"/>
            </a:solidFill>
            <a:ln>
              <a:noFill/>
            </a:ln>
          </c:spPr>
          <c:invertIfNegative val="1"/>
          <c:dPt>
            <c:idx val="3"/>
            <c:invertIfNegative val="1"/>
            <c:bubble3D val="0"/>
            <c:spPr>
              <a:solidFill>
                <a:srgbClr val="E8A33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463-4689-BD7A-F03FE582A848}"/>
              </c:ext>
            </c:extLst>
          </c:dPt>
          <c:dLbls>
            <c:numFmt formatCode="&quot;€&quot;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363636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15-17</c:v>
              </c:pt>
              <c:pt idx="1">
                <c:v>18-20</c:v>
              </c:pt>
              <c:pt idx="2">
                <c:v>21-23</c:v>
              </c:pt>
              <c:pt idx="3">
                <c:v>24-26</c:v>
              </c:pt>
              <c:pt idx="4">
                <c:v>27-29</c:v>
              </c:pt>
              <c:pt idx="5">
                <c:v>30-32</c:v>
              </c:pt>
              <c:pt idx="6">
                <c:v>33-35</c:v>
              </c:pt>
              <c:pt idx="7">
                <c:v>36+</c:v>
              </c:pt>
            </c:strLit>
          </c:cat>
          <c:val>
            <c:numLit>
              <c:formatCode>General</c:formatCode>
              <c:ptCount val="8"/>
              <c:pt idx="0">
                <c:v>0.35</c:v>
              </c:pt>
              <c:pt idx="1">
                <c:v>1</c:v>
              </c:pt>
              <c:pt idx="2">
                <c:v>3</c:v>
              </c:pt>
              <c:pt idx="3">
                <c:v>5</c:v>
              </c:pt>
              <c:pt idx="4">
                <c:v>4</c:v>
              </c:pt>
              <c:pt idx="5">
                <c:v>2.4</c:v>
              </c:pt>
              <c:pt idx="6">
                <c:v>1</c:v>
              </c:pt>
              <c:pt idx="7">
                <c:v>0.33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F463-4689-BD7A-F03FE582A8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363636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0F1B3D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E8A33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86F-4A43-8FC5-DD552658A07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363636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0 injuries</c:v>
              </c:pt>
              <c:pt idx="1">
                <c:v>1-2</c:v>
              </c:pt>
              <c:pt idx="2">
                <c:v>3-5</c:v>
              </c:pt>
              <c:pt idx="3">
                <c:v>6-10</c:v>
              </c:pt>
              <c:pt idx="4">
                <c:v>11+</c:v>
              </c:pt>
            </c:strLit>
          </c:cat>
          <c:val>
            <c:numLit>
              <c:formatCode>General</c:formatCode>
              <c:ptCount val="5"/>
              <c:pt idx="0">
                <c:v>40</c:v>
              </c:pt>
              <c:pt idx="1">
                <c:v>21.5</c:v>
              </c:pt>
              <c:pt idx="2">
                <c:v>15.7</c:v>
              </c:pt>
              <c:pt idx="3">
                <c:v>14.3</c:v>
              </c:pt>
              <c:pt idx="4">
                <c:v>8.4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D86F-4A43-8FC5-DD552658A0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363636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6975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-2377440"/>
            <a:ext cx="6858000" cy="6858000"/>
          </a:xfrm>
          <a:prstGeom prst="ellipse">
            <a:avLst/>
          </a:prstGeom>
          <a:solidFill>
            <a:srgbClr val="22336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560320" y="4114800"/>
            <a:ext cx="5029200" cy="5029200"/>
          </a:xfrm>
          <a:prstGeom prst="ellipse">
            <a:avLst/>
          </a:prstGeom>
          <a:solidFill>
            <a:srgbClr val="16264D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10048" y="731520"/>
            <a:ext cx="1371600" cy="13716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232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33172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First Look at the Data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32461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Player Value and Injury Risk Project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72888" y="3977640"/>
            <a:ext cx="164592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41605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Stakeholder Update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498848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10,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59893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Mahmoud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451585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Update 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I move from wrangling into analysis, starting with the raw look at the data.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439" y="2615184"/>
            <a:ext cx="804672" cy="804672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60" y="2808305"/>
            <a:ext cx="418429" cy="4184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3192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Kickoff and Planning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3192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9485" y="2880360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28468" y="2615184"/>
            <a:ext cx="804672" cy="804672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1589" y="2808305"/>
            <a:ext cx="418429" cy="41842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303221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Retrieval and Wrangling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2303221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514" y="288036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738497" y="2615184"/>
            <a:ext cx="804672" cy="8046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1618" y="2808305"/>
            <a:ext cx="418429" cy="41842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213250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Analysis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4213250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9544" y="2880360"/>
            <a:ext cx="274320" cy="27432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648526" y="2615184"/>
            <a:ext cx="804672" cy="804672"/>
          </a:xfrm>
          <a:prstGeom prst="ellipse">
            <a:avLst/>
          </a:prstGeom>
          <a:solidFill>
            <a:srgbClr val="C7CE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1647" y="2808305"/>
            <a:ext cx="418429" cy="418429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123280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 Analysis</a:t>
            </a:r>
            <a:endParaRPr lang="en-US" sz="1150" dirty="0"/>
          </a:p>
        </p:txBody>
      </p:sp>
      <p:sp>
        <p:nvSpPr>
          <p:cNvPr id="22" name="Text 13"/>
          <p:cNvSpPr/>
          <p:nvPr/>
        </p:nvSpPr>
        <p:spPr>
          <a:xfrm>
            <a:off x="6123280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9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9573" y="2880360"/>
            <a:ext cx="274320" cy="27432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8558555" y="2615184"/>
            <a:ext cx="804672" cy="804672"/>
          </a:xfrm>
          <a:prstGeom prst="ellipse">
            <a:avLst/>
          </a:prstGeom>
          <a:solidFill>
            <a:srgbClr val="C7CE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1677" y="2808305"/>
            <a:ext cx="418429" cy="418429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8033309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and Presentation</a:t>
            </a:r>
            <a:endParaRPr lang="en-US" sz="1150" dirty="0"/>
          </a:p>
        </p:txBody>
      </p:sp>
      <p:sp>
        <p:nvSpPr>
          <p:cNvPr id="27" name="Text 16"/>
          <p:cNvSpPr/>
          <p:nvPr/>
        </p:nvSpPr>
        <p:spPr>
          <a:xfrm>
            <a:off x="8033309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9602" y="2880360"/>
            <a:ext cx="274320" cy="274320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10468585" y="2615184"/>
            <a:ext cx="804672" cy="804672"/>
          </a:xfrm>
          <a:prstGeom prst="ellipse">
            <a:avLst/>
          </a:prstGeom>
          <a:solidFill>
            <a:srgbClr val="C7CE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1706" y="2808305"/>
            <a:ext cx="418429" cy="418429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9943338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Capstone Presentation</a:t>
            </a:r>
            <a:endParaRPr lang="en-US" sz="1150" dirty="0"/>
          </a:p>
        </p:txBody>
      </p:sp>
      <p:sp>
        <p:nvSpPr>
          <p:cNvPr id="32" name="Text 19"/>
          <p:cNvSpPr/>
          <p:nvPr/>
        </p:nvSpPr>
        <p:spPr>
          <a:xfrm>
            <a:off x="9943338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sp>
        <p:nvSpPr>
          <p:cNvPr id="33" name="Shape 20"/>
          <p:cNvSpPr/>
          <p:nvPr/>
        </p:nvSpPr>
        <p:spPr>
          <a:xfrm>
            <a:off x="640080" y="544068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1"/>
          <p:cNvSpPr/>
          <p:nvPr/>
        </p:nvSpPr>
        <p:spPr>
          <a:xfrm>
            <a:off x="914400" y="54406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analysis and fine-tune analysis are two separate stages of Week 3 on my roadmap. Today is the raw stage only.</a:t>
            </a:r>
            <a:endParaRPr lang="en-US" sz="1300" dirty="0"/>
          </a:p>
        </p:txBody>
      </p:sp>
      <p:sp>
        <p:nvSpPr>
          <p:cNvPr id="35" name="Text 22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Weekly Update</a:t>
            </a:r>
            <a:endParaRPr lang="en-US" sz="1000" dirty="0"/>
          </a:p>
        </p:txBody>
      </p:sp>
      <p:sp>
        <p:nvSpPr>
          <p:cNvPr id="36" name="Text 23"/>
          <p:cNvSpPr/>
          <p:nvPr/>
        </p:nvSpPr>
        <p:spPr>
          <a:xfrm>
            <a:off x="108077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7A1C2D3-4E5F-4A6B-8C9D-1E2F3A4B5C62}" type="slidenum"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fld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13</a:t>
            </a:r>
          </a:p>
        </p:txBody>
      </p:sp>
    </p:spTree>
    <p:extLst>
      <p:ext uri="{BB962C8B-B14F-4D97-AF65-F5344CB8AC3E}">
        <p14:creationId xmlns:p14="http://schemas.microsoft.com/office/powerpoint/2010/main" val="1059656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Update Covers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split my roadmap's analysis step into two stages, so I could show honest progress each week.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9468" y="1783080"/>
            <a:ext cx="51206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F7E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6648" y="20345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185" y="22210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49628" y="2075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Update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35228" y="297180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Value-by-age curves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player's market value moves across their career.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frequency patterns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players actually get injured, and how that is distributed.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1588" y="1783080"/>
            <a:ext cx="51206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98768" y="2034540"/>
            <a:ext cx="777240" cy="777240"/>
          </a:xfrm>
          <a:prstGeom prst="ellipse">
            <a:avLst/>
          </a:prstGeom>
          <a:solidFill>
            <a:srgbClr val="C7CE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305" y="22210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1748" y="2075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at the Next Update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67348" y="297180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value forecast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Injury-risk score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recruitment signal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need the raw patterns from today as a foundation first.</a:t>
            </a:r>
            <a:endParaRPr lang="en-US" sz="13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2112" y="346100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Weekly Update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08077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7A1C2D3-4E5F-4A6B-8C9D-1E2F3A4B5C63}" type="slidenum"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fld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13</a:t>
            </a:r>
          </a:p>
        </p:txBody>
      </p:sp>
    </p:spTree>
    <p:extLst>
      <p:ext uri="{BB962C8B-B14F-4D97-AF65-F5344CB8AC3E}">
        <p14:creationId xmlns:p14="http://schemas.microsoft.com/office/powerpoint/2010/main" val="6962545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Explored the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drawing any conclusions, I checked the data was solid enough to trust.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2308" y="1600200"/>
            <a:ext cx="3429000" cy="3703320"/>
          </a:xfrm>
          <a:prstGeom prst="roundRect">
            <a:avLst>
              <a:gd name="adj" fmla="val 32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12468" y="1732788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951" y="1941271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0908" y="2651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Connected Directly to the Marts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06628" y="32004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queried player_value_history and player_injury_workload straight from the DuckDB warehouse dbt builds. No manual CSV export step.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06628" y="4389120"/>
            <a:ext cx="288036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06628" y="448056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60908" y="47274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duckdb.connect('warehouse.duckdb')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81348" y="1600200"/>
            <a:ext cx="3429000" cy="3703320"/>
          </a:xfrm>
          <a:prstGeom prst="roundRect">
            <a:avLst>
              <a:gd name="adj" fmla="val 3200"/>
            </a:avLst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661508" y="1732788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991" y="1941271"/>
            <a:ext cx="451714" cy="4517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09948" y="2651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 Sanity Checks First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655668" y="32004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else, I checked player counts, average valuation snapshots per player, and how many players show zero injuries.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655668" y="4389120"/>
            <a:ext cx="288036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655668" y="448056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609948" y="47274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.nunique(), .groupby()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130388" y="1600200"/>
            <a:ext cx="3429000" cy="3703320"/>
          </a:xfrm>
          <a:prstGeom prst="roundRect">
            <a:avLst>
              <a:gd name="adj" fmla="val 32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9410548" y="1732788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031" y="1941271"/>
            <a:ext cx="451714" cy="45171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58988" y="2651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Flagged a Known Limitation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8404708" y="32004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counts are capped at 60 for a small number of players, a pagination limit in the source data. I kept this in mind throughout.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404708" y="4389120"/>
            <a:ext cx="288036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8404708" y="448056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8358988" y="47274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players sit exactly at the cap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Weekly Update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08077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7A1C2D3-4E5F-4A6B-8C9D-1E2F3A4B5C64}" type="slidenum"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fld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13</a:t>
            </a:r>
          </a:p>
        </p:txBody>
      </p:sp>
    </p:spTree>
    <p:extLst>
      <p:ext uri="{BB962C8B-B14F-4D97-AF65-F5344CB8AC3E}">
        <p14:creationId xmlns:p14="http://schemas.microsoft.com/office/powerpoint/2010/main" val="539587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cleaning problems shaped every number that follows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checked here at last week's meeting fed directly into fixes. Here's what cleaning actually revealed.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2308" y="1783080"/>
            <a:ext cx="3429000" cy="3977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89608" y="210312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064" y="2322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0908" y="3108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Dates Needed Real Parsing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06628" y="3749040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dates were stored as plain text, with a stray dash used for unknown dates. Left as text, even sorting by most recent injury was silently wrong, alphabetical, not chronological.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06628" y="5212080"/>
            <a:ext cx="2880360" cy="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06628" y="53309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99.98% parsed cleanly: 107,951 of 107,971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81348" y="1783080"/>
            <a:ext cx="3429000" cy="3977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38648" y="210312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104" y="232257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9948" y="3108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Join Keys Were Needed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55668" y="3749040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Transfermarkt values and injuries share a real internal player ID, so those two join directly and reliably. Performance data has no shared ID, so it needed a name-based join instead, a more fragile kind of match.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655668" y="5212080"/>
            <a:ext cx="2880360" cy="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655668" y="53309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18,824 of 18,825 shared IDs overlap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30388" y="1783080"/>
            <a:ext cx="3429000" cy="3977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38100" dir="5400000" algn="bl" rotWithShape="0">
              <a:srgbClr val="22336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387688" y="210312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144" y="232257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58988" y="3108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Surfaced a Real Gap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404708" y="3749040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matched, a large share of players had no performance record at all. I didn't assume that was a matching bug. I investigated it directly before trusting the number.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404708" y="5212080"/>
            <a:ext cx="2880360" cy="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8404708" y="53309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Confirmed genuine, see the caveats slide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Weekly Update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08077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7A1C2D3-4E5F-4A6B-8C9D-1E2F3A4B5C65}" type="slidenum"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fld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13</a:t>
            </a:r>
          </a:p>
        </p:txBody>
      </p:sp>
    </p:spTree>
    <p:extLst>
      <p:ext uri="{BB962C8B-B14F-4D97-AF65-F5344CB8AC3E}">
        <p14:creationId xmlns:p14="http://schemas.microsoft.com/office/powerpoint/2010/main" val="38779800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I Had to Make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real data means making judgment calls. Here are the ones that matter most, stated plainly.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71450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5" y="18900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709928"/>
            <a:ext cx="2743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injury dates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63440" y="1691640"/>
            <a:ext cx="6613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treated a missing date as unknown, not zero. It becomes a real NULL, not a guessed date, so it can't quietly corrupt sorting or math.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8680" y="285750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5" y="303306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2852928"/>
            <a:ext cx="2743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Players with zero recorded minutes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63440" y="2834640"/>
            <a:ext cx="6613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assumed this reflects real limits in what the performance source covers, not that these players never played. I kept them in the dataset and disclosed the gap, instead of silently dropping them.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68680" y="400050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5" y="417606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995928"/>
            <a:ext cx="2743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injury count cap at 60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63440" y="3977640"/>
            <a:ext cx="6613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assumed the true count is unknown above 60, not that 60 is a real ceiling. Players at the cap are flagged, not treated as fully counted.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02920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68680" y="514350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245" y="531906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5138928"/>
            <a:ext cx="2743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performance data by name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663440" y="5120640"/>
            <a:ext cx="6613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assumed normalized-name matching was reliable enough, after manually reviewing the closest near-matches myself and finding no missed true matches, rather than adding heavier fuzzy-matching logic.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Weekly Update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08077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7A1C2D3-4E5F-4A6B-8C9D-1E2F3A4B5C66}" type="slidenum"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fld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13</a:t>
            </a:r>
          </a:p>
        </p:txBody>
      </p:sp>
    </p:spTree>
    <p:extLst>
      <p:ext uri="{BB962C8B-B14F-4D97-AF65-F5344CB8AC3E}">
        <p14:creationId xmlns:p14="http://schemas.microsoft.com/office/powerpoint/2010/main" val="6581256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I'm Working With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combined dataset from last week, now the base for this week's raw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9720" y="19202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99720" y="21762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B77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1,959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36880" y="2971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analyzed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1792" y="19202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61792" y="21762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B77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32,544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498952" y="2971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snapshots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23864" y="19202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23864" y="21762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B77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16.6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61024" y="2971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snapshots per player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85936" y="19202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85936" y="21762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B77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2004-2026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223096" y="2971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covered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10911535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43484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4588459"/>
            <a:ext cx="332842" cy="33284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91640" y="4160520"/>
            <a:ext cx="9859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raw pass I worked from two dbt marts: player_value_history, one row per player per valuation snapshot, and player_injury_workload, one row per player summarizing injury count, days missed, and playing time.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Weekly Update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8077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7A1C2D3-4E5F-4A6B-8C9D-1E2F3A4B5C67}" type="slidenum"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fld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13</a:t>
            </a:r>
          </a:p>
        </p:txBody>
      </p:sp>
    </p:spTree>
    <p:extLst>
      <p:ext uri="{BB962C8B-B14F-4D97-AF65-F5344CB8AC3E}">
        <p14:creationId xmlns:p14="http://schemas.microsoft.com/office/powerpoint/2010/main" val="10342455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value peaks at 24-26, then falls 93% by 36+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scouting assumption is that market value peaks in a player's mid-20s. I tested it directly.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822960" y="1600200"/>
          <a:ext cx="10545775" cy="375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440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market value by age band, EUR millions. Age at valuation, grouped into 3-year bands.</a:t>
            </a:r>
          </a:p>
        </p:txBody>
      </p:sp>
      <p:sp>
        <p:nvSpPr>
          <p:cNvPr id="6" name="Text 3"/>
          <p:cNvSpPr/>
          <p:nvPr/>
        </p:nvSpPr>
        <p:spPr>
          <a:xfrm>
            <a:off x="822960" y="57150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all 32,544 valuation snapshots across 1,959 players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Weekly Update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8077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7A1C2D3-4E5F-4A6B-8C9D-1E2F3A4B5C68}" type="slidenum"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fld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13</a:t>
            </a:r>
          </a:p>
        </p:txBody>
      </p:sp>
    </p:spTree>
    <p:extLst>
      <p:ext uri="{BB962C8B-B14F-4D97-AF65-F5344CB8AC3E}">
        <p14:creationId xmlns:p14="http://schemas.microsoft.com/office/powerpoint/2010/main" val="20620219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Chart bld="category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Elite valuations pull the mean 2.5x above the median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stand out once the age-by-age pattern is laid out clearly.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3794760"/>
          </a:xfrm>
          <a:prstGeom prst="roundRect">
            <a:avLst>
              <a:gd name="adj" fmla="val 359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43100" y="2034540"/>
            <a:ext cx="960120" cy="9601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529" y="226496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461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24-26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914400" y="41605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age band where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market value peaks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5.0M EUR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 12.4M EUR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0" y="1463040"/>
            <a:ext cx="6979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I'm taking from this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572000" y="1828800"/>
            <a:ext cx="69796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23460" y="21031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161" y="222382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901952"/>
            <a:ext cx="6019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all players are valued below 5.0M EUR, while the 12.4M EUR mean reflects a small group of elite valuations.</a:t>
            </a:r>
          </a:p>
        </p:txBody>
      </p:sp>
      <p:sp>
        <p:nvSpPr>
          <p:cNvPr id="14" name="Shape 10"/>
          <p:cNvSpPr/>
          <p:nvPr/>
        </p:nvSpPr>
        <p:spPr>
          <a:xfrm>
            <a:off x="4572000" y="3063240"/>
            <a:ext cx="69796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23460" y="33375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161" y="345826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40680" y="3136392"/>
            <a:ext cx="6019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peaks in the 24 to 26 age bracket, then declines in every bracket that follows.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0" y="4297680"/>
            <a:ext cx="69796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823460" y="45720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161" y="469270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4370832"/>
            <a:ext cx="6019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the standard scouting assumption. Age belongs as a feature when I build the value forecast next.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Weekly Update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08077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7A1C2D3-4E5F-4A6B-8C9D-1E2F3A4B5C69}" type="slidenum"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fld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13</a:t>
            </a:r>
          </a:p>
        </p:txBody>
      </p:sp>
    </p:spTree>
    <p:extLst>
      <p:ext uri="{BB962C8B-B14F-4D97-AF65-F5344CB8AC3E}">
        <p14:creationId xmlns:p14="http://schemas.microsoft.com/office/powerpoint/2010/main" val="30123511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 of players carry no recorded injury at all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 players in this dataset actually get injured? I grouped every player by recorded injury count.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822960" y="1691640"/>
          <a:ext cx="10545775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440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players by recorded injury count, 1,959 players. Absence of a record is not proof of no injury.</a:t>
            </a:r>
          </a:p>
        </p:txBody>
      </p:sp>
      <p:sp>
        <p:nvSpPr>
          <p:cNvPr id="6" name="Text 3"/>
          <p:cNvSpPr/>
          <p:nvPr/>
        </p:nvSpPr>
        <p:spPr>
          <a:xfrm>
            <a:off x="822960" y="57150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783 of 1,959 players show zero recorded injuries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Weekly Update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8077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7A1C2D3-4E5F-4A6B-8C9D-1E2F3A4B5C70}" type="slidenum"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fld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13</a:t>
            </a:r>
          </a:p>
        </p:txBody>
      </p:sp>
    </p:spTree>
    <p:extLst>
      <p:ext uri="{BB962C8B-B14F-4D97-AF65-F5344CB8AC3E}">
        <p14:creationId xmlns:p14="http://schemas.microsoft.com/office/powerpoint/2010/main" val="37639618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Chart bld="category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Honest About the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limitations I am carrying into the fine-tune stage, disclosed here rather than discovered later.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9468" y="1828800"/>
            <a:ext cx="51206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F0C9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0948" y="2148840"/>
            <a:ext cx="914400" cy="9144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404" y="236829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78228" y="2240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Injury Count Cap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35228" y="3337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records are capped at 60 per player, a pagination limit in the source data, not a real injury ceiling.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135228" y="4297680"/>
            <a:ext cx="4389120" cy="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35228" y="44348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1,959 players sit exactly at the cap. Their true injury count is unknown beyond 60.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1588" y="1828800"/>
            <a:ext cx="51206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F0C9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713068" y="2148840"/>
            <a:ext cx="914400" cy="9144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524" y="236829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10348" y="2240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Playing-Time Gap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667348" y="3337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players show zero recorded minutes in the on-field performance window I have available.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667348" y="4297680"/>
            <a:ext cx="4389120" cy="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667348" y="44348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1,310 of 1,959 players (67%) have no matching FBref record. Confirmed as a real coverage gap last week, not a bug.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Weekly Update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08077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7A1C2D3-4E5F-4A6B-8C9D-1E2F3A4B5C71}" type="slidenum"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fld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13</a:t>
            </a:r>
          </a:p>
        </p:txBody>
      </p:sp>
    </p:spTree>
    <p:extLst>
      <p:ext uri="{BB962C8B-B14F-4D97-AF65-F5344CB8AC3E}">
        <p14:creationId xmlns:p14="http://schemas.microsoft.com/office/powerpoint/2010/main" val="22102594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286000"/>
            <a:ext cx="3556000" cy="3556000"/>
          </a:xfrm>
          <a:prstGeom prst="ellipse">
            <a:avLst/>
          </a:prstGeom>
          <a:solidFill>
            <a:srgbClr val="16264D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01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Analysis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4732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822960" y="27559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91640" y="4191000"/>
            <a:ext cx="1371600" cy="13716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824" y="4521200"/>
            <a:ext cx="713232" cy="7132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36792" y="558800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660400"/>
            <a:ext cx="209215" cy="2092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50800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directly to the dbt marts, no manual exports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336792" y="1473200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1574800"/>
            <a:ext cx="209215" cy="20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9440" y="142240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sanity checks before drawing any conclusions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336792" y="2387600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2489200"/>
            <a:ext cx="209215" cy="2092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9440" y="233680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market value peaks in the 24 to 26 age range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336792" y="3302000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3403600"/>
            <a:ext cx="209215" cy="20921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49440" y="325120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40% of players carry no recorded injury history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6336792" y="4216400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4318000"/>
            <a:ext cx="209215" cy="20921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49440" y="416560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both data quality caveats honestly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6336792" y="5130800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5232400"/>
            <a:ext cx="209215" cy="20921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49440" y="508000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bring these patterns into the fine-tune stage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Weekly Update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108077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7A1C2D3-4E5F-4A6B-8C9D-1E2F3A4B5C72}" type="slidenum">
              <a:rPr lang="en-US" sz="10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fld>
            <a:r>
              <a:rPr lang="en-US" sz="10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13</a:t>
            </a:r>
          </a:p>
        </p:txBody>
      </p:sp>
    </p:spTree>
    <p:extLst>
      <p:ext uri="{BB962C8B-B14F-4D97-AF65-F5344CB8AC3E}">
        <p14:creationId xmlns:p14="http://schemas.microsoft.com/office/powerpoint/2010/main" val="8320459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  <p:bldP spid="13" grpId="0" build="p" animBg="1"/>
      <p:bldP spid="16" grpId="0" build="p" animBg="1"/>
      <p:bldP spid="19" grpId="0" build="p" animBg="1"/>
      <p:bldP spid="22" grpId="0" build="p" animBg="1"/>
      <p:bldP spid="25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-2377440"/>
            <a:ext cx="6858000" cy="6858000"/>
          </a:xfrm>
          <a:prstGeom prst="ellipse">
            <a:avLst/>
          </a:prstGeom>
          <a:solidFill>
            <a:srgbClr val="22336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Update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value forecast, injury-risk score, and a combined recruitment signal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72888" y="2788920"/>
            <a:ext cx="164592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24348" y="3131820"/>
            <a:ext cx="1143000" cy="11430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668" y="340614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52628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14400" y="521208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are welcome.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50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Weekly Update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8077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7A1C2D3-4E5F-4A6B-8C9D-1E2F3A4B5C73}" type="slidenum">
              <a:rPr lang="en-US" sz="10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fld>
            <a:r>
              <a:rPr lang="en-US" sz="10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13</a:t>
            </a:r>
          </a:p>
        </p:txBody>
      </p:sp>
    </p:spTree>
    <p:extLst>
      <p:ext uri="{BB962C8B-B14F-4D97-AF65-F5344CB8AC3E}">
        <p14:creationId xmlns:p14="http://schemas.microsoft.com/office/powerpoint/2010/main" val="1756324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D10660D-D25F-4EDC-94EE-D8D14EE37AE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a0cf704-1646-4f7e-a908-98f7ca01729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1281</Words>
  <Application>Microsoft Office PowerPoint</Application>
  <PresentationFormat>Widescreen</PresentationFormat>
  <Paragraphs>159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Mahmoud Abdelaziz</cp:lastModifiedBy>
  <cp:revision>2</cp:revision>
  <dcterms:created xsi:type="dcterms:W3CDTF">2026-09-08T07:14:18Z</dcterms:created>
  <dcterms:modified xsi:type="dcterms:W3CDTF">2026-09-08T07:58:39Z</dcterms:modified>
</cp:coreProperties>
</file>