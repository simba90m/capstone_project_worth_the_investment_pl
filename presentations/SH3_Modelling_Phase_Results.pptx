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1.svg" ContentType="image/svg+xml"/>
  <Override PartName="/ppt/media/image18.svg" ContentType="image/svg+xml"/>
  <Override PartName="/ppt/media/image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21"/>
  </p:notesMasterIdLst>
  <p:sldIdLst>
    <p:sldId id="405" r:id="rId4"/>
    <p:sldId id="406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  <p:sldId id="420" r:id="rId17"/>
    <p:sldId id="421" r:id="rId18"/>
    <p:sldId id="422" r:id="rId19"/>
    <p:sldId id="42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0F1B3D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F7A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C8C-477B-8C1D-82BD32DFCF65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63636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No prior injury</c:v>
              </c:pt>
              <c:pt idx="1">
                <c:v>Injured, &gt;365 days</c:v>
              </c:pt>
              <c:pt idx="2">
                <c:v>Injured, 91-365 days</c:v>
              </c:pt>
              <c:pt idx="3">
                <c:v>Injured, &lt;=90 days</c:v>
              </c:pt>
            </c:strLit>
          </c:cat>
          <c:val>
            <c:numLit>
              <c:formatCode>General</c:formatCode>
              <c:ptCount val="4"/>
              <c:pt idx="0">
                <c:v>11.11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C8C-477B-8C1D-82BD32DFC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4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0F1B3D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F7A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54-48CB-ACAA-3782EBE8444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63636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21-24</c:v>
              </c:pt>
              <c:pt idx="1">
                <c:v>25-28</c:v>
              </c:pt>
              <c:pt idx="2">
                <c:v>29-32</c:v>
              </c:pt>
              <c:pt idx="3">
                <c:v>33+</c:v>
              </c:pt>
            </c:strLit>
          </c:cat>
          <c:val>
            <c:numLit>
              <c:formatCode>General</c:formatCode>
              <c:ptCount val="4"/>
              <c:pt idx="0">
                <c:v>7.14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354-48CB-ACAA-3782EBE84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0F1B3D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C9762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C65-40CE-B7F5-BF72C5C6969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363636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21-24</c:v>
              </c:pt>
              <c:pt idx="1">
                <c:v>25-28</c:v>
              </c:pt>
              <c:pt idx="2">
                <c:v>29-32</c:v>
              </c:pt>
              <c:pt idx="3">
                <c:v>33+</c:v>
              </c:pt>
            </c:strLit>
          </c:cat>
          <c:val>
            <c:numLit>
              <c:formatCode>General</c:formatCode>
              <c:ptCount val="4"/>
              <c:pt idx="0">
                <c:v>2.4900000000000002</c:v>
              </c:pt>
              <c:pt idx="1">
                <c:v>3.97</c:v>
              </c:pt>
              <c:pt idx="2">
                <c:v>3.22</c:v>
              </c:pt>
              <c:pt idx="3">
                <c:v>5.95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C65-40CE-B7F5-BF72C5C69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089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Audio cue: play the kickoff whistle here. Insert it yourself with Insert &gt; Audio, set it to Start Automatically, and hide the speaker icon during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Audio cue: play the final whistle here, then open for questions. Insert it with Insert &gt; Audio, Start Automatically, speaker icon hidden during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Audio cue: play the final whistle here, then open for questions. Insert it with Insert &gt; Audio, Start Automatically, speaker icon hidden during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Audio cue: play the final whistle here, then open for questions. Insert it with Insert &gt; Audio, Start Automatically, speaker icon hidden during the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itch Centre Circle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noFill/>
          <a:ln w="15875">
            <a:solidFill>
              <a:srgbClr val="1E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114800"/>
            <a:ext cx="5029200" cy="50292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10048" y="7315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Phase Results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Player Value and Injury Risk Project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72888" y="397764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Angles on Player Value and Injury Risk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49884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17,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Mahmoud</a:t>
            </a:r>
            <a:endParaRPr lang="en-US" sz="1200" dirty="0"/>
          </a:p>
        </p:txBody>
      </p:sp>
      <p:pic>
        <p:nvPicPr>
          <p:cNvPr id="82" name="Graphic 82" descr="Bar chart, modelling result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0400" y="10668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92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Update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 move from raw patterns into testing real questions with statistics behind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439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0" y="2808305"/>
            <a:ext cx="418429" cy="4184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and Planning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3192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485" y="288036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28468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589" y="2808305"/>
            <a:ext cx="418429" cy="4184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03221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Retrieval and Wrangling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2303221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514" y="288036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38497" y="2615184"/>
            <a:ext cx="804672" cy="804672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618" y="2808305"/>
            <a:ext cx="418429" cy="4184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1325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Analysis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21325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288036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48526" y="2615184"/>
            <a:ext cx="804672" cy="8046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6123280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and Hypothesis Testing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6123280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573" y="288036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558555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1677" y="2808305"/>
            <a:ext cx="418429" cy="41842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33309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and Presentation</a:t>
            </a:r>
            <a:endParaRPr lang="en-US" sz="1150" dirty="0"/>
          </a:p>
        </p:txBody>
      </p:sp>
      <p:sp>
        <p:nvSpPr>
          <p:cNvPr id="27" name="Text 16"/>
          <p:cNvSpPr/>
          <p:nvPr/>
        </p:nvSpPr>
        <p:spPr>
          <a:xfrm>
            <a:off x="8033309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9602" y="2880360"/>
            <a:ext cx="274320" cy="27432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0468585" y="2615184"/>
            <a:ext cx="804672" cy="804672"/>
          </a:xfrm>
          <a:prstGeom prst="ellipse">
            <a:avLst/>
          </a:prstGeom>
          <a:solidFill>
            <a:srgbClr val="C7CE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1706" y="2808305"/>
            <a:ext cx="418429" cy="418429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43338" y="3566160"/>
            <a:ext cx="18551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Capstone Presentation</a:t>
            </a:r>
            <a:endParaRPr lang="en-US" sz="1150" dirty="0"/>
          </a:p>
        </p:txBody>
      </p:sp>
      <p:sp>
        <p:nvSpPr>
          <p:cNvPr id="32" name="Text 19"/>
          <p:cNvSpPr/>
          <p:nvPr/>
        </p:nvSpPr>
        <p:spPr>
          <a:xfrm>
            <a:off x="9943338" y="4224528"/>
            <a:ext cx="1855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640080" y="544068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1"/>
          <p:cNvSpPr/>
          <p:nvPr/>
        </p:nvSpPr>
        <p:spPr>
          <a:xfrm>
            <a:off x="914400" y="54406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I confirmed the raw patterns. This week I put two of my stakeholder questions through real statistical tests.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36" name="Text 2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pic>
        <p:nvPicPr>
          <p:cNvPr id="37" name="Graphic 37" descr="Flask, hypothesis testing phase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1490" y="2806700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52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Angles, Two Answers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angle answers a question a different part of the club would ask. Headlines here, evidence later.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87452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49728" y="217170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156" y="240212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788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3788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and Scouting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6668" y="406908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a player's injury history predict a value drop?"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1588" y="187452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381848" y="217170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276" y="240212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75908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75908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Sporting Directors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758788" y="4069080"/>
            <a:ext cx="42062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age predict a better value-to-risk tradeoff?"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545896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" y="561258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534924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my own forecast is right 22.7% of the time against a 50% baseline, so it needs rebuilding.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50" name="Text 50"/>
          <p:cNvSpPr/>
          <p:nvPr/>
        </p:nvSpPr>
        <p:spPr>
          <a:xfrm>
            <a:off x="1231900" y="4445000"/>
            <a:ext cx="420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any injury counts, not just recent ones.</a:t>
            </a:r>
          </a:p>
        </p:txBody>
      </p:sp>
      <p:sp>
        <p:nvSpPr>
          <p:cNvPr id="51" name="Text 51"/>
          <p:cNvSpPr/>
          <p:nvPr/>
        </p:nvSpPr>
        <p:spPr>
          <a:xfrm>
            <a:off x="6756400" y="4445000"/>
            <a:ext cx="420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yes; value growth only at 21-24.</a:t>
            </a:r>
          </a:p>
        </p:txBody>
      </p:sp>
    </p:spTree>
    <p:extLst>
      <p:ext uri="{BB962C8B-B14F-4D97-AF65-F5344CB8AC3E}">
        <p14:creationId xmlns:p14="http://schemas.microsoft.com/office/powerpoint/2010/main" val="1678271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Note on the Statistics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are new this week. Here's what they do and why they fit this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783080"/>
            <a:ext cx="5120640" cy="3063240"/>
          </a:xfrm>
          <a:prstGeom prst="roundRect">
            <a:avLst>
              <a:gd name="adj" fmla="val 3582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95448" y="194310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31" y="21515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788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89508" y="329184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Angle 1. Ranks every value instead of averaging, so a few extreme outliers cannot skew the result.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43788" y="4453128"/>
            <a:ext cx="457200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98068" y="4544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scipy.stats.mannwhitneyu  ·  2 groups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1588" y="1783080"/>
            <a:ext cx="5120640" cy="3063240"/>
          </a:xfrm>
          <a:prstGeom prst="roundRect">
            <a:avLst>
              <a:gd name="adj" fmla="val 3582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27568" y="194310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51" y="215158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75908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Test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1628" y="329184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Angle 2. Same rank-based idea, extended past two groups: five age buckets at once.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75908" y="4453128"/>
            <a:ext cx="457200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530188" y="4544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scipy.stats.kruskal  ·  5 groups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60120" y="53035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" y="545713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5120640"/>
            <a:ext cx="9677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ask one thing: is the difference real, or could chance produce it? With samples this large, p under 0.0001 is easy to clear, so it shows a difference exists, not that it is big.</a:t>
            </a:r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2543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032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38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and Scouting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073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player's injury history predict a value drop?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72888" y="365760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24348" y="4038600"/>
            <a:ext cx="1143000" cy="11430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68" y="431800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6592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Recent Injury History Predict a Value Drop?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1, for Recruitment and Scouting: which rising-value targets carry hidden injury risk?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618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083" y="2021556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Compared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662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valuation snapshot: did the player have a prior injury, how recent was it, and what happened to value?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662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090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32,544 valuation snapshots, 107,951 injury events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134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522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123" y="2021556"/>
            <a:ext cx="437449" cy="4374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Grouped It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5566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by injury recency: under 90 days, 91-365, over 365, or none. Median value change in each.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5566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0994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recency buckets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038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42426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163" y="2021556"/>
            <a:ext cx="437449" cy="4374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98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Tested It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40470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U, recent-injury snapshots against all others. Value change is skewed, so ranks beat averages.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0470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35898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scipy.stats.mannwhitneyu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0418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Injury History, Not Its Recency, Separates the Groups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injury-recency buckets against a no-injury baseline.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35000" y="1676400"/>
          <a:ext cx="109220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5000" y="4597400"/>
            <a:ext cx="1092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 change at the valuation snapshot, by prior injury recency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5000" y="4826000"/>
            <a:ext cx="1092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U, recent injury vs. all other snapshots: p &lt; 0.0001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31" name="Shape 31"/>
          <p:cNvSpPr/>
          <p:nvPr/>
        </p:nvSpPr>
        <p:spPr>
          <a:xfrm>
            <a:off x="635000" y="5156200"/>
            <a:ext cx="3556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/>
          <p:nvPr/>
        </p:nvSpPr>
        <p:spPr>
          <a:xfrm>
            <a:off x="812800" y="5232400"/>
            <a:ext cx="3200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barely matters: every injured bucket sits at 0.00%.</a:t>
            </a:r>
          </a:p>
        </p:txBody>
      </p:sp>
      <p:sp>
        <p:nvSpPr>
          <p:cNvPr id="33" name="Shape 33"/>
          <p:cNvSpPr/>
          <p:nvPr/>
        </p:nvSpPr>
        <p:spPr>
          <a:xfrm>
            <a:off x="4318000" y="5156200"/>
            <a:ext cx="3556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4495800" y="5232400"/>
            <a:ext cx="3200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injury history at all is what separates the groups.</a:t>
            </a:r>
          </a:p>
        </p:txBody>
      </p:sp>
      <p:sp>
        <p:nvSpPr>
          <p:cNvPr id="35" name="Shape 35"/>
          <p:cNvSpPr/>
          <p:nvPr/>
        </p:nvSpPr>
        <p:spPr>
          <a:xfrm>
            <a:off x="8001000" y="5156200"/>
            <a:ext cx="3556000" cy="78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/>
          <p:nvPr/>
        </p:nvSpPr>
        <p:spPr>
          <a:xfrm>
            <a:off x="8178800" y="5232400"/>
            <a:ext cx="3200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breakout debuts: +4.35%, and the pattern holds.</a:t>
            </a:r>
          </a:p>
        </p:txBody>
      </p:sp>
      <p:sp>
        <p:nvSpPr>
          <p:cNvPr id="6" name="Text 3"/>
          <p:cNvSpPr/>
          <p:nvPr/>
        </p:nvSpPr>
        <p:spPr>
          <a:xfrm>
            <a:off x="635000" y="6053328"/>
            <a:ext cx="1092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flat 0.00%: many valuation snapshots simply repeat the last known value between updates. This does not yet confirm every injured player's value was frozen, that breakdown is still to come.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1790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032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38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Sporting Directors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073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age predict a better value-to-risk tradeoff?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72888" y="365760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24348" y="4038600"/>
            <a:ext cx="1143000" cy="11430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68" y="431800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41634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Age Predict a Better Value-Risk Tradeoff?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2, for Sporting Directors: are younger signings really the lower-risk, higher-upside bet?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618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083" y="2021556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Compared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662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player: median value growth paired with injury rate per 1,000 90s (a 90 is one full match played), grouped into five age bands.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662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090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582 players with both numbers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134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1626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522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123" y="2021556"/>
            <a:ext cx="437449" cy="4374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Excluded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5566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1,310 players with no playing time, plus 67 more players with fewer than 10 total 90s played. A rate needs a real denominator.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5566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0994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1,377 players excluded, disclosed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0388" y="1691640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424264" y="1819656"/>
            <a:ext cx="841248" cy="8412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163" y="2021556"/>
            <a:ext cx="437449" cy="4374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988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Tested It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404708" y="32461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on growth and risk across the five buckets, the right test for more than two skewed groups.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04708" y="457200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358988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scipy.stats.kruskal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6381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Predicts Risk. It Doesn't Predict Value Growth.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value growth and median injury risk across four age buckets.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Value Growth (%)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5500" y="1905000"/>
          <a:ext cx="50419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24448" y="16002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Injury Risk (per 1,000 90s)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24600" y="1905000"/>
          <a:ext cx="50419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25500" y="5740400"/>
            <a:ext cx="1054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Under-21 players are excluded from both charts (4 players). Risk is not strictly ordered: 25-28 (3.97) sits above 29-32 (3.22).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5500" y="5969000"/>
            <a:ext cx="1054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value growth and risk rate both differ across age buckets, p &lt; 0.0001 (large n, so p clears easily; effect sizes still to be reported)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40" name="Shape 40"/>
          <p:cNvSpPr/>
          <p:nvPr/>
        </p:nvSpPr>
        <p:spPr>
          <a:xfrm>
            <a:off x="825500" y="4902200"/>
            <a:ext cx="50419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1"/>
          <p:cNvSpPr/>
          <p:nvPr/>
        </p:nvSpPr>
        <p:spPr>
          <a:xfrm>
            <a:off x="1003300" y="4965700"/>
            <a:ext cx="468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concentrates in the 21-24 window: +7.14% median.</a:t>
            </a:r>
          </a:p>
        </p:txBody>
      </p:sp>
      <p:sp>
        <p:nvSpPr>
          <p:cNvPr id="42" name="Shape 42"/>
          <p:cNvSpPr/>
          <p:nvPr/>
        </p:nvSpPr>
        <p:spPr>
          <a:xfrm>
            <a:off x="6324600" y="4902200"/>
            <a:ext cx="50419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/>
          <p:nvPr/>
        </p:nvSpPr>
        <p:spPr>
          <a:xfrm>
            <a:off x="6502400" y="4965700"/>
            <a:ext cx="468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more than doubles: 2.49 at 21-24 up to 5.95 at 33+.</a:t>
            </a:r>
          </a:p>
        </p:txBody>
      </p:sp>
      <p:sp>
        <p:nvSpPr>
          <p:cNvPr id="9" name="Text 5"/>
          <p:cNvSpPr/>
          <p:nvPr/>
        </p:nvSpPr>
        <p:spPr>
          <a:xfrm>
            <a:off x="825500" y="6217920"/>
            <a:ext cx="1054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0.00% brackets reflect valuations that did not change between snapshots, not a measured decline, that breakdown is still to come.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21624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The Forecast Model Is Reliably Wrong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angle, validating the value forecast before leaning on it for anything.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5000" y="1676400"/>
            <a:ext cx="546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0" b="1" dirty="0">
                <a:solidFill>
                  <a:srgbClr val="C9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22.7%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35000" y="3619500"/>
            <a:ext cx="546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accuracy, against a 50% coin-flip baseline. Below chance means the model is wrong in a consistent direction, not just noisy.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0000" y="1676400"/>
            <a:ext cx="5207000" cy="13208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04000" y="18542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149.4% median error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604000" y="22860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misses by more than the true value itself.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0000" y="3149600"/>
            <a:ext cx="5207000" cy="13208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604000" y="33274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 predict rising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604000" y="37592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actual holdout snapshots were falling.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0000" y="4622800"/>
            <a:ext cx="5207000" cy="13208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604000" y="48006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604000" y="52324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injury history become real input features before this model is trusted.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80766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angles, one shared direction.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783080"/>
            <a:ext cx="51206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72588" y="20116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044" y="22311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9508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matters more than timing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0948" y="3566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past injury, not just a recent one, goes with flatter value growth. Still to confirm: how much of that flatness is valuations that never moved.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1588" y="1783080"/>
            <a:ext cx="51206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76200" dist="25400" dir="5400000" algn="bl" rotWithShape="0">
              <a:srgbClr val="22336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04708" y="20116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21628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 a risk signal, not a value rule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13068" y="3566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is higher for older players, though not strictly in order. Value growth follows no usable age rule on its own.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10911535" cy="1143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" y="52578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54223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029200"/>
            <a:ext cx="9677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 recruitment signal built on injury history and age as separate inputs, not on one feature.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pic>
        <p:nvPicPr>
          <p:cNvPr id="20" name="Graphic 20" descr="Hourglass, age as a risk signa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300" y="2235200"/>
            <a:ext cx="469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64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These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statistics, with real limits I am carrying forward.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1828800"/>
            <a:ext cx="5120640" cy="26416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0C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0948" y="214884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04" y="23682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8228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Samples in Places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5228" y="3098800"/>
            <a:ext cx="43891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Under-21 holds only 4 players. The age-risk comparison drops to 582 players once real playing time is required.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35228" y="3835400"/>
            <a:ext cx="438912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35228" y="3911600"/>
            <a:ext cx="43891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players (Under 21); 582 of 1,959 usable overall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1588" y="1828800"/>
            <a:ext cx="5120640" cy="26416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0C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13068" y="2148840"/>
            <a:ext cx="914400" cy="9144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524" y="23682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0348" y="2240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Playing-Time Gap, Still Here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67348" y="3098800"/>
            <a:ext cx="43891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1,310 of 1,959 players have no matching on-field record, the same coverage gap as last week.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67348" y="3835400"/>
            <a:ext cx="4389120" cy="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667348" y="3911600"/>
            <a:ext cx="43891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players excluded from risk-rate calculations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60" name="Shape 60"/>
          <p:cNvSpPr/>
          <p:nvPr/>
        </p:nvSpPr>
        <p:spPr>
          <a:xfrm>
            <a:off x="825500" y="5181600"/>
            <a:ext cx="10541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1"/>
          <p:cNvSpPr/>
          <p:nvPr/>
        </p:nvSpPr>
        <p:spPr>
          <a:xfrm>
            <a:off x="1054100" y="5245100"/>
            <a:ext cx="10083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medians, not yet verified: </a:t>
            </a: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injured bucket sits at exactly 0.00%, which points to snapshots where the value never moved. I still need to report what share of snapshots change at all.</a:t>
            </a:r>
          </a:p>
        </p:txBody>
      </p:sp>
    </p:spTree>
    <p:extLst>
      <p:ext uri="{BB962C8B-B14F-4D97-AF65-F5344CB8AC3E}">
        <p14:creationId xmlns:p14="http://schemas.microsoft.com/office/powerpoint/2010/main" val="2764961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Look: Where This Goes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output visualisations, and the story concept get their own session next week.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6263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11680"/>
            <a:ext cx="5843016" cy="29215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4956048"/>
            <a:ext cx="5843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the Tableau workbook, Recency &amp; Position Risk Profile dashboard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040880" y="1828800"/>
            <a:ext cx="4556455" cy="1143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278624" y="2071116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632" y="2229124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1938528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092440" y="2258568"/>
            <a:ext cx="3276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angles move from notebooks into the live dbt pipeline behind the dashboards.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040880" y="3127248"/>
            <a:ext cx="4556455" cy="1143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278624" y="3369564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632" y="3527572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92440" y="3236976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Visualisations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92440" y="3557016"/>
            <a:ext cx="3276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dashboards, like the one on the left, for every angle tested.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40880" y="4425696"/>
            <a:ext cx="4556455" cy="1143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278624" y="4668012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632" y="4826020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92440" y="4535424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Concept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092440" y="4855464"/>
            <a:ext cx="3276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arc that ties it together for the final capstone.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3793"/>
            </a:avLst>
          </a:prstGeom>
          <a:solidFill>
            <a:srgbClr val="FCF1DC"/>
          </a:solidFill>
          <a:ln w="12700">
            <a:solidFill>
              <a:srgbClr val="E8C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77240" y="5742432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at next week's meeting, September 24.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6506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286000"/>
            <a:ext cx="3556000" cy="3556000"/>
          </a:xfrm>
          <a:prstGeom prst="ellipse">
            <a:avLst/>
          </a:prstGeom>
          <a:solidFill>
            <a:srgbClr val="16264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1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Hypothesis Testing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473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27559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5500" y="381000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0" y="4140200"/>
            <a:ext cx="713232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36792" y="5588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660400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5080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both stakeholder questions through rank-based statistical tests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36792" y="14732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1574800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4224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any injury history, not its recency, tracks with flat value growth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36792" y="23876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2489200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23368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injury risk more than doubles from the 21-24 bracket to 33+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36792" y="33020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3403600"/>
            <a:ext cx="209215" cy="2092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32512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my own forecast and documented exactly where it fails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336792" y="42164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4318000"/>
            <a:ext cx="209215" cy="2092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41656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the flat-median and playing-time caveats in the open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36792" y="5130800"/>
            <a:ext cx="402336" cy="402336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53" y="5232400"/>
            <a:ext cx="209215" cy="20921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508000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carry both angles into the dashboards and the final story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Weekly Update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7A1C2D3-4E5F-4A6B-8C9D-1E2F3A4B5C72}" type="slidenum"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fld>
            <a:r>
              <a:rPr lang="en-US" sz="100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</a:p>
        </p:txBody>
      </p:sp>
      <p:sp>
        <p:nvSpPr>
          <p:cNvPr id="70" name="Text 70"/>
          <p:cNvSpPr/>
          <p:nvPr/>
        </p:nvSpPr>
        <p:spPr>
          <a:xfrm>
            <a:off x="825500" y="5461000"/>
            <a:ext cx="485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6. Up next: dashboards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469752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3" grpId="0" build="p" animBg="1"/>
      <p:bldP spid="16" grpId="0" build="p" animBg="1"/>
      <p:bldP spid="19" grpId="0" build="p" animBg="1"/>
      <p:bldP spid="22" grpId="0" build="p" animBg="1"/>
      <p:bldP spid="2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377440"/>
            <a:ext cx="6858000" cy="6858000"/>
          </a:xfrm>
          <a:prstGeom prst="ellipse">
            <a:avLst/>
          </a:prstGeom>
          <a:solidFill>
            <a:srgbClr val="22336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and Presentation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today's two angles into the Tableau dashboards and the final capstone deck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72888" y="2788920"/>
            <a:ext cx="1645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24348" y="3131820"/>
            <a:ext cx="1143000" cy="11430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pic>
        <p:nvPicPr>
          <p:cNvPr id="13" name="Graphic 13" descr="Football, marking the close of the updat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175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20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Behind Both Tests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from the two hypothesis-test notebooks.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331720"/>
          </a:xfrm>
          <a:prstGeom prst="roundRect">
            <a:avLst>
              <a:gd name="adj" fmla="val 3922"/>
            </a:avLst>
          </a:prstGeom>
          <a:solidFill>
            <a:srgbClr val="12172A"/>
          </a:solidFill>
          <a:ln w="12700">
            <a:solidFill>
              <a:srgbClr val="2C3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3794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HYPOTHESIS_INJURY_RECENCY_VS_VALUE.IPYNB  ·  ANGLE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85416"/>
            <a:ext cx="10362895" cy="0"/>
          </a:xfrm>
          <a:prstGeom prst="line">
            <a:avLst/>
          </a:prstGeom>
          <a:noFill/>
          <a:ln w="12700">
            <a:solidFill>
              <a:srgbClr val="2C3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= merged.loc[merged.recency_bucket == "recent (&lt;=90 days)", "value_change_pct"]
other  = merged.loc[merged.recency_bucket != "recent (&lt;=90 days)", "value_change_pct"]
</a:t>
            </a: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u_stat, p_value = stats.mannwhitneyu(recent, other, alternative="less")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911535" cy="2331720"/>
          </a:xfrm>
          <a:prstGeom prst="roundRect">
            <a:avLst>
              <a:gd name="adj" fmla="val 3922"/>
            </a:avLst>
          </a:prstGeom>
          <a:solidFill>
            <a:srgbClr val="12172A"/>
          </a:solidFill>
          <a:ln w="12700">
            <a:solidFill>
              <a:srgbClr val="2C3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30682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HYPOTHESIS_AGE_VS_VALUE_RISK_TRADEOFF.IPYNB  ·  ANGLE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654296"/>
            <a:ext cx="10362895" cy="0"/>
          </a:xfrm>
          <a:prstGeom prst="line">
            <a:avLst/>
          </a:prstGeom>
          <a:noFill/>
          <a:ln w="12700">
            <a:solidFill>
              <a:srgbClr val="2C3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764024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value_groups = [g["median_value_change_pct"] for _, g in combined.groupby("age_bucket")]
risk_groups  = [g["risk_per_1000_90s"]        for _, g in combined.groupby("age_bucket")]
</a:t>
            </a: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h_val,  p_val  = stats.kruskal(*value_groups)
h_risk, p_risk = stats.kruskal(*risk_groups)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Investment?  Weekly Update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1312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89471735766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15031F-0271-4C5A-A944-BA9BF31A52D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d74a727-ff43-4a10-a682-3f6c077c1d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Microsoft Office PowerPoint</Application>
  <PresentationFormat>Widescreen</PresentationFormat>
  <Paragraphs>197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Office Theme</vt:lpstr>
      <vt:lpstr>Office Theme [1789471735766]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Abdelaziz</cp:lastModifiedBy>
  <cp:revision>3</cp:revision>
  <dcterms:created xsi:type="dcterms:W3CDTF">2026-09-15T10:46:02Z</dcterms:created>
  <dcterms:modified xsi:type="dcterms:W3CDTF">2026-09-15T12:25:56Z</dcterms:modified>
</cp:coreProperties>
</file>