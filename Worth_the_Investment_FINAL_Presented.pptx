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metadata/core-properties" Target="docProps/core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73" r:id="rId2"/>
    <p:sldId id="257" r:id="rId3"/>
    <p:sldId id="274" r:id="rId4"/>
    <p:sldId id="259" r:id="rId5"/>
    <p:sldId id="260" r:id="rId6"/>
    <p:sldId id="261" r:id="rId7"/>
    <p:sldId id="275" r:id="rId8"/>
    <p:sldId id="263" r:id="rId9"/>
    <p:sldId id="264" r:id="rId10"/>
    <p:sldId id="265" r:id="rId11"/>
    <p:sldId id="277" r:id="rId12"/>
    <p:sldId id="278" r:id="rId13"/>
    <p:sldId id="268" r:id="rId14"/>
    <p:sldId id="269" r:id="rId15"/>
    <p:sldId id="270" r:id="rId16"/>
    <p:sldId id="271" r:id="rId17"/>
    <p:sldId id="272" r:id="rId1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5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lineChart>
        <c:grouping val="standard"/>
        <c:varyColors val="0"/>
        <c:ser>
          <c:idx val="0"/>
          <c:order val="0"/>
          <c:tx>
            <c:strRef>
              <c:f>label 0</c:f>
              <c:strCache>
                <c:ptCount val="1"/>
                <c:pt idx="0">
                  <c:v>Injuries / 1,000 90s</c:v>
                </c:pt>
              </c:strCache>
            </c:strRef>
          </c:tx>
          <c:spPr>
            <a:ln w="34920">
              <a:solidFill>
                <a:srgbClr val="C0392B"/>
              </a:solidFill>
              <a:round/>
            </a:ln>
          </c:spPr>
          <c:marker>
            <c:symbol val="circle"/>
            <c:size val="9"/>
            <c:spPr>
              <a:solidFill>
                <a:srgbClr val="C0392B"/>
              </a:solidFill>
            </c:spPr>
          </c:marker>
          <c:dPt>
            <c:idx val="0"/>
            <c:bubble3D val="0"/>
            <c:extLst>
              <c:ext xmlns:c16="http://schemas.microsoft.com/office/drawing/2014/chart" uri="{C3380CC4-5D6E-409C-BE32-E72D297353CC}">
                <c16:uniqueId val="{00000000-ADA7-4BE5-BCFA-ADF4724A706F}"/>
              </c:ext>
            </c:extLst>
          </c:dPt>
          <c:dPt>
            <c:idx val="1"/>
            <c:bubble3D val="0"/>
            <c:extLst>
              <c:ext xmlns:c16="http://schemas.microsoft.com/office/drawing/2014/chart" uri="{C3380CC4-5D6E-409C-BE32-E72D297353CC}">
                <c16:uniqueId val="{00000001-ADA7-4BE5-BCFA-ADF4724A706F}"/>
              </c:ext>
            </c:extLst>
          </c:dPt>
          <c:dPt>
            <c:idx val="2"/>
            <c:bubble3D val="0"/>
            <c:extLst>
              <c:ext xmlns:c16="http://schemas.microsoft.com/office/drawing/2014/chart" uri="{C3380CC4-5D6E-409C-BE32-E72D297353CC}">
                <c16:uniqueId val="{00000002-ADA7-4BE5-BCFA-ADF4724A706F}"/>
              </c:ext>
            </c:extLst>
          </c:dPt>
          <c:dPt>
            <c:idx val="3"/>
            <c:bubble3D val="0"/>
            <c:extLst>
              <c:ext xmlns:c16="http://schemas.microsoft.com/office/drawing/2014/chart" uri="{C3380CC4-5D6E-409C-BE32-E72D297353CC}">
                <c16:uniqueId val="{00000003-ADA7-4BE5-BCFA-ADF4724A706F}"/>
              </c:ext>
            </c:extLst>
          </c:dPt>
          <c:dLbls>
            <c:dLbl>
              <c:idx val="0"/>
              <c:tx>
                <c:rich>
                  <a:bodyPr/>
                  <a:lstStyle/>
                  <a:p>
                    <a:r>
                      <a:rPr lang="en-US" sz="1200" b="1" strike="noStrike" spc="-1">
                        <a:solidFill>
                          <a:srgbClr val="C0392B"/>
                        </a:solidFill>
                        <a:latin typeface="Calibri"/>
                      </a:rPr>
                      <a:t>2.5</a:t>
                    </a:r>
                  </a:p>
                </c:rich>
              </c:tx>
              <c:numFmt formatCode="0.00" sourceLinked="0"/>
              <c:spPr/>
              <c:dLblPos val="t"/>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0-ADA7-4BE5-BCFA-ADF4724A706F}"/>
                </c:ext>
              </c:extLst>
            </c:dLbl>
            <c:dLbl>
              <c:idx val="1"/>
              <c:tx>
                <c:rich>
                  <a:bodyPr/>
                  <a:lstStyle/>
                  <a:p>
                    <a:r>
                      <a:rPr lang="en-US" sz="1200" b="1" strike="noStrike" spc="-1">
                        <a:solidFill>
                          <a:srgbClr val="C0392B"/>
                        </a:solidFill>
                        <a:latin typeface="Calibri"/>
                      </a:rPr>
                      <a:t>4.0</a:t>
                    </a:r>
                  </a:p>
                </c:rich>
              </c:tx>
              <c:numFmt formatCode="0.00" sourceLinked="0"/>
              <c:spPr/>
              <c:dLblPos val="t"/>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1-ADA7-4BE5-BCFA-ADF4724A706F}"/>
                </c:ext>
              </c:extLst>
            </c:dLbl>
            <c:dLbl>
              <c:idx val="2"/>
              <c:tx>
                <c:rich>
                  <a:bodyPr/>
                  <a:lstStyle/>
                  <a:p>
                    <a:r>
                      <a:rPr lang="en-US" sz="1200" b="1" strike="noStrike" spc="-1">
                        <a:solidFill>
                          <a:srgbClr val="C0392B"/>
                        </a:solidFill>
                        <a:latin typeface="Calibri"/>
                      </a:rPr>
                      <a:t>3.2</a:t>
                    </a:r>
                  </a:p>
                </c:rich>
              </c:tx>
              <c:numFmt formatCode="0.00" sourceLinked="0"/>
              <c:spPr/>
              <c:dLblPos val="t"/>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2-ADA7-4BE5-BCFA-ADF4724A706F}"/>
                </c:ext>
              </c:extLst>
            </c:dLbl>
            <c:dLbl>
              <c:idx val="3"/>
              <c:tx>
                <c:rich>
                  <a:bodyPr/>
                  <a:lstStyle/>
                  <a:p>
                    <a:r>
                      <a:rPr lang="en-US" sz="1200" b="1" strike="noStrike" spc="-1">
                        <a:solidFill>
                          <a:srgbClr val="C0392B"/>
                        </a:solidFill>
                        <a:latin typeface="Calibri"/>
                      </a:rPr>
                      <a:t>6.0</a:t>
                    </a:r>
                  </a:p>
                </c:rich>
              </c:tx>
              <c:numFmt formatCode="0.00" sourceLinked="0"/>
              <c:spPr/>
              <c:dLblPos val="t"/>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3-ADA7-4BE5-BCFA-ADF4724A706F}"/>
                </c:ext>
              </c:extLst>
            </c:dLbl>
            <c:numFmt formatCode="0.00" sourceLinked="0"/>
            <c:spPr>
              <a:noFill/>
              <a:ln>
                <a:noFill/>
              </a:ln>
              <a:effectLst/>
            </c:spPr>
            <c:txPr>
              <a:bodyPr wrap="square"/>
              <a:lstStyle/>
              <a:p>
                <a:pPr>
                  <a:defRPr sz="1200" b="1" strike="noStrike" spc="-1">
                    <a:solidFill>
                      <a:srgbClr val="C0392B"/>
                    </a:solidFill>
                    <a:latin typeface="Calibri"/>
                  </a:defRPr>
                </a:pPr>
                <a:endParaRPr lang="en-US"/>
              </a:p>
            </c:txPr>
            <c:dLblPos val="t"/>
            <c:showLegendKey val="0"/>
            <c:showVal val="1"/>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4"/>
                <c:pt idx="0">
                  <c:v>21–24
(emerging)</c:v>
                </c:pt>
                <c:pt idx="1">
                  <c:v>25–28
(prime)</c:v>
                </c:pt>
                <c:pt idx="2">
                  <c:v>29–32
(established)</c:v>
                </c:pt>
                <c:pt idx="3">
                  <c:v>33+
(veteran)</c:v>
                </c:pt>
              </c:strCache>
            </c:strRef>
          </c:cat>
          <c:val>
            <c:numRef>
              <c:f>0</c:f>
              <c:numCache>
                <c:formatCode>General</c:formatCode>
                <c:ptCount val="4"/>
                <c:pt idx="0">
                  <c:v>2.4900000000000002</c:v>
                </c:pt>
                <c:pt idx="1">
                  <c:v>3.97</c:v>
                </c:pt>
                <c:pt idx="2">
                  <c:v>3.22</c:v>
                </c:pt>
                <c:pt idx="3">
                  <c:v>5.95</c:v>
                </c:pt>
              </c:numCache>
            </c:numRef>
          </c:val>
          <c:smooth val="0"/>
          <c:extLst>
            <c:ext xmlns:c16="http://schemas.microsoft.com/office/drawing/2014/chart" uri="{C3380CC4-5D6E-409C-BE32-E72D297353CC}">
              <c16:uniqueId val="{00000004-ADA7-4BE5-BCFA-ADF4724A706F}"/>
            </c:ext>
          </c:extLst>
        </c:ser>
        <c:dLbls>
          <c:showLegendKey val="0"/>
          <c:showVal val="0"/>
          <c:showCatName val="0"/>
          <c:showSerName val="0"/>
          <c:showPercent val="0"/>
          <c:showBubbleSize val="0"/>
        </c:dLbls>
        <c:hiLowLines>
          <c:spPr>
            <a:ln w="0">
              <a:noFill/>
            </a:ln>
          </c:spPr>
        </c:hiLowLines>
        <c:marker val="1"/>
        <c:smooth val="0"/>
        <c:axId val="12929865"/>
        <c:axId val="34676920"/>
      </c:lineChart>
      <c:catAx>
        <c:axId val="12929865"/>
        <c:scaling>
          <c:orientation val="minMax"/>
        </c:scaling>
        <c:delete val="0"/>
        <c:axPos val="b"/>
        <c:numFmt formatCode="General" sourceLinked="0"/>
        <c:majorTickMark val="out"/>
        <c:minorTickMark val="none"/>
        <c:tickLblPos val="nextTo"/>
        <c:spPr>
          <a:ln w="6480">
            <a:solidFill>
              <a:srgbClr val="E3E6EC"/>
            </a:solidFill>
            <a:round/>
          </a:ln>
        </c:spPr>
        <c:txPr>
          <a:bodyPr/>
          <a:lstStyle/>
          <a:p>
            <a:pPr>
              <a:defRPr sz="1100" b="0" strike="noStrike" spc="-1">
                <a:solidFill>
                  <a:srgbClr val="44506B"/>
                </a:solidFill>
                <a:latin typeface="Calibri"/>
              </a:defRPr>
            </a:pPr>
            <a:endParaRPr lang="en-US"/>
          </a:p>
        </c:txPr>
        <c:crossAx val="34676920"/>
        <c:crosses val="autoZero"/>
        <c:auto val="1"/>
        <c:lblAlgn val="ctr"/>
        <c:lblOffset val="100"/>
        <c:noMultiLvlLbl val="0"/>
      </c:catAx>
      <c:valAx>
        <c:axId val="34676920"/>
        <c:scaling>
          <c:orientation val="minMax"/>
          <c:max val="7"/>
          <c:min val="0"/>
        </c:scaling>
        <c:delete val="0"/>
        <c:axPos val="l"/>
        <c:majorGridlines>
          <c:spPr>
            <a:ln w="6480">
              <a:solidFill>
                <a:srgbClr val="E3E6EC"/>
              </a:solidFill>
              <a:round/>
            </a:ln>
          </c:spPr>
        </c:majorGridlines>
        <c:numFmt formatCode="General" sourceLinked="0"/>
        <c:majorTickMark val="out"/>
        <c:minorTickMark val="none"/>
        <c:tickLblPos val="nextTo"/>
        <c:spPr>
          <a:ln w="6480">
            <a:noFill/>
          </a:ln>
        </c:spPr>
        <c:txPr>
          <a:bodyPr/>
          <a:lstStyle/>
          <a:p>
            <a:pPr>
              <a:defRPr sz="1100" b="0" strike="noStrike" spc="-1">
                <a:solidFill>
                  <a:srgbClr val="44506B"/>
                </a:solidFill>
                <a:latin typeface="Calibri"/>
              </a:defRPr>
            </a:pPr>
            <a:endParaRPr lang="en-US"/>
          </a:p>
        </c:txPr>
        <c:crossAx val="12929865"/>
        <c:crosses val="autoZero"/>
        <c:crossBetween val="between"/>
      </c:valAx>
      <c:spPr>
        <a:noFill/>
        <a:ln w="0">
          <a:noFill/>
        </a:ln>
      </c:spPr>
    </c:plotArea>
    <c:plotVisOnly val="1"/>
    <c:dispBlanksAs val="gap"/>
    <c:showDLblsOverMax val="1"/>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bar"/>
        <c:grouping val="clustered"/>
        <c:varyColors val="0"/>
        <c:ser>
          <c:idx val="0"/>
          <c:order val="0"/>
          <c:tx>
            <c:strRef>
              <c:f>label 0</c:f>
              <c:strCache>
                <c:ptCount val="1"/>
                <c:pt idx="0">
                  <c:v>Injuries / 1,000 90s</c:v>
                </c:pt>
              </c:strCache>
            </c:strRef>
          </c:tx>
          <c:spPr>
            <a:solidFill>
              <a:srgbClr val="B9C0CE"/>
            </a:solidFill>
            <a:ln w="0">
              <a:noFill/>
            </a:ln>
          </c:spPr>
          <c:invertIfNegative val="0"/>
          <c:dPt>
            <c:idx val="0"/>
            <c:invertIfNegative val="0"/>
            <c:bubble3D val="0"/>
            <c:extLst>
              <c:ext xmlns:c16="http://schemas.microsoft.com/office/drawing/2014/chart" uri="{C3380CC4-5D6E-409C-BE32-E72D297353CC}">
                <c16:uniqueId val="{00000001-CDA9-4115-9097-6C14615F8D40}"/>
              </c:ext>
            </c:extLst>
          </c:dPt>
          <c:dPt>
            <c:idx val="1"/>
            <c:invertIfNegative val="0"/>
            <c:bubble3D val="0"/>
            <c:extLst>
              <c:ext xmlns:c16="http://schemas.microsoft.com/office/drawing/2014/chart" uri="{C3380CC4-5D6E-409C-BE32-E72D297353CC}">
                <c16:uniqueId val="{00000003-CDA9-4115-9097-6C14615F8D40}"/>
              </c:ext>
            </c:extLst>
          </c:dPt>
          <c:dPt>
            <c:idx val="2"/>
            <c:invertIfNegative val="0"/>
            <c:bubble3D val="0"/>
            <c:extLst>
              <c:ext xmlns:c16="http://schemas.microsoft.com/office/drawing/2014/chart" uri="{C3380CC4-5D6E-409C-BE32-E72D297353CC}">
                <c16:uniqueId val="{00000005-CDA9-4115-9097-6C14615F8D40}"/>
              </c:ext>
            </c:extLst>
          </c:dPt>
          <c:dPt>
            <c:idx val="3"/>
            <c:invertIfNegative val="0"/>
            <c:bubble3D val="0"/>
            <c:spPr>
              <a:solidFill>
                <a:srgbClr val="0F1B3D"/>
              </a:solidFill>
              <a:ln w="0">
                <a:noFill/>
              </a:ln>
            </c:spPr>
            <c:extLst>
              <c:ext xmlns:c16="http://schemas.microsoft.com/office/drawing/2014/chart" uri="{C3380CC4-5D6E-409C-BE32-E72D297353CC}">
                <c16:uniqueId val="{00000007-CDA9-4115-9097-6C14615F8D40}"/>
              </c:ext>
            </c:extLst>
          </c:dPt>
          <c:dLbls>
            <c:dLbl>
              <c:idx val="0"/>
              <c:tx>
                <c:rich>
                  <a:bodyPr/>
                  <a:lstStyle/>
                  <a:p>
                    <a:r>
                      <a:rPr lang="en-US" sz="1200" b="1" strike="noStrike" spc="-1">
                        <a:solidFill>
                          <a:srgbClr val="44506B"/>
                        </a:solidFill>
                        <a:latin typeface="Calibri"/>
                      </a:rPr>
                      <a:t>4.2</a:t>
                    </a:r>
                  </a:p>
                </c:rich>
              </c:tx>
              <c:numFmt formatCode="0.00" sourceLinked="0"/>
              <c:spPr/>
              <c:dLblPos val="outEnd"/>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1-CDA9-4115-9097-6C14615F8D40}"/>
                </c:ext>
              </c:extLst>
            </c:dLbl>
            <c:dLbl>
              <c:idx val="1"/>
              <c:tx>
                <c:rich>
                  <a:bodyPr/>
                  <a:lstStyle/>
                  <a:p>
                    <a:r>
                      <a:rPr lang="en-US" sz="1200" b="1" strike="noStrike" spc="-1">
                        <a:solidFill>
                          <a:srgbClr val="44506B"/>
                        </a:solidFill>
                        <a:latin typeface="Calibri"/>
                      </a:rPr>
                      <a:t>4.2</a:t>
                    </a:r>
                  </a:p>
                </c:rich>
              </c:tx>
              <c:numFmt formatCode="0.00" sourceLinked="0"/>
              <c:spPr/>
              <c:dLblPos val="outEnd"/>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3-CDA9-4115-9097-6C14615F8D40}"/>
                </c:ext>
              </c:extLst>
            </c:dLbl>
            <c:dLbl>
              <c:idx val="2"/>
              <c:tx>
                <c:rich>
                  <a:bodyPr/>
                  <a:lstStyle/>
                  <a:p>
                    <a:r>
                      <a:rPr lang="en-US" sz="1200" b="1" strike="noStrike" spc="-1">
                        <a:solidFill>
                          <a:srgbClr val="44506B"/>
                        </a:solidFill>
                        <a:latin typeface="Calibri"/>
                      </a:rPr>
                      <a:t>4.3</a:t>
                    </a:r>
                  </a:p>
                </c:rich>
              </c:tx>
              <c:numFmt formatCode="0.00" sourceLinked="0"/>
              <c:spPr/>
              <c:dLblPos val="outEnd"/>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5-CDA9-4115-9097-6C14615F8D40}"/>
                </c:ext>
              </c:extLst>
            </c:dLbl>
            <c:dLbl>
              <c:idx val="3"/>
              <c:tx>
                <c:rich>
                  <a:bodyPr/>
                  <a:lstStyle/>
                  <a:p>
                    <a:r>
                      <a:rPr lang="en-US" sz="1200" b="1" strike="noStrike" spc="-1">
                        <a:solidFill>
                          <a:srgbClr val="44506B"/>
                        </a:solidFill>
                        <a:latin typeface="Calibri"/>
                      </a:rPr>
                      <a:t>2.3</a:t>
                    </a:r>
                  </a:p>
                </c:rich>
              </c:tx>
              <c:numFmt formatCode="0.00" sourceLinked="0"/>
              <c:spPr/>
              <c:dLblPos val="outEnd"/>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7-CDA9-4115-9097-6C14615F8D40}"/>
                </c:ext>
              </c:extLst>
            </c:dLbl>
            <c:numFmt formatCode="0.00" sourceLinked="0"/>
            <c:spPr>
              <a:noFill/>
              <a:ln>
                <a:noFill/>
              </a:ln>
              <a:effectLst/>
            </c:spPr>
            <c:txPr>
              <a:bodyPr wrap="square"/>
              <a:lstStyle/>
              <a:p>
                <a:pPr>
                  <a:defRPr sz="1200" b="1" strike="noStrike" spc="-1">
                    <a:solidFill>
                      <a:srgbClr val="44506B"/>
                    </a:solidFill>
                    <a:latin typeface="Calibri"/>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4"/>
                <c:pt idx="0">
                  <c:v>Attack</c:v>
                </c:pt>
                <c:pt idx="1">
                  <c:v>Midfield</c:v>
                </c:pt>
                <c:pt idx="2">
                  <c:v>Defender</c:v>
                </c:pt>
                <c:pt idx="3">
                  <c:v>Goalkeeper</c:v>
                </c:pt>
              </c:strCache>
            </c:strRef>
          </c:cat>
          <c:val>
            <c:numRef>
              <c:f>0</c:f>
              <c:numCache>
                <c:formatCode>General</c:formatCode>
                <c:ptCount val="4"/>
                <c:pt idx="0">
                  <c:v>4.1500000000000004</c:v>
                </c:pt>
                <c:pt idx="1">
                  <c:v>4.2300000000000004</c:v>
                </c:pt>
                <c:pt idx="2">
                  <c:v>4.3</c:v>
                </c:pt>
                <c:pt idx="3">
                  <c:v>2.3199999999999998</c:v>
                </c:pt>
              </c:numCache>
            </c:numRef>
          </c:val>
          <c:extLst>
            <c:ext xmlns:c16="http://schemas.microsoft.com/office/drawing/2014/chart" uri="{C3380CC4-5D6E-409C-BE32-E72D297353CC}">
              <c16:uniqueId val="{00000008-CDA9-4115-9097-6C14615F8D40}"/>
            </c:ext>
          </c:extLst>
        </c:ser>
        <c:dLbls>
          <c:showLegendKey val="0"/>
          <c:showVal val="0"/>
          <c:showCatName val="0"/>
          <c:showSerName val="0"/>
          <c:showPercent val="0"/>
          <c:showBubbleSize val="0"/>
        </c:dLbls>
        <c:gapWidth val="60"/>
        <c:axId val="60773148"/>
        <c:axId val="71978636"/>
      </c:barChart>
      <c:catAx>
        <c:axId val="60773148"/>
        <c:scaling>
          <c:orientation val="minMax"/>
        </c:scaling>
        <c:delete val="0"/>
        <c:axPos val="l"/>
        <c:numFmt formatCode="General" sourceLinked="0"/>
        <c:majorTickMark val="out"/>
        <c:minorTickMark val="none"/>
        <c:tickLblPos val="nextTo"/>
        <c:spPr>
          <a:ln w="6480">
            <a:solidFill>
              <a:srgbClr val="E3E6EC"/>
            </a:solidFill>
            <a:round/>
          </a:ln>
        </c:spPr>
        <c:txPr>
          <a:bodyPr/>
          <a:lstStyle/>
          <a:p>
            <a:pPr>
              <a:defRPr sz="1200" b="0" strike="noStrike" spc="-1">
                <a:solidFill>
                  <a:srgbClr val="44506B"/>
                </a:solidFill>
                <a:latin typeface="Calibri"/>
              </a:defRPr>
            </a:pPr>
            <a:endParaRPr lang="en-US"/>
          </a:p>
        </c:txPr>
        <c:crossAx val="71978636"/>
        <c:crosses val="autoZero"/>
        <c:auto val="1"/>
        <c:lblAlgn val="ctr"/>
        <c:lblOffset val="100"/>
        <c:noMultiLvlLbl val="0"/>
      </c:catAx>
      <c:valAx>
        <c:axId val="71978636"/>
        <c:scaling>
          <c:orientation val="minMax"/>
          <c:max val="5.5"/>
          <c:min val="0"/>
        </c:scaling>
        <c:delete val="0"/>
        <c:axPos val="b"/>
        <c:majorGridlines>
          <c:spPr>
            <a:ln w="6480">
              <a:solidFill>
                <a:srgbClr val="E3E6EC"/>
              </a:solidFill>
              <a:round/>
            </a:ln>
          </c:spPr>
        </c:majorGridlines>
        <c:numFmt formatCode="General" sourceLinked="0"/>
        <c:majorTickMark val="out"/>
        <c:minorTickMark val="none"/>
        <c:tickLblPos val="nextTo"/>
        <c:spPr>
          <a:ln w="6480">
            <a:noFill/>
          </a:ln>
        </c:spPr>
        <c:txPr>
          <a:bodyPr/>
          <a:lstStyle/>
          <a:p>
            <a:pPr>
              <a:defRPr sz="1000" b="0" strike="noStrike" spc="-1">
                <a:solidFill>
                  <a:srgbClr val="44506B"/>
                </a:solidFill>
                <a:latin typeface="Calibri"/>
              </a:defRPr>
            </a:pPr>
            <a:endParaRPr lang="en-US"/>
          </a:p>
        </c:txPr>
        <c:crossAx val="60773148"/>
        <c:crosses val="autoZero"/>
        <c:crossBetween val="between"/>
      </c:valAx>
      <c:spPr>
        <a:noFill/>
        <a:ln w="0">
          <a:noFill/>
        </a:ln>
      </c:spPr>
    </c:plotArea>
    <c:plotVisOnly val="1"/>
    <c:dispBlanksAs val="gap"/>
    <c:showDLblsOverMax val="1"/>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barChart>
        <c:barDir val="bar"/>
        <c:grouping val="clustered"/>
        <c:varyColors val="0"/>
        <c:ser>
          <c:idx val="0"/>
          <c:order val="0"/>
          <c:tx>
            <c:strRef>
              <c:f>label 0</c:f>
              <c:strCache>
                <c:ptCount val="1"/>
                <c:pt idx="0">
                  <c:v>Accuracy (%)</c:v>
                </c:pt>
              </c:strCache>
            </c:strRef>
          </c:tx>
          <c:spPr>
            <a:solidFill>
              <a:srgbClr val="4472C4"/>
            </a:solidFill>
            <a:ln w="0">
              <a:noFill/>
            </a:ln>
          </c:spPr>
          <c:invertIfNegative val="0"/>
          <c:dPt>
            <c:idx val="0"/>
            <c:invertIfNegative val="0"/>
            <c:bubble3D val="0"/>
            <c:spPr>
              <a:noFill/>
              <a:ln w="22320">
                <a:solidFill>
                  <a:srgbClr val="44506B"/>
                </a:solidFill>
                <a:prstDash val="dash"/>
                <a:round/>
              </a:ln>
            </c:spPr>
            <c:extLst>
              <c:ext xmlns:c16="http://schemas.microsoft.com/office/drawing/2014/chart" uri="{C3380CC4-5D6E-409C-BE32-E72D297353CC}">
                <c16:uniqueId val="{00000001-DD61-4B57-A4A8-205F3AD4F570}"/>
              </c:ext>
            </c:extLst>
          </c:dPt>
          <c:dPt>
            <c:idx val="1"/>
            <c:invertIfNegative val="0"/>
            <c:bubble3D val="0"/>
            <c:spPr>
              <a:solidFill>
                <a:srgbClr val="C0392B"/>
              </a:solidFill>
              <a:ln w="0">
                <a:noFill/>
              </a:ln>
            </c:spPr>
            <c:extLst>
              <c:ext xmlns:c16="http://schemas.microsoft.com/office/drawing/2014/chart" uri="{C3380CC4-5D6E-409C-BE32-E72D297353CC}">
                <c16:uniqueId val="{00000003-DD61-4B57-A4A8-205F3AD4F570}"/>
              </c:ext>
            </c:extLst>
          </c:dPt>
          <c:dLbls>
            <c:dLbl>
              <c:idx val="0"/>
              <c:tx>
                <c:rich>
                  <a:bodyPr/>
                  <a:lstStyle/>
                  <a:p>
                    <a:r>
                      <a:rPr lang="en-US" sz="1300" b="1" strike="noStrike" spc="-1">
                        <a:solidFill>
                          <a:srgbClr val="44506B"/>
                        </a:solidFill>
                        <a:latin typeface="Calibri"/>
                      </a:rPr>
                      <a:t>50%</a:t>
                    </a:r>
                  </a:p>
                </c:rich>
              </c:tx>
              <c:numFmt formatCode="0.0\%" sourceLinked="0"/>
              <c:spPr/>
              <c:dLblPos val="outEnd"/>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1-DD61-4B57-A4A8-205F3AD4F570}"/>
                </c:ext>
              </c:extLst>
            </c:dLbl>
            <c:dLbl>
              <c:idx val="1"/>
              <c:tx>
                <c:rich>
                  <a:bodyPr/>
                  <a:lstStyle/>
                  <a:p>
                    <a:r>
                      <a:rPr lang="en-US" sz="1300" b="1" strike="noStrike" spc="-1">
                        <a:solidFill>
                          <a:srgbClr val="44506B"/>
                        </a:solidFill>
                        <a:latin typeface="Calibri"/>
                      </a:rPr>
                      <a:t>22.7%</a:t>
                    </a:r>
                  </a:p>
                </c:rich>
              </c:tx>
              <c:numFmt formatCode="0.0\%" sourceLinked="0"/>
              <c:spPr/>
              <c:dLblPos val="outEnd"/>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3-DD61-4B57-A4A8-205F3AD4F570}"/>
                </c:ext>
              </c:extLst>
            </c:dLbl>
            <c:numFmt formatCode="0.0\%" sourceLinked="0"/>
            <c:spPr>
              <a:noFill/>
              <a:ln>
                <a:noFill/>
              </a:ln>
              <a:effectLst/>
            </c:spPr>
            <c:txPr>
              <a:bodyPr wrap="square"/>
              <a:lstStyle/>
              <a:p>
                <a:pPr>
                  <a:defRPr sz="1300" b="1" strike="noStrike" spc="-1">
                    <a:solidFill>
                      <a:srgbClr val="44506B"/>
                    </a:solidFill>
                    <a:latin typeface="Calibri"/>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categories</c:f>
              <c:strCache>
                <c:ptCount val="2"/>
                <c:pt idx="0">
                  <c:v>Coin-flip
baseline</c:v>
                </c:pt>
                <c:pt idx="1">
                  <c:v>Model
(backtested)</c:v>
                </c:pt>
              </c:strCache>
            </c:strRef>
          </c:cat>
          <c:val>
            <c:numRef>
              <c:f>0</c:f>
              <c:numCache>
                <c:formatCode>General</c:formatCode>
                <c:ptCount val="2"/>
                <c:pt idx="0">
                  <c:v>50</c:v>
                </c:pt>
                <c:pt idx="1">
                  <c:v>22.7</c:v>
                </c:pt>
              </c:numCache>
            </c:numRef>
          </c:val>
          <c:extLst>
            <c:ext xmlns:c16="http://schemas.microsoft.com/office/drawing/2014/chart" uri="{C3380CC4-5D6E-409C-BE32-E72D297353CC}">
              <c16:uniqueId val="{00000004-DD61-4B57-A4A8-205F3AD4F570}"/>
            </c:ext>
          </c:extLst>
        </c:ser>
        <c:dLbls>
          <c:showLegendKey val="0"/>
          <c:showVal val="0"/>
          <c:showCatName val="0"/>
          <c:showSerName val="0"/>
          <c:showPercent val="0"/>
          <c:showBubbleSize val="0"/>
        </c:dLbls>
        <c:gapWidth val="70"/>
        <c:axId val="16454280"/>
        <c:axId val="61549859"/>
      </c:barChart>
      <c:catAx>
        <c:axId val="16454280"/>
        <c:scaling>
          <c:orientation val="minMax"/>
        </c:scaling>
        <c:delete val="0"/>
        <c:axPos val="l"/>
        <c:numFmt formatCode="General" sourceLinked="0"/>
        <c:majorTickMark val="out"/>
        <c:minorTickMark val="none"/>
        <c:tickLblPos val="nextTo"/>
        <c:spPr>
          <a:ln w="6480">
            <a:solidFill>
              <a:srgbClr val="E3E6EC"/>
            </a:solidFill>
            <a:round/>
          </a:ln>
        </c:spPr>
        <c:txPr>
          <a:bodyPr/>
          <a:lstStyle/>
          <a:p>
            <a:pPr>
              <a:defRPr sz="1200" b="0" strike="noStrike" spc="-1">
                <a:solidFill>
                  <a:srgbClr val="44506B"/>
                </a:solidFill>
                <a:latin typeface="Calibri"/>
              </a:defRPr>
            </a:pPr>
            <a:endParaRPr lang="en-US"/>
          </a:p>
        </c:txPr>
        <c:crossAx val="61549859"/>
        <c:crosses val="autoZero"/>
        <c:auto val="1"/>
        <c:lblAlgn val="ctr"/>
        <c:lblOffset val="100"/>
        <c:noMultiLvlLbl val="0"/>
      </c:catAx>
      <c:valAx>
        <c:axId val="61549859"/>
        <c:scaling>
          <c:orientation val="minMax"/>
          <c:max val="60"/>
          <c:min val="0"/>
        </c:scaling>
        <c:delete val="0"/>
        <c:axPos val="b"/>
        <c:majorGridlines>
          <c:spPr>
            <a:ln w="6480">
              <a:solidFill>
                <a:srgbClr val="E3E6EC"/>
              </a:solidFill>
              <a:round/>
            </a:ln>
          </c:spPr>
        </c:majorGridlines>
        <c:numFmt formatCode="General" sourceLinked="0"/>
        <c:majorTickMark val="out"/>
        <c:minorTickMark val="none"/>
        <c:tickLblPos val="nextTo"/>
        <c:spPr>
          <a:ln w="6480">
            <a:noFill/>
          </a:ln>
        </c:spPr>
        <c:txPr>
          <a:bodyPr/>
          <a:lstStyle/>
          <a:p>
            <a:pPr>
              <a:defRPr sz="1000" b="0" strike="noStrike" spc="-1">
                <a:solidFill>
                  <a:srgbClr val="44506B"/>
                </a:solidFill>
                <a:latin typeface="Calibri"/>
              </a:defRPr>
            </a:pPr>
            <a:endParaRPr lang="en-US"/>
          </a:p>
        </c:txPr>
        <c:crossAx val="16454280"/>
        <c:crosses val="autoZero"/>
        <c:crossBetween val="between"/>
      </c:valAx>
      <c:spPr>
        <a:noFill/>
        <a:ln w="0">
          <a:noFill/>
        </a:ln>
      </c:spPr>
    </c:plotArea>
    <c:plotVisOnly val="1"/>
    <c:dispBlanksAs val="gap"/>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0AAA0103-5BDC-48C2-8E64-C2BB8BBC035F}"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PlaceHolder 1"/>
          <p:cNvSpPr>
            <a:spLocks noGrp="1" noRot="1" noChangeAspect="1"/>
          </p:cNvSpPr>
          <p:nvPr>
            <p:ph type="sldImg"/>
          </p:nvPr>
        </p:nvSpPr>
        <p:spPr>
          <a:xfrm>
            <a:off x="0" y="0"/>
            <a:ext cx="0" cy="0"/>
          </a:xfrm>
          <a:prstGeom prst="rect">
            <a:avLst/>
          </a:prstGeom>
          <a:ln w="0">
            <a:noFill/>
          </a:ln>
        </p:spPr>
      </p:sp>
      <p:sp>
        <p:nvSpPr>
          <p:cNvPr id="43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32"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77A6512C-6E85-426F-B98D-1D172478699D}" type="slidenum">
              <a:rPr lang="en-US" sz="1800" b="0" strike="noStrike" spc="-1">
                <a:solidFill>
                  <a:schemeClr val="dk1"/>
                </a:solidFill>
                <a:latin typeface="+mn-lt"/>
                <a:ea typeface="+mn-ea"/>
              </a:rPr>
              <a:t>1</a:t>
            </a:fld>
            <a:endParaRPr lang="en-US" sz="18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PlaceHolder 1"/>
          <p:cNvSpPr>
            <a:spLocks noGrp="1" noRot="1" noChangeAspect="1"/>
          </p:cNvSpPr>
          <p:nvPr>
            <p:ph type="sldImg"/>
          </p:nvPr>
        </p:nvSpPr>
        <p:spPr>
          <a:xfrm>
            <a:off x="0" y="0"/>
            <a:ext cx="0" cy="0"/>
          </a:xfrm>
          <a:prstGeom prst="rect">
            <a:avLst/>
          </a:prstGeom>
          <a:ln w="0">
            <a:noFill/>
          </a:ln>
        </p:spPr>
      </p:sp>
      <p:sp>
        <p:nvSpPr>
          <p:cNvPr id="43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35"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3BDD8F74-84E7-42EC-B547-124C59F4759B}" type="slidenum">
              <a:rPr lang="en-US" sz="1800" b="0" strike="noStrike" spc="-1">
                <a:solidFill>
                  <a:schemeClr val="dk1"/>
                </a:solidFill>
                <a:latin typeface="+mn-lt"/>
                <a:ea typeface="+mn-ea"/>
              </a:rPr>
              <a:t>2</a:t>
            </a:fld>
            <a:endParaRPr lang="en-US" sz="18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PlaceHolder 1"/>
          <p:cNvSpPr>
            <a:spLocks noGrp="1" noRot="1" noChangeAspect="1"/>
          </p:cNvSpPr>
          <p:nvPr>
            <p:ph type="sldImg"/>
          </p:nvPr>
        </p:nvSpPr>
        <p:spPr>
          <a:xfrm>
            <a:off x="0" y="0"/>
            <a:ext cx="0" cy="0"/>
          </a:xfrm>
          <a:prstGeom prst="rect">
            <a:avLst/>
          </a:prstGeom>
          <a:ln w="0">
            <a:noFill/>
          </a:ln>
        </p:spPr>
      </p:sp>
      <p:sp>
        <p:nvSpPr>
          <p:cNvPr id="43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38"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FB407DD1-F7A8-481E-A426-58B286304B59}" type="slidenum">
              <a:rPr lang="en-US" sz="1800" b="0" strike="noStrike" spc="-1">
                <a:solidFill>
                  <a:schemeClr val="dk1"/>
                </a:solidFill>
                <a:latin typeface="+mn-lt"/>
                <a:ea typeface="+mn-ea"/>
              </a:rPr>
              <a:t>3</a:t>
            </a:fld>
            <a:endParaRPr lang="en-US" sz="18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PlaceHolder 1"/>
          <p:cNvSpPr>
            <a:spLocks noGrp="1" noRot="1" noChangeAspect="1"/>
          </p:cNvSpPr>
          <p:nvPr>
            <p:ph type="sldImg"/>
          </p:nvPr>
        </p:nvSpPr>
        <p:spPr>
          <a:xfrm>
            <a:off x="0" y="0"/>
            <a:ext cx="0" cy="0"/>
          </a:xfrm>
          <a:prstGeom prst="rect">
            <a:avLst/>
          </a:prstGeom>
          <a:ln w="0">
            <a:noFill/>
          </a:ln>
        </p:spPr>
      </p:sp>
      <p:sp>
        <p:nvSpPr>
          <p:cNvPr id="44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41"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82208337-0668-4CD5-A784-01E9D6F016A3}" type="slidenum">
              <a:rPr lang="en-US" sz="1800" b="0" strike="noStrike" spc="-1">
                <a:solidFill>
                  <a:schemeClr val="dk1"/>
                </a:solidFill>
                <a:latin typeface="+mn-lt"/>
                <a:ea typeface="+mn-ea"/>
              </a:rPr>
              <a:t>4</a:t>
            </a:fld>
            <a:endParaRPr lang="en-US" sz="18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noRot="1" noChangeAspect="1"/>
          </p:cNvSpPr>
          <p:nvPr>
            <p:ph type="sldImg"/>
          </p:nvPr>
        </p:nvSpPr>
        <p:spPr>
          <a:xfrm>
            <a:off x="0" y="0"/>
            <a:ext cx="0" cy="0"/>
          </a:xfrm>
          <a:prstGeom prst="rect">
            <a:avLst/>
          </a:prstGeom>
          <a:ln w="0">
            <a:noFill/>
          </a:ln>
        </p:spPr>
      </p:sp>
      <p:sp>
        <p:nvSpPr>
          <p:cNvPr id="44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44"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B752EAD1-6AEE-427E-AD4A-106053B65ABB}" type="slidenum">
              <a:rPr lang="en-US" sz="1800" b="0" strike="noStrike" spc="-1">
                <a:solidFill>
                  <a:schemeClr val="dk1"/>
                </a:solidFill>
                <a:latin typeface="+mn-lt"/>
                <a:ea typeface="+mn-ea"/>
              </a:rPr>
              <a:t>5</a:t>
            </a:fld>
            <a:endParaRPr lang="en-US" sz="18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laceHolder 1"/>
          <p:cNvSpPr>
            <a:spLocks noGrp="1" noRot="1" noChangeAspect="1"/>
          </p:cNvSpPr>
          <p:nvPr>
            <p:ph type="sldImg"/>
          </p:nvPr>
        </p:nvSpPr>
        <p:spPr>
          <a:xfrm>
            <a:off x="0" y="0"/>
            <a:ext cx="0" cy="0"/>
          </a:xfrm>
          <a:prstGeom prst="rect">
            <a:avLst/>
          </a:prstGeom>
          <a:ln w="0">
            <a:noFill/>
          </a:ln>
        </p:spPr>
      </p:sp>
      <p:sp>
        <p:nvSpPr>
          <p:cNvPr id="44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47"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93F6DC69-F760-4140-8BA5-98C9477D0EA4}" type="slidenum">
              <a:rPr lang="en-US" sz="1800" b="0" strike="noStrike" spc="-1">
                <a:solidFill>
                  <a:schemeClr val="dk1"/>
                </a:solidFill>
                <a:latin typeface="+mn-lt"/>
                <a:ea typeface="+mn-ea"/>
              </a:rPr>
              <a:t>6</a:t>
            </a:fld>
            <a:endParaRPr lang="en-US" sz="18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laceHolder 1"/>
          <p:cNvSpPr>
            <a:spLocks noGrp="1" noRot="1" noChangeAspect="1"/>
          </p:cNvSpPr>
          <p:nvPr>
            <p:ph type="sldImg"/>
          </p:nvPr>
        </p:nvSpPr>
        <p:spPr>
          <a:xfrm>
            <a:off x="0" y="0"/>
            <a:ext cx="0" cy="0"/>
          </a:xfrm>
          <a:prstGeom prst="rect">
            <a:avLst/>
          </a:prstGeom>
          <a:ln w="0">
            <a:noFill/>
          </a:ln>
        </p:spPr>
      </p:sp>
      <p:sp>
        <p:nvSpPr>
          <p:cNvPr id="44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n-US" sz="2000" b="0" strike="noStrike" spc="-1">
                <a:solidFill>
                  <a:srgbClr val="000000"/>
                </a:solidFill>
                <a:latin typeface="Arial"/>
              </a:rPr>
              <a:t>One-sided Mann-Whitney test is that can happen even when the typical case barely differs. Median value change rounds to 0% for all injured buckets alike. No-injury players show +11.11% raw, +4.35%</a:t>
            </a:r>
            <a:r>
              <a:rPr lang="en-US" sz="2000" b="0" strike="noStrike" spc="-1">
                <a:solidFill>
                  <a:srgbClr val="000000"/>
                </a:solidFill>
                <a:latin typeface="+mn-lt"/>
              </a:rPr>
              <a:t>significant, p approx 0.0000, but at ~30,000 snapshots </a:t>
            </a:r>
            <a:r>
              <a:rPr lang="en-US" sz="2000" b="0" strike="noStrike" spc="-1">
                <a:solidFill>
                  <a:srgbClr val="000000"/>
                </a:solidFill>
                <a:latin typeface="Arial"/>
              </a:rPr>
              <a:t> after excluding low-starting-valuation snapshots that look like breakout-debut artifacts rather than real injury effects.</a:t>
            </a:r>
          </a:p>
        </p:txBody>
      </p:sp>
      <p:sp>
        <p:nvSpPr>
          <p:cNvPr id="450"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FDB7C56F-5EE5-4CC8-811F-12FE0CC9EE5D}" type="slidenum">
              <a:rPr lang="en-US" sz="1800" b="0" strike="noStrike" spc="-1">
                <a:solidFill>
                  <a:schemeClr val="dk1"/>
                </a:solidFill>
                <a:latin typeface="+mn-lt"/>
                <a:ea typeface="+mn-ea"/>
              </a:rPr>
              <a:t>7</a:t>
            </a:fld>
            <a:endParaRPr lang="en-US" sz="18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PlaceHolder 1"/>
          <p:cNvSpPr>
            <a:spLocks noGrp="1" noRot="1" noChangeAspect="1"/>
          </p:cNvSpPr>
          <p:nvPr>
            <p:ph type="sldImg"/>
          </p:nvPr>
        </p:nvSpPr>
        <p:spPr>
          <a:xfrm>
            <a:off x="0" y="0"/>
            <a:ext cx="0" cy="0"/>
          </a:xfrm>
          <a:prstGeom prst="rect">
            <a:avLst/>
          </a:prstGeom>
          <a:ln w="0">
            <a:noFill/>
          </a:ln>
        </p:spPr>
      </p:sp>
      <p:sp>
        <p:nvSpPr>
          <p:cNvPr id="45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n-US" sz="2000" b="0" strike="noStrike" spc="-1">
                <a:solidFill>
                  <a:srgbClr val="000000"/>
                </a:solidFill>
                <a:latin typeface="Arial"/>
              </a:rPr>
              <a:t>Both Kruskal-Wallis tests are significant: value growth H=95.27 p approx 0.0000, risk H=34.57 p approx 0.0000, n=582 players (one row per player, so significance carries real weight here). Median injury rate by bucket: 21-24 = 2.49, 25-28 = 3.97, 29-32 = 3.22, 33+ = 5.95 per 1,000 90s. Median value change is 0% in every bucket except 21-24 (+7.14%). Under-21 bucket (n=4) omitted, too small to trust.</a:t>
            </a:r>
          </a:p>
        </p:txBody>
      </p:sp>
      <p:sp>
        <p:nvSpPr>
          <p:cNvPr id="453"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DC445EC5-0D6D-47C2-81CB-C21315204176}" type="slidenum">
              <a:rPr lang="en-US" sz="1800" b="0" strike="noStrike" spc="-1">
                <a:solidFill>
                  <a:schemeClr val="dk1"/>
                </a:solidFill>
                <a:latin typeface="+mn-lt"/>
                <a:ea typeface="+mn-ea"/>
              </a:rPr>
              <a:t>8</a:t>
            </a:fld>
            <a:endParaRPr lang="en-US" sz="18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noRot="1" noChangeAspect="1"/>
          </p:cNvSpPr>
          <p:nvPr>
            <p:ph type="sldImg"/>
          </p:nvPr>
        </p:nvSpPr>
        <p:spPr>
          <a:xfrm>
            <a:off x="0" y="0"/>
            <a:ext cx="0" cy="0"/>
          </a:xfrm>
          <a:prstGeom prst="rect">
            <a:avLst/>
          </a:prstGeom>
          <a:ln w="0">
            <a:noFill/>
          </a:ln>
        </p:spPr>
      </p:sp>
      <p:sp>
        <p:nvSpPr>
          <p:cNvPr id="4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n-US" sz="2000" b="0" strike="noStrike" spc="-1">
                <a:solidFill>
                  <a:srgbClr val="000000"/>
                </a:solidFill>
                <a:latin typeface="Arial"/>
              </a:rPr>
              <a:t>Kruskal-Wallis across all 4 positions: p = 0.61, nowhere near significant. Reported as an honest null result, not hidden. Goalkeepers show a lower group-level median (2.32 vs 4.15-4.30 for outfield positions), consistent with real football knowledge (far less running and sprinting exposure), but only 52 goalkeepers had enough playing time to include, with highly spread individual rates. Underpowered to confirm, not disproven.</a:t>
            </a:r>
          </a:p>
        </p:txBody>
      </p:sp>
      <p:sp>
        <p:nvSpPr>
          <p:cNvPr id="456"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39BC769F-144B-4660-A660-ADAC9D4D744A}" type="slidenum">
              <a:rPr lang="en-US" sz="1800" b="0" strike="noStrike" spc="-1">
                <a:solidFill>
                  <a:schemeClr val="dk1"/>
                </a:solidFill>
                <a:latin typeface="+mn-lt"/>
                <a:ea typeface="+mn-ea"/>
              </a:rPr>
              <a:t>9</a:t>
            </a:fld>
            <a:endParaRPr lang="en-US" sz="18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noRot="1" noChangeAspect="1"/>
          </p:cNvSpPr>
          <p:nvPr>
            <p:ph type="sldImg"/>
          </p:nvPr>
        </p:nvSpPr>
        <p:spPr>
          <a:xfrm>
            <a:off x="0" y="0"/>
            <a:ext cx="0" cy="0"/>
          </a:xfrm>
          <a:prstGeom prst="rect">
            <a:avLst/>
          </a:prstGeom>
          <a:ln w="0">
            <a:noFill/>
          </a:ln>
        </p:spPr>
      </p:sp>
      <p:sp>
        <p:nvSpPr>
          <p:cNvPr id="45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n-US" sz="2000" b="0" strike="noStrike" spc="-1">
                <a:solidFill>
                  <a:srgbClr val="000000"/>
                </a:solidFill>
                <a:latin typeface="Arial"/>
              </a:rPr>
              <a:t>Kruskal-Wallis across all 4 positions: p = 0.61, nowhere near significant. Reported as an honest null result, not hidden. Goalkeepers show a lower group-level median (2.32 vs 4.15-4.30 for outfield positions), consistent with real football knowledge (far less running and sprinting exposure), but only 52 goalkeepers had enough playing time to include, with highly spread individual rates. Underpowered to confirm, not disproven.</a:t>
            </a:r>
          </a:p>
        </p:txBody>
      </p:sp>
      <p:sp>
        <p:nvSpPr>
          <p:cNvPr id="459"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7C6D22EC-EB70-4D3A-95C4-06D04C735829}" type="slidenum">
              <a:rPr lang="en-US" sz="1800" b="0" strike="noStrike" spc="-1">
                <a:solidFill>
                  <a:schemeClr val="dk1"/>
                </a:solidFill>
                <a:latin typeface="+mn-lt"/>
                <a:ea typeface="+mn-ea"/>
              </a:rPr>
              <a:t>10</a:t>
            </a:fld>
            <a:endParaRPr lang="en-US" sz="18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0" y="0"/>
            <a:ext cx="0" cy="0"/>
          </a:xfrm>
          <a:prstGeom prst="rect">
            <a:avLst/>
          </a:prstGeom>
          <a:ln w="0">
            <a:noFill/>
          </a:ln>
        </p:spPr>
      </p:sp>
      <p:sp>
        <p:nvSpPr>
          <p:cNvPr id="46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n-US" sz="2000" b="0" strike="noStrike" spc="-1">
                <a:solidFill>
                  <a:srgbClr val="000000"/>
                </a:solidFill>
                <a:latin typeface="Arial"/>
              </a:rPr>
              <a:t>Prophet time-series model, fit in log-space on each player's valuation history, backtested by holding out the last 2 known snapshots per player across a random sample of 150 (of 1,518 eligible players with 6+ snapshots). Directional accuracy: 34/150 correct = 22.7%, versus a ~50% coin-flip baseline -- the model is systematically biased toward predicting 'rising' (91% of forecasts, 136/150) while the actual holdout outcomes were 80% falling (120/150), so the miss is a real, structural optimism bias, not random noise. Magnitude error: median 149.4% absolute error, 75th percentile 406.7%, worse for cheap/fringe players (under EUR1M: 184.1% median) than for players valued over EUR10M (125.1% median). This is the direct, honest answer to Q1: raw value-trend forecasting is not trustworthy on its own -- which is exactly why the project pairs it with the injury-risk score rather than reading a rising valuation as confirmed. The recruitment-signal quadrants downstream (Priority Target / Caution Flag) inherit this same 'rising' bias (93% of the combined signal table is flagged rising) and should be read as a directional flag, not a calibrated prediction. Q&amp;A note: since 80% of holdout outcomes fell, a model that always predicted 'falling' would score about 80% by never trying to call the harder cases -- our model is directional, not a constant-prediction baseline, but be ready for this comparison if asked.</a:t>
            </a:r>
          </a:p>
        </p:txBody>
      </p:sp>
      <p:sp>
        <p:nvSpPr>
          <p:cNvPr id="462"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11B71B4E-4B36-45F2-8C13-154A9282442C}" type="slidenum">
              <a:rPr lang="en-US" sz="1800" b="0" strike="noStrike" spc="-1">
                <a:solidFill>
                  <a:schemeClr val="dk1"/>
                </a:solidFill>
                <a:latin typeface="+mn-lt"/>
                <a:ea typeface="+mn-ea"/>
              </a:rPr>
              <a:t>11</a:t>
            </a:fld>
            <a:endParaRPr lang="en-US" sz="18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0" y="0"/>
            <a:ext cx="0" cy="0"/>
          </a:xfrm>
          <a:prstGeom prst="rect">
            <a:avLst/>
          </a:prstGeom>
          <a:ln w="0">
            <a:noFill/>
          </a:ln>
        </p:spPr>
      </p:sp>
      <p:sp>
        <p:nvSpPr>
          <p:cNvPr id="46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65"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E69B9640-BD58-49A5-8336-98F25C65313E}" type="slidenum">
              <a:rPr lang="en-US" sz="1800" b="0" strike="noStrike" spc="-1">
                <a:solidFill>
                  <a:schemeClr val="dk1"/>
                </a:solidFill>
                <a:latin typeface="+mn-lt"/>
                <a:ea typeface="+mn-ea"/>
              </a:rPr>
              <a:t>12</a:t>
            </a:fld>
            <a:endParaRPr lang="en-US" sz="18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noRot="1" noChangeAspect="1"/>
          </p:cNvSpPr>
          <p:nvPr>
            <p:ph type="sldImg"/>
          </p:nvPr>
        </p:nvSpPr>
        <p:spPr>
          <a:xfrm>
            <a:off x="0" y="0"/>
            <a:ext cx="0" cy="0"/>
          </a:xfrm>
          <a:prstGeom prst="rect">
            <a:avLst/>
          </a:prstGeom>
          <a:ln w="0">
            <a:noFill/>
          </a:ln>
        </p:spPr>
      </p:sp>
      <p:sp>
        <p:nvSpPr>
          <p:cNvPr id="4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n-US" sz="2000" b="0" strike="noStrike" spc="-1">
                <a:solidFill>
                  <a:srgbClr val="000000"/>
                </a:solidFill>
                <a:latin typeface="Arial"/>
              </a:rPr>
              <a:t>Lead with the injury-history finding as the headline result, not a footnote -- and connect it explicitly to the forecast-validation slide: because the raw value trend can't be trusted alone (22.7% directional accuracy), the injury signal is what actually earns its place in the recruitment decision. If asked 'so what should I actually do with this', point straight at the three recommendation-slide bullets next.</a:t>
            </a:r>
          </a:p>
        </p:txBody>
      </p:sp>
      <p:sp>
        <p:nvSpPr>
          <p:cNvPr id="468"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9D6028F0-BDB5-4EC3-8958-525BC0AFEE56}" type="slidenum">
              <a:rPr lang="en-US" sz="1800" b="0" strike="noStrike" spc="-1">
                <a:solidFill>
                  <a:schemeClr val="dk1"/>
                </a:solidFill>
                <a:latin typeface="+mn-lt"/>
                <a:ea typeface="+mn-ea"/>
              </a:rPr>
              <a:t>13</a:t>
            </a:fld>
            <a:endParaRPr lang="en-US" sz="18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0" y="0"/>
            <a:ext cx="0" cy="0"/>
          </a:xfrm>
          <a:prstGeom prst="rect">
            <a:avLst/>
          </a:prstGeom>
          <a:ln w="0">
            <a:noFill/>
          </a:ln>
        </p:spPr>
      </p:sp>
      <p:sp>
        <p:nvSpPr>
          <p:cNvPr id="4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71"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0FA2553E-9BFC-4795-89D8-C67EEE20A754}" type="slidenum">
              <a:rPr lang="en-US" sz="1800" b="0" strike="noStrike" spc="-1">
                <a:solidFill>
                  <a:schemeClr val="dk1"/>
                </a:solidFill>
                <a:latin typeface="+mn-lt"/>
                <a:ea typeface="+mn-ea"/>
              </a:rPr>
              <a:t>14</a:t>
            </a:fld>
            <a:endParaRPr lang="en-US" sz="18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0" y="0"/>
            <a:ext cx="0" cy="0"/>
          </a:xfrm>
          <a:prstGeom prst="rect">
            <a:avLst/>
          </a:prstGeom>
          <a:ln w="0">
            <a:noFill/>
          </a:ln>
        </p:spPr>
      </p:sp>
      <p:sp>
        <p:nvSpPr>
          <p:cNvPr id="4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0">
              <a:lnSpc>
                <a:spcPct val="100000"/>
              </a:lnSpc>
              <a:buNone/>
              <a:tabLst>
                <a:tab pos="0" algn="l"/>
              </a:tabLst>
            </a:pPr>
            <a:r>
              <a:rPr lang="en-US" sz="2000" b="0" strike="noStrike" spc="-1">
                <a:solidFill>
                  <a:srgbClr val="000000"/>
                </a:solidFill>
                <a:latin typeface="Arial"/>
              </a:rPr>
              <a:t>Click the button, or alt-tab, to switch to Tableau Desktop with the workbook already open. Start on the Cover, then walk through Value Trend, Risk Summary, Age &amp; Risk Profile, and Recency &amp; Position Risk Profile. Use the unified player/age/risk parameters to show cross-dashboard interactivity live. If the connection drops or the file won't open, the very next slide is a static fallback -- skip to it and keep talking through the same points from the screenshot.</a:t>
            </a:r>
          </a:p>
        </p:txBody>
      </p:sp>
      <p:sp>
        <p:nvSpPr>
          <p:cNvPr id="474"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rgbClr val="000000"/>
                </a:solidFill>
                <a:latin typeface="Aptos"/>
                <a:ea typeface="+mn-ea"/>
              </a:defRPr>
            </a:lvl1pPr>
          </a:lstStyle>
          <a:p>
            <a:pPr indent="0" algn="r" defTabSz="914400">
              <a:lnSpc>
                <a:spcPct val="100000"/>
              </a:lnSpc>
              <a:buNone/>
              <a:tabLst>
                <a:tab pos="0" algn="l"/>
              </a:tabLst>
            </a:pPr>
            <a:fld id="{2B2A6EBF-4604-465E-A468-A6403C78D4ED}" type="slidenum">
              <a:rPr lang="en-US" sz="1800" b="0" strike="noStrike" spc="-1">
                <a:solidFill>
                  <a:srgbClr val="000000"/>
                </a:solidFill>
                <a:latin typeface="Aptos"/>
                <a:ea typeface="+mn-ea"/>
              </a:rPr>
              <a:t>15</a:t>
            </a:fld>
            <a:endParaRPr lang="en-US" sz="18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0" y="0"/>
            <a:ext cx="0" cy="0"/>
          </a:xfrm>
          <a:prstGeom prst="rect">
            <a:avLst/>
          </a:prstGeom>
          <a:ln w="0">
            <a:noFill/>
          </a:ln>
        </p:spPr>
      </p:sp>
      <p:sp>
        <p:nvSpPr>
          <p:cNvPr id="4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77"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27D3BA92-1FFF-4FA2-BA21-29968ECE55ED}" type="slidenum">
              <a:rPr lang="en-US" sz="1800" b="0" strike="noStrike" spc="-1">
                <a:solidFill>
                  <a:schemeClr val="dk1"/>
                </a:solidFill>
                <a:latin typeface="+mn-lt"/>
                <a:ea typeface="+mn-ea"/>
              </a:rPr>
              <a:t>16</a:t>
            </a:fld>
            <a:endParaRPr lang="en-US" sz="18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0" y="0"/>
            <a:ext cx="0" cy="0"/>
          </a:xfrm>
          <a:prstGeom prst="rect">
            <a:avLst/>
          </a:prstGeom>
          <a:ln w="0">
            <a:noFill/>
          </a:ln>
        </p:spPr>
      </p:sp>
      <p:sp>
        <p:nvSpPr>
          <p:cNvPr id="4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US" sz="1800" b="0" strike="noStrike" spc="-1">
              <a:solidFill>
                <a:srgbClr val="000000"/>
              </a:solidFill>
              <a:latin typeface="Arial"/>
            </a:endParaRPr>
          </a:p>
        </p:txBody>
      </p:sp>
      <p:sp>
        <p:nvSpPr>
          <p:cNvPr id="480"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strike="noStrike" spc="-1">
                <a:solidFill>
                  <a:schemeClr val="dk1"/>
                </a:solidFill>
                <a:latin typeface="+mn-lt"/>
                <a:ea typeface="+mn-ea"/>
              </a:defRPr>
            </a:lvl1pPr>
          </a:lstStyle>
          <a:p>
            <a:pPr indent="0" algn="r" defTabSz="914400">
              <a:lnSpc>
                <a:spcPct val="100000"/>
              </a:lnSpc>
              <a:buNone/>
              <a:tabLst>
                <a:tab pos="0" algn="l"/>
              </a:tabLst>
            </a:pPr>
            <a:fld id="{B37478A2-BECC-4B4B-82AE-0A4B1C661EF1}" type="slidenum">
              <a:rPr lang="en-US" sz="1800" b="0" strike="noStrike" spc="-1">
                <a:solidFill>
                  <a:schemeClr val="dk1"/>
                </a:solidFill>
                <a:latin typeface="+mn-lt"/>
                <a:ea typeface="+mn-ea"/>
              </a:rPr>
              <a:t>17</a:t>
            </a:fld>
            <a:endParaRPr lang="en-US" sz="18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4.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7.png"/><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chart" Target="../charts/char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chart" Target="../charts/chart3.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8.sv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hyperlink" Target="file:///C:\Users\mahmo\Desktop\Data_Analytics_Bootcamp\pl_recruitment_capstone\Capstone%20project.%20Injury%20Risk%20in%20Premier%20League%20Recruitment.twbx"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https://github.com/Simba90m/capstone_project_worth_the_investment_P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8" name="Pitch 900"/>
          <p:cNvSpPr/>
          <p:nvPr/>
        </p:nvSpPr>
        <p:spPr>
          <a:xfrm>
            <a:off x="762120" y="762120"/>
            <a:ext cx="10666080" cy="533232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 name="Pitch 901"/>
          <p:cNvSpPr/>
          <p:nvPr/>
        </p:nvSpPr>
        <p:spPr>
          <a:xfrm>
            <a:off x="6095880" y="761760"/>
            <a:ext cx="360" cy="5334120"/>
          </a:xfrm>
          <a:prstGeom prst="line">
            <a:avLst/>
          </a:prstGeom>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chemeClr val="dk1"/>
              </a:solidFill>
              <a:latin typeface="Calibri"/>
            </a:endParaRPr>
          </a:p>
        </p:txBody>
      </p:sp>
      <p:sp>
        <p:nvSpPr>
          <p:cNvPr id="10" name="Pitch 902"/>
          <p:cNvSpPr/>
          <p:nvPr/>
        </p:nvSpPr>
        <p:spPr>
          <a:xfrm>
            <a:off x="5207040" y="2540160"/>
            <a:ext cx="1776240" cy="1776240"/>
          </a:xfrm>
          <a:prstGeom prst="ellipse">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 name="Pitch 903"/>
          <p:cNvSpPr/>
          <p:nvPr/>
        </p:nvSpPr>
        <p:spPr>
          <a:xfrm>
            <a:off x="6045120" y="3378240"/>
            <a:ext cx="99720" cy="99720"/>
          </a:xfrm>
          <a:prstGeom prst="ellipse">
            <a:avLst/>
          </a:prstGeom>
          <a:solidFill>
            <a:srgbClr val="1E2E55"/>
          </a:solidFill>
          <a:ln w="12700">
            <a:solidFill>
              <a:srgbClr val="1A2A4E"/>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pPr defTabSz="914400">
              <a:lnSpc>
                <a:spcPct val="100000"/>
              </a:lnSpc>
            </a:pPr>
            <a:endParaRPr lang="en-US" sz="1800" b="0" strike="noStrike" spc="-1">
              <a:solidFill>
                <a:schemeClr val="dk1"/>
              </a:solidFill>
              <a:latin typeface="Calibri"/>
            </a:endParaRPr>
          </a:p>
        </p:txBody>
      </p:sp>
      <p:sp>
        <p:nvSpPr>
          <p:cNvPr id="12" name="Pitch 904"/>
          <p:cNvSpPr/>
          <p:nvPr/>
        </p:nvSpPr>
        <p:spPr>
          <a:xfrm>
            <a:off x="762120" y="1905120"/>
            <a:ext cx="1522080" cy="304632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 name="Pitch 905"/>
          <p:cNvSpPr/>
          <p:nvPr/>
        </p:nvSpPr>
        <p:spPr>
          <a:xfrm>
            <a:off x="762120" y="2666880"/>
            <a:ext cx="658440" cy="152208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 name="Pitch 906"/>
          <p:cNvSpPr/>
          <p:nvPr/>
        </p:nvSpPr>
        <p:spPr>
          <a:xfrm>
            <a:off x="9906120" y="1905120"/>
            <a:ext cx="1522080" cy="304632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 name="Pitch 907"/>
          <p:cNvSpPr/>
          <p:nvPr/>
        </p:nvSpPr>
        <p:spPr>
          <a:xfrm>
            <a:off x="10769760" y="2666880"/>
            <a:ext cx="658440" cy="152208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 name="Shape 0"/>
          <p:cNvSpPr/>
          <p:nvPr/>
        </p:nvSpPr>
        <p:spPr>
          <a:xfrm>
            <a:off x="-36576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 name="Shape 1"/>
          <p:cNvSpPr/>
          <p:nvPr/>
        </p:nvSpPr>
        <p:spPr>
          <a:xfrm>
            <a:off x="1182600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8" name="Shape 2"/>
          <p:cNvSpPr/>
          <p:nvPr/>
        </p:nvSpPr>
        <p:spPr>
          <a:xfrm>
            <a:off x="-36576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 name="Shape 3"/>
          <p:cNvSpPr/>
          <p:nvPr/>
        </p:nvSpPr>
        <p:spPr>
          <a:xfrm>
            <a:off x="1182600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 name="Shape 4"/>
          <p:cNvSpPr/>
          <p:nvPr/>
        </p:nvSpPr>
        <p:spPr>
          <a:xfrm>
            <a:off x="7589520" y="-4297680"/>
            <a:ext cx="5850360" cy="5850360"/>
          </a:xfrm>
          <a:prstGeom prst="ellipse">
            <a:avLst/>
          </a:prstGeom>
          <a:solidFill>
            <a:srgbClr val="1F7A4D">
              <a:alpha val="5000"/>
            </a:srgbClr>
          </a:solidFill>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 name="Shape 5"/>
          <p:cNvSpPr/>
          <p:nvPr/>
        </p:nvSpPr>
        <p:spPr>
          <a:xfrm>
            <a:off x="10469880" y="-1417320"/>
            <a:ext cx="89640" cy="89640"/>
          </a:xfrm>
          <a:prstGeom prst="ellipse">
            <a:avLst/>
          </a:prstGeom>
          <a:solidFill>
            <a:srgbClr val="E8A33D">
              <a:alpha val="75000"/>
            </a:srgbClr>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22" name="Text 6"/>
          <p:cNvSpPr/>
          <p:nvPr/>
        </p:nvSpPr>
        <p:spPr>
          <a:xfrm>
            <a:off x="822960" y="1691640"/>
            <a:ext cx="73134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E8A33D"/>
                </a:solidFill>
                <a:latin typeface="Calibri"/>
                <a:ea typeface="Calibri"/>
              </a:rPr>
              <a:t>DATA ANALYTICS CAPSTONE</a:t>
            </a:r>
            <a:endParaRPr lang="en-US" sz="1400" b="0" strike="noStrike" spc="-1">
              <a:solidFill>
                <a:srgbClr val="FFFFFF"/>
              </a:solidFill>
              <a:latin typeface="Arial"/>
            </a:endParaRPr>
          </a:p>
        </p:txBody>
      </p:sp>
      <p:sp>
        <p:nvSpPr>
          <p:cNvPr id="23" name="Text 7"/>
          <p:cNvSpPr/>
          <p:nvPr/>
        </p:nvSpPr>
        <p:spPr>
          <a:xfrm>
            <a:off x="777240" y="2057400"/>
            <a:ext cx="10056600" cy="136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000" b="1" strike="noStrike" spc="-1">
                <a:solidFill>
                  <a:srgbClr val="FFFFFF"/>
                </a:solidFill>
                <a:latin typeface="Cambria"/>
                <a:ea typeface="Cambria"/>
              </a:rPr>
              <a:t>Worth the Investment?</a:t>
            </a:r>
            <a:endParaRPr lang="en-US" sz="5000" b="0" strike="noStrike" spc="-1">
              <a:solidFill>
                <a:srgbClr val="FFFFFF"/>
              </a:solidFill>
              <a:latin typeface="Arial"/>
            </a:endParaRPr>
          </a:p>
        </p:txBody>
      </p:sp>
      <p:sp>
        <p:nvSpPr>
          <p:cNvPr id="24" name="Text 8"/>
          <p:cNvSpPr/>
          <p:nvPr/>
        </p:nvSpPr>
        <p:spPr>
          <a:xfrm>
            <a:off x="822960" y="3310200"/>
            <a:ext cx="8776440" cy="82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900" b="0" strike="noStrike" spc="-1">
                <a:solidFill>
                  <a:srgbClr val="CADCFC"/>
                </a:solidFill>
                <a:latin typeface="Calibri"/>
                <a:ea typeface="Calibri"/>
              </a:rPr>
              <a:t>Forecasting Player Value Trend &amp; Injury Risk for Premier League Recruitment Decisions</a:t>
            </a:r>
            <a:endParaRPr lang="en-US" sz="1900" b="0" strike="noStrike" spc="-1">
              <a:solidFill>
                <a:srgbClr val="FFFFFF"/>
              </a:solidFill>
              <a:latin typeface="Arial"/>
            </a:endParaRPr>
          </a:p>
        </p:txBody>
      </p:sp>
      <p:sp>
        <p:nvSpPr>
          <p:cNvPr id="25" name="Shape 9"/>
          <p:cNvSpPr/>
          <p:nvPr/>
        </p:nvSpPr>
        <p:spPr>
          <a:xfrm>
            <a:off x="822960" y="4343400"/>
            <a:ext cx="80640" cy="546840"/>
          </a:xfrm>
          <a:prstGeom prst="roundRect">
            <a:avLst>
              <a:gd name="adj" fmla="val 16667"/>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6" name="Text 10"/>
          <p:cNvSpPr/>
          <p:nvPr/>
        </p:nvSpPr>
        <p:spPr>
          <a:xfrm>
            <a:off x="1051560" y="4343400"/>
            <a:ext cx="731340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strike="noStrike" spc="-1">
                <a:solidFill>
                  <a:srgbClr val="AEB8D6"/>
                </a:solidFill>
                <a:latin typeface="Calibri"/>
                <a:ea typeface="Calibri"/>
              </a:rPr>
              <a:t>3 data sources  ·  3 stakeholders  ·  1 honest recruitment signal</a:t>
            </a:r>
            <a:endParaRPr lang="en-US" sz="1400" b="0" strike="noStrike" spc="-1">
              <a:solidFill>
                <a:srgbClr val="FFFFFF"/>
              </a:solidFill>
              <a:latin typeface="Arial"/>
            </a:endParaRPr>
          </a:p>
        </p:txBody>
      </p:sp>
      <p:sp>
        <p:nvSpPr>
          <p:cNvPr id="27" name="Text 11"/>
          <p:cNvSpPr/>
          <p:nvPr/>
        </p:nvSpPr>
        <p:spPr>
          <a:xfrm>
            <a:off x="822960" y="6210360"/>
            <a:ext cx="95994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8E9BC4"/>
                </a:solidFill>
                <a:latin typeface="Calibri"/>
                <a:ea typeface="Calibri"/>
              </a:rPr>
              <a:t>Mahmoud   ·   neue fische Data Analytics Bootcamp   ·   Capstone Event, Sep 29 2026</a:t>
            </a:r>
            <a:endParaRPr lang="en-US" sz="1300" b="0" strike="noStrike" spc="-1">
              <a:solidFill>
                <a:srgbClr val="FFFFFF"/>
              </a:solidFill>
              <a:latin typeface="Arial"/>
            </a:endParaRPr>
          </a:p>
        </p:txBody>
      </p:sp>
      <p:pic>
        <p:nvPicPr>
          <p:cNvPr id="28" name="Graphic 908" descr="Soccer ball on the penalty spot"/>
          <p:cNvPicPr/>
          <p:nvPr/>
        </p:nvPicPr>
        <p:blipFill>
          <a:blip r:embed="rId5">
            <a:extLst>
              <a:ext uri="{96DAC541-7B7A-43D3-8B79-37D633B846F1}">
                <asvg:svgBlip xmlns:asvg="http://schemas.microsoft.com/office/drawing/2016/SVG/main" r:embed="rId6"/>
              </a:ext>
            </a:extLst>
          </a:blip>
          <a:stretch/>
        </p:blipFill>
        <p:spPr>
          <a:xfrm>
            <a:off x="10223640" y="3238560"/>
            <a:ext cx="379080" cy="379080"/>
          </a:xfrm>
          <a:prstGeom prst="rect">
            <a:avLst/>
          </a:prstGeom>
          <a:ln w="0">
            <a:noFill/>
          </a:ln>
        </p:spPr>
      </p:pic>
      <p:pic>
        <p:nvPicPr>
          <p:cNvPr id="31" name="intro_video.mp4"/>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0" y="0"/>
            <a:ext cx="12192000" cy="6858000"/>
          </a:xfrm>
          <a:prstGeom prst="rect">
            <a:avLst/>
          </a:prstGeom>
        </p:spPr>
      </p:pic>
    </p:spTree>
    <p:extLst>
      <p:ext uri="{BB962C8B-B14F-4D97-AF65-F5344CB8AC3E}">
        <p14:creationId xmlns:p14="http://schemas.microsoft.com/office/powerpoint/2010/main" val="206320911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0"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1"/>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9" name="Text 2"/>
          <p:cNvSpPr/>
          <p:nvPr/>
        </p:nvSpPr>
        <p:spPr>
          <a:xfrm>
            <a:off x="822960" y="594360"/>
            <a:ext cx="54846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1F7A4D"/>
                </a:solidFill>
                <a:latin typeface="Calibri"/>
                <a:ea typeface="Calibri"/>
              </a:rPr>
              <a:t>AGENDA</a:t>
            </a:r>
            <a:endParaRPr lang="en-US" sz="1400" b="0" strike="noStrike" spc="-1">
              <a:solidFill>
                <a:srgbClr val="000000"/>
              </a:solidFill>
              <a:latin typeface="Arial"/>
            </a:endParaRPr>
          </a:p>
        </p:txBody>
      </p:sp>
      <p:sp>
        <p:nvSpPr>
          <p:cNvPr id="30" name="Text 3"/>
          <p:cNvSpPr/>
          <p:nvPr/>
        </p:nvSpPr>
        <p:spPr>
          <a:xfrm>
            <a:off x="777240" y="896040"/>
            <a:ext cx="8227800" cy="72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400" b="1" strike="noStrike" spc="-1">
                <a:solidFill>
                  <a:srgbClr val="1A1A1A"/>
                </a:solidFill>
                <a:latin typeface="Cambria"/>
                <a:ea typeface="Cambria"/>
              </a:rPr>
              <a:t>What we'll cover</a:t>
            </a:r>
            <a:endParaRPr lang="en-US" sz="3400" b="0" strike="noStrike" spc="-1">
              <a:solidFill>
                <a:srgbClr val="000000"/>
              </a:solidFill>
              <a:latin typeface="Arial"/>
            </a:endParaRPr>
          </a:p>
        </p:txBody>
      </p:sp>
      <p:sp>
        <p:nvSpPr>
          <p:cNvPr id="31" name="Shape 4"/>
          <p:cNvSpPr/>
          <p:nvPr/>
        </p:nvSpPr>
        <p:spPr>
          <a:xfrm>
            <a:off x="681120" y="1824120"/>
            <a:ext cx="848520" cy="848520"/>
          </a:xfrm>
          <a:prstGeom prst="ellipse">
            <a:avLst/>
          </a:prstGeom>
          <a:solidFill>
            <a:srgbClr val="0F1B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2" name="Shape 5"/>
          <p:cNvSpPr/>
          <p:nvPr/>
        </p:nvSpPr>
        <p:spPr>
          <a:xfrm>
            <a:off x="822960" y="1965960"/>
            <a:ext cx="565200" cy="56520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3" name="Text 6"/>
          <p:cNvSpPr/>
          <p:nvPr/>
        </p:nvSpPr>
        <p:spPr>
          <a:xfrm>
            <a:off x="1645920" y="1947600"/>
            <a:ext cx="77706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libri"/>
                <a:ea typeface="Calibri"/>
              </a:rPr>
              <a:t>The business question</a:t>
            </a:r>
            <a:endParaRPr lang="en-US" sz="1800" b="0" strike="noStrike" spc="-1">
              <a:solidFill>
                <a:srgbClr val="000000"/>
              </a:solidFill>
              <a:latin typeface="Arial"/>
            </a:endParaRPr>
          </a:p>
        </p:txBody>
      </p:sp>
      <p:sp>
        <p:nvSpPr>
          <p:cNvPr id="34" name="Text 7"/>
          <p:cNvSpPr/>
          <p:nvPr/>
        </p:nvSpPr>
        <p:spPr>
          <a:xfrm>
            <a:off x="1645920" y="2286000"/>
            <a:ext cx="86850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Why value trend alone can mislead a recruitment call</a:t>
            </a:r>
            <a:endParaRPr lang="en-US" sz="1400" b="0" strike="noStrike" spc="-1">
              <a:solidFill>
                <a:srgbClr val="000000"/>
              </a:solidFill>
              <a:latin typeface="Arial"/>
            </a:endParaRPr>
          </a:p>
        </p:txBody>
      </p:sp>
      <p:sp>
        <p:nvSpPr>
          <p:cNvPr id="35" name="Shape 8"/>
          <p:cNvSpPr/>
          <p:nvPr/>
        </p:nvSpPr>
        <p:spPr>
          <a:xfrm>
            <a:off x="681120" y="2720520"/>
            <a:ext cx="848520" cy="848520"/>
          </a:xfrm>
          <a:prstGeom prst="ellipse">
            <a:avLst/>
          </a:prstGeom>
          <a:solidFill>
            <a:srgbClr val="0F1B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6" name="Shape 9"/>
          <p:cNvSpPr/>
          <p:nvPr/>
        </p:nvSpPr>
        <p:spPr>
          <a:xfrm>
            <a:off x="822960" y="2862000"/>
            <a:ext cx="565200" cy="56520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 name="Text 10"/>
          <p:cNvSpPr/>
          <p:nvPr/>
        </p:nvSpPr>
        <p:spPr>
          <a:xfrm>
            <a:off x="1645920" y="2843640"/>
            <a:ext cx="77706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libri"/>
                <a:ea typeface="Calibri"/>
              </a:rPr>
              <a:t>The data &amp; pipeline</a:t>
            </a:r>
            <a:endParaRPr lang="en-US" sz="1800" b="0" strike="noStrike" spc="-1">
              <a:solidFill>
                <a:srgbClr val="000000"/>
              </a:solidFill>
              <a:latin typeface="Arial"/>
            </a:endParaRPr>
          </a:p>
        </p:txBody>
      </p:sp>
      <p:sp>
        <p:nvSpPr>
          <p:cNvPr id="38" name="Text 11"/>
          <p:cNvSpPr/>
          <p:nvPr/>
        </p:nvSpPr>
        <p:spPr>
          <a:xfrm>
            <a:off x="1645920" y="3182040"/>
            <a:ext cx="86850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Three sources, joined and modeled through dbt + DuckDB</a:t>
            </a:r>
            <a:endParaRPr lang="en-US" sz="1400" b="0" strike="noStrike" spc="-1">
              <a:solidFill>
                <a:srgbClr val="000000"/>
              </a:solidFill>
              <a:latin typeface="Arial"/>
            </a:endParaRPr>
          </a:p>
        </p:txBody>
      </p:sp>
      <p:sp>
        <p:nvSpPr>
          <p:cNvPr id="39" name="Shape 12"/>
          <p:cNvSpPr/>
          <p:nvPr/>
        </p:nvSpPr>
        <p:spPr>
          <a:xfrm>
            <a:off x="681120" y="3616560"/>
            <a:ext cx="848520" cy="848520"/>
          </a:xfrm>
          <a:prstGeom prst="ellipse">
            <a:avLst/>
          </a:prstGeom>
          <a:solidFill>
            <a:srgbClr val="0F1B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0" name="Shape 13"/>
          <p:cNvSpPr/>
          <p:nvPr/>
        </p:nvSpPr>
        <p:spPr>
          <a:xfrm>
            <a:off x="822960" y="3758040"/>
            <a:ext cx="565200" cy="56520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 name="Text 14"/>
          <p:cNvSpPr/>
          <p:nvPr/>
        </p:nvSpPr>
        <p:spPr>
          <a:xfrm>
            <a:off x="1645920" y="3740040"/>
            <a:ext cx="77706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libri"/>
                <a:ea typeface="Calibri"/>
              </a:rPr>
              <a:t>Three stakeholders, three hypotheses</a:t>
            </a:r>
            <a:endParaRPr lang="en-US" sz="1800" b="0" strike="noStrike" spc="-1">
              <a:solidFill>
                <a:srgbClr val="000000"/>
              </a:solidFill>
              <a:latin typeface="Arial"/>
            </a:endParaRPr>
          </a:p>
        </p:txBody>
      </p:sp>
      <p:sp>
        <p:nvSpPr>
          <p:cNvPr id="42" name="Text 15"/>
          <p:cNvSpPr/>
          <p:nvPr/>
        </p:nvSpPr>
        <p:spPr>
          <a:xfrm>
            <a:off x="1645920" y="4078080"/>
            <a:ext cx="86850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Scouting, Front Office, and Medical/Performance staff</a:t>
            </a:r>
            <a:endParaRPr lang="en-US" sz="1400" b="0" strike="noStrike" spc="-1">
              <a:solidFill>
                <a:srgbClr val="000000"/>
              </a:solidFill>
              <a:latin typeface="Arial"/>
            </a:endParaRPr>
          </a:p>
        </p:txBody>
      </p:sp>
      <p:sp>
        <p:nvSpPr>
          <p:cNvPr id="43" name="Shape 16"/>
          <p:cNvSpPr/>
          <p:nvPr/>
        </p:nvSpPr>
        <p:spPr>
          <a:xfrm>
            <a:off x="681120" y="4512600"/>
            <a:ext cx="848520" cy="848520"/>
          </a:xfrm>
          <a:prstGeom prst="ellipse">
            <a:avLst/>
          </a:prstGeom>
          <a:solidFill>
            <a:srgbClr val="0F1B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4" name="Shape 17"/>
          <p:cNvSpPr/>
          <p:nvPr/>
        </p:nvSpPr>
        <p:spPr>
          <a:xfrm>
            <a:off x="822960" y="4654440"/>
            <a:ext cx="565200" cy="56520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5" name="Text 18"/>
          <p:cNvSpPr/>
          <p:nvPr/>
        </p:nvSpPr>
        <p:spPr>
          <a:xfrm>
            <a:off x="1645920" y="4636080"/>
            <a:ext cx="77706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libri"/>
                <a:ea typeface="Calibri"/>
              </a:rPr>
              <a:t>What the results mean</a:t>
            </a:r>
            <a:endParaRPr lang="en-US" sz="1800" b="0" strike="noStrike" spc="-1">
              <a:solidFill>
                <a:srgbClr val="000000"/>
              </a:solidFill>
              <a:latin typeface="Arial"/>
            </a:endParaRPr>
          </a:p>
        </p:txBody>
      </p:sp>
      <p:sp>
        <p:nvSpPr>
          <p:cNvPr id="46" name="Text 19"/>
          <p:cNvSpPr/>
          <p:nvPr/>
        </p:nvSpPr>
        <p:spPr>
          <a:xfrm>
            <a:off x="1645920" y="4974480"/>
            <a:ext cx="86850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Honest findings, and the data's real limits</a:t>
            </a:r>
            <a:endParaRPr lang="en-US" sz="1400" b="0" strike="noStrike" spc="-1">
              <a:solidFill>
                <a:srgbClr val="000000"/>
              </a:solidFill>
              <a:latin typeface="Arial"/>
            </a:endParaRPr>
          </a:p>
        </p:txBody>
      </p:sp>
      <p:sp>
        <p:nvSpPr>
          <p:cNvPr id="47" name="Shape 20"/>
          <p:cNvSpPr/>
          <p:nvPr/>
        </p:nvSpPr>
        <p:spPr>
          <a:xfrm>
            <a:off x="681120" y="5408640"/>
            <a:ext cx="848520" cy="848520"/>
          </a:xfrm>
          <a:prstGeom prst="ellipse">
            <a:avLst/>
          </a:prstGeom>
          <a:solidFill>
            <a:srgbClr val="0F1B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8" name="Shape 21"/>
          <p:cNvSpPr/>
          <p:nvPr/>
        </p:nvSpPr>
        <p:spPr>
          <a:xfrm>
            <a:off x="822960" y="5550480"/>
            <a:ext cx="565200" cy="56520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9" name="Text 22"/>
          <p:cNvSpPr/>
          <p:nvPr/>
        </p:nvSpPr>
        <p:spPr>
          <a:xfrm>
            <a:off x="1645920" y="5532120"/>
            <a:ext cx="77706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libri"/>
                <a:ea typeface="Calibri"/>
              </a:rPr>
              <a:t>Live in Tableau</a:t>
            </a:r>
            <a:endParaRPr lang="en-US" sz="1800" b="0" strike="noStrike" spc="-1">
              <a:solidFill>
                <a:srgbClr val="000000"/>
              </a:solidFill>
              <a:latin typeface="Arial"/>
            </a:endParaRPr>
          </a:p>
        </p:txBody>
      </p:sp>
      <p:sp>
        <p:nvSpPr>
          <p:cNvPr id="50" name="Text 23"/>
          <p:cNvSpPr/>
          <p:nvPr/>
        </p:nvSpPr>
        <p:spPr>
          <a:xfrm>
            <a:off x="1645920" y="5870520"/>
            <a:ext cx="868500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Interactive dashboards for hands-on exploration</a:t>
            </a:r>
            <a:endParaRPr lang="en-US" sz="1400" b="0" strike="noStrike" spc="-1">
              <a:solidFill>
                <a:srgbClr val="000000"/>
              </a:solidFill>
              <a:latin typeface="Arial"/>
            </a:endParaRPr>
          </a:p>
        </p:txBody>
      </p:sp>
      <p:sp>
        <p:nvSpPr>
          <p:cNvPr id="51" name="Text 24"/>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0" strike="noStrike" spc="-1">
                <a:solidFill>
                  <a:srgbClr val="5A6478"/>
                </a:solidFill>
                <a:latin typeface="Calibri"/>
                <a:ea typeface="Calibri"/>
              </a:rPr>
              <a:t>02</a:t>
            </a:r>
            <a:endParaRPr lang="en-US" sz="1400" b="0" strike="noStrike" spc="-1">
              <a:solidFill>
                <a:srgbClr val="000000"/>
              </a:solidFill>
              <a:latin typeface="Arial"/>
            </a:endParaRPr>
          </a:p>
        </p:txBody>
      </p:sp>
      <p:pic>
        <p:nvPicPr>
          <p:cNvPr id="52" name="Graphic 35" descr="Soccer ball icon"/>
          <p:cNvPicPr/>
          <p:nvPr/>
        </p:nvPicPr>
        <p:blipFill>
          <a:blip r:embed="rId3">
            <a:extLst>
              <a:ext uri="{96DAC541-7B7A-43D3-8B79-37D633B846F1}">
                <asvg:svgBlip xmlns:asvg="http://schemas.microsoft.com/office/drawing/2016/SVG/main" r:embed="rId4"/>
              </a:ext>
            </a:extLst>
          </a:blip>
          <a:stretch/>
        </p:blipFill>
        <p:spPr>
          <a:xfrm>
            <a:off x="939960" y="2082960"/>
            <a:ext cx="328320" cy="328320"/>
          </a:xfrm>
          <a:prstGeom prst="rect">
            <a:avLst/>
          </a:prstGeom>
          <a:ln w="0">
            <a:noFill/>
          </a:ln>
        </p:spPr>
      </p:pic>
      <p:pic>
        <p:nvPicPr>
          <p:cNvPr id="53" name="Graphic 36" descr="Soccer player icon"/>
          <p:cNvPicPr/>
          <p:nvPr/>
        </p:nvPicPr>
        <p:blipFill>
          <a:blip r:embed="rId5">
            <a:extLst>
              <a:ext uri="{96DAC541-7B7A-43D3-8B79-37D633B846F1}">
                <asvg:svgBlip xmlns:asvg="http://schemas.microsoft.com/office/drawing/2016/SVG/main" r:embed="rId6"/>
              </a:ext>
            </a:extLst>
          </a:blip>
          <a:stretch/>
        </p:blipFill>
        <p:spPr>
          <a:xfrm>
            <a:off x="939960" y="2971800"/>
            <a:ext cx="328320" cy="328320"/>
          </a:xfrm>
          <a:prstGeom prst="rect">
            <a:avLst/>
          </a:prstGeom>
          <a:ln w="0">
            <a:noFill/>
          </a:ln>
        </p:spPr>
      </p:pic>
      <p:pic>
        <p:nvPicPr>
          <p:cNvPr id="54" name="Graphic 37" descr="Soccer goal icon"/>
          <p:cNvPicPr/>
          <p:nvPr/>
        </p:nvPicPr>
        <p:blipFill>
          <a:blip r:embed="rId7">
            <a:extLst>
              <a:ext uri="{96DAC541-7B7A-43D3-8B79-37D633B846F1}">
                <asvg:svgBlip xmlns:asvg="http://schemas.microsoft.com/office/drawing/2016/SVG/main" r:embed="rId8"/>
              </a:ext>
            </a:extLst>
          </a:blip>
          <a:stretch/>
        </p:blipFill>
        <p:spPr>
          <a:xfrm>
            <a:off x="939960" y="3873600"/>
            <a:ext cx="328320" cy="328320"/>
          </a:xfrm>
          <a:prstGeom prst="rect">
            <a:avLst/>
          </a:prstGeom>
          <a:ln w="0">
            <a:noFill/>
          </a:ln>
        </p:spPr>
      </p:pic>
      <p:pic>
        <p:nvPicPr>
          <p:cNvPr id="55" name="Graphic 38" descr="Whistle icon"/>
          <p:cNvPicPr/>
          <p:nvPr/>
        </p:nvPicPr>
        <p:blipFill>
          <a:blip r:embed="rId9">
            <a:extLst>
              <a:ext uri="{96DAC541-7B7A-43D3-8B79-37D633B846F1}">
                <asvg:svgBlip xmlns:asvg="http://schemas.microsoft.com/office/drawing/2016/SVG/main" r:embed="rId10"/>
              </a:ext>
            </a:extLst>
          </a:blip>
          <a:stretch/>
        </p:blipFill>
        <p:spPr>
          <a:xfrm>
            <a:off x="939960" y="4762440"/>
            <a:ext cx="328320" cy="328320"/>
          </a:xfrm>
          <a:prstGeom prst="rect">
            <a:avLst/>
          </a:prstGeom>
          <a:ln w="0">
            <a:noFill/>
          </a:ln>
        </p:spPr>
      </p:pic>
      <p:pic>
        <p:nvPicPr>
          <p:cNvPr id="56" name="Graphic 39" descr="Trophy icon"/>
          <p:cNvPicPr/>
          <p:nvPr/>
        </p:nvPicPr>
        <p:blipFill>
          <a:blip r:embed="rId11">
            <a:extLst>
              <a:ext uri="{96DAC541-7B7A-43D3-8B79-37D633B846F1}">
                <asvg:svgBlip xmlns:asvg="http://schemas.microsoft.com/office/drawing/2016/SVG/main" r:embed="rId12"/>
              </a:ext>
            </a:extLst>
          </a:blip>
          <a:stretch/>
        </p:blipFill>
        <p:spPr>
          <a:xfrm>
            <a:off x="939960" y="5664240"/>
            <a:ext cx="328320" cy="328320"/>
          </a:xfrm>
          <a:prstGeom prst="rect">
            <a:avLst/>
          </a:prstGeom>
          <a:ln w="0">
            <a:noFill/>
          </a:ln>
        </p:spPr>
      </p:pic>
    </p:spTree>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additive="repl">
                                        <p:cTn id="7" dur="500"/>
                                        <p:tgtEl>
                                          <p:spTgt spid="31"/>
                                        </p:tgtEl>
                                      </p:cBhvr>
                                    </p:animEffect>
                                  </p:childTnLst>
                                </p:cTn>
                              </p:par>
                              <p:par>
                                <p:cTn id="8" presetID="10" presetClass="entr"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additive="repl">
                                        <p:cTn id="10" dur="500"/>
                                        <p:tgtEl>
                                          <p:spTgt spid="32"/>
                                        </p:tgtEl>
                                      </p:cBhvr>
                                    </p:animEffect>
                                  </p:childTnLst>
                                </p:cTn>
                              </p:par>
                              <p:par>
                                <p:cTn id="11" presetID="10" presetClass="entr"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fade">
                                      <p:cBhvr additive="repl">
                                        <p:cTn id="13" dur="500"/>
                                        <p:tgtEl>
                                          <p:spTgt spid="52"/>
                                        </p:tgtEl>
                                      </p:cBhvr>
                                    </p:animEffect>
                                  </p:childTnLst>
                                </p:cTn>
                              </p:par>
                              <p:par>
                                <p:cTn id="14" presetID="10" presetClass="entr"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additive="repl">
                                        <p:cTn id="16" dur="500"/>
                                        <p:tgtEl>
                                          <p:spTgt spid="33"/>
                                        </p:tgtEl>
                                      </p:cBhvr>
                                    </p:animEffect>
                                  </p:childTnLst>
                                </p:cTn>
                              </p:par>
                              <p:par>
                                <p:cTn id="17" presetID="10" presetClass="entr"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additive="repl">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fill="hold" nodeType="click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additive="repl">
                                        <p:cTn id="24" dur="500"/>
                                        <p:tgtEl>
                                          <p:spTgt spid="35"/>
                                        </p:tgtEl>
                                      </p:cBhvr>
                                    </p:animEffect>
                                  </p:childTnLst>
                                </p:cTn>
                              </p:par>
                              <p:par>
                                <p:cTn id="25" presetID="10" presetClass="entr"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additive="repl">
                                        <p:cTn id="27" dur="500"/>
                                        <p:tgtEl>
                                          <p:spTgt spid="36"/>
                                        </p:tgtEl>
                                      </p:cBhvr>
                                    </p:animEffect>
                                  </p:childTnLst>
                                </p:cTn>
                              </p:par>
                              <p:par>
                                <p:cTn id="28" presetID="10" presetClass="entr" fill="hold" nodeType="with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additive="repl">
                                        <p:cTn id="30" dur="500"/>
                                        <p:tgtEl>
                                          <p:spTgt spid="53"/>
                                        </p:tgtEl>
                                      </p:cBhvr>
                                    </p:animEffect>
                                  </p:childTnLst>
                                </p:cTn>
                              </p:par>
                              <p:par>
                                <p:cTn id="31" presetID="10" presetClass="entr"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additive="repl">
                                        <p:cTn id="33" dur="500"/>
                                        <p:tgtEl>
                                          <p:spTgt spid="37"/>
                                        </p:tgtEl>
                                      </p:cBhvr>
                                    </p:animEffect>
                                  </p:childTnLst>
                                </p:cTn>
                              </p:par>
                              <p:par>
                                <p:cTn id="34" presetID="10" presetClass="entr" fill="hold"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additive="repl">
                                        <p:cTn id="36" dur="500"/>
                                        <p:tgtEl>
                                          <p:spTgt spid="3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additive="repl">
                                        <p:cTn id="41" dur="500"/>
                                        <p:tgtEl>
                                          <p:spTgt spid="39"/>
                                        </p:tgtEl>
                                      </p:cBhvr>
                                    </p:animEffect>
                                  </p:childTnLst>
                                </p:cTn>
                              </p:par>
                              <p:par>
                                <p:cTn id="42" presetID="10" presetClass="entr" fill="hold"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additive="repl">
                                        <p:cTn id="44" dur="500"/>
                                        <p:tgtEl>
                                          <p:spTgt spid="40"/>
                                        </p:tgtEl>
                                      </p:cBhvr>
                                    </p:animEffect>
                                  </p:childTnLst>
                                </p:cTn>
                              </p:par>
                              <p:par>
                                <p:cTn id="45" presetID="10" presetClass="entr" fill="hold" nodeType="withEffect">
                                  <p:stCondLst>
                                    <p:cond delay="0"/>
                                  </p:stCondLst>
                                  <p:childTnLst>
                                    <p:set>
                                      <p:cBhvr>
                                        <p:cTn id="46" dur="1" fill="hold">
                                          <p:stCondLst>
                                            <p:cond delay="0"/>
                                          </p:stCondLst>
                                        </p:cTn>
                                        <p:tgtEl>
                                          <p:spTgt spid="54"/>
                                        </p:tgtEl>
                                        <p:attrNameLst>
                                          <p:attrName>style.visibility</p:attrName>
                                        </p:attrNameLst>
                                      </p:cBhvr>
                                      <p:to>
                                        <p:strVal val="visible"/>
                                      </p:to>
                                    </p:set>
                                    <p:animEffect transition="in" filter="fade">
                                      <p:cBhvr additive="repl">
                                        <p:cTn id="47" dur="500"/>
                                        <p:tgtEl>
                                          <p:spTgt spid="54"/>
                                        </p:tgtEl>
                                      </p:cBhvr>
                                    </p:animEffect>
                                  </p:childTnLst>
                                </p:cTn>
                              </p:par>
                              <p:par>
                                <p:cTn id="48" presetID="10" presetClass="entr" fill="hold" nodeType="with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fade">
                                      <p:cBhvr additive="repl">
                                        <p:cTn id="50" dur="500"/>
                                        <p:tgtEl>
                                          <p:spTgt spid="41"/>
                                        </p:tgtEl>
                                      </p:cBhvr>
                                    </p:animEffect>
                                  </p:childTnLst>
                                </p:cTn>
                              </p:par>
                              <p:par>
                                <p:cTn id="51" presetID="10" presetClass="entr"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animEffect transition="in" filter="fade">
                                      <p:cBhvr additive="repl">
                                        <p:cTn id="53" dur="500"/>
                                        <p:tgtEl>
                                          <p:spTgt spid="4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fill="hold" nodeType="click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additive="repl">
                                        <p:cTn id="58" dur="500"/>
                                        <p:tgtEl>
                                          <p:spTgt spid="43"/>
                                        </p:tgtEl>
                                      </p:cBhvr>
                                    </p:animEffect>
                                  </p:childTnLst>
                                </p:cTn>
                              </p:par>
                              <p:par>
                                <p:cTn id="59" presetID="10" presetClass="entr"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fade">
                                      <p:cBhvr additive="repl">
                                        <p:cTn id="61" dur="500"/>
                                        <p:tgtEl>
                                          <p:spTgt spid="44"/>
                                        </p:tgtEl>
                                      </p:cBhvr>
                                    </p:animEffect>
                                  </p:childTnLst>
                                </p:cTn>
                              </p:par>
                              <p:par>
                                <p:cTn id="62" presetID="10" presetClass="entr" fill="hold" nodeType="withEffect">
                                  <p:stCondLst>
                                    <p:cond delay="0"/>
                                  </p:stCondLst>
                                  <p:childTnLst>
                                    <p:set>
                                      <p:cBhvr>
                                        <p:cTn id="63" dur="1" fill="hold">
                                          <p:stCondLst>
                                            <p:cond delay="0"/>
                                          </p:stCondLst>
                                        </p:cTn>
                                        <p:tgtEl>
                                          <p:spTgt spid="55"/>
                                        </p:tgtEl>
                                        <p:attrNameLst>
                                          <p:attrName>style.visibility</p:attrName>
                                        </p:attrNameLst>
                                      </p:cBhvr>
                                      <p:to>
                                        <p:strVal val="visible"/>
                                      </p:to>
                                    </p:set>
                                    <p:animEffect transition="in" filter="fade">
                                      <p:cBhvr additive="repl">
                                        <p:cTn id="64" dur="500"/>
                                        <p:tgtEl>
                                          <p:spTgt spid="55"/>
                                        </p:tgtEl>
                                      </p:cBhvr>
                                    </p:animEffect>
                                  </p:childTnLst>
                                </p:cTn>
                              </p:par>
                              <p:par>
                                <p:cTn id="65" presetID="10" presetClass="entr" fill="hold" nodeType="with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additive="repl">
                                        <p:cTn id="67" dur="500"/>
                                        <p:tgtEl>
                                          <p:spTgt spid="45"/>
                                        </p:tgtEl>
                                      </p:cBhvr>
                                    </p:animEffect>
                                  </p:childTnLst>
                                </p:cTn>
                              </p:par>
                              <p:par>
                                <p:cTn id="68" presetID="10" presetClass="entr" fill="hold"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additive="repl">
                                        <p:cTn id="70" dur="500"/>
                                        <p:tgtEl>
                                          <p:spTgt spid="4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fill="hold" nodeType="click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fade">
                                      <p:cBhvr additive="repl">
                                        <p:cTn id="75" dur="500"/>
                                        <p:tgtEl>
                                          <p:spTgt spid="47"/>
                                        </p:tgtEl>
                                      </p:cBhvr>
                                    </p:animEffect>
                                  </p:childTnLst>
                                </p:cTn>
                              </p:par>
                              <p:par>
                                <p:cTn id="76" presetID="10" presetClass="entr" fill="hold" nodeType="withEffect">
                                  <p:stCondLst>
                                    <p:cond delay="0"/>
                                  </p:stCondLst>
                                  <p:childTnLst>
                                    <p:set>
                                      <p:cBhvr>
                                        <p:cTn id="77" dur="1" fill="hold">
                                          <p:stCondLst>
                                            <p:cond delay="0"/>
                                          </p:stCondLst>
                                        </p:cTn>
                                        <p:tgtEl>
                                          <p:spTgt spid="48"/>
                                        </p:tgtEl>
                                        <p:attrNameLst>
                                          <p:attrName>style.visibility</p:attrName>
                                        </p:attrNameLst>
                                      </p:cBhvr>
                                      <p:to>
                                        <p:strVal val="visible"/>
                                      </p:to>
                                    </p:set>
                                    <p:animEffect transition="in" filter="fade">
                                      <p:cBhvr additive="repl">
                                        <p:cTn id="78" dur="500"/>
                                        <p:tgtEl>
                                          <p:spTgt spid="48"/>
                                        </p:tgtEl>
                                      </p:cBhvr>
                                    </p:animEffect>
                                  </p:childTnLst>
                                </p:cTn>
                              </p:par>
                              <p:par>
                                <p:cTn id="79" presetID="10" presetClass="entr" fill="hold" nodeType="with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fade">
                                      <p:cBhvr additive="repl">
                                        <p:cTn id="81" dur="500"/>
                                        <p:tgtEl>
                                          <p:spTgt spid="56"/>
                                        </p:tgtEl>
                                      </p:cBhvr>
                                    </p:animEffect>
                                  </p:childTnLst>
                                </p:cTn>
                              </p:par>
                              <p:par>
                                <p:cTn id="82" presetID="10" presetClass="entr" fill="hold" nodeType="with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fade">
                                      <p:cBhvr additive="repl">
                                        <p:cTn id="84" dur="500"/>
                                        <p:tgtEl>
                                          <p:spTgt spid="49"/>
                                        </p:tgtEl>
                                      </p:cBhvr>
                                    </p:animEffect>
                                  </p:childTnLst>
                                </p:cTn>
                              </p:par>
                              <p:par>
                                <p:cTn id="85" presetID="10" presetClass="entr" fill="hold" nodeType="withEffect">
                                  <p:stCondLst>
                                    <p:cond delay="0"/>
                                  </p:stCondLst>
                                  <p:childTnLst>
                                    <p:set>
                                      <p:cBhvr>
                                        <p:cTn id="86" dur="1" fill="hold">
                                          <p:stCondLst>
                                            <p:cond delay="0"/>
                                          </p:stCondLst>
                                        </p:cTn>
                                        <p:tgtEl>
                                          <p:spTgt spid="50"/>
                                        </p:tgtEl>
                                        <p:attrNameLst>
                                          <p:attrName>style.visibility</p:attrName>
                                        </p:attrNameLst>
                                      </p:cBhvr>
                                      <p:to>
                                        <p:strVal val="visible"/>
                                      </p:to>
                                    </p:set>
                                    <p:animEffect transition="in" filter="fade">
                                      <p:cBhvr additive="repl">
                                        <p:cTn id="8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57" name="Shape 0"/>
          <p:cNvSpPr/>
          <p:nvPr/>
        </p:nvSpPr>
        <p:spPr>
          <a:xfrm>
            <a:off x="-36576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8" name="Shape 1"/>
          <p:cNvSpPr/>
          <p:nvPr/>
        </p:nvSpPr>
        <p:spPr>
          <a:xfrm>
            <a:off x="1182600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59" name="Shape 2"/>
          <p:cNvSpPr/>
          <p:nvPr/>
        </p:nvSpPr>
        <p:spPr>
          <a:xfrm>
            <a:off x="-36576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0" name="Shape 3"/>
          <p:cNvSpPr/>
          <p:nvPr/>
        </p:nvSpPr>
        <p:spPr>
          <a:xfrm>
            <a:off x="1182600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1" name="Shape 4"/>
          <p:cNvSpPr/>
          <p:nvPr/>
        </p:nvSpPr>
        <p:spPr>
          <a:xfrm>
            <a:off x="-1371600" y="5486400"/>
            <a:ext cx="5484600" cy="5484600"/>
          </a:xfrm>
          <a:prstGeom prst="ellipse">
            <a:avLst/>
          </a:prstGeom>
          <a:solidFill>
            <a:srgbClr val="1F7A4D">
              <a:alpha val="5000"/>
            </a:srgbClr>
          </a:solidFill>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2" name="Shape 5"/>
          <p:cNvSpPr/>
          <p:nvPr/>
        </p:nvSpPr>
        <p:spPr>
          <a:xfrm>
            <a:off x="1325880" y="8183880"/>
            <a:ext cx="89640" cy="89640"/>
          </a:xfrm>
          <a:prstGeom prst="ellipse">
            <a:avLst/>
          </a:prstGeom>
          <a:solidFill>
            <a:srgbClr val="E8A33D">
              <a:alpha val="75000"/>
            </a:srgbClr>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63" name="Text 6"/>
          <p:cNvSpPr/>
          <p:nvPr/>
        </p:nvSpPr>
        <p:spPr>
          <a:xfrm>
            <a:off x="822960" y="685800"/>
            <a:ext cx="73134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E8A33D"/>
                </a:solidFill>
                <a:latin typeface="Calibri"/>
                <a:ea typeface="Calibri"/>
              </a:rPr>
              <a:t>THE BUSINESS QUESTION</a:t>
            </a:r>
            <a:endParaRPr lang="en-US" sz="1400" b="0" strike="noStrike" spc="-1">
              <a:solidFill>
                <a:srgbClr val="FFFFFF"/>
              </a:solidFill>
              <a:latin typeface="Arial"/>
            </a:endParaRPr>
          </a:p>
        </p:txBody>
      </p:sp>
      <p:sp>
        <p:nvSpPr>
          <p:cNvPr id="64" name="Text 7"/>
          <p:cNvSpPr/>
          <p:nvPr/>
        </p:nvSpPr>
        <p:spPr>
          <a:xfrm>
            <a:off x="822960" y="1188720"/>
            <a:ext cx="10330920" cy="1827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5000"/>
              </a:lnSpc>
              <a:tabLst>
                <a:tab pos="0" algn="l"/>
              </a:tabLst>
            </a:pPr>
            <a:r>
              <a:rPr lang="en-US" sz="2700" b="1" strike="noStrike" spc="-1" dirty="0">
                <a:solidFill>
                  <a:srgbClr val="FFFFFF"/>
                </a:solidFill>
                <a:latin typeface="Cambria"/>
                <a:ea typeface="Cambria"/>
              </a:rPr>
              <a:t>Our hypothesis: market value trend alone may overstate a player's recruitment worth. </a:t>
            </a:r>
            <a:r>
              <a:rPr lang="en-US" sz="2700" b="0" strike="noStrike" spc="-1" dirty="0">
                <a:solidFill>
                  <a:srgbClr val="CADCFC"/>
                </a:solidFill>
                <a:latin typeface="Cambria"/>
                <a:ea typeface="Cambria"/>
              </a:rPr>
              <a:t>Players with rising value </a:t>
            </a:r>
            <a:r>
              <a:rPr lang="en-US" sz="2700" b="0" i="1" strike="noStrike" spc="-1" dirty="0">
                <a:solidFill>
                  <a:srgbClr val="E8A33D"/>
                </a:solidFill>
                <a:latin typeface="Cambria"/>
                <a:ea typeface="Cambria"/>
              </a:rPr>
              <a:t>and</a:t>
            </a:r>
            <a:r>
              <a:rPr lang="en-US" sz="2700" b="0" strike="noStrike" spc="-1" dirty="0">
                <a:solidFill>
                  <a:srgbClr val="CADCFC"/>
                </a:solidFill>
                <a:latin typeface="Cambria"/>
                <a:ea typeface="Cambria"/>
              </a:rPr>
              <a:t> high injury risk may look </a:t>
            </a:r>
            <a:r>
              <a:rPr lang="en-US" sz="2700" b="1" strike="noStrike" spc="-1" dirty="0">
                <a:solidFill>
                  <a:srgbClr val="E8A33D"/>
                </a:solidFill>
                <a:latin typeface="Cambria"/>
                <a:ea typeface="Cambria"/>
              </a:rPr>
              <a:t>over-valued</a:t>
            </a:r>
            <a:r>
              <a:rPr lang="en-US" sz="2700" b="0" strike="noStrike" spc="-1" dirty="0">
                <a:solidFill>
                  <a:srgbClr val="CADCFC"/>
                </a:solidFill>
                <a:latin typeface="Cambria"/>
                <a:ea typeface="Cambria"/>
              </a:rPr>
              <a:t> relative to their realistic future output.</a:t>
            </a:r>
            <a:endParaRPr lang="en-US" sz="2700" b="0" strike="noStrike" spc="-1" dirty="0">
              <a:solidFill>
                <a:srgbClr val="FFFFFF"/>
              </a:solidFill>
              <a:latin typeface="Arial"/>
            </a:endParaRPr>
          </a:p>
        </p:txBody>
      </p:sp>
      <p:sp>
        <p:nvSpPr>
          <p:cNvPr id="65" name="Shape 8"/>
          <p:cNvSpPr/>
          <p:nvPr/>
        </p:nvSpPr>
        <p:spPr>
          <a:xfrm>
            <a:off x="822960" y="3657600"/>
            <a:ext cx="3381480" cy="2329920"/>
          </a:xfrm>
          <a:prstGeom prst="roundRect">
            <a:avLst>
              <a:gd name="adj" fmla="val 3529"/>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6" name="Shape 9"/>
          <p:cNvSpPr/>
          <p:nvPr/>
        </p:nvSpPr>
        <p:spPr>
          <a:xfrm>
            <a:off x="964800" y="3762720"/>
            <a:ext cx="684000" cy="684000"/>
          </a:xfrm>
          <a:prstGeom prst="ellipse">
            <a:avLst/>
          </a:prstGeom>
          <a:solidFill>
            <a:srgbClr val="E8A3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67" name="Shape 10"/>
          <p:cNvSpPr/>
          <p:nvPr/>
        </p:nvSpPr>
        <p:spPr>
          <a:xfrm>
            <a:off x="1078920" y="3877200"/>
            <a:ext cx="455400" cy="45540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68" name="Image 0" descr="preencoded.png"/>
          <p:cNvPicPr/>
          <p:nvPr/>
        </p:nvPicPr>
        <p:blipFill>
          <a:blip r:embed="rId3"/>
          <a:stretch/>
        </p:blipFill>
        <p:spPr>
          <a:xfrm>
            <a:off x="1225440" y="4023360"/>
            <a:ext cx="162720" cy="162720"/>
          </a:xfrm>
          <a:prstGeom prst="rect">
            <a:avLst/>
          </a:prstGeom>
          <a:ln w="0">
            <a:noFill/>
          </a:ln>
        </p:spPr>
      </p:pic>
      <p:sp>
        <p:nvSpPr>
          <p:cNvPr id="69" name="Text 11"/>
          <p:cNvSpPr/>
          <p:nvPr/>
        </p:nvSpPr>
        <p:spPr>
          <a:xfrm>
            <a:off x="1645920" y="3913560"/>
            <a:ext cx="912600" cy="38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strike="noStrike" spc="-1">
                <a:solidFill>
                  <a:srgbClr val="E8A33D"/>
                </a:solidFill>
                <a:latin typeface="Cambria"/>
                <a:ea typeface="Cambria"/>
              </a:rPr>
              <a:t>Q1</a:t>
            </a:r>
            <a:endParaRPr lang="en-US" sz="2000" b="0" strike="noStrike" spc="-1">
              <a:solidFill>
                <a:srgbClr val="FFFFFF"/>
              </a:solidFill>
              <a:latin typeface="Arial"/>
            </a:endParaRPr>
          </a:p>
        </p:txBody>
      </p:sp>
      <p:sp>
        <p:nvSpPr>
          <p:cNvPr id="70" name="Text 12"/>
          <p:cNvSpPr/>
          <p:nvPr/>
        </p:nvSpPr>
        <p:spPr>
          <a:xfrm>
            <a:off x="1078920" y="4521240"/>
            <a:ext cx="2869560" cy="126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0" strike="noStrike" spc="-1">
                <a:solidFill>
                  <a:srgbClr val="D8DFF0"/>
                </a:solidFill>
                <a:latin typeface="Calibri"/>
                <a:ea typeface="Calibri"/>
              </a:rPr>
              <a:t>Can we forecast a player's market value trend from his valuation history?</a:t>
            </a:r>
            <a:endParaRPr lang="en-US" sz="1600" b="0" strike="noStrike" spc="-1">
              <a:solidFill>
                <a:srgbClr val="FFFFFF"/>
              </a:solidFill>
              <a:latin typeface="Arial"/>
            </a:endParaRPr>
          </a:p>
        </p:txBody>
      </p:sp>
      <p:sp>
        <p:nvSpPr>
          <p:cNvPr id="71" name="Shape 13"/>
          <p:cNvSpPr/>
          <p:nvPr/>
        </p:nvSpPr>
        <p:spPr>
          <a:xfrm>
            <a:off x="4434840" y="3657600"/>
            <a:ext cx="3381480" cy="2329920"/>
          </a:xfrm>
          <a:prstGeom prst="roundRect">
            <a:avLst>
              <a:gd name="adj" fmla="val 3529"/>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2" name="Shape 14"/>
          <p:cNvSpPr/>
          <p:nvPr/>
        </p:nvSpPr>
        <p:spPr>
          <a:xfrm>
            <a:off x="4576680" y="3762720"/>
            <a:ext cx="684000" cy="684000"/>
          </a:xfrm>
          <a:prstGeom prst="ellipse">
            <a:avLst/>
          </a:prstGeom>
          <a:solidFill>
            <a:srgbClr val="E8A3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3" name="Shape 15"/>
          <p:cNvSpPr/>
          <p:nvPr/>
        </p:nvSpPr>
        <p:spPr>
          <a:xfrm>
            <a:off x="4690800" y="3877200"/>
            <a:ext cx="455400" cy="45540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74" name="Image 1" descr="preencoded.png"/>
          <p:cNvPicPr/>
          <p:nvPr/>
        </p:nvPicPr>
        <p:blipFill>
          <a:blip r:embed="rId4"/>
          <a:stretch/>
        </p:blipFill>
        <p:spPr>
          <a:xfrm>
            <a:off x="4837320" y="4023360"/>
            <a:ext cx="162720" cy="162720"/>
          </a:xfrm>
          <a:prstGeom prst="rect">
            <a:avLst/>
          </a:prstGeom>
          <a:ln w="0">
            <a:noFill/>
          </a:ln>
        </p:spPr>
      </p:pic>
      <p:sp>
        <p:nvSpPr>
          <p:cNvPr id="75" name="Text 16"/>
          <p:cNvSpPr/>
          <p:nvPr/>
        </p:nvSpPr>
        <p:spPr>
          <a:xfrm>
            <a:off x="5257800" y="3913560"/>
            <a:ext cx="912600" cy="38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strike="noStrike" spc="-1">
                <a:solidFill>
                  <a:srgbClr val="E8A33D"/>
                </a:solidFill>
                <a:latin typeface="Cambria"/>
                <a:ea typeface="Cambria"/>
              </a:rPr>
              <a:t>Q2</a:t>
            </a:r>
            <a:endParaRPr lang="en-US" sz="2000" b="0" strike="noStrike" spc="-1">
              <a:solidFill>
                <a:srgbClr val="FFFFFF"/>
              </a:solidFill>
              <a:latin typeface="Arial"/>
            </a:endParaRPr>
          </a:p>
        </p:txBody>
      </p:sp>
      <p:sp>
        <p:nvSpPr>
          <p:cNvPr id="76" name="Text 17"/>
          <p:cNvSpPr/>
          <p:nvPr/>
        </p:nvSpPr>
        <p:spPr>
          <a:xfrm>
            <a:off x="4690800" y="4521240"/>
            <a:ext cx="2869560" cy="126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0" strike="noStrike" spc="-1">
                <a:solidFill>
                  <a:srgbClr val="D8DFF0"/>
                </a:solidFill>
                <a:latin typeface="Calibri"/>
                <a:ea typeface="Calibri"/>
              </a:rPr>
              <a:t>Do injury history, age, or position flag players with weaker value growth or higher injury risk?</a:t>
            </a:r>
            <a:endParaRPr lang="en-US" sz="1600" b="0" strike="noStrike" spc="-1">
              <a:solidFill>
                <a:srgbClr val="FFFFFF"/>
              </a:solidFill>
              <a:latin typeface="Arial"/>
            </a:endParaRPr>
          </a:p>
        </p:txBody>
      </p:sp>
      <p:sp>
        <p:nvSpPr>
          <p:cNvPr id="77" name="Shape 18"/>
          <p:cNvSpPr/>
          <p:nvPr/>
        </p:nvSpPr>
        <p:spPr>
          <a:xfrm>
            <a:off x="8046720" y="3657600"/>
            <a:ext cx="3381480" cy="2329920"/>
          </a:xfrm>
          <a:prstGeom prst="roundRect">
            <a:avLst>
              <a:gd name="adj" fmla="val 3529"/>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8" name="Shape 19"/>
          <p:cNvSpPr/>
          <p:nvPr/>
        </p:nvSpPr>
        <p:spPr>
          <a:xfrm>
            <a:off x="8188560" y="3762720"/>
            <a:ext cx="684000" cy="684000"/>
          </a:xfrm>
          <a:prstGeom prst="ellipse">
            <a:avLst/>
          </a:prstGeom>
          <a:solidFill>
            <a:srgbClr val="E8A3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79" name="Shape 20"/>
          <p:cNvSpPr/>
          <p:nvPr/>
        </p:nvSpPr>
        <p:spPr>
          <a:xfrm>
            <a:off x="8302680" y="3877200"/>
            <a:ext cx="455400" cy="45540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80" name="Image 2" descr="preencoded.png"/>
          <p:cNvPicPr/>
          <p:nvPr/>
        </p:nvPicPr>
        <p:blipFill>
          <a:blip r:embed="rId5"/>
          <a:stretch/>
        </p:blipFill>
        <p:spPr>
          <a:xfrm>
            <a:off x="8449200" y="4023360"/>
            <a:ext cx="162720" cy="162720"/>
          </a:xfrm>
          <a:prstGeom prst="rect">
            <a:avLst/>
          </a:prstGeom>
          <a:ln w="0">
            <a:noFill/>
          </a:ln>
        </p:spPr>
      </p:pic>
      <p:sp>
        <p:nvSpPr>
          <p:cNvPr id="81" name="Text 21"/>
          <p:cNvSpPr/>
          <p:nvPr/>
        </p:nvSpPr>
        <p:spPr>
          <a:xfrm>
            <a:off x="8869680" y="3913560"/>
            <a:ext cx="912600" cy="38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strike="noStrike" spc="-1">
                <a:solidFill>
                  <a:srgbClr val="E8A33D"/>
                </a:solidFill>
                <a:latin typeface="Cambria"/>
                <a:ea typeface="Cambria"/>
              </a:rPr>
              <a:t>Q3</a:t>
            </a:r>
            <a:endParaRPr lang="en-US" sz="2000" b="0" strike="noStrike" spc="-1">
              <a:solidFill>
                <a:srgbClr val="FFFFFF"/>
              </a:solidFill>
              <a:latin typeface="Arial"/>
            </a:endParaRPr>
          </a:p>
        </p:txBody>
      </p:sp>
      <p:sp>
        <p:nvSpPr>
          <p:cNvPr id="82" name="Text 22"/>
          <p:cNvSpPr/>
          <p:nvPr/>
        </p:nvSpPr>
        <p:spPr>
          <a:xfrm>
            <a:off x="8302680" y="4521240"/>
            <a:ext cx="2869560" cy="126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0" strike="noStrike" spc="-1">
                <a:solidFill>
                  <a:srgbClr val="D8DFF0"/>
                </a:solidFill>
                <a:latin typeface="Calibri"/>
                <a:ea typeface="Calibri"/>
              </a:rPr>
              <a:t>Combined, do value forecast and injury risk together beat value alone as a recruitment signal?</a:t>
            </a:r>
            <a:endParaRPr lang="en-US" sz="1600" b="0" strike="noStrike" spc="-1">
              <a:solidFill>
                <a:srgbClr val="FFFFFF"/>
              </a:solidFill>
              <a:latin typeface="Arial"/>
            </a:endParaRPr>
          </a:p>
        </p:txBody>
      </p:sp>
      <p:sp>
        <p:nvSpPr>
          <p:cNvPr id="83" name="Text 23"/>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A8B4D0"/>
                </a:solidFill>
                <a:latin typeface="Calibri"/>
                <a:ea typeface="Calibri"/>
              </a:rPr>
              <a:t>03</a:t>
            </a:r>
            <a:endParaRPr lang="en-US" sz="1200" b="0" strike="noStrike" spc="-1">
              <a:solidFill>
                <a:srgbClr val="FFFFFF"/>
              </a:solidFill>
              <a:latin typeface="Arial"/>
            </a:endParaRPr>
          </a:p>
        </p:txBody>
      </p:sp>
      <p:sp>
        <p:nvSpPr>
          <p:cNvPr id="84" name="TextBox 51"/>
          <p:cNvSpPr/>
          <p:nvPr/>
        </p:nvSpPr>
        <p:spPr>
          <a:xfrm>
            <a:off x="822960" y="3160080"/>
            <a:ext cx="10544040" cy="18466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200" b="0" i="1" strike="noStrike" spc="-1" dirty="0">
                <a:solidFill>
                  <a:srgbClr val="CADCFC"/>
                </a:solidFill>
                <a:latin typeface="Calibri"/>
              </a:rPr>
              <a:t>“market value” = a player’s estimated transfer-market worth (public valuation data), not a confirmed sale price.</a:t>
            </a:r>
            <a:endParaRPr lang="en-US" sz="1200" b="0" strike="noStrike" spc="-1" dirty="0">
              <a:solidFill>
                <a:srgbClr val="FFFFFF"/>
              </a:solidFill>
              <a:latin typeface="Arial"/>
            </a:endParaRPr>
          </a:p>
        </p:txBody>
      </p:sp>
    </p:spTree>
    <p:extLst>
      <p:ext uri="{BB962C8B-B14F-4D97-AF65-F5344CB8AC3E}">
        <p14:creationId xmlns:p14="http://schemas.microsoft.com/office/powerpoint/2010/main" val="2948395791"/>
      </p:ext>
    </p:extLst>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additive="repl">
                                        <p:cTn id="7" dur="450"/>
                                        <p:tgtEl>
                                          <p:spTgt spid="65"/>
                                        </p:tgtEl>
                                      </p:cBhvr>
                                    </p:animEffect>
                                  </p:childTnLst>
                                </p:cTn>
                              </p:par>
                              <p:par>
                                <p:cTn id="8" presetID="10" presetClass="entr"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additive="repl">
                                        <p:cTn id="10" dur="450"/>
                                        <p:tgtEl>
                                          <p:spTgt spid="71"/>
                                        </p:tgtEl>
                                      </p:cBhvr>
                                    </p:animEffect>
                                  </p:childTnLst>
                                </p:cTn>
                              </p:par>
                              <p:par>
                                <p:cTn id="11" presetID="10" presetClass="entr"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animEffect transition="in" filter="fade">
                                      <p:cBhvr additive="repl">
                                        <p:cTn id="13" dur="450"/>
                                        <p:tgtEl>
                                          <p:spTgt spid="77"/>
                                        </p:tgtEl>
                                      </p:cBhvr>
                                    </p:animEffect>
                                  </p:childTnLst>
                                </p:cTn>
                              </p:par>
                              <p:par>
                                <p:cTn id="14" presetID="10" presetClass="entr" fill="hold" nodeType="with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fade">
                                      <p:cBhvr additive="repl">
                                        <p:cTn id="16" dur="450"/>
                                        <p:tgtEl>
                                          <p:spTgt spid="66"/>
                                        </p:tgtEl>
                                      </p:cBhvr>
                                    </p:animEffect>
                                  </p:childTnLst>
                                </p:cTn>
                              </p:par>
                              <p:par>
                                <p:cTn id="17" presetID="10" presetClass="entr"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fade">
                                      <p:cBhvr additive="repl">
                                        <p:cTn id="19" dur="450"/>
                                        <p:tgtEl>
                                          <p:spTgt spid="72"/>
                                        </p:tgtEl>
                                      </p:cBhvr>
                                    </p:animEffect>
                                  </p:childTnLst>
                                </p:cTn>
                              </p:par>
                              <p:par>
                                <p:cTn id="20" presetID="10" presetClass="entr" fill="hold" nodeType="with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fade">
                                      <p:cBhvr additive="repl">
                                        <p:cTn id="22" dur="450"/>
                                        <p:tgtEl>
                                          <p:spTgt spid="78"/>
                                        </p:tgtEl>
                                      </p:cBhvr>
                                    </p:animEffect>
                                  </p:childTnLst>
                                </p:cTn>
                              </p:par>
                              <p:par>
                                <p:cTn id="23" presetID="10" presetClass="entr"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fade">
                                      <p:cBhvr additive="repl">
                                        <p:cTn id="25" dur="450"/>
                                        <p:tgtEl>
                                          <p:spTgt spid="67"/>
                                        </p:tgtEl>
                                      </p:cBhvr>
                                    </p:animEffect>
                                  </p:childTnLst>
                                </p:cTn>
                              </p:par>
                              <p:par>
                                <p:cTn id="26" presetID="10" presetClass="entr" fill="hold" nodeType="with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fade">
                                      <p:cBhvr additive="repl">
                                        <p:cTn id="28" dur="450"/>
                                        <p:tgtEl>
                                          <p:spTgt spid="68"/>
                                        </p:tgtEl>
                                      </p:cBhvr>
                                    </p:animEffect>
                                  </p:childTnLst>
                                </p:cTn>
                              </p:par>
                              <p:par>
                                <p:cTn id="29" presetID="10" presetClass="entr" fill="hold" nodeType="withEffect">
                                  <p:stCondLst>
                                    <p:cond delay="0"/>
                                  </p:stCondLst>
                                  <p:childTnLst>
                                    <p:set>
                                      <p:cBhvr>
                                        <p:cTn id="30" dur="1" fill="hold">
                                          <p:stCondLst>
                                            <p:cond delay="0"/>
                                          </p:stCondLst>
                                        </p:cTn>
                                        <p:tgtEl>
                                          <p:spTgt spid="73"/>
                                        </p:tgtEl>
                                        <p:attrNameLst>
                                          <p:attrName>style.visibility</p:attrName>
                                        </p:attrNameLst>
                                      </p:cBhvr>
                                      <p:to>
                                        <p:strVal val="visible"/>
                                      </p:to>
                                    </p:set>
                                    <p:animEffect transition="in" filter="fade">
                                      <p:cBhvr additive="repl">
                                        <p:cTn id="31" dur="450"/>
                                        <p:tgtEl>
                                          <p:spTgt spid="73"/>
                                        </p:tgtEl>
                                      </p:cBhvr>
                                    </p:animEffect>
                                  </p:childTnLst>
                                </p:cTn>
                              </p:par>
                              <p:par>
                                <p:cTn id="32" presetID="10" presetClass="entr" fill="hold" nodeType="withEffect">
                                  <p:stCondLst>
                                    <p:cond delay="0"/>
                                  </p:stCondLst>
                                  <p:childTnLst>
                                    <p:set>
                                      <p:cBhvr>
                                        <p:cTn id="33" dur="1" fill="hold">
                                          <p:stCondLst>
                                            <p:cond delay="0"/>
                                          </p:stCondLst>
                                        </p:cTn>
                                        <p:tgtEl>
                                          <p:spTgt spid="74"/>
                                        </p:tgtEl>
                                        <p:attrNameLst>
                                          <p:attrName>style.visibility</p:attrName>
                                        </p:attrNameLst>
                                      </p:cBhvr>
                                      <p:to>
                                        <p:strVal val="visible"/>
                                      </p:to>
                                    </p:set>
                                    <p:animEffect transition="in" filter="fade">
                                      <p:cBhvr additive="repl">
                                        <p:cTn id="34" dur="450"/>
                                        <p:tgtEl>
                                          <p:spTgt spid="74"/>
                                        </p:tgtEl>
                                      </p:cBhvr>
                                    </p:animEffect>
                                  </p:childTnLst>
                                </p:cTn>
                              </p:par>
                              <p:par>
                                <p:cTn id="35" presetID="10" presetClass="entr" fill="hold" nodeType="with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fade">
                                      <p:cBhvr additive="repl">
                                        <p:cTn id="37" dur="450"/>
                                        <p:tgtEl>
                                          <p:spTgt spid="79"/>
                                        </p:tgtEl>
                                      </p:cBhvr>
                                    </p:animEffect>
                                  </p:childTnLst>
                                </p:cTn>
                              </p:par>
                              <p:par>
                                <p:cTn id="38" presetID="10" presetClass="entr" fill="hold" nodeType="withEffect">
                                  <p:stCondLst>
                                    <p:cond delay="0"/>
                                  </p:stCondLst>
                                  <p:childTnLst>
                                    <p:set>
                                      <p:cBhvr>
                                        <p:cTn id="39" dur="1" fill="hold">
                                          <p:stCondLst>
                                            <p:cond delay="0"/>
                                          </p:stCondLst>
                                        </p:cTn>
                                        <p:tgtEl>
                                          <p:spTgt spid="80"/>
                                        </p:tgtEl>
                                        <p:attrNameLst>
                                          <p:attrName>style.visibility</p:attrName>
                                        </p:attrNameLst>
                                      </p:cBhvr>
                                      <p:to>
                                        <p:strVal val="visible"/>
                                      </p:to>
                                    </p:set>
                                    <p:animEffect transition="in" filter="fade">
                                      <p:cBhvr additive="repl">
                                        <p:cTn id="40" dur="450"/>
                                        <p:tgtEl>
                                          <p:spTgt spid="80"/>
                                        </p:tgtEl>
                                      </p:cBhvr>
                                    </p:animEffect>
                                  </p:childTnLst>
                                </p:cTn>
                              </p:par>
                              <p:par>
                                <p:cTn id="41" presetID="10" presetClass="entr"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additive="repl">
                                        <p:cTn id="43" dur="450"/>
                                        <p:tgtEl>
                                          <p:spTgt spid="69"/>
                                        </p:tgtEl>
                                      </p:cBhvr>
                                    </p:animEffect>
                                  </p:childTnLst>
                                </p:cTn>
                              </p:par>
                              <p:par>
                                <p:cTn id="44" presetID="10" presetClass="entr" fill="hold" nodeType="withEffect">
                                  <p:stCondLst>
                                    <p:cond delay="0"/>
                                  </p:stCondLst>
                                  <p:childTnLst>
                                    <p:set>
                                      <p:cBhvr>
                                        <p:cTn id="45" dur="1" fill="hold">
                                          <p:stCondLst>
                                            <p:cond delay="0"/>
                                          </p:stCondLst>
                                        </p:cTn>
                                        <p:tgtEl>
                                          <p:spTgt spid="75"/>
                                        </p:tgtEl>
                                        <p:attrNameLst>
                                          <p:attrName>style.visibility</p:attrName>
                                        </p:attrNameLst>
                                      </p:cBhvr>
                                      <p:to>
                                        <p:strVal val="visible"/>
                                      </p:to>
                                    </p:set>
                                    <p:animEffect transition="in" filter="fade">
                                      <p:cBhvr additive="repl">
                                        <p:cTn id="46" dur="450"/>
                                        <p:tgtEl>
                                          <p:spTgt spid="75"/>
                                        </p:tgtEl>
                                      </p:cBhvr>
                                    </p:animEffect>
                                  </p:childTnLst>
                                </p:cTn>
                              </p:par>
                              <p:par>
                                <p:cTn id="47" presetID="10" presetClass="entr" fill="hold" nodeType="with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fade">
                                      <p:cBhvr additive="repl">
                                        <p:cTn id="49" dur="450"/>
                                        <p:tgtEl>
                                          <p:spTgt spid="8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fill="hold" nodeType="clickEffect">
                                  <p:stCondLst>
                                    <p:cond delay="0"/>
                                  </p:stCondLst>
                                  <p:childTnLst>
                                    <p:set>
                                      <p:cBhvr>
                                        <p:cTn id="53" dur="1" fill="hold">
                                          <p:stCondLst>
                                            <p:cond delay="0"/>
                                          </p:stCondLst>
                                        </p:cTn>
                                        <p:tgtEl>
                                          <p:spTgt spid="70"/>
                                        </p:tgtEl>
                                        <p:attrNameLst>
                                          <p:attrName>style.visibility</p:attrName>
                                        </p:attrNameLst>
                                      </p:cBhvr>
                                      <p:to>
                                        <p:strVal val="visible"/>
                                      </p:to>
                                    </p:set>
                                    <p:animEffect transition="in" filter="fade">
                                      <p:cBhvr additive="repl">
                                        <p:cTn id="54" dur="450"/>
                                        <p:tgtEl>
                                          <p:spTgt spid="70"/>
                                        </p:tgtEl>
                                      </p:cBhvr>
                                    </p:animEffect>
                                  </p:childTnLst>
                                </p:cTn>
                              </p:par>
                              <p:par>
                                <p:cTn id="55" presetID="10" presetClass="entr"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animEffect transition="in" filter="fade">
                                      <p:cBhvr additive="repl">
                                        <p:cTn id="57" dur="450"/>
                                        <p:tgtEl>
                                          <p:spTgt spid="76"/>
                                        </p:tgtEl>
                                      </p:cBhvr>
                                    </p:animEffect>
                                  </p:childTnLst>
                                </p:cTn>
                              </p:par>
                              <p:par>
                                <p:cTn id="58" presetID="10" presetClass="entr" fill="hold" nodeType="withEffect">
                                  <p:stCondLst>
                                    <p:cond delay="0"/>
                                  </p:stCondLst>
                                  <p:childTnLst>
                                    <p:set>
                                      <p:cBhvr>
                                        <p:cTn id="59" dur="1" fill="hold">
                                          <p:stCondLst>
                                            <p:cond delay="0"/>
                                          </p:stCondLst>
                                        </p:cTn>
                                        <p:tgtEl>
                                          <p:spTgt spid="82"/>
                                        </p:tgtEl>
                                        <p:attrNameLst>
                                          <p:attrName>style.visibility</p:attrName>
                                        </p:attrNameLst>
                                      </p:cBhvr>
                                      <p:to>
                                        <p:strVal val="visible"/>
                                      </p:to>
                                    </p:set>
                                    <p:animEffect transition="in" filter="fade">
                                      <p:cBhvr additive="repl">
                                        <p:cTn id="60" dur="45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85" name="Text 0"/>
          <p:cNvSpPr/>
          <p:nvPr/>
        </p:nvSpPr>
        <p:spPr>
          <a:xfrm>
            <a:off x="822960" y="594360"/>
            <a:ext cx="54846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1F7A4D"/>
                </a:solidFill>
                <a:latin typeface="Calibri"/>
                <a:ea typeface="Calibri"/>
              </a:rPr>
              <a:t>THE DATA</a:t>
            </a:r>
            <a:endParaRPr lang="en-US" sz="1400" b="0" strike="noStrike" spc="-1">
              <a:solidFill>
                <a:srgbClr val="000000"/>
              </a:solidFill>
              <a:latin typeface="Arial"/>
            </a:endParaRPr>
          </a:p>
        </p:txBody>
      </p:sp>
      <p:sp>
        <p:nvSpPr>
          <p:cNvPr id="86" name="Text 1"/>
          <p:cNvSpPr/>
          <p:nvPr/>
        </p:nvSpPr>
        <p:spPr>
          <a:xfrm>
            <a:off x="777240" y="896040"/>
            <a:ext cx="9142200" cy="72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A1A1A"/>
                </a:solidFill>
                <a:latin typeface="Cambria"/>
                <a:ea typeface="Cambria"/>
              </a:rPr>
              <a:t>Three sources, one recruitment signal</a:t>
            </a:r>
            <a:endParaRPr lang="en-US" sz="3200" b="0" strike="noStrike" spc="-1">
              <a:solidFill>
                <a:srgbClr val="000000"/>
              </a:solidFill>
              <a:latin typeface="Arial"/>
            </a:endParaRPr>
          </a:p>
        </p:txBody>
      </p:sp>
      <p:sp>
        <p:nvSpPr>
          <p:cNvPr id="87" name="Shape 2"/>
          <p:cNvSpPr/>
          <p:nvPr/>
        </p:nvSpPr>
        <p:spPr>
          <a:xfrm>
            <a:off x="822960" y="1965960"/>
            <a:ext cx="3427200" cy="2233440"/>
          </a:xfrm>
          <a:prstGeom prst="roundRect">
            <a:avLst>
              <a:gd name="adj" fmla="val 4091"/>
            </a:avLst>
          </a:prstGeom>
          <a:solidFill>
            <a:srgbClr val="FFFFFF"/>
          </a:solidFill>
          <a:ln w="0">
            <a:noFill/>
          </a:ln>
          <a:effectLst>
            <a:outerShdw blurRad="101520" dist="38160" dir="5400000" algn="bl" rotWithShape="0">
              <a:srgbClr val="8C93A6">
                <a:alpha val="2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8" name="Shape 3"/>
          <p:cNvSpPr/>
          <p:nvPr/>
        </p:nvSpPr>
        <p:spPr>
          <a:xfrm>
            <a:off x="951120" y="2084760"/>
            <a:ext cx="766440" cy="766440"/>
          </a:xfrm>
          <a:prstGeom prst="ellipse">
            <a:avLst/>
          </a:prstGeom>
          <a:solidFill>
            <a:srgbClr val="0F1B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89" name="Shape 4"/>
          <p:cNvSpPr/>
          <p:nvPr/>
        </p:nvSpPr>
        <p:spPr>
          <a:xfrm>
            <a:off x="1078920" y="2212920"/>
            <a:ext cx="510120" cy="510120"/>
          </a:xfrm>
          <a:prstGeom prst="ellipse">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90" name="Image 0" descr="preencoded.png"/>
          <p:cNvPicPr/>
          <p:nvPr/>
        </p:nvPicPr>
        <p:blipFill>
          <a:blip r:embed="rId3"/>
          <a:stretch/>
        </p:blipFill>
        <p:spPr>
          <a:xfrm>
            <a:off x="1225440" y="2359080"/>
            <a:ext cx="217800" cy="217800"/>
          </a:xfrm>
          <a:prstGeom prst="rect">
            <a:avLst/>
          </a:prstGeom>
          <a:ln w="0">
            <a:noFill/>
          </a:ln>
        </p:spPr>
      </p:pic>
      <p:sp>
        <p:nvSpPr>
          <p:cNvPr id="91" name="Text 5"/>
          <p:cNvSpPr/>
          <p:nvPr/>
        </p:nvSpPr>
        <p:spPr>
          <a:xfrm>
            <a:off x="1078920" y="2871360"/>
            <a:ext cx="291528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A1A1A"/>
                </a:solidFill>
                <a:latin typeface="Calibri"/>
                <a:ea typeface="Calibri"/>
              </a:rPr>
              <a:t>Transfermarkt: Player Values</a:t>
            </a:r>
            <a:endParaRPr lang="en-US" sz="1450" b="0" strike="noStrike" spc="-1">
              <a:solidFill>
                <a:srgbClr val="000000"/>
              </a:solidFill>
              <a:latin typeface="Arial"/>
            </a:endParaRPr>
          </a:p>
        </p:txBody>
      </p:sp>
      <p:sp>
        <p:nvSpPr>
          <p:cNvPr id="92" name="Text 6"/>
          <p:cNvSpPr/>
          <p:nvPr/>
        </p:nvSpPr>
        <p:spPr>
          <a:xfrm>
            <a:off x="1078920" y="3429000"/>
            <a:ext cx="2915280" cy="531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Market value history &amp; appearances across seasons</a:t>
            </a:r>
            <a:endParaRPr lang="en-US" sz="1400" b="0" strike="noStrike" spc="-1">
              <a:solidFill>
                <a:srgbClr val="000000"/>
              </a:solidFill>
              <a:latin typeface="Arial"/>
            </a:endParaRPr>
          </a:p>
        </p:txBody>
      </p:sp>
      <p:sp>
        <p:nvSpPr>
          <p:cNvPr id="93" name="Shape 7"/>
          <p:cNvSpPr/>
          <p:nvPr/>
        </p:nvSpPr>
        <p:spPr>
          <a:xfrm>
            <a:off x="4507920" y="1965960"/>
            <a:ext cx="3427200" cy="2233440"/>
          </a:xfrm>
          <a:prstGeom prst="roundRect">
            <a:avLst>
              <a:gd name="adj" fmla="val 4091"/>
            </a:avLst>
          </a:prstGeom>
          <a:solidFill>
            <a:srgbClr val="FFFFFF"/>
          </a:solidFill>
          <a:ln w="0">
            <a:noFill/>
          </a:ln>
          <a:effectLst>
            <a:outerShdw blurRad="101520" dist="38160" dir="5400000" algn="bl" rotWithShape="0">
              <a:srgbClr val="8C93A6">
                <a:alpha val="2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4" name="Shape 8"/>
          <p:cNvSpPr/>
          <p:nvPr/>
        </p:nvSpPr>
        <p:spPr>
          <a:xfrm>
            <a:off x="4636080" y="2084760"/>
            <a:ext cx="766440" cy="766440"/>
          </a:xfrm>
          <a:prstGeom prst="ellipse">
            <a:avLst/>
          </a:prstGeom>
          <a:solidFill>
            <a:srgbClr val="C0392B">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95" name="Shape 9"/>
          <p:cNvSpPr/>
          <p:nvPr/>
        </p:nvSpPr>
        <p:spPr>
          <a:xfrm>
            <a:off x="4763880" y="2212920"/>
            <a:ext cx="510120" cy="5101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96" name="Image 1" descr="preencoded.png"/>
          <p:cNvPicPr/>
          <p:nvPr/>
        </p:nvPicPr>
        <p:blipFill>
          <a:blip r:embed="rId4"/>
          <a:stretch/>
        </p:blipFill>
        <p:spPr>
          <a:xfrm>
            <a:off x="4910400" y="2359080"/>
            <a:ext cx="217800" cy="217800"/>
          </a:xfrm>
          <a:prstGeom prst="rect">
            <a:avLst/>
          </a:prstGeom>
          <a:ln w="0">
            <a:noFill/>
          </a:ln>
        </p:spPr>
      </p:pic>
      <p:sp>
        <p:nvSpPr>
          <p:cNvPr id="97" name="Text 10"/>
          <p:cNvSpPr/>
          <p:nvPr/>
        </p:nvSpPr>
        <p:spPr>
          <a:xfrm>
            <a:off x="4763880" y="2871360"/>
            <a:ext cx="291528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A1A1A"/>
                </a:solidFill>
                <a:latin typeface="Calibri"/>
                <a:ea typeface="Calibri"/>
              </a:rPr>
              <a:t>Transfermarkt: Injuries</a:t>
            </a:r>
            <a:endParaRPr lang="en-US" sz="1450" b="0" strike="noStrike" spc="-1">
              <a:solidFill>
                <a:srgbClr val="000000"/>
              </a:solidFill>
              <a:latin typeface="Arial"/>
            </a:endParaRPr>
          </a:p>
        </p:txBody>
      </p:sp>
      <p:sp>
        <p:nvSpPr>
          <p:cNvPr id="98" name="Text 11"/>
          <p:cNvSpPr/>
          <p:nvPr/>
        </p:nvSpPr>
        <p:spPr>
          <a:xfrm>
            <a:off x="4763880" y="3429000"/>
            <a:ext cx="2915280" cy="531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Injury type, dates, and duration per player</a:t>
            </a:r>
            <a:endParaRPr lang="en-US" sz="1400" b="0" strike="noStrike" spc="-1">
              <a:solidFill>
                <a:srgbClr val="000000"/>
              </a:solidFill>
              <a:latin typeface="Arial"/>
            </a:endParaRPr>
          </a:p>
        </p:txBody>
      </p:sp>
      <p:sp>
        <p:nvSpPr>
          <p:cNvPr id="99" name="Shape 12"/>
          <p:cNvSpPr/>
          <p:nvPr/>
        </p:nvSpPr>
        <p:spPr>
          <a:xfrm>
            <a:off x="8192880" y="1965960"/>
            <a:ext cx="3427200" cy="2233440"/>
          </a:xfrm>
          <a:prstGeom prst="roundRect">
            <a:avLst>
              <a:gd name="adj" fmla="val 4091"/>
            </a:avLst>
          </a:prstGeom>
          <a:solidFill>
            <a:srgbClr val="FFFFFF"/>
          </a:solidFill>
          <a:ln w="0">
            <a:noFill/>
          </a:ln>
          <a:effectLst>
            <a:outerShdw blurRad="101520" dist="38160" dir="5400000" algn="bl" rotWithShape="0">
              <a:srgbClr val="8C93A6">
                <a:alpha val="25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0" name="Shape 13"/>
          <p:cNvSpPr/>
          <p:nvPr/>
        </p:nvSpPr>
        <p:spPr>
          <a:xfrm>
            <a:off x="8321040" y="2084760"/>
            <a:ext cx="766440" cy="766440"/>
          </a:xfrm>
          <a:prstGeom prst="ellipse">
            <a:avLst/>
          </a:prstGeom>
          <a:solidFill>
            <a:srgbClr val="1F7A4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1" name="Shape 14"/>
          <p:cNvSpPr/>
          <p:nvPr/>
        </p:nvSpPr>
        <p:spPr>
          <a:xfrm>
            <a:off x="8449200" y="2212920"/>
            <a:ext cx="510120" cy="51012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102" name="Image 2" descr="preencoded.png"/>
          <p:cNvPicPr/>
          <p:nvPr/>
        </p:nvPicPr>
        <p:blipFill>
          <a:blip r:embed="rId5"/>
          <a:stretch/>
        </p:blipFill>
        <p:spPr>
          <a:xfrm>
            <a:off x="8595360" y="2359080"/>
            <a:ext cx="217800" cy="217800"/>
          </a:xfrm>
          <a:prstGeom prst="rect">
            <a:avLst/>
          </a:prstGeom>
          <a:ln w="0">
            <a:noFill/>
          </a:ln>
        </p:spPr>
      </p:pic>
      <p:sp>
        <p:nvSpPr>
          <p:cNvPr id="103" name="Text 15"/>
          <p:cNvSpPr/>
          <p:nvPr/>
        </p:nvSpPr>
        <p:spPr>
          <a:xfrm>
            <a:off x="8449200" y="2871360"/>
            <a:ext cx="291528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1A1A1A"/>
                </a:solidFill>
                <a:latin typeface="Calibri"/>
                <a:ea typeface="Calibri"/>
              </a:rPr>
              <a:t>FBref: Match Performance</a:t>
            </a:r>
            <a:endParaRPr lang="en-US" sz="1450" b="0" strike="noStrike" spc="-1">
              <a:solidFill>
                <a:srgbClr val="000000"/>
              </a:solidFill>
              <a:latin typeface="Arial"/>
            </a:endParaRPr>
          </a:p>
        </p:txBody>
      </p:sp>
      <p:sp>
        <p:nvSpPr>
          <p:cNvPr id="104" name="Text 16"/>
          <p:cNvSpPr/>
          <p:nvPr/>
        </p:nvSpPr>
        <p:spPr>
          <a:xfrm>
            <a:off x="8449200" y="3429000"/>
            <a:ext cx="2915280" cy="531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Minutes &amp; match stats, 2017–2024, top-5 leagues</a:t>
            </a:r>
            <a:endParaRPr lang="en-US" sz="1400" b="0" strike="noStrike" spc="-1">
              <a:solidFill>
                <a:srgbClr val="000000"/>
              </a:solidFill>
              <a:latin typeface="Arial"/>
            </a:endParaRPr>
          </a:p>
        </p:txBody>
      </p:sp>
      <p:sp>
        <p:nvSpPr>
          <p:cNvPr id="105" name="Shape 17"/>
          <p:cNvSpPr/>
          <p:nvPr/>
        </p:nvSpPr>
        <p:spPr>
          <a:xfrm>
            <a:off x="822960" y="4617720"/>
            <a:ext cx="2009880" cy="546840"/>
          </a:xfrm>
          <a:prstGeom prst="roundRect">
            <a:avLst>
              <a:gd name="adj" fmla="val 50000"/>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6" name="Text 18"/>
          <p:cNvSpPr/>
          <p:nvPr/>
        </p:nvSpPr>
        <p:spPr>
          <a:xfrm>
            <a:off x="822960" y="4617720"/>
            <a:ext cx="200988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FFFFFF"/>
                </a:solidFill>
                <a:latin typeface="Calibri"/>
                <a:ea typeface="Calibri"/>
              </a:rPr>
              <a:t>Raw sources</a:t>
            </a:r>
            <a:endParaRPr lang="en-US" sz="1250" b="0" strike="noStrike" spc="-1">
              <a:solidFill>
                <a:srgbClr val="000000"/>
              </a:solidFill>
              <a:latin typeface="Arial"/>
            </a:endParaRPr>
          </a:p>
        </p:txBody>
      </p:sp>
      <p:pic>
        <p:nvPicPr>
          <p:cNvPr id="107" name="Image 3" descr="preencoded.png"/>
          <p:cNvPicPr/>
          <p:nvPr/>
        </p:nvPicPr>
        <p:blipFill>
          <a:blip r:embed="rId6"/>
          <a:stretch/>
        </p:blipFill>
        <p:spPr>
          <a:xfrm>
            <a:off x="2853000" y="4800600"/>
            <a:ext cx="181080" cy="181080"/>
          </a:xfrm>
          <a:prstGeom prst="rect">
            <a:avLst/>
          </a:prstGeom>
          <a:ln w="0">
            <a:noFill/>
          </a:ln>
        </p:spPr>
      </p:pic>
      <p:sp>
        <p:nvSpPr>
          <p:cNvPr id="108" name="Shape 19"/>
          <p:cNvSpPr/>
          <p:nvPr/>
        </p:nvSpPr>
        <p:spPr>
          <a:xfrm>
            <a:off x="3072240" y="4617720"/>
            <a:ext cx="2009880" cy="546840"/>
          </a:xfrm>
          <a:prstGeom prst="roundRect">
            <a:avLst>
              <a:gd name="adj" fmla="val 50000"/>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09" name="Text 20"/>
          <p:cNvSpPr/>
          <p:nvPr/>
        </p:nvSpPr>
        <p:spPr>
          <a:xfrm>
            <a:off x="3072240" y="4617720"/>
            <a:ext cx="200988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FFFFFF"/>
                </a:solidFill>
                <a:latin typeface="Calibri"/>
                <a:ea typeface="Calibri"/>
              </a:rPr>
              <a:t>dbt staging</a:t>
            </a:r>
            <a:endParaRPr lang="en-US" sz="1250" b="0" strike="noStrike" spc="-1">
              <a:solidFill>
                <a:srgbClr val="000000"/>
              </a:solidFill>
              <a:latin typeface="Arial"/>
            </a:endParaRPr>
          </a:p>
        </p:txBody>
      </p:sp>
      <p:pic>
        <p:nvPicPr>
          <p:cNvPr id="110" name="Image 4" descr="preencoded.png"/>
          <p:cNvPicPr/>
          <p:nvPr/>
        </p:nvPicPr>
        <p:blipFill>
          <a:blip r:embed="rId6"/>
          <a:stretch/>
        </p:blipFill>
        <p:spPr>
          <a:xfrm>
            <a:off x="5102280" y="4800600"/>
            <a:ext cx="181080" cy="181080"/>
          </a:xfrm>
          <a:prstGeom prst="rect">
            <a:avLst/>
          </a:prstGeom>
          <a:ln w="0">
            <a:noFill/>
          </a:ln>
        </p:spPr>
      </p:pic>
      <p:sp>
        <p:nvSpPr>
          <p:cNvPr id="111" name="Shape 21"/>
          <p:cNvSpPr/>
          <p:nvPr/>
        </p:nvSpPr>
        <p:spPr>
          <a:xfrm>
            <a:off x="5321880" y="4617720"/>
            <a:ext cx="2009880" cy="546840"/>
          </a:xfrm>
          <a:prstGeom prst="roundRect">
            <a:avLst>
              <a:gd name="adj" fmla="val 50000"/>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2" name="Text 22"/>
          <p:cNvSpPr/>
          <p:nvPr/>
        </p:nvSpPr>
        <p:spPr>
          <a:xfrm>
            <a:off x="5321880" y="4617720"/>
            <a:ext cx="200988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FFFFFF"/>
                </a:solidFill>
                <a:latin typeface="Calibri"/>
                <a:ea typeface="Calibri"/>
              </a:rPr>
              <a:t>dbt prep (player match)</a:t>
            </a:r>
            <a:endParaRPr lang="en-US" sz="1250" b="0" strike="noStrike" spc="-1">
              <a:solidFill>
                <a:srgbClr val="000000"/>
              </a:solidFill>
              <a:latin typeface="Arial"/>
            </a:endParaRPr>
          </a:p>
        </p:txBody>
      </p:sp>
      <p:pic>
        <p:nvPicPr>
          <p:cNvPr id="113" name="Image 5" descr="preencoded.png"/>
          <p:cNvPicPr/>
          <p:nvPr/>
        </p:nvPicPr>
        <p:blipFill>
          <a:blip r:embed="rId6"/>
          <a:stretch/>
        </p:blipFill>
        <p:spPr>
          <a:xfrm>
            <a:off x="7351920" y="4800600"/>
            <a:ext cx="181080" cy="181080"/>
          </a:xfrm>
          <a:prstGeom prst="rect">
            <a:avLst/>
          </a:prstGeom>
          <a:ln w="0">
            <a:noFill/>
          </a:ln>
        </p:spPr>
      </p:pic>
      <p:sp>
        <p:nvSpPr>
          <p:cNvPr id="114" name="Shape 23"/>
          <p:cNvSpPr/>
          <p:nvPr/>
        </p:nvSpPr>
        <p:spPr>
          <a:xfrm>
            <a:off x="7571160" y="4617720"/>
            <a:ext cx="2009880" cy="546840"/>
          </a:xfrm>
          <a:prstGeom prst="roundRect">
            <a:avLst>
              <a:gd name="adj" fmla="val 50000"/>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5" name="Text 24"/>
          <p:cNvSpPr/>
          <p:nvPr/>
        </p:nvSpPr>
        <p:spPr>
          <a:xfrm>
            <a:off x="7571160" y="4617720"/>
            <a:ext cx="200988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FFFFFF"/>
                </a:solidFill>
                <a:latin typeface="Calibri"/>
                <a:ea typeface="Calibri"/>
              </a:rPr>
              <a:t>dbt marts</a:t>
            </a:r>
            <a:endParaRPr lang="en-US" sz="1250" b="0" strike="noStrike" spc="-1">
              <a:solidFill>
                <a:srgbClr val="000000"/>
              </a:solidFill>
              <a:latin typeface="Arial"/>
            </a:endParaRPr>
          </a:p>
        </p:txBody>
      </p:sp>
      <p:pic>
        <p:nvPicPr>
          <p:cNvPr id="116" name="Image 6" descr="preencoded.png"/>
          <p:cNvPicPr/>
          <p:nvPr/>
        </p:nvPicPr>
        <p:blipFill>
          <a:blip r:embed="rId6"/>
          <a:stretch/>
        </p:blipFill>
        <p:spPr>
          <a:xfrm>
            <a:off x="9601200" y="4800600"/>
            <a:ext cx="181080" cy="181080"/>
          </a:xfrm>
          <a:prstGeom prst="rect">
            <a:avLst/>
          </a:prstGeom>
          <a:ln w="0">
            <a:noFill/>
          </a:ln>
        </p:spPr>
      </p:pic>
      <p:sp>
        <p:nvSpPr>
          <p:cNvPr id="117" name="Shape 25"/>
          <p:cNvSpPr/>
          <p:nvPr/>
        </p:nvSpPr>
        <p:spPr>
          <a:xfrm>
            <a:off x="9820800" y="4617720"/>
            <a:ext cx="2009880" cy="546840"/>
          </a:xfrm>
          <a:prstGeom prst="roundRect">
            <a:avLst>
              <a:gd name="adj" fmla="val 50000"/>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18" name="Text 26"/>
          <p:cNvSpPr/>
          <p:nvPr/>
        </p:nvSpPr>
        <p:spPr>
          <a:xfrm>
            <a:off x="9820800" y="4617720"/>
            <a:ext cx="200988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strike="noStrike" spc="-1">
                <a:solidFill>
                  <a:srgbClr val="FFFFFF"/>
                </a:solidFill>
                <a:latin typeface="Calibri"/>
                <a:ea typeface="Calibri"/>
              </a:rPr>
              <a:t>DuckDB warehouse</a:t>
            </a:r>
            <a:endParaRPr lang="en-US" sz="1250" b="0" strike="noStrike" spc="-1">
              <a:solidFill>
                <a:srgbClr val="000000"/>
              </a:solidFill>
              <a:latin typeface="Arial"/>
            </a:endParaRPr>
          </a:p>
        </p:txBody>
      </p:sp>
      <p:sp>
        <p:nvSpPr>
          <p:cNvPr id="119" name="Text 27"/>
          <p:cNvSpPr/>
          <p:nvPr/>
        </p:nvSpPr>
        <p:spPr>
          <a:xfrm>
            <a:off x="822960" y="5623560"/>
            <a:ext cx="1033092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0F1B3D"/>
                </a:solidFill>
                <a:latin typeface="Cambria"/>
                <a:ea typeface="Cambria"/>
              </a:rPr>
              <a:t>6 / 6  </a:t>
            </a:r>
            <a:r>
              <a:rPr lang="en-US" sz="1400" b="0" strike="noStrike" spc="-1">
                <a:solidFill>
                  <a:srgbClr val="44506B"/>
                </a:solidFill>
                <a:latin typeface="Calibri"/>
                <a:ea typeface="Calibri"/>
              </a:rPr>
              <a:t>dbt models running end to end</a:t>
            </a:r>
            <a:r>
              <a:rPr lang="en-US" sz="1800" b="0" strike="noStrike" spc="-1">
                <a:solidFill>
                  <a:srgbClr val="C4CBD6"/>
                </a:solidFill>
                <a:latin typeface="Calibri"/>
                <a:ea typeface="Calibri"/>
              </a:rPr>
              <a:t>      |      </a:t>
            </a:r>
            <a:r>
              <a:rPr lang="en-US" sz="2800" b="1" strike="noStrike" spc="-1">
                <a:solidFill>
                  <a:srgbClr val="0F1B3D"/>
                </a:solidFill>
                <a:latin typeface="Cambria"/>
                <a:ea typeface="Cambria"/>
              </a:rPr>
              <a:t>1,959  </a:t>
            </a:r>
            <a:r>
              <a:rPr lang="en-US" sz="1400" b="0" strike="noStrike" spc="-1">
                <a:solidFill>
                  <a:srgbClr val="44506B"/>
                </a:solidFill>
                <a:latin typeface="Calibri"/>
                <a:ea typeface="Calibri"/>
              </a:rPr>
              <a:t>players in scope, 649 with full data from all 3 sources</a:t>
            </a:r>
            <a:endParaRPr lang="en-US" sz="1400" b="0" strike="noStrike" spc="-1">
              <a:solidFill>
                <a:srgbClr val="000000"/>
              </a:solidFill>
              <a:latin typeface="Arial"/>
            </a:endParaRPr>
          </a:p>
        </p:txBody>
      </p:sp>
      <p:sp>
        <p:nvSpPr>
          <p:cNvPr id="120" name="Text 28"/>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5A6478"/>
                </a:solidFill>
                <a:latin typeface="Calibri"/>
                <a:ea typeface="Calibri"/>
              </a:rPr>
              <a:t>04</a:t>
            </a:r>
            <a:endParaRPr lang="en-US" sz="1200" b="0" strike="noStrike" spc="-1">
              <a:solidFill>
                <a:srgbClr val="000000"/>
              </a:solidFill>
              <a:latin typeface="Arial"/>
            </a:endParaRPr>
          </a:p>
        </p:txBody>
      </p:sp>
    </p:spTree>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additive="repl">
                                        <p:cTn id="7" dur="450"/>
                                        <p:tgtEl>
                                          <p:spTgt spid="87"/>
                                        </p:tgtEl>
                                      </p:cBhvr>
                                    </p:animEffect>
                                  </p:childTnLst>
                                </p:cTn>
                              </p:par>
                              <p:par>
                                <p:cTn id="8" presetID="10" presetClass="entr" fill="hold" nodeType="withEffect">
                                  <p:stCondLst>
                                    <p:cond delay="0"/>
                                  </p:stCondLst>
                                  <p:childTnLst>
                                    <p:set>
                                      <p:cBhvr>
                                        <p:cTn id="9" dur="1" fill="hold">
                                          <p:stCondLst>
                                            <p:cond delay="0"/>
                                          </p:stCondLst>
                                        </p:cTn>
                                        <p:tgtEl>
                                          <p:spTgt spid="93"/>
                                        </p:tgtEl>
                                        <p:attrNameLst>
                                          <p:attrName>style.visibility</p:attrName>
                                        </p:attrNameLst>
                                      </p:cBhvr>
                                      <p:to>
                                        <p:strVal val="visible"/>
                                      </p:to>
                                    </p:set>
                                    <p:animEffect transition="in" filter="fade">
                                      <p:cBhvr additive="repl">
                                        <p:cTn id="10" dur="450"/>
                                        <p:tgtEl>
                                          <p:spTgt spid="93"/>
                                        </p:tgtEl>
                                      </p:cBhvr>
                                    </p:animEffect>
                                  </p:childTnLst>
                                </p:cTn>
                              </p:par>
                              <p:par>
                                <p:cTn id="11" presetID="10" presetClass="entr" fill="hold" nodeType="withEffect">
                                  <p:stCondLst>
                                    <p:cond delay="0"/>
                                  </p:stCondLst>
                                  <p:childTnLst>
                                    <p:set>
                                      <p:cBhvr>
                                        <p:cTn id="12" dur="1" fill="hold">
                                          <p:stCondLst>
                                            <p:cond delay="0"/>
                                          </p:stCondLst>
                                        </p:cTn>
                                        <p:tgtEl>
                                          <p:spTgt spid="99"/>
                                        </p:tgtEl>
                                        <p:attrNameLst>
                                          <p:attrName>style.visibility</p:attrName>
                                        </p:attrNameLst>
                                      </p:cBhvr>
                                      <p:to>
                                        <p:strVal val="visible"/>
                                      </p:to>
                                    </p:set>
                                    <p:animEffect transition="in" filter="fade">
                                      <p:cBhvr additive="repl">
                                        <p:cTn id="13" dur="450"/>
                                        <p:tgtEl>
                                          <p:spTgt spid="99"/>
                                        </p:tgtEl>
                                      </p:cBhvr>
                                    </p:animEffect>
                                  </p:childTnLst>
                                </p:cTn>
                              </p:par>
                              <p:par>
                                <p:cTn id="14" presetID="10" presetClass="entr" fill="hold" nodeType="withEffect">
                                  <p:stCondLst>
                                    <p:cond delay="0"/>
                                  </p:stCondLst>
                                  <p:childTnLst>
                                    <p:set>
                                      <p:cBhvr>
                                        <p:cTn id="15" dur="1" fill="hold">
                                          <p:stCondLst>
                                            <p:cond delay="0"/>
                                          </p:stCondLst>
                                        </p:cTn>
                                        <p:tgtEl>
                                          <p:spTgt spid="88"/>
                                        </p:tgtEl>
                                        <p:attrNameLst>
                                          <p:attrName>style.visibility</p:attrName>
                                        </p:attrNameLst>
                                      </p:cBhvr>
                                      <p:to>
                                        <p:strVal val="visible"/>
                                      </p:to>
                                    </p:set>
                                    <p:animEffect transition="in" filter="fade">
                                      <p:cBhvr additive="repl">
                                        <p:cTn id="16" dur="450"/>
                                        <p:tgtEl>
                                          <p:spTgt spid="88"/>
                                        </p:tgtEl>
                                      </p:cBhvr>
                                    </p:animEffect>
                                  </p:childTnLst>
                                </p:cTn>
                              </p:par>
                              <p:par>
                                <p:cTn id="17" presetID="10" presetClass="entr" fill="hold" nodeType="with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fade">
                                      <p:cBhvr additive="repl">
                                        <p:cTn id="19" dur="450"/>
                                        <p:tgtEl>
                                          <p:spTgt spid="94"/>
                                        </p:tgtEl>
                                      </p:cBhvr>
                                    </p:animEffect>
                                  </p:childTnLst>
                                </p:cTn>
                              </p:par>
                              <p:par>
                                <p:cTn id="20" presetID="10" presetClass="entr" fill="hold" nodeType="with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fade">
                                      <p:cBhvr additive="repl">
                                        <p:cTn id="22" dur="450"/>
                                        <p:tgtEl>
                                          <p:spTgt spid="100"/>
                                        </p:tgtEl>
                                      </p:cBhvr>
                                    </p:animEffect>
                                  </p:childTnLst>
                                </p:cTn>
                              </p:par>
                              <p:par>
                                <p:cTn id="23" presetID="10" presetClass="entr" fill="hold" nodeType="withEffect">
                                  <p:stCondLst>
                                    <p:cond delay="0"/>
                                  </p:stCondLst>
                                  <p:childTnLst>
                                    <p:set>
                                      <p:cBhvr>
                                        <p:cTn id="24" dur="1" fill="hold">
                                          <p:stCondLst>
                                            <p:cond delay="0"/>
                                          </p:stCondLst>
                                        </p:cTn>
                                        <p:tgtEl>
                                          <p:spTgt spid="89"/>
                                        </p:tgtEl>
                                        <p:attrNameLst>
                                          <p:attrName>style.visibility</p:attrName>
                                        </p:attrNameLst>
                                      </p:cBhvr>
                                      <p:to>
                                        <p:strVal val="visible"/>
                                      </p:to>
                                    </p:set>
                                    <p:animEffect transition="in" filter="fade">
                                      <p:cBhvr additive="repl">
                                        <p:cTn id="25" dur="450"/>
                                        <p:tgtEl>
                                          <p:spTgt spid="89"/>
                                        </p:tgtEl>
                                      </p:cBhvr>
                                    </p:animEffect>
                                  </p:childTnLst>
                                </p:cTn>
                              </p:par>
                              <p:par>
                                <p:cTn id="26" presetID="10" presetClass="entr" fill="hold" nodeType="withEffect">
                                  <p:stCondLst>
                                    <p:cond delay="0"/>
                                  </p:stCondLst>
                                  <p:childTnLst>
                                    <p:set>
                                      <p:cBhvr>
                                        <p:cTn id="27" dur="1" fill="hold">
                                          <p:stCondLst>
                                            <p:cond delay="0"/>
                                          </p:stCondLst>
                                        </p:cTn>
                                        <p:tgtEl>
                                          <p:spTgt spid="90"/>
                                        </p:tgtEl>
                                        <p:attrNameLst>
                                          <p:attrName>style.visibility</p:attrName>
                                        </p:attrNameLst>
                                      </p:cBhvr>
                                      <p:to>
                                        <p:strVal val="visible"/>
                                      </p:to>
                                    </p:set>
                                    <p:animEffect transition="in" filter="fade">
                                      <p:cBhvr additive="repl">
                                        <p:cTn id="28" dur="450"/>
                                        <p:tgtEl>
                                          <p:spTgt spid="90"/>
                                        </p:tgtEl>
                                      </p:cBhvr>
                                    </p:animEffect>
                                  </p:childTnLst>
                                </p:cTn>
                              </p:par>
                              <p:par>
                                <p:cTn id="29" presetID="10" presetClass="entr" fill="hold" nodeType="with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fade">
                                      <p:cBhvr additive="repl">
                                        <p:cTn id="31" dur="450"/>
                                        <p:tgtEl>
                                          <p:spTgt spid="95"/>
                                        </p:tgtEl>
                                      </p:cBhvr>
                                    </p:animEffect>
                                  </p:childTnLst>
                                </p:cTn>
                              </p:par>
                              <p:par>
                                <p:cTn id="32" presetID="10" presetClass="entr" fill="hold" nodeType="withEffect">
                                  <p:stCondLst>
                                    <p:cond delay="0"/>
                                  </p:stCondLst>
                                  <p:childTnLst>
                                    <p:set>
                                      <p:cBhvr>
                                        <p:cTn id="33" dur="1" fill="hold">
                                          <p:stCondLst>
                                            <p:cond delay="0"/>
                                          </p:stCondLst>
                                        </p:cTn>
                                        <p:tgtEl>
                                          <p:spTgt spid="96"/>
                                        </p:tgtEl>
                                        <p:attrNameLst>
                                          <p:attrName>style.visibility</p:attrName>
                                        </p:attrNameLst>
                                      </p:cBhvr>
                                      <p:to>
                                        <p:strVal val="visible"/>
                                      </p:to>
                                    </p:set>
                                    <p:animEffect transition="in" filter="fade">
                                      <p:cBhvr additive="repl">
                                        <p:cTn id="34" dur="450"/>
                                        <p:tgtEl>
                                          <p:spTgt spid="96"/>
                                        </p:tgtEl>
                                      </p:cBhvr>
                                    </p:animEffect>
                                  </p:childTnLst>
                                </p:cTn>
                              </p:par>
                              <p:par>
                                <p:cTn id="35" presetID="10" presetClass="entr" fill="hold" nodeType="withEffect">
                                  <p:stCondLst>
                                    <p:cond delay="0"/>
                                  </p:stCondLst>
                                  <p:childTnLst>
                                    <p:set>
                                      <p:cBhvr>
                                        <p:cTn id="36" dur="1" fill="hold">
                                          <p:stCondLst>
                                            <p:cond delay="0"/>
                                          </p:stCondLst>
                                        </p:cTn>
                                        <p:tgtEl>
                                          <p:spTgt spid="101"/>
                                        </p:tgtEl>
                                        <p:attrNameLst>
                                          <p:attrName>style.visibility</p:attrName>
                                        </p:attrNameLst>
                                      </p:cBhvr>
                                      <p:to>
                                        <p:strVal val="visible"/>
                                      </p:to>
                                    </p:set>
                                    <p:animEffect transition="in" filter="fade">
                                      <p:cBhvr additive="repl">
                                        <p:cTn id="37" dur="450"/>
                                        <p:tgtEl>
                                          <p:spTgt spid="101"/>
                                        </p:tgtEl>
                                      </p:cBhvr>
                                    </p:animEffect>
                                  </p:childTnLst>
                                </p:cTn>
                              </p:par>
                              <p:par>
                                <p:cTn id="38" presetID="10" presetClass="entr" fill="hold" nodeType="withEffect">
                                  <p:stCondLst>
                                    <p:cond delay="0"/>
                                  </p:stCondLst>
                                  <p:childTnLst>
                                    <p:set>
                                      <p:cBhvr>
                                        <p:cTn id="39" dur="1" fill="hold">
                                          <p:stCondLst>
                                            <p:cond delay="0"/>
                                          </p:stCondLst>
                                        </p:cTn>
                                        <p:tgtEl>
                                          <p:spTgt spid="102"/>
                                        </p:tgtEl>
                                        <p:attrNameLst>
                                          <p:attrName>style.visibility</p:attrName>
                                        </p:attrNameLst>
                                      </p:cBhvr>
                                      <p:to>
                                        <p:strVal val="visible"/>
                                      </p:to>
                                    </p:set>
                                    <p:animEffect transition="in" filter="fade">
                                      <p:cBhvr additive="repl">
                                        <p:cTn id="40" dur="450"/>
                                        <p:tgtEl>
                                          <p:spTgt spid="10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fill="hold" nodeType="clickEffect">
                                  <p:stCondLst>
                                    <p:cond delay="0"/>
                                  </p:stCondLst>
                                  <p:childTnLst>
                                    <p:set>
                                      <p:cBhvr>
                                        <p:cTn id="44" dur="1" fill="hold">
                                          <p:stCondLst>
                                            <p:cond delay="0"/>
                                          </p:stCondLst>
                                        </p:cTn>
                                        <p:tgtEl>
                                          <p:spTgt spid="91"/>
                                        </p:tgtEl>
                                        <p:attrNameLst>
                                          <p:attrName>style.visibility</p:attrName>
                                        </p:attrNameLst>
                                      </p:cBhvr>
                                      <p:to>
                                        <p:strVal val="visible"/>
                                      </p:to>
                                    </p:set>
                                    <p:animEffect transition="in" filter="fade">
                                      <p:cBhvr additive="repl">
                                        <p:cTn id="45" dur="450"/>
                                        <p:tgtEl>
                                          <p:spTgt spid="91"/>
                                        </p:tgtEl>
                                      </p:cBhvr>
                                    </p:animEffect>
                                  </p:childTnLst>
                                </p:cTn>
                              </p:par>
                              <p:par>
                                <p:cTn id="46" presetID="10" presetClass="entr" fill="hold" nodeType="withEffect">
                                  <p:stCondLst>
                                    <p:cond delay="0"/>
                                  </p:stCondLst>
                                  <p:childTnLst>
                                    <p:set>
                                      <p:cBhvr>
                                        <p:cTn id="47" dur="1" fill="hold">
                                          <p:stCondLst>
                                            <p:cond delay="0"/>
                                          </p:stCondLst>
                                        </p:cTn>
                                        <p:tgtEl>
                                          <p:spTgt spid="97"/>
                                        </p:tgtEl>
                                        <p:attrNameLst>
                                          <p:attrName>style.visibility</p:attrName>
                                        </p:attrNameLst>
                                      </p:cBhvr>
                                      <p:to>
                                        <p:strVal val="visible"/>
                                      </p:to>
                                    </p:set>
                                    <p:animEffect transition="in" filter="fade">
                                      <p:cBhvr additive="repl">
                                        <p:cTn id="48" dur="450"/>
                                        <p:tgtEl>
                                          <p:spTgt spid="97"/>
                                        </p:tgtEl>
                                      </p:cBhvr>
                                    </p:animEffect>
                                  </p:childTnLst>
                                </p:cTn>
                              </p:par>
                              <p:par>
                                <p:cTn id="49" presetID="10" presetClass="entr" fill="hold" nodeType="withEffect">
                                  <p:stCondLst>
                                    <p:cond delay="0"/>
                                  </p:stCondLst>
                                  <p:childTnLst>
                                    <p:set>
                                      <p:cBhvr>
                                        <p:cTn id="50" dur="1" fill="hold">
                                          <p:stCondLst>
                                            <p:cond delay="0"/>
                                          </p:stCondLst>
                                        </p:cTn>
                                        <p:tgtEl>
                                          <p:spTgt spid="103"/>
                                        </p:tgtEl>
                                        <p:attrNameLst>
                                          <p:attrName>style.visibility</p:attrName>
                                        </p:attrNameLst>
                                      </p:cBhvr>
                                      <p:to>
                                        <p:strVal val="visible"/>
                                      </p:to>
                                    </p:set>
                                    <p:animEffect transition="in" filter="fade">
                                      <p:cBhvr additive="repl">
                                        <p:cTn id="51" dur="450"/>
                                        <p:tgtEl>
                                          <p:spTgt spid="103"/>
                                        </p:tgtEl>
                                      </p:cBhvr>
                                    </p:animEffect>
                                  </p:childTnLst>
                                </p:cTn>
                              </p:par>
                              <p:par>
                                <p:cTn id="52" presetID="10" presetClass="entr" fill="hold" nodeType="withEffect">
                                  <p:stCondLst>
                                    <p:cond delay="0"/>
                                  </p:stCondLst>
                                  <p:childTnLst>
                                    <p:set>
                                      <p:cBhvr>
                                        <p:cTn id="53" dur="1" fill="hold">
                                          <p:stCondLst>
                                            <p:cond delay="0"/>
                                          </p:stCondLst>
                                        </p:cTn>
                                        <p:tgtEl>
                                          <p:spTgt spid="92"/>
                                        </p:tgtEl>
                                        <p:attrNameLst>
                                          <p:attrName>style.visibility</p:attrName>
                                        </p:attrNameLst>
                                      </p:cBhvr>
                                      <p:to>
                                        <p:strVal val="visible"/>
                                      </p:to>
                                    </p:set>
                                    <p:animEffect transition="in" filter="fade">
                                      <p:cBhvr additive="repl">
                                        <p:cTn id="54" dur="450"/>
                                        <p:tgtEl>
                                          <p:spTgt spid="92"/>
                                        </p:tgtEl>
                                      </p:cBhvr>
                                    </p:animEffect>
                                  </p:childTnLst>
                                </p:cTn>
                              </p:par>
                              <p:par>
                                <p:cTn id="55" presetID="10" presetClass="entr" fill="hold" nodeType="withEffect">
                                  <p:stCondLst>
                                    <p:cond delay="0"/>
                                  </p:stCondLst>
                                  <p:childTnLst>
                                    <p:set>
                                      <p:cBhvr>
                                        <p:cTn id="56" dur="1" fill="hold">
                                          <p:stCondLst>
                                            <p:cond delay="0"/>
                                          </p:stCondLst>
                                        </p:cTn>
                                        <p:tgtEl>
                                          <p:spTgt spid="98"/>
                                        </p:tgtEl>
                                        <p:attrNameLst>
                                          <p:attrName>style.visibility</p:attrName>
                                        </p:attrNameLst>
                                      </p:cBhvr>
                                      <p:to>
                                        <p:strVal val="visible"/>
                                      </p:to>
                                    </p:set>
                                    <p:animEffect transition="in" filter="fade">
                                      <p:cBhvr additive="repl">
                                        <p:cTn id="57" dur="450"/>
                                        <p:tgtEl>
                                          <p:spTgt spid="98"/>
                                        </p:tgtEl>
                                      </p:cBhvr>
                                    </p:animEffect>
                                  </p:childTnLst>
                                </p:cTn>
                              </p:par>
                              <p:par>
                                <p:cTn id="58" presetID="10" presetClass="entr" fill="hold" nodeType="withEffect">
                                  <p:stCondLst>
                                    <p:cond delay="0"/>
                                  </p:stCondLst>
                                  <p:childTnLst>
                                    <p:set>
                                      <p:cBhvr>
                                        <p:cTn id="59" dur="1" fill="hold">
                                          <p:stCondLst>
                                            <p:cond delay="0"/>
                                          </p:stCondLst>
                                        </p:cTn>
                                        <p:tgtEl>
                                          <p:spTgt spid="104"/>
                                        </p:tgtEl>
                                        <p:attrNameLst>
                                          <p:attrName>style.visibility</p:attrName>
                                        </p:attrNameLst>
                                      </p:cBhvr>
                                      <p:to>
                                        <p:strVal val="visible"/>
                                      </p:to>
                                    </p:set>
                                    <p:animEffect transition="in" filter="fade">
                                      <p:cBhvr additive="repl">
                                        <p:cTn id="60" dur="450"/>
                                        <p:tgtEl>
                                          <p:spTgt spid="10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fill="hold" nodeType="clickEffect">
                                  <p:stCondLst>
                                    <p:cond delay="0"/>
                                  </p:stCondLst>
                                  <p:childTnLst>
                                    <p:set>
                                      <p:cBhvr>
                                        <p:cTn id="64" dur="1" fill="hold">
                                          <p:stCondLst>
                                            <p:cond delay="0"/>
                                          </p:stCondLst>
                                        </p:cTn>
                                        <p:tgtEl>
                                          <p:spTgt spid="105"/>
                                        </p:tgtEl>
                                        <p:attrNameLst>
                                          <p:attrName>style.visibility</p:attrName>
                                        </p:attrNameLst>
                                      </p:cBhvr>
                                      <p:to>
                                        <p:strVal val="visible"/>
                                      </p:to>
                                    </p:set>
                                    <p:animEffect transition="in" filter="fade">
                                      <p:cBhvr additive="repl">
                                        <p:cTn id="65" dur="450"/>
                                        <p:tgtEl>
                                          <p:spTgt spid="105"/>
                                        </p:tgtEl>
                                      </p:cBhvr>
                                    </p:animEffect>
                                  </p:childTnLst>
                                </p:cTn>
                              </p:par>
                              <p:par>
                                <p:cTn id="66" presetID="10" presetClass="entr" fill="hold" nodeType="withEffect">
                                  <p:stCondLst>
                                    <p:cond delay="0"/>
                                  </p:stCondLst>
                                  <p:childTnLst>
                                    <p:set>
                                      <p:cBhvr>
                                        <p:cTn id="67" dur="1" fill="hold">
                                          <p:stCondLst>
                                            <p:cond delay="0"/>
                                          </p:stCondLst>
                                        </p:cTn>
                                        <p:tgtEl>
                                          <p:spTgt spid="106"/>
                                        </p:tgtEl>
                                        <p:attrNameLst>
                                          <p:attrName>style.visibility</p:attrName>
                                        </p:attrNameLst>
                                      </p:cBhvr>
                                      <p:to>
                                        <p:strVal val="visible"/>
                                      </p:to>
                                    </p:set>
                                    <p:animEffect transition="in" filter="fade">
                                      <p:cBhvr additive="repl">
                                        <p:cTn id="68" dur="450"/>
                                        <p:tgtEl>
                                          <p:spTgt spid="106"/>
                                        </p:tgtEl>
                                      </p:cBhvr>
                                    </p:animEffect>
                                  </p:childTnLst>
                                </p:cTn>
                              </p:par>
                              <p:par>
                                <p:cTn id="69" presetID="10" presetClass="entr" fill="hold" nodeType="withEffect">
                                  <p:stCondLst>
                                    <p:cond delay="0"/>
                                  </p:stCondLst>
                                  <p:childTnLst>
                                    <p:set>
                                      <p:cBhvr>
                                        <p:cTn id="70" dur="1" fill="hold">
                                          <p:stCondLst>
                                            <p:cond delay="0"/>
                                          </p:stCondLst>
                                        </p:cTn>
                                        <p:tgtEl>
                                          <p:spTgt spid="108"/>
                                        </p:tgtEl>
                                        <p:attrNameLst>
                                          <p:attrName>style.visibility</p:attrName>
                                        </p:attrNameLst>
                                      </p:cBhvr>
                                      <p:to>
                                        <p:strVal val="visible"/>
                                      </p:to>
                                    </p:set>
                                    <p:animEffect transition="in" filter="fade">
                                      <p:cBhvr additive="repl">
                                        <p:cTn id="71" dur="450"/>
                                        <p:tgtEl>
                                          <p:spTgt spid="108"/>
                                        </p:tgtEl>
                                      </p:cBhvr>
                                    </p:animEffect>
                                  </p:childTnLst>
                                </p:cTn>
                              </p:par>
                              <p:par>
                                <p:cTn id="72" presetID="10" presetClass="entr" fill="hold" nodeType="withEffect">
                                  <p:stCondLst>
                                    <p:cond delay="0"/>
                                  </p:stCondLst>
                                  <p:childTnLst>
                                    <p:set>
                                      <p:cBhvr>
                                        <p:cTn id="73" dur="1" fill="hold">
                                          <p:stCondLst>
                                            <p:cond delay="0"/>
                                          </p:stCondLst>
                                        </p:cTn>
                                        <p:tgtEl>
                                          <p:spTgt spid="109"/>
                                        </p:tgtEl>
                                        <p:attrNameLst>
                                          <p:attrName>style.visibility</p:attrName>
                                        </p:attrNameLst>
                                      </p:cBhvr>
                                      <p:to>
                                        <p:strVal val="visible"/>
                                      </p:to>
                                    </p:set>
                                    <p:animEffect transition="in" filter="fade">
                                      <p:cBhvr additive="repl">
                                        <p:cTn id="74" dur="450"/>
                                        <p:tgtEl>
                                          <p:spTgt spid="109"/>
                                        </p:tgtEl>
                                      </p:cBhvr>
                                    </p:animEffect>
                                  </p:childTnLst>
                                </p:cTn>
                              </p:par>
                              <p:par>
                                <p:cTn id="75" presetID="10" presetClass="entr" fill="hold" nodeType="withEffect">
                                  <p:stCondLst>
                                    <p:cond delay="0"/>
                                  </p:stCondLst>
                                  <p:childTnLst>
                                    <p:set>
                                      <p:cBhvr>
                                        <p:cTn id="76" dur="1" fill="hold">
                                          <p:stCondLst>
                                            <p:cond delay="0"/>
                                          </p:stCondLst>
                                        </p:cTn>
                                        <p:tgtEl>
                                          <p:spTgt spid="111"/>
                                        </p:tgtEl>
                                        <p:attrNameLst>
                                          <p:attrName>style.visibility</p:attrName>
                                        </p:attrNameLst>
                                      </p:cBhvr>
                                      <p:to>
                                        <p:strVal val="visible"/>
                                      </p:to>
                                    </p:set>
                                    <p:animEffect transition="in" filter="fade">
                                      <p:cBhvr additive="repl">
                                        <p:cTn id="77" dur="450"/>
                                        <p:tgtEl>
                                          <p:spTgt spid="111"/>
                                        </p:tgtEl>
                                      </p:cBhvr>
                                    </p:animEffect>
                                  </p:childTnLst>
                                </p:cTn>
                              </p:par>
                              <p:par>
                                <p:cTn id="78" presetID="10" presetClass="entr" fill="hold" nodeType="withEffect">
                                  <p:stCondLst>
                                    <p:cond delay="0"/>
                                  </p:stCondLst>
                                  <p:childTnLst>
                                    <p:set>
                                      <p:cBhvr>
                                        <p:cTn id="79" dur="1" fill="hold">
                                          <p:stCondLst>
                                            <p:cond delay="0"/>
                                          </p:stCondLst>
                                        </p:cTn>
                                        <p:tgtEl>
                                          <p:spTgt spid="112"/>
                                        </p:tgtEl>
                                        <p:attrNameLst>
                                          <p:attrName>style.visibility</p:attrName>
                                        </p:attrNameLst>
                                      </p:cBhvr>
                                      <p:to>
                                        <p:strVal val="visible"/>
                                      </p:to>
                                    </p:set>
                                    <p:animEffect transition="in" filter="fade">
                                      <p:cBhvr additive="repl">
                                        <p:cTn id="80" dur="450"/>
                                        <p:tgtEl>
                                          <p:spTgt spid="112"/>
                                        </p:tgtEl>
                                      </p:cBhvr>
                                    </p:animEffect>
                                  </p:childTnLst>
                                </p:cTn>
                              </p:par>
                              <p:par>
                                <p:cTn id="81" presetID="10" presetClass="entr" fill="hold" nodeType="withEffect">
                                  <p:stCondLst>
                                    <p:cond delay="0"/>
                                  </p:stCondLst>
                                  <p:childTnLst>
                                    <p:set>
                                      <p:cBhvr>
                                        <p:cTn id="82" dur="1" fill="hold">
                                          <p:stCondLst>
                                            <p:cond delay="0"/>
                                          </p:stCondLst>
                                        </p:cTn>
                                        <p:tgtEl>
                                          <p:spTgt spid="114"/>
                                        </p:tgtEl>
                                        <p:attrNameLst>
                                          <p:attrName>style.visibility</p:attrName>
                                        </p:attrNameLst>
                                      </p:cBhvr>
                                      <p:to>
                                        <p:strVal val="visible"/>
                                      </p:to>
                                    </p:set>
                                    <p:animEffect transition="in" filter="fade">
                                      <p:cBhvr additive="repl">
                                        <p:cTn id="83" dur="450"/>
                                        <p:tgtEl>
                                          <p:spTgt spid="114"/>
                                        </p:tgtEl>
                                      </p:cBhvr>
                                    </p:animEffect>
                                  </p:childTnLst>
                                </p:cTn>
                              </p:par>
                              <p:par>
                                <p:cTn id="84" presetID="10" presetClass="entr" fill="hold" nodeType="withEffect">
                                  <p:stCondLst>
                                    <p:cond delay="0"/>
                                  </p:stCondLst>
                                  <p:childTnLst>
                                    <p:set>
                                      <p:cBhvr>
                                        <p:cTn id="85" dur="1" fill="hold">
                                          <p:stCondLst>
                                            <p:cond delay="0"/>
                                          </p:stCondLst>
                                        </p:cTn>
                                        <p:tgtEl>
                                          <p:spTgt spid="115"/>
                                        </p:tgtEl>
                                        <p:attrNameLst>
                                          <p:attrName>style.visibility</p:attrName>
                                        </p:attrNameLst>
                                      </p:cBhvr>
                                      <p:to>
                                        <p:strVal val="visible"/>
                                      </p:to>
                                    </p:set>
                                    <p:animEffect transition="in" filter="fade">
                                      <p:cBhvr additive="repl">
                                        <p:cTn id="86" dur="450"/>
                                        <p:tgtEl>
                                          <p:spTgt spid="115"/>
                                        </p:tgtEl>
                                      </p:cBhvr>
                                    </p:animEffect>
                                  </p:childTnLst>
                                </p:cTn>
                              </p:par>
                              <p:par>
                                <p:cTn id="87" presetID="10" presetClass="entr" fill="hold" nodeType="withEffect">
                                  <p:stCondLst>
                                    <p:cond delay="0"/>
                                  </p:stCondLst>
                                  <p:childTnLst>
                                    <p:set>
                                      <p:cBhvr>
                                        <p:cTn id="88" dur="1" fill="hold">
                                          <p:stCondLst>
                                            <p:cond delay="0"/>
                                          </p:stCondLst>
                                        </p:cTn>
                                        <p:tgtEl>
                                          <p:spTgt spid="117"/>
                                        </p:tgtEl>
                                        <p:attrNameLst>
                                          <p:attrName>style.visibility</p:attrName>
                                        </p:attrNameLst>
                                      </p:cBhvr>
                                      <p:to>
                                        <p:strVal val="visible"/>
                                      </p:to>
                                    </p:set>
                                    <p:animEffect transition="in" filter="fade">
                                      <p:cBhvr additive="repl">
                                        <p:cTn id="89" dur="450"/>
                                        <p:tgtEl>
                                          <p:spTgt spid="117"/>
                                        </p:tgtEl>
                                      </p:cBhvr>
                                    </p:animEffect>
                                  </p:childTnLst>
                                </p:cTn>
                              </p:par>
                              <p:par>
                                <p:cTn id="90" presetID="10" presetClass="entr" fill="hold" nodeType="withEffect">
                                  <p:stCondLst>
                                    <p:cond delay="0"/>
                                  </p:stCondLst>
                                  <p:childTnLst>
                                    <p:set>
                                      <p:cBhvr>
                                        <p:cTn id="91" dur="1" fill="hold">
                                          <p:stCondLst>
                                            <p:cond delay="0"/>
                                          </p:stCondLst>
                                        </p:cTn>
                                        <p:tgtEl>
                                          <p:spTgt spid="118"/>
                                        </p:tgtEl>
                                        <p:attrNameLst>
                                          <p:attrName>style.visibility</p:attrName>
                                        </p:attrNameLst>
                                      </p:cBhvr>
                                      <p:to>
                                        <p:strVal val="visible"/>
                                      </p:to>
                                    </p:set>
                                    <p:animEffect transition="in" filter="fade">
                                      <p:cBhvr additive="repl">
                                        <p:cTn id="92" dur="450"/>
                                        <p:tgtEl>
                                          <p:spTgt spid="11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fill="hold" nodeType="clickEffect">
                                  <p:stCondLst>
                                    <p:cond delay="0"/>
                                  </p:stCondLst>
                                  <p:childTnLst>
                                    <p:set>
                                      <p:cBhvr>
                                        <p:cTn id="96" dur="1" fill="hold">
                                          <p:stCondLst>
                                            <p:cond delay="0"/>
                                          </p:stCondLst>
                                        </p:cTn>
                                        <p:tgtEl>
                                          <p:spTgt spid="119"/>
                                        </p:tgtEl>
                                        <p:attrNameLst>
                                          <p:attrName>style.visibility</p:attrName>
                                        </p:attrNameLst>
                                      </p:cBhvr>
                                      <p:to>
                                        <p:strVal val="visible"/>
                                      </p:to>
                                    </p:set>
                                    <p:animEffect transition="in" filter="fade">
                                      <p:cBhvr additive="repl">
                                        <p:cTn id="97" dur="45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121" name="Shape 0"/>
          <p:cNvSpPr/>
          <p:nvPr/>
        </p:nvSpPr>
        <p:spPr>
          <a:xfrm>
            <a:off x="-36576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2" name="Shape 1"/>
          <p:cNvSpPr/>
          <p:nvPr/>
        </p:nvSpPr>
        <p:spPr>
          <a:xfrm>
            <a:off x="1182600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3" name="Shape 2"/>
          <p:cNvSpPr/>
          <p:nvPr/>
        </p:nvSpPr>
        <p:spPr>
          <a:xfrm>
            <a:off x="-36576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4" name="Shape 3"/>
          <p:cNvSpPr/>
          <p:nvPr/>
        </p:nvSpPr>
        <p:spPr>
          <a:xfrm>
            <a:off x="1182600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5" name="Shape 4"/>
          <p:cNvSpPr/>
          <p:nvPr/>
        </p:nvSpPr>
        <p:spPr>
          <a:xfrm>
            <a:off x="2926080" y="-4846320"/>
            <a:ext cx="6033240" cy="6033240"/>
          </a:xfrm>
          <a:prstGeom prst="ellipse">
            <a:avLst/>
          </a:prstGeom>
          <a:solidFill>
            <a:srgbClr val="1F7A4D">
              <a:alpha val="5000"/>
            </a:srgbClr>
          </a:solidFill>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26" name="Shape 5"/>
          <p:cNvSpPr/>
          <p:nvPr/>
        </p:nvSpPr>
        <p:spPr>
          <a:xfrm>
            <a:off x="5897880" y="-1874520"/>
            <a:ext cx="89640" cy="89640"/>
          </a:xfrm>
          <a:prstGeom prst="ellipse">
            <a:avLst/>
          </a:prstGeom>
          <a:solidFill>
            <a:srgbClr val="E8A33D">
              <a:alpha val="75000"/>
            </a:srgbClr>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127" name="Text 6"/>
          <p:cNvSpPr/>
          <p:nvPr/>
        </p:nvSpPr>
        <p:spPr>
          <a:xfrm>
            <a:off x="822960" y="1234440"/>
            <a:ext cx="54846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E8A33D"/>
                </a:solidFill>
                <a:latin typeface="Calibri"/>
                <a:ea typeface="Calibri"/>
              </a:rPr>
              <a:t>WHO THIS IS FOR</a:t>
            </a:r>
            <a:endParaRPr lang="en-US" sz="1400" b="0" strike="noStrike" spc="-1">
              <a:solidFill>
                <a:srgbClr val="FFFFFF"/>
              </a:solidFill>
              <a:latin typeface="Arial"/>
            </a:endParaRPr>
          </a:p>
        </p:txBody>
      </p:sp>
      <p:sp>
        <p:nvSpPr>
          <p:cNvPr id="128" name="Text 7"/>
          <p:cNvSpPr/>
          <p:nvPr/>
        </p:nvSpPr>
        <p:spPr>
          <a:xfrm>
            <a:off x="777240" y="1554480"/>
            <a:ext cx="9599400" cy="173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8000"/>
              </a:lnSpc>
              <a:tabLst>
                <a:tab pos="0" algn="l"/>
              </a:tabLst>
            </a:pPr>
            <a:r>
              <a:rPr lang="en-US" sz="4000" b="1" strike="noStrike" spc="-1">
                <a:solidFill>
                  <a:srgbClr val="FFFFFF"/>
                </a:solidFill>
                <a:latin typeface="Cambria"/>
                <a:ea typeface="Cambria"/>
              </a:rPr>
              <a:t>Three Stakeholders.</a:t>
            </a:r>
            <a:endParaRPr lang="en-US" sz="4000" b="0" strike="noStrike" spc="-1">
              <a:solidFill>
                <a:srgbClr val="FFFFFF"/>
              </a:solidFill>
              <a:latin typeface="Arial"/>
            </a:endParaRPr>
          </a:p>
          <a:p>
            <a:pPr defTabSz="914400">
              <a:lnSpc>
                <a:spcPct val="108000"/>
              </a:lnSpc>
              <a:tabLst>
                <a:tab pos="0" algn="l"/>
              </a:tabLst>
            </a:pPr>
            <a:r>
              <a:rPr lang="en-US" sz="4000" b="1" strike="noStrike" spc="-1">
                <a:solidFill>
                  <a:srgbClr val="FFFFFF"/>
                </a:solidFill>
                <a:latin typeface="Cambria"/>
                <a:ea typeface="Cambria"/>
              </a:rPr>
              <a:t>Three Hypotheses.</a:t>
            </a:r>
            <a:endParaRPr lang="en-US" sz="4000" b="0" strike="noStrike" spc="-1">
              <a:solidFill>
                <a:srgbClr val="FFFFFF"/>
              </a:solidFill>
              <a:latin typeface="Arial"/>
            </a:endParaRPr>
          </a:p>
        </p:txBody>
      </p:sp>
      <p:sp>
        <p:nvSpPr>
          <p:cNvPr id="129" name="Shape 8"/>
          <p:cNvSpPr/>
          <p:nvPr/>
        </p:nvSpPr>
        <p:spPr>
          <a:xfrm>
            <a:off x="822960" y="3611880"/>
            <a:ext cx="3381480" cy="2329920"/>
          </a:xfrm>
          <a:prstGeom prst="roundRect">
            <a:avLst>
              <a:gd name="adj" fmla="val 3529"/>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0" name="Shape 9"/>
          <p:cNvSpPr/>
          <p:nvPr/>
        </p:nvSpPr>
        <p:spPr>
          <a:xfrm>
            <a:off x="1965960" y="3703320"/>
            <a:ext cx="1095480" cy="1095480"/>
          </a:xfrm>
          <a:prstGeom prst="ellipse">
            <a:avLst/>
          </a:prstGeom>
          <a:solidFill>
            <a:srgbClr val="E8A3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1" name="Shape 10"/>
          <p:cNvSpPr/>
          <p:nvPr/>
        </p:nvSpPr>
        <p:spPr>
          <a:xfrm>
            <a:off x="2148840" y="3886200"/>
            <a:ext cx="729720" cy="72972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132" name="Image 0" descr="preencoded.png"/>
          <p:cNvPicPr/>
          <p:nvPr/>
        </p:nvPicPr>
        <p:blipFill>
          <a:blip r:embed="rId3"/>
          <a:stretch/>
        </p:blipFill>
        <p:spPr>
          <a:xfrm>
            <a:off x="2331720" y="4069080"/>
            <a:ext cx="363960" cy="363960"/>
          </a:xfrm>
          <a:prstGeom prst="rect">
            <a:avLst/>
          </a:prstGeom>
          <a:ln w="0">
            <a:noFill/>
          </a:ln>
        </p:spPr>
      </p:pic>
      <p:sp>
        <p:nvSpPr>
          <p:cNvPr id="133" name="Text 11"/>
          <p:cNvSpPr/>
          <p:nvPr/>
        </p:nvSpPr>
        <p:spPr>
          <a:xfrm>
            <a:off x="822960" y="4648320"/>
            <a:ext cx="3381480" cy="65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Calibri"/>
                <a:ea typeface="Calibri"/>
              </a:rPr>
              <a:t>Recruitment /</a:t>
            </a:r>
            <a:endParaRPr lang="en-US" sz="1600" b="0" strike="noStrike" spc="-1">
              <a:solidFill>
                <a:srgbClr val="FFFFFF"/>
              </a:solidFill>
              <a:latin typeface="Arial"/>
            </a:endParaRPr>
          </a:p>
          <a:p>
            <a:pPr algn="ctr" defTabSz="914400">
              <a:lnSpc>
                <a:spcPct val="100000"/>
              </a:lnSpc>
              <a:tabLst>
                <a:tab pos="0" algn="l"/>
              </a:tabLst>
            </a:pPr>
            <a:r>
              <a:rPr lang="en-US" sz="1600" b="1" strike="noStrike" spc="-1">
                <a:solidFill>
                  <a:srgbClr val="FFFFFF"/>
                </a:solidFill>
                <a:latin typeface="Calibri"/>
                <a:ea typeface="Calibri"/>
              </a:rPr>
              <a:t>Scouting</a:t>
            </a:r>
            <a:endParaRPr lang="en-US" sz="1600" b="0" strike="noStrike" spc="-1">
              <a:solidFill>
                <a:srgbClr val="FFFFFF"/>
              </a:solidFill>
              <a:latin typeface="Arial"/>
            </a:endParaRPr>
          </a:p>
        </p:txBody>
      </p:sp>
      <p:sp>
        <p:nvSpPr>
          <p:cNvPr id="134" name="Text 12"/>
          <p:cNvSpPr/>
          <p:nvPr/>
        </p:nvSpPr>
        <p:spPr>
          <a:xfrm>
            <a:off x="1005840" y="5308560"/>
            <a:ext cx="3015720" cy="506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0" i="1" strike="noStrike" spc="-1">
                <a:solidFill>
                  <a:srgbClr val="B8C4E0"/>
                </a:solidFill>
                <a:latin typeface="Calibri"/>
                <a:ea typeface="Calibri"/>
              </a:rPr>
              <a:t>Does injury recency predict value decline?</a:t>
            </a:r>
            <a:endParaRPr lang="en-US" sz="1400" b="0" strike="noStrike" spc="-1">
              <a:solidFill>
                <a:srgbClr val="FFFFFF"/>
              </a:solidFill>
              <a:latin typeface="Arial"/>
            </a:endParaRPr>
          </a:p>
        </p:txBody>
      </p:sp>
      <p:sp>
        <p:nvSpPr>
          <p:cNvPr id="135" name="Shape 13"/>
          <p:cNvSpPr/>
          <p:nvPr/>
        </p:nvSpPr>
        <p:spPr>
          <a:xfrm>
            <a:off x="4434840" y="3611880"/>
            <a:ext cx="3381480" cy="2329920"/>
          </a:xfrm>
          <a:prstGeom prst="roundRect">
            <a:avLst>
              <a:gd name="adj" fmla="val 3529"/>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6" name="Shape 14"/>
          <p:cNvSpPr/>
          <p:nvPr/>
        </p:nvSpPr>
        <p:spPr>
          <a:xfrm>
            <a:off x="5577840" y="3703320"/>
            <a:ext cx="1095480" cy="1095480"/>
          </a:xfrm>
          <a:prstGeom prst="ellipse">
            <a:avLst/>
          </a:prstGeom>
          <a:solidFill>
            <a:srgbClr val="1F7A4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37" name="Shape 15"/>
          <p:cNvSpPr/>
          <p:nvPr/>
        </p:nvSpPr>
        <p:spPr>
          <a:xfrm>
            <a:off x="5760720" y="3886200"/>
            <a:ext cx="729720" cy="72972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138" name="Image 1" descr="preencoded.png"/>
          <p:cNvPicPr/>
          <p:nvPr/>
        </p:nvPicPr>
        <p:blipFill>
          <a:blip r:embed="rId4"/>
          <a:stretch/>
        </p:blipFill>
        <p:spPr>
          <a:xfrm>
            <a:off x="5943600" y="4069080"/>
            <a:ext cx="363960" cy="363960"/>
          </a:xfrm>
          <a:prstGeom prst="rect">
            <a:avLst/>
          </a:prstGeom>
          <a:ln w="0">
            <a:noFill/>
          </a:ln>
        </p:spPr>
      </p:pic>
      <p:sp>
        <p:nvSpPr>
          <p:cNvPr id="139" name="Text 16"/>
          <p:cNvSpPr/>
          <p:nvPr/>
        </p:nvSpPr>
        <p:spPr>
          <a:xfrm>
            <a:off x="4434840" y="4648320"/>
            <a:ext cx="3381480" cy="65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Calibri"/>
                <a:ea typeface="Calibri"/>
              </a:rPr>
              <a:t>Sporting Directors /</a:t>
            </a:r>
            <a:endParaRPr lang="en-US" sz="1600" b="0" strike="noStrike" spc="-1">
              <a:solidFill>
                <a:srgbClr val="FFFFFF"/>
              </a:solidFill>
              <a:latin typeface="Arial"/>
            </a:endParaRPr>
          </a:p>
          <a:p>
            <a:pPr algn="ctr" defTabSz="914400">
              <a:lnSpc>
                <a:spcPct val="100000"/>
              </a:lnSpc>
              <a:tabLst>
                <a:tab pos="0" algn="l"/>
              </a:tabLst>
            </a:pPr>
            <a:r>
              <a:rPr lang="en-US" sz="1600" b="1" strike="noStrike" spc="-1">
                <a:solidFill>
                  <a:srgbClr val="FFFFFF"/>
                </a:solidFill>
                <a:latin typeface="Calibri"/>
                <a:ea typeface="Calibri"/>
              </a:rPr>
              <a:t>Front Office</a:t>
            </a:r>
            <a:endParaRPr lang="en-US" sz="1600" b="0" strike="noStrike" spc="-1">
              <a:solidFill>
                <a:srgbClr val="FFFFFF"/>
              </a:solidFill>
              <a:latin typeface="Arial"/>
            </a:endParaRPr>
          </a:p>
        </p:txBody>
      </p:sp>
      <p:sp>
        <p:nvSpPr>
          <p:cNvPr id="140" name="Text 17"/>
          <p:cNvSpPr/>
          <p:nvPr/>
        </p:nvSpPr>
        <p:spPr>
          <a:xfrm>
            <a:off x="4617720" y="5308560"/>
            <a:ext cx="3015720" cy="506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0" i="1" strike="noStrike" spc="-1">
                <a:solidFill>
                  <a:srgbClr val="B8C4E0"/>
                </a:solidFill>
                <a:latin typeface="Calibri"/>
                <a:ea typeface="Calibri"/>
              </a:rPr>
              <a:t>Do younger players have a better value-risk tradeoff?</a:t>
            </a:r>
            <a:endParaRPr lang="en-US" sz="1400" b="0" strike="noStrike" spc="-1">
              <a:solidFill>
                <a:srgbClr val="FFFFFF"/>
              </a:solidFill>
              <a:latin typeface="Arial"/>
            </a:endParaRPr>
          </a:p>
        </p:txBody>
      </p:sp>
      <p:sp>
        <p:nvSpPr>
          <p:cNvPr id="141" name="Shape 18"/>
          <p:cNvSpPr/>
          <p:nvPr/>
        </p:nvSpPr>
        <p:spPr>
          <a:xfrm>
            <a:off x="8046720" y="3611880"/>
            <a:ext cx="3381480" cy="2329920"/>
          </a:xfrm>
          <a:prstGeom prst="roundRect">
            <a:avLst>
              <a:gd name="adj" fmla="val 3529"/>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2" name="Shape 19"/>
          <p:cNvSpPr/>
          <p:nvPr/>
        </p:nvSpPr>
        <p:spPr>
          <a:xfrm>
            <a:off x="9189720" y="3703320"/>
            <a:ext cx="1095480" cy="1095480"/>
          </a:xfrm>
          <a:prstGeom prst="ellipse">
            <a:avLst/>
          </a:prstGeom>
          <a:solidFill>
            <a:srgbClr val="C0392B">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3" name="Shape 20"/>
          <p:cNvSpPr/>
          <p:nvPr/>
        </p:nvSpPr>
        <p:spPr>
          <a:xfrm>
            <a:off x="9372600" y="3886200"/>
            <a:ext cx="729720" cy="7297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144" name="Image 2" descr="preencoded.png"/>
          <p:cNvPicPr/>
          <p:nvPr/>
        </p:nvPicPr>
        <p:blipFill>
          <a:blip r:embed="rId5"/>
          <a:stretch/>
        </p:blipFill>
        <p:spPr>
          <a:xfrm>
            <a:off x="9555480" y="4069080"/>
            <a:ext cx="363960" cy="363960"/>
          </a:xfrm>
          <a:prstGeom prst="rect">
            <a:avLst/>
          </a:prstGeom>
          <a:ln w="0">
            <a:noFill/>
          </a:ln>
        </p:spPr>
      </p:pic>
      <p:sp>
        <p:nvSpPr>
          <p:cNvPr id="145" name="Text 21"/>
          <p:cNvSpPr/>
          <p:nvPr/>
        </p:nvSpPr>
        <p:spPr>
          <a:xfrm>
            <a:off x="8046720" y="4648320"/>
            <a:ext cx="3381480" cy="65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FFFFFF"/>
                </a:solidFill>
                <a:latin typeface="Calibri"/>
                <a:ea typeface="Calibri"/>
              </a:rPr>
              <a:t>Medical /</a:t>
            </a:r>
            <a:endParaRPr lang="en-US" sz="1600" b="0" strike="noStrike" spc="-1">
              <a:solidFill>
                <a:srgbClr val="FFFFFF"/>
              </a:solidFill>
              <a:latin typeface="Arial"/>
            </a:endParaRPr>
          </a:p>
          <a:p>
            <a:pPr algn="ctr" defTabSz="914400">
              <a:lnSpc>
                <a:spcPct val="100000"/>
              </a:lnSpc>
              <a:tabLst>
                <a:tab pos="0" algn="l"/>
              </a:tabLst>
            </a:pPr>
            <a:r>
              <a:rPr lang="en-US" sz="1600" b="1" strike="noStrike" spc="-1">
                <a:solidFill>
                  <a:srgbClr val="FFFFFF"/>
                </a:solidFill>
                <a:latin typeface="Calibri"/>
                <a:ea typeface="Calibri"/>
              </a:rPr>
              <a:t>Performance Staff</a:t>
            </a:r>
            <a:endParaRPr lang="en-US" sz="1600" b="0" strike="noStrike" spc="-1">
              <a:solidFill>
                <a:srgbClr val="FFFFFF"/>
              </a:solidFill>
              <a:latin typeface="Arial"/>
            </a:endParaRPr>
          </a:p>
        </p:txBody>
      </p:sp>
      <p:sp>
        <p:nvSpPr>
          <p:cNvPr id="146" name="Text 22"/>
          <p:cNvSpPr/>
          <p:nvPr/>
        </p:nvSpPr>
        <p:spPr>
          <a:xfrm>
            <a:off x="8229600" y="5308560"/>
            <a:ext cx="3015720" cy="506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0" i="1" strike="noStrike" spc="-1">
                <a:solidFill>
                  <a:srgbClr val="B8C4E0"/>
                </a:solidFill>
                <a:latin typeface="Calibri"/>
                <a:ea typeface="Calibri"/>
              </a:rPr>
              <a:t>Does position predict injury risk?</a:t>
            </a:r>
            <a:endParaRPr lang="en-US" sz="1400" b="0" strike="noStrike" spc="-1">
              <a:solidFill>
                <a:srgbClr val="FFFFFF"/>
              </a:solidFill>
              <a:latin typeface="Arial"/>
            </a:endParaRPr>
          </a:p>
        </p:txBody>
      </p:sp>
      <p:sp>
        <p:nvSpPr>
          <p:cNvPr id="147" name="Text 23"/>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A8B4D0"/>
                </a:solidFill>
                <a:latin typeface="Calibri"/>
                <a:ea typeface="Calibri"/>
              </a:rPr>
              <a:t>05</a:t>
            </a:r>
            <a:endParaRPr lang="en-US" sz="1200" b="0" strike="noStrike" spc="-1">
              <a:solidFill>
                <a:srgbClr val="FFFFFF"/>
              </a:solidFill>
              <a:latin typeface="Arial"/>
            </a:endParaRPr>
          </a:p>
        </p:txBody>
      </p:sp>
    </p:spTree>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additive="repl">
                                        <p:cTn id="7" dur="450"/>
                                        <p:tgtEl>
                                          <p:spTgt spid="129"/>
                                        </p:tgtEl>
                                      </p:cBhvr>
                                    </p:animEffect>
                                  </p:childTnLst>
                                </p:cTn>
                              </p:par>
                              <p:par>
                                <p:cTn id="8" presetID="10" presetClass="entr" fill="hold" nodeType="withEffect">
                                  <p:stCondLst>
                                    <p:cond delay="0"/>
                                  </p:stCondLst>
                                  <p:childTnLst>
                                    <p:set>
                                      <p:cBhvr>
                                        <p:cTn id="9" dur="1" fill="hold">
                                          <p:stCondLst>
                                            <p:cond delay="0"/>
                                          </p:stCondLst>
                                        </p:cTn>
                                        <p:tgtEl>
                                          <p:spTgt spid="135"/>
                                        </p:tgtEl>
                                        <p:attrNameLst>
                                          <p:attrName>style.visibility</p:attrName>
                                        </p:attrNameLst>
                                      </p:cBhvr>
                                      <p:to>
                                        <p:strVal val="visible"/>
                                      </p:to>
                                    </p:set>
                                    <p:animEffect transition="in" filter="fade">
                                      <p:cBhvr additive="repl">
                                        <p:cTn id="10" dur="450"/>
                                        <p:tgtEl>
                                          <p:spTgt spid="135"/>
                                        </p:tgtEl>
                                      </p:cBhvr>
                                    </p:animEffect>
                                  </p:childTnLst>
                                </p:cTn>
                              </p:par>
                              <p:par>
                                <p:cTn id="11" presetID="10" presetClass="entr"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animEffect transition="in" filter="fade">
                                      <p:cBhvr additive="repl">
                                        <p:cTn id="13" dur="450"/>
                                        <p:tgtEl>
                                          <p:spTgt spid="141"/>
                                        </p:tgtEl>
                                      </p:cBhvr>
                                    </p:animEffect>
                                  </p:childTnLst>
                                </p:cTn>
                              </p:par>
                              <p:par>
                                <p:cTn id="14" presetID="10" presetClass="entr" fill="hold" nodeType="withEffect">
                                  <p:stCondLst>
                                    <p:cond delay="0"/>
                                  </p:stCondLst>
                                  <p:childTnLst>
                                    <p:set>
                                      <p:cBhvr>
                                        <p:cTn id="15" dur="1" fill="hold">
                                          <p:stCondLst>
                                            <p:cond delay="0"/>
                                          </p:stCondLst>
                                        </p:cTn>
                                        <p:tgtEl>
                                          <p:spTgt spid="130"/>
                                        </p:tgtEl>
                                        <p:attrNameLst>
                                          <p:attrName>style.visibility</p:attrName>
                                        </p:attrNameLst>
                                      </p:cBhvr>
                                      <p:to>
                                        <p:strVal val="visible"/>
                                      </p:to>
                                    </p:set>
                                    <p:animEffect transition="in" filter="fade">
                                      <p:cBhvr additive="repl">
                                        <p:cTn id="16" dur="450"/>
                                        <p:tgtEl>
                                          <p:spTgt spid="130"/>
                                        </p:tgtEl>
                                      </p:cBhvr>
                                    </p:animEffect>
                                  </p:childTnLst>
                                </p:cTn>
                              </p:par>
                              <p:par>
                                <p:cTn id="17" presetID="10" presetClass="entr" fill="hold" nodeType="withEffect">
                                  <p:stCondLst>
                                    <p:cond delay="0"/>
                                  </p:stCondLst>
                                  <p:childTnLst>
                                    <p:set>
                                      <p:cBhvr>
                                        <p:cTn id="18" dur="1" fill="hold">
                                          <p:stCondLst>
                                            <p:cond delay="0"/>
                                          </p:stCondLst>
                                        </p:cTn>
                                        <p:tgtEl>
                                          <p:spTgt spid="136"/>
                                        </p:tgtEl>
                                        <p:attrNameLst>
                                          <p:attrName>style.visibility</p:attrName>
                                        </p:attrNameLst>
                                      </p:cBhvr>
                                      <p:to>
                                        <p:strVal val="visible"/>
                                      </p:to>
                                    </p:set>
                                    <p:animEffect transition="in" filter="fade">
                                      <p:cBhvr additive="repl">
                                        <p:cTn id="19" dur="450"/>
                                        <p:tgtEl>
                                          <p:spTgt spid="136"/>
                                        </p:tgtEl>
                                      </p:cBhvr>
                                    </p:animEffect>
                                  </p:childTnLst>
                                </p:cTn>
                              </p:par>
                              <p:par>
                                <p:cTn id="20" presetID="10" presetClass="entr" fill="hold" nodeType="withEffect">
                                  <p:stCondLst>
                                    <p:cond delay="0"/>
                                  </p:stCondLst>
                                  <p:childTnLst>
                                    <p:set>
                                      <p:cBhvr>
                                        <p:cTn id="21" dur="1" fill="hold">
                                          <p:stCondLst>
                                            <p:cond delay="0"/>
                                          </p:stCondLst>
                                        </p:cTn>
                                        <p:tgtEl>
                                          <p:spTgt spid="142"/>
                                        </p:tgtEl>
                                        <p:attrNameLst>
                                          <p:attrName>style.visibility</p:attrName>
                                        </p:attrNameLst>
                                      </p:cBhvr>
                                      <p:to>
                                        <p:strVal val="visible"/>
                                      </p:to>
                                    </p:set>
                                    <p:animEffect transition="in" filter="fade">
                                      <p:cBhvr additive="repl">
                                        <p:cTn id="22" dur="450"/>
                                        <p:tgtEl>
                                          <p:spTgt spid="142"/>
                                        </p:tgtEl>
                                      </p:cBhvr>
                                    </p:animEffect>
                                  </p:childTnLst>
                                </p:cTn>
                              </p:par>
                              <p:par>
                                <p:cTn id="23" presetID="10" presetClass="entr" fill="hold" nodeType="withEffect">
                                  <p:stCondLst>
                                    <p:cond delay="0"/>
                                  </p:stCondLst>
                                  <p:childTnLst>
                                    <p:set>
                                      <p:cBhvr>
                                        <p:cTn id="24" dur="1" fill="hold">
                                          <p:stCondLst>
                                            <p:cond delay="0"/>
                                          </p:stCondLst>
                                        </p:cTn>
                                        <p:tgtEl>
                                          <p:spTgt spid="131"/>
                                        </p:tgtEl>
                                        <p:attrNameLst>
                                          <p:attrName>style.visibility</p:attrName>
                                        </p:attrNameLst>
                                      </p:cBhvr>
                                      <p:to>
                                        <p:strVal val="visible"/>
                                      </p:to>
                                    </p:set>
                                    <p:animEffect transition="in" filter="fade">
                                      <p:cBhvr additive="repl">
                                        <p:cTn id="25" dur="450"/>
                                        <p:tgtEl>
                                          <p:spTgt spid="131"/>
                                        </p:tgtEl>
                                      </p:cBhvr>
                                    </p:animEffect>
                                  </p:childTnLst>
                                </p:cTn>
                              </p:par>
                              <p:par>
                                <p:cTn id="26" presetID="10" presetClass="entr" fill="hold" nodeType="withEffect">
                                  <p:stCondLst>
                                    <p:cond delay="0"/>
                                  </p:stCondLst>
                                  <p:childTnLst>
                                    <p:set>
                                      <p:cBhvr>
                                        <p:cTn id="27" dur="1" fill="hold">
                                          <p:stCondLst>
                                            <p:cond delay="0"/>
                                          </p:stCondLst>
                                        </p:cTn>
                                        <p:tgtEl>
                                          <p:spTgt spid="137"/>
                                        </p:tgtEl>
                                        <p:attrNameLst>
                                          <p:attrName>style.visibility</p:attrName>
                                        </p:attrNameLst>
                                      </p:cBhvr>
                                      <p:to>
                                        <p:strVal val="visible"/>
                                      </p:to>
                                    </p:set>
                                    <p:animEffect transition="in" filter="fade">
                                      <p:cBhvr additive="repl">
                                        <p:cTn id="28" dur="450"/>
                                        <p:tgtEl>
                                          <p:spTgt spid="137"/>
                                        </p:tgtEl>
                                      </p:cBhvr>
                                    </p:animEffect>
                                  </p:childTnLst>
                                </p:cTn>
                              </p:par>
                              <p:par>
                                <p:cTn id="29" presetID="10" presetClass="entr" fill="hold" nodeType="withEffect">
                                  <p:stCondLst>
                                    <p:cond delay="0"/>
                                  </p:stCondLst>
                                  <p:childTnLst>
                                    <p:set>
                                      <p:cBhvr>
                                        <p:cTn id="30" dur="1" fill="hold">
                                          <p:stCondLst>
                                            <p:cond delay="0"/>
                                          </p:stCondLst>
                                        </p:cTn>
                                        <p:tgtEl>
                                          <p:spTgt spid="143"/>
                                        </p:tgtEl>
                                        <p:attrNameLst>
                                          <p:attrName>style.visibility</p:attrName>
                                        </p:attrNameLst>
                                      </p:cBhvr>
                                      <p:to>
                                        <p:strVal val="visible"/>
                                      </p:to>
                                    </p:set>
                                    <p:animEffect transition="in" filter="fade">
                                      <p:cBhvr additive="repl">
                                        <p:cTn id="31" dur="450"/>
                                        <p:tgtEl>
                                          <p:spTgt spid="143"/>
                                        </p:tgtEl>
                                      </p:cBhvr>
                                    </p:animEffect>
                                  </p:childTnLst>
                                </p:cTn>
                              </p:par>
                              <p:par>
                                <p:cTn id="32" presetID="10" presetClass="entr" fill="hold" nodeType="withEffect">
                                  <p:stCondLst>
                                    <p:cond delay="0"/>
                                  </p:stCondLst>
                                  <p:childTnLst>
                                    <p:set>
                                      <p:cBhvr>
                                        <p:cTn id="33" dur="1" fill="hold">
                                          <p:stCondLst>
                                            <p:cond delay="0"/>
                                          </p:stCondLst>
                                        </p:cTn>
                                        <p:tgtEl>
                                          <p:spTgt spid="132"/>
                                        </p:tgtEl>
                                        <p:attrNameLst>
                                          <p:attrName>style.visibility</p:attrName>
                                        </p:attrNameLst>
                                      </p:cBhvr>
                                      <p:to>
                                        <p:strVal val="visible"/>
                                      </p:to>
                                    </p:set>
                                    <p:animEffect transition="in" filter="fade">
                                      <p:cBhvr additive="repl">
                                        <p:cTn id="34" dur="450"/>
                                        <p:tgtEl>
                                          <p:spTgt spid="132"/>
                                        </p:tgtEl>
                                      </p:cBhvr>
                                    </p:animEffect>
                                  </p:childTnLst>
                                </p:cTn>
                              </p:par>
                              <p:par>
                                <p:cTn id="35" presetID="10" presetClass="entr" fill="hold" nodeType="withEffect">
                                  <p:stCondLst>
                                    <p:cond delay="0"/>
                                  </p:stCondLst>
                                  <p:childTnLst>
                                    <p:set>
                                      <p:cBhvr>
                                        <p:cTn id="36" dur="1" fill="hold">
                                          <p:stCondLst>
                                            <p:cond delay="0"/>
                                          </p:stCondLst>
                                        </p:cTn>
                                        <p:tgtEl>
                                          <p:spTgt spid="138"/>
                                        </p:tgtEl>
                                        <p:attrNameLst>
                                          <p:attrName>style.visibility</p:attrName>
                                        </p:attrNameLst>
                                      </p:cBhvr>
                                      <p:to>
                                        <p:strVal val="visible"/>
                                      </p:to>
                                    </p:set>
                                    <p:animEffect transition="in" filter="fade">
                                      <p:cBhvr additive="repl">
                                        <p:cTn id="37" dur="450"/>
                                        <p:tgtEl>
                                          <p:spTgt spid="138"/>
                                        </p:tgtEl>
                                      </p:cBhvr>
                                    </p:animEffect>
                                  </p:childTnLst>
                                </p:cTn>
                              </p:par>
                              <p:par>
                                <p:cTn id="38" presetID="10" presetClass="entr" fill="hold" nodeType="withEffect">
                                  <p:stCondLst>
                                    <p:cond delay="0"/>
                                  </p:stCondLst>
                                  <p:childTnLst>
                                    <p:set>
                                      <p:cBhvr>
                                        <p:cTn id="39" dur="1" fill="hold">
                                          <p:stCondLst>
                                            <p:cond delay="0"/>
                                          </p:stCondLst>
                                        </p:cTn>
                                        <p:tgtEl>
                                          <p:spTgt spid="144"/>
                                        </p:tgtEl>
                                        <p:attrNameLst>
                                          <p:attrName>style.visibility</p:attrName>
                                        </p:attrNameLst>
                                      </p:cBhvr>
                                      <p:to>
                                        <p:strVal val="visible"/>
                                      </p:to>
                                    </p:set>
                                    <p:animEffect transition="in" filter="fade">
                                      <p:cBhvr additive="repl">
                                        <p:cTn id="40" dur="450"/>
                                        <p:tgtEl>
                                          <p:spTgt spid="14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fill="hold" nodeType="clickEffect">
                                  <p:stCondLst>
                                    <p:cond delay="0"/>
                                  </p:stCondLst>
                                  <p:childTnLst>
                                    <p:set>
                                      <p:cBhvr>
                                        <p:cTn id="44" dur="1" fill="hold">
                                          <p:stCondLst>
                                            <p:cond delay="0"/>
                                          </p:stCondLst>
                                        </p:cTn>
                                        <p:tgtEl>
                                          <p:spTgt spid="133"/>
                                        </p:tgtEl>
                                        <p:attrNameLst>
                                          <p:attrName>style.visibility</p:attrName>
                                        </p:attrNameLst>
                                      </p:cBhvr>
                                      <p:to>
                                        <p:strVal val="visible"/>
                                      </p:to>
                                    </p:set>
                                    <p:animEffect transition="in" filter="fade">
                                      <p:cBhvr additive="repl">
                                        <p:cTn id="45" dur="450"/>
                                        <p:tgtEl>
                                          <p:spTgt spid="133"/>
                                        </p:tgtEl>
                                      </p:cBhvr>
                                    </p:animEffect>
                                  </p:childTnLst>
                                </p:cTn>
                              </p:par>
                              <p:par>
                                <p:cTn id="46" presetID="10" presetClass="entr" fill="hold" nodeType="withEffect">
                                  <p:stCondLst>
                                    <p:cond delay="0"/>
                                  </p:stCondLst>
                                  <p:childTnLst>
                                    <p:set>
                                      <p:cBhvr>
                                        <p:cTn id="47" dur="1" fill="hold">
                                          <p:stCondLst>
                                            <p:cond delay="0"/>
                                          </p:stCondLst>
                                        </p:cTn>
                                        <p:tgtEl>
                                          <p:spTgt spid="139"/>
                                        </p:tgtEl>
                                        <p:attrNameLst>
                                          <p:attrName>style.visibility</p:attrName>
                                        </p:attrNameLst>
                                      </p:cBhvr>
                                      <p:to>
                                        <p:strVal val="visible"/>
                                      </p:to>
                                    </p:set>
                                    <p:animEffect transition="in" filter="fade">
                                      <p:cBhvr additive="repl">
                                        <p:cTn id="48" dur="450"/>
                                        <p:tgtEl>
                                          <p:spTgt spid="139"/>
                                        </p:tgtEl>
                                      </p:cBhvr>
                                    </p:animEffect>
                                  </p:childTnLst>
                                </p:cTn>
                              </p:par>
                              <p:par>
                                <p:cTn id="49" presetID="10" presetClass="entr" fill="hold" nodeType="withEffect">
                                  <p:stCondLst>
                                    <p:cond delay="0"/>
                                  </p:stCondLst>
                                  <p:childTnLst>
                                    <p:set>
                                      <p:cBhvr>
                                        <p:cTn id="50" dur="1" fill="hold">
                                          <p:stCondLst>
                                            <p:cond delay="0"/>
                                          </p:stCondLst>
                                        </p:cTn>
                                        <p:tgtEl>
                                          <p:spTgt spid="145"/>
                                        </p:tgtEl>
                                        <p:attrNameLst>
                                          <p:attrName>style.visibility</p:attrName>
                                        </p:attrNameLst>
                                      </p:cBhvr>
                                      <p:to>
                                        <p:strVal val="visible"/>
                                      </p:to>
                                    </p:set>
                                    <p:animEffect transition="in" filter="fade">
                                      <p:cBhvr additive="repl">
                                        <p:cTn id="51" dur="450"/>
                                        <p:tgtEl>
                                          <p:spTgt spid="145"/>
                                        </p:tgtEl>
                                      </p:cBhvr>
                                    </p:animEffect>
                                  </p:childTnLst>
                                </p:cTn>
                              </p:par>
                              <p:par>
                                <p:cTn id="52" presetID="10" presetClass="entr" fill="hold" nodeType="withEffect">
                                  <p:stCondLst>
                                    <p:cond delay="0"/>
                                  </p:stCondLst>
                                  <p:childTnLst>
                                    <p:set>
                                      <p:cBhvr>
                                        <p:cTn id="53" dur="1" fill="hold">
                                          <p:stCondLst>
                                            <p:cond delay="0"/>
                                          </p:stCondLst>
                                        </p:cTn>
                                        <p:tgtEl>
                                          <p:spTgt spid="134"/>
                                        </p:tgtEl>
                                        <p:attrNameLst>
                                          <p:attrName>style.visibility</p:attrName>
                                        </p:attrNameLst>
                                      </p:cBhvr>
                                      <p:to>
                                        <p:strVal val="visible"/>
                                      </p:to>
                                    </p:set>
                                    <p:animEffect transition="in" filter="fade">
                                      <p:cBhvr additive="repl">
                                        <p:cTn id="54" dur="450"/>
                                        <p:tgtEl>
                                          <p:spTgt spid="134"/>
                                        </p:tgtEl>
                                      </p:cBhvr>
                                    </p:animEffect>
                                  </p:childTnLst>
                                </p:cTn>
                              </p:par>
                              <p:par>
                                <p:cTn id="55" presetID="10" presetClass="entr" fill="hold" nodeType="withEffect">
                                  <p:stCondLst>
                                    <p:cond delay="0"/>
                                  </p:stCondLst>
                                  <p:childTnLst>
                                    <p:set>
                                      <p:cBhvr>
                                        <p:cTn id="56" dur="1" fill="hold">
                                          <p:stCondLst>
                                            <p:cond delay="0"/>
                                          </p:stCondLst>
                                        </p:cTn>
                                        <p:tgtEl>
                                          <p:spTgt spid="140"/>
                                        </p:tgtEl>
                                        <p:attrNameLst>
                                          <p:attrName>style.visibility</p:attrName>
                                        </p:attrNameLst>
                                      </p:cBhvr>
                                      <p:to>
                                        <p:strVal val="visible"/>
                                      </p:to>
                                    </p:set>
                                    <p:animEffect transition="in" filter="fade">
                                      <p:cBhvr additive="repl">
                                        <p:cTn id="57" dur="450"/>
                                        <p:tgtEl>
                                          <p:spTgt spid="140"/>
                                        </p:tgtEl>
                                      </p:cBhvr>
                                    </p:animEffect>
                                  </p:childTnLst>
                                </p:cTn>
                              </p:par>
                              <p:par>
                                <p:cTn id="58" presetID="10" presetClass="entr" fill="hold" nodeType="withEffect">
                                  <p:stCondLst>
                                    <p:cond delay="0"/>
                                  </p:stCondLst>
                                  <p:childTnLst>
                                    <p:set>
                                      <p:cBhvr>
                                        <p:cTn id="59" dur="1" fill="hold">
                                          <p:stCondLst>
                                            <p:cond delay="0"/>
                                          </p:stCondLst>
                                        </p:cTn>
                                        <p:tgtEl>
                                          <p:spTgt spid="146"/>
                                        </p:tgtEl>
                                        <p:attrNameLst>
                                          <p:attrName>style.visibility</p:attrName>
                                        </p:attrNameLst>
                                      </p:cBhvr>
                                      <p:to>
                                        <p:strVal val="visible"/>
                                      </p:to>
                                    </p:set>
                                    <p:animEffect transition="in" filter="fade">
                                      <p:cBhvr additive="repl">
                                        <p:cTn id="60" dur="450"/>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148" name="Shape 0"/>
          <p:cNvSpPr/>
          <p:nvPr/>
        </p:nvSpPr>
        <p:spPr>
          <a:xfrm>
            <a:off x="-36576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49" name="Shape 1"/>
          <p:cNvSpPr/>
          <p:nvPr/>
        </p:nvSpPr>
        <p:spPr>
          <a:xfrm>
            <a:off x="1182600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0" name="Shape 2"/>
          <p:cNvSpPr/>
          <p:nvPr/>
        </p:nvSpPr>
        <p:spPr>
          <a:xfrm>
            <a:off x="-36576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1" name="Shape 3"/>
          <p:cNvSpPr/>
          <p:nvPr/>
        </p:nvSpPr>
        <p:spPr>
          <a:xfrm>
            <a:off x="1182600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2" name="Shape 4"/>
          <p:cNvSpPr/>
          <p:nvPr/>
        </p:nvSpPr>
        <p:spPr>
          <a:xfrm>
            <a:off x="2926080" y="-4846320"/>
            <a:ext cx="6033240" cy="6033240"/>
          </a:xfrm>
          <a:prstGeom prst="ellipse">
            <a:avLst/>
          </a:prstGeom>
          <a:solidFill>
            <a:srgbClr val="1F7A4D">
              <a:alpha val="5000"/>
            </a:srgbClr>
          </a:solidFill>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53" name="Shape 5"/>
          <p:cNvSpPr/>
          <p:nvPr/>
        </p:nvSpPr>
        <p:spPr>
          <a:xfrm>
            <a:off x="5897880" y="-1874520"/>
            <a:ext cx="89640" cy="89640"/>
          </a:xfrm>
          <a:prstGeom prst="ellipse">
            <a:avLst/>
          </a:prstGeom>
          <a:solidFill>
            <a:srgbClr val="E8A33D">
              <a:alpha val="75000"/>
            </a:srgbClr>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154" name="Quiz Eyebrow"/>
          <p:cNvSpPr/>
          <p:nvPr/>
        </p:nvSpPr>
        <p:spPr>
          <a:xfrm>
            <a:off x="825480" y="787320"/>
            <a:ext cx="6348600" cy="316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400" b="1" strike="noStrike" spc="191">
                <a:solidFill>
                  <a:srgbClr val="E8A33D"/>
                </a:solidFill>
                <a:latin typeface="Calibri"/>
                <a:ea typeface="Calibri"/>
              </a:rPr>
              <a:t>YOUR CALL</a:t>
            </a:r>
            <a:endParaRPr lang="en-US" sz="1400" b="0" strike="noStrike" spc="-1">
              <a:solidFill>
                <a:srgbClr val="FFFFFF"/>
              </a:solidFill>
              <a:latin typeface="Arial"/>
            </a:endParaRPr>
          </a:p>
        </p:txBody>
      </p:sp>
      <p:sp>
        <p:nvSpPr>
          <p:cNvPr id="155" name="Quiz Title"/>
          <p:cNvSpPr/>
          <p:nvPr/>
        </p:nvSpPr>
        <p:spPr>
          <a:xfrm>
            <a:off x="825480" y="1168560"/>
            <a:ext cx="10539720" cy="73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3400" b="1" strike="noStrike" spc="-1">
                <a:solidFill>
                  <a:srgbClr val="FFFFFF"/>
                </a:solidFill>
                <a:latin typeface="Cambria"/>
                <a:ea typeface="Cambria"/>
              </a:rPr>
              <a:t>Which predicts a player's future value better?</a:t>
            </a:r>
            <a:endParaRPr lang="en-US" sz="3400" b="0" strike="noStrike" spc="-1">
              <a:solidFill>
                <a:srgbClr val="FFFFFF"/>
              </a:solidFill>
              <a:latin typeface="Arial"/>
            </a:endParaRPr>
          </a:p>
        </p:txBody>
      </p:sp>
      <p:sp>
        <p:nvSpPr>
          <p:cNvPr id="156" name="Quiz Subtitle"/>
          <p:cNvSpPr/>
          <p:nvPr/>
        </p:nvSpPr>
        <p:spPr>
          <a:xfrm>
            <a:off x="825480" y="1930320"/>
            <a:ext cx="10539720" cy="35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800" b="0" strike="noStrike" spc="-1">
                <a:solidFill>
                  <a:srgbClr val="C5CEE0"/>
                </a:solidFill>
                <a:latin typeface="Calibri"/>
                <a:ea typeface="Calibri"/>
              </a:rPr>
              <a:t>Vote with a show of hands. Then tap an answer to see what the data says.</a:t>
            </a:r>
            <a:endParaRPr lang="en-US" sz="1800" b="0" strike="noStrike" spc="-1">
              <a:solidFill>
                <a:srgbClr val="FFFFFF"/>
              </a:solidFill>
              <a:latin typeface="Arial"/>
            </a:endParaRPr>
          </a:p>
        </p:txBody>
      </p:sp>
      <p:sp>
        <p:nvSpPr>
          <p:cNvPr id="157" name="Option A"/>
          <p:cNvSpPr/>
          <p:nvPr/>
        </p:nvSpPr>
        <p:spPr>
          <a:xfrm>
            <a:off x="825480" y="2692440"/>
            <a:ext cx="5078520" cy="1497240"/>
          </a:xfrm>
          <a:prstGeom prst="roundRect">
            <a:avLst>
              <a:gd name="adj" fmla="val 6000"/>
            </a:avLst>
          </a:prstGeom>
          <a:solidFill>
            <a:srgbClr val="16264D"/>
          </a:solidFill>
          <a:ln w="0">
            <a:noFill/>
          </a:ln>
        </p:spPr>
        <p:style>
          <a:lnRef idx="0">
            <a:scrgbClr r="0" g="0" b="0"/>
          </a:lnRef>
          <a:fillRef idx="0">
            <a:scrgbClr r="0" g="0" b="0"/>
          </a:fillRef>
          <a:effectRef idx="0">
            <a:scrgbClr r="0" g="0" b="0"/>
          </a:effectRef>
          <a:fontRef idx="minor"/>
        </p:style>
        <p:txBody>
          <a:bodyPr lIns="279360" tIns="203040" rIns="279360" bIns="279360" anchor="t">
            <a:noAutofit/>
          </a:bodyPr>
          <a:lstStyle/>
          <a:p>
            <a:pPr defTabSz="914400">
              <a:lnSpc>
                <a:spcPct val="100000"/>
              </a:lnSpc>
              <a:spcAft>
                <a:spcPts val="601"/>
              </a:spcAft>
            </a:pPr>
            <a:r>
              <a:rPr lang="en-US" sz="3200" b="1" strike="noStrike" spc="-1">
                <a:solidFill>
                  <a:srgbClr val="E8A33D"/>
                </a:solidFill>
                <a:latin typeface="Cambria"/>
                <a:ea typeface="Cambria"/>
              </a:rPr>
              <a:t>A</a:t>
            </a:r>
            <a:endParaRPr lang="en-US" sz="3200" b="0" strike="noStrike" spc="-1">
              <a:solidFill>
                <a:srgbClr val="FFFFFF"/>
              </a:solidFill>
              <a:latin typeface="Arial"/>
            </a:endParaRPr>
          </a:p>
          <a:p>
            <a:pPr defTabSz="914400">
              <a:lnSpc>
                <a:spcPct val="100000"/>
              </a:lnSpc>
            </a:pPr>
            <a:r>
              <a:rPr lang="en-US" sz="2200" b="1" strike="noStrike" spc="-1">
                <a:solidFill>
                  <a:srgbClr val="FFFFFF"/>
                </a:solidFill>
                <a:latin typeface="Calibri"/>
                <a:ea typeface="Calibri"/>
              </a:rPr>
              <a:t>How recently he was last injured</a:t>
            </a:r>
            <a:endParaRPr lang="en-US" sz="2200" b="0" strike="noStrike" spc="-1">
              <a:solidFill>
                <a:srgbClr val="FFFFFF"/>
              </a:solidFill>
              <a:latin typeface="Arial"/>
            </a:endParaRPr>
          </a:p>
        </p:txBody>
      </p:sp>
      <p:sp>
        <p:nvSpPr>
          <p:cNvPr id="158" name="Option B"/>
          <p:cNvSpPr/>
          <p:nvPr/>
        </p:nvSpPr>
        <p:spPr>
          <a:xfrm>
            <a:off x="6286680" y="2692440"/>
            <a:ext cx="5078520" cy="1497240"/>
          </a:xfrm>
          <a:prstGeom prst="roundRect">
            <a:avLst>
              <a:gd name="adj" fmla="val 6000"/>
            </a:avLst>
          </a:prstGeom>
          <a:solidFill>
            <a:srgbClr val="16264D"/>
          </a:solidFill>
          <a:ln w="0">
            <a:noFill/>
          </a:ln>
        </p:spPr>
        <p:style>
          <a:lnRef idx="0">
            <a:scrgbClr r="0" g="0" b="0"/>
          </a:lnRef>
          <a:fillRef idx="0">
            <a:scrgbClr r="0" g="0" b="0"/>
          </a:fillRef>
          <a:effectRef idx="0">
            <a:scrgbClr r="0" g="0" b="0"/>
          </a:effectRef>
          <a:fontRef idx="minor"/>
        </p:style>
        <p:txBody>
          <a:bodyPr lIns="279360" tIns="203040" rIns="279360" bIns="279360" anchor="t">
            <a:noAutofit/>
          </a:bodyPr>
          <a:lstStyle/>
          <a:p>
            <a:pPr defTabSz="914400">
              <a:lnSpc>
                <a:spcPct val="100000"/>
              </a:lnSpc>
              <a:spcAft>
                <a:spcPts val="601"/>
              </a:spcAft>
            </a:pPr>
            <a:r>
              <a:rPr lang="en-US" sz="3200" b="1" strike="noStrike" spc="-1">
                <a:solidFill>
                  <a:srgbClr val="E8A33D"/>
                </a:solidFill>
                <a:latin typeface="Cambria"/>
                <a:ea typeface="Cambria"/>
              </a:rPr>
              <a:t>B</a:t>
            </a:r>
            <a:endParaRPr lang="en-US" sz="3200" b="0" strike="noStrike" spc="-1">
              <a:solidFill>
                <a:srgbClr val="FFFFFF"/>
              </a:solidFill>
              <a:latin typeface="Arial"/>
            </a:endParaRPr>
          </a:p>
          <a:p>
            <a:pPr defTabSz="914400">
              <a:lnSpc>
                <a:spcPct val="100000"/>
              </a:lnSpc>
            </a:pPr>
            <a:r>
              <a:rPr lang="en-US" sz="2200" b="1" strike="noStrike" spc="-1">
                <a:solidFill>
                  <a:srgbClr val="FFFFFF"/>
                </a:solidFill>
                <a:latin typeface="Calibri"/>
                <a:ea typeface="Calibri"/>
              </a:rPr>
              <a:t>Whether he has ever been injured</a:t>
            </a:r>
            <a:endParaRPr lang="en-US" sz="2200" b="0" strike="noStrike" spc="-1">
              <a:solidFill>
                <a:srgbClr val="FFFFFF"/>
              </a:solidFill>
              <a:latin typeface="Arial"/>
            </a:endParaRPr>
          </a:p>
        </p:txBody>
      </p:sp>
      <p:sp>
        <p:nvSpPr>
          <p:cNvPr id="159" name="Feedback A"/>
          <p:cNvSpPr/>
          <p:nvPr/>
        </p:nvSpPr>
        <p:spPr>
          <a:xfrm>
            <a:off x="825480" y="4622760"/>
            <a:ext cx="5078520" cy="1268640"/>
          </a:xfrm>
          <a:prstGeom prst="roundRect">
            <a:avLst>
              <a:gd name="adj" fmla="val 6000"/>
            </a:avLst>
          </a:prstGeom>
          <a:noFill/>
          <a:ln w="19050">
            <a:solidFill>
              <a:srgbClr val="5A6A8F"/>
            </a:solidFill>
            <a:round/>
          </a:ln>
        </p:spPr>
        <p:style>
          <a:lnRef idx="0">
            <a:scrgbClr r="0" g="0" b="0"/>
          </a:lnRef>
          <a:fillRef idx="0">
            <a:scrgbClr r="0" g="0" b="0"/>
          </a:fillRef>
          <a:effectRef idx="0">
            <a:scrgbClr r="0" g="0" b="0"/>
          </a:effectRef>
          <a:fontRef idx="minor"/>
        </p:style>
        <p:txBody>
          <a:bodyPr lIns="203040" tIns="203040" rIns="203040" bIns="203040" anchor="ctr">
            <a:noAutofit/>
          </a:bodyPr>
          <a:lstStyle/>
          <a:p>
            <a:pPr defTabSz="914400">
              <a:lnSpc>
                <a:spcPct val="100000"/>
              </a:lnSpc>
            </a:pPr>
            <a:r>
              <a:rPr lang="en-US" sz="1800" b="1" strike="noStrike" spc="-1">
                <a:solidFill>
                  <a:srgbClr val="FFFFFF"/>
                </a:solidFill>
                <a:latin typeface="Calibri"/>
                <a:ea typeface="Calibri"/>
              </a:rPr>
              <a:t>Not quite. </a:t>
            </a:r>
            <a:r>
              <a:rPr lang="en-US" sz="1800" b="0" strike="noStrike" spc="-1">
                <a:solidFill>
                  <a:srgbClr val="C5CEE0"/>
                </a:solidFill>
                <a:latin typeface="Calibri"/>
                <a:ea typeface="Calibri"/>
              </a:rPr>
              <a:t>Recent, moderate and distant injuries all show the same flat value growth.</a:t>
            </a:r>
            <a:endParaRPr lang="en-US" sz="1800" b="0" strike="noStrike" spc="-1">
              <a:solidFill>
                <a:srgbClr val="FFFFFF"/>
              </a:solidFill>
              <a:latin typeface="Arial"/>
            </a:endParaRPr>
          </a:p>
        </p:txBody>
      </p:sp>
      <p:sp>
        <p:nvSpPr>
          <p:cNvPr id="160" name="Feedback B"/>
          <p:cNvSpPr/>
          <p:nvPr/>
        </p:nvSpPr>
        <p:spPr>
          <a:xfrm>
            <a:off x="6286680" y="4622760"/>
            <a:ext cx="5078520" cy="1268640"/>
          </a:xfrm>
          <a:prstGeom prst="roundRect">
            <a:avLst>
              <a:gd name="adj" fmla="val 6000"/>
            </a:avLst>
          </a:prstGeom>
          <a:noFill/>
          <a:ln w="19050">
            <a:solidFill>
              <a:srgbClr val="E8A33D"/>
            </a:solidFill>
            <a:round/>
          </a:ln>
        </p:spPr>
        <p:style>
          <a:lnRef idx="0">
            <a:scrgbClr r="0" g="0" b="0"/>
          </a:lnRef>
          <a:fillRef idx="0">
            <a:scrgbClr r="0" g="0" b="0"/>
          </a:fillRef>
          <a:effectRef idx="0">
            <a:scrgbClr r="0" g="0" b="0"/>
          </a:effectRef>
          <a:fontRef idx="minor"/>
        </p:style>
        <p:txBody>
          <a:bodyPr lIns="203040" tIns="203040" rIns="203040" bIns="203040" anchor="ctr">
            <a:noAutofit/>
          </a:bodyPr>
          <a:lstStyle/>
          <a:p>
            <a:pPr defTabSz="914400">
              <a:lnSpc>
                <a:spcPct val="100000"/>
              </a:lnSpc>
            </a:pPr>
            <a:r>
              <a:rPr lang="en-US" sz="1800" b="1" strike="noStrike" spc="-1">
                <a:solidFill>
                  <a:srgbClr val="E8A33D"/>
                </a:solidFill>
                <a:latin typeface="Calibri"/>
                <a:ea typeface="Calibri"/>
              </a:rPr>
              <a:t>Correct. </a:t>
            </a:r>
            <a:r>
              <a:rPr lang="en-US" sz="1800" b="0" strike="noStrike" spc="-1">
                <a:solidFill>
                  <a:srgbClr val="FFFFFF"/>
                </a:solidFill>
                <a:latin typeface="Calibri"/>
                <a:ea typeface="Calibri"/>
              </a:rPr>
              <a:t>No injury history: +4.35% median value growth. Any injury history: 0.0%.</a:t>
            </a:r>
            <a:endParaRPr lang="en-US" sz="1800" b="0" strike="noStrike" spc="-1">
              <a:solidFill>
                <a:srgbClr val="FFFFFF"/>
              </a:solidFill>
              <a:latin typeface="Arial"/>
            </a:endParaRPr>
          </a:p>
        </p:txBody>
      </p:sp>
      <p:sp>
        <p:nvSpPr>
          <p:cNvPr id="161" name="Text 23"/>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A8B4D0"/>
                </a:solidFill>
                <a:latin typeface="Calibri"/>
                <a:ea typeface="Calibri"/>
              </a:rPr>
              <a:t>06</a:t>
            </a:r>
            <a:endParaRPr lang="en-US" sz="1200" b="0" strike="noStrike" spc="-1">
              <a:solidFill>
                <a:srgbClr val="FFFFFF"/>
              </a:solidFill>
              <a:latin typeface="Arial"/>
            </a:endParaRPr>
          </a:p>
        </p:txBody>
      </p:sp>
    </p:spTree>
  </p:cSld>
  <p:clrMapOvr>
    <a:masterClrMapping/>
  </p:clrMapOvr>
  <p:transition spd="med">
    <p:fade/>
  </p:transition>
  <p:timing>
    <p:tnLst>
      <p:par>
        <p:cTn id="1" dur="indefinite" restart="never" nodeType="tmRoot">
          <p:childTnLst>
            <p:seq>
              <p:cTn id="2" restart="whenNotActive" fill="hold" nodeType="interactiveSeq">
                <p:stCondLst>
                  <p:cond evt="onClick" delay="0">
                    <p:tgtEl>
                      <p:spTgt spid="157"/>
                    </p:tgtEl>
                  </p:cond>
                </p:stCondLst>
                <p:childTnLst>
                  <p:par>
                    <p:cTn id="3" fill="hold">
                      <p:stCondLst>
                        <p:cond evt="onClick" delay="0">
                          <p:tgtEl>
                            <p:spTgt spid="157"/>
                          </p:tgtEl>
                        </p:cond>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additive="repl">
                                        <p:cTn id="7"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seq>
              <p:cTn id="8" restart="whenNotActive" fill="hold" nodeType="interactiveSeq">
                <p:stCondLst>
                  <p:cond evt="onClick" delay="0">
                    <p:tgtEl>
                      <p:spTgt spid="158"/>
                    </p:tgtEl>
                  </p:cond>
                </p:stCondLst>
                <p:childTnLst>
                  <p:par>
                    <p:cTn id="9" fill="hold">
                      <p:stCondLst>
                        <p:cond evt="onClick" delay="0">
                          <p:tgtEl>
                            <p:spTgt spid="158"/>
                          </p:tgtEl>
                        </p:cond>
                      </p:stCondLst>
                      <p:childTnLst>
                        <p:par>
                          <p:cTn id="10" fill="hold">
                            <p:stCondLst>
                              <p:cond delay="0"/>
                            </p:stCondLst>
                            <p:childTnLst>
                              <p:par>
                                <p:cTn id="11" presetID="10" presetClass="entr" fill="hold" nodeType="clickEffect">
                                  <p:stCondLst>
                                    <p:cond delay="0"/>
                                  </p:stCondLst>
                                  <p:childTnLst>
                                    <p:set>
                                      <p:cBhvr>
                                        <p:cTn id="12" dur="1" fill="hold">
                                          <p:stCondLst>
                                            <p:cond delay="0"/>
                                          </p:stCondLst>
                                        </p:cTn>
                                        <p:tgtEl>
                                          <p:spTgt spid="160"/>
                                        </p:tgtEl>
                                        <p:attrNameLst>
                                          <p:attrName>style.visibility</p:attrName>
                                        </p:attrNameLst>
                                      </p:cBhvr>
                                      <p:to>
                                        <p:strVal val="visible"/>
                                      </p:to>
                                    </p:set>
                                    <p:animEffect transition="in" filter="fade">
                                      <p:cBhvr additive="repl">
                                        <p:cTn id="13" dur="500"/>
                                        <p:tgtEl>
                                          <p:spTgt spid="160"/>
                                        </p:tgtEl>
                                      </p:cBhvr>
                                    </p:animEffect>
                                  </p:childTnLst>
                                </p:cTn>
                              </p:par>
                              <p:par>
                                <p:cTn id="14" presetID="6" presetClass="emph" autoRev="1" fill="hold" nodeType="withEffect">
                                  <p:stCondLst>
                                    <p:cond delay="0"/>
                                  </p:stCondLst>
                                  <p:childTnLst>
                                    <p:animScale>
                                      <p:cBhvr>
                                        <p:cTn id="15" dur="300" fill="hold"/>
                                        <p:tgtEl>
                                          <p:spTgt spid="15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2" name="Shape 0"/>
          <p:cNvSpPr/>
          <p:nvPr/>
        </p:nvSpPr>
        <p:spPr>
          <a:xfrm>
            <a:off x="697320" y="468720"/>
            <a:ext cx="752760" cy="752760"/>
          </a:xfrm>
          <a:prstGeom prst="ellipse">
            <a:avLst/>
          </a:prstGeom>
          <a:solidFill>
            <a:srgbClr val="E8A3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3" name="Shape 1"/>
          <p:cNvSpPr/>
          <p:nvPr/>
        </p:nvSpPr>
        <p:spPr>
          <a:xfrm>
            <a:off x="822960" y="594360"/>
            <a:ext cx="501120" cy="50112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4" name="Text 2"/>
          <p:cNvSpPr/>
          <p:nvPr/>
        </p:nvSpPr>
        <p:spPr>
          <a:xfrm>
            <a:off x="1481400" y="713160"/>
            <a:ext cx="427752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B8790C"/>
                </a:solidFill>
                <a:latin typeface="Calibri"/>
                <a:ea typeface="Calibri"/>
              </a:rPr>
              <a:t>RECRUITMENT / SCOUTING</a:t>
            </a:r>
            <a:endParaRPr lang="en-US" sz="1400" b="0" strike="noStrike" spc="-1">
              <a:solidFill>
                <a:srgbClr val="000000"/>
              </a:solidFill>
              <a:latin typeface="Arial"/>
            </a:endParaRPr>
          </a:p>
        </p:txBody>
      </p:sp>
      <p:sp>
        <p:nvSpPr>
          <p:cNvPr id="165" name="Text 3"/>
          <p:cNvSpPr/>
          <p:nvPr/>
        </p:nvSpPr>
        <p:spPr>
          <a:xfrm>
            <a:off x="822960" y="1188720"/>
            <a:ext cx="533400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mbria"/>
                <a:ea typeface="Cambria"/>
              </a:rPr>
              <a:t>Injury history, not recency, flattens value growth</a:t>
            </a:r>
            <a:endParaRPr lang="en-US" sz="1800" b="0" strike="noStrike" spc="-1">
              <a:solidFill>
                <a:srgbClr val="000000"/>
              </a:solidFill>
              <a:latin typeface="Arial"/>
            </a:endParaRPr>
          </a:p>
        </p:txBody>
      </p:sp>
      <p:sp>
        <p:nvSpPr>
          <p:cNvPr id="166" name="Shape 4"/>
          <p:cNvSpPr/>
          <p:nvPr/>
        </p:nvSpPr>
        <p:spPr>
          <a:xfrm>
            <a:off x="822960" y="2057400"/>
            <a:ext cx="4935960" cy="894240"/>
          </a:xfrm>
          <a:prstGeom prst="roundRect">
            <a:avLst>
              <a:gd name="adj" fmla="val 7143"/>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67" name="Text 5"/>
          <p:cNvSpPr/>
          <p:nvPr/>
        </p:nvSpPr>
        <p:spPr>
          <a:xfrm>
            <a:off x="1024200" y="2148840"/>
            <a:ext cx="4533480" cy="22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89">
                <a:solidFill>
                  <a:srgbClr val="E8A33D"/>
                </a:solidFill>
                <a:latin typeface="Calibri"/>
                <a:ea typeface="Calibri"/>
              </a:rPr>
              <a:t>HYPOTHESIS</a:t>
            </a:r>
            <a:endParaRPr lang="en-US" sz="1200" b="0" strike="noStrike" spc="-1">
              <a:solidFill>
                <a:srgbClr val="000000"/>
              </a:solidFill>
              <a:latin typeface="Arial"/>
            </a:endParaRPr>
          </a:p>
        </p:txBody>
      </p:sp>
      <p:sp>
        <p:nvSpPr>
          <p:cNvPr id="168" name="Text 6"/>
          <p:cNvSpPr/>
          <p:nvPr/>
        </p:nvSpPr>
        <p:spPr>
          <a:xfrm>
            <a:off x="1024200" y="2377440"/>
            <a:ext cx="453348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strike="noStrike" spc="-1">
                <a:solidFill>
                  <a:srgbClr val="FFFFFF"/>
                </a:solidFill>
                <a:latin typeface="Calibri"/>
                <a:ea typeface="Calibri"/>
              </a:rPr>
              <a:t>Injury recency predicts near-term value decline.</a:t>
            </a:r>
            <a:endParaRPr lang="en-US" sz="1400" b="0" strike="noStrike" spc="-1">
              <a:solidFill>
                <a:srgbClr val="000000"/>
              </a:solidFill>
              <a:latin typeface="Arial"/>
            </a:endParaRPr>
          </a:p>
        </p:txBody>
      </p:sp>
      <p:sp>
        <p:nvSpPr>
          <p:cNvPr id="169" name="Shape 7"/>
          <p:cNvSpPr/>
          <p:nvPr/>
        </p:nvSpPr>
        <p:spPr>
          <a:xfrm>
            <a:off x="822960" y="3154680"/>
            <a:ext cx="4935960" cy="418680"/>
          </a:xfrm>
          <a:prstGeom prst="roundRect">
            <a:avLst>
              <a:gd name="adj" fmla="val 50000"/>
            </a:avLst>
          </a:prstGeom>
          <a:solidFill>
            <a:srgbClr val="B8790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0" name="Text 8"/>
          <p:cNvSpPr/>
          <p:nvPr/>
        </p:nvSpPr>
        <p:spPr>
          <a:xfrm>
            <a:off x="1371600" y="3154680"/>
            <a:ext cx="426564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FFFFFF"/>
                </a:solidFill>
                <a:latin typeface="Calibri"/>
                <a:ea typeface="Calibri"/>
              </a:rPr>
              <a:t>MIXED: injury history matters more than recency</a:t>
            </a:r>
            <a:endParaRPr lang="en-US" sz="1350" b="0" strike="noStrike" spc="-1">
              <a:solidFill>
                <a:srgbClr val="000000"/>
              </a:solidFill>
              <a:latin typeface="Arial"/>
            </a:endParaRPr>
          </a:p>
        </p:txBody>
      </p:sp>
      <p:pic>
        <p:nvPicPr>
          <p:cNvPr id="171" name="Image 2" descr="preencoded.png"/>
          <p:cNvPicPr/>
          <p:nvPr/>
        </p:nvPicPr>
        <p:blipFill>
          <a:blip r:embed="rId3"/>
          <a:stretch/>
        </p:blipFill>
        <p:spPr>
          <a:xfrm>
            <a:off x="800280" y="4013280"/>
            <a:ext cx="252360" cy="252360"/>
          </a:xfrm>
          <a:prstGeom prst="rect">
            <a:avLst/>
          </a:prstGeom>
          <a:ln w="0">
            <a:noFill/>
          </a:ln>
        </p:spPr>
      </p:pic>
      <p:sp>
        <p:nvSpPr>
          <p:cNvPr id="172" name="Text 9"/>
          <p:cNvSpPr/>
          <p:nvPr/>
        </p:nvSpPr>
        <p:spPr>
          <a:xfrm>
            <a:off x="1152000" y="396252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Recent, moderate, and distant injuries all show flat value growth.</a:t>
            </a:r>
            <a:endParaRPr lang="en-US" sz="1400" b="0" strike="noStrike" spc="-1">
              <a:solidFill>
                <a:srgbClr val="000000"/>
              </a:solidFill>
              <a:latin typeface="Arial"/>
            </a:endParaRPr>
          </a:p>
        </p:txBody>
      </p:sp>
      <p:pic>
        <p:nvPicPr>
          <p:cNvPr id="173" name="Image 3" descr="preencoded.png"/>
          <p:cNvPicPr/>
          <p:nvPr/>
        </p:nvPicPr>
        <p:blipFill>
          <a:blip r:embed="rId3"/>
          <a:stretch/>
        </p:blipFill>
        <p:spPr>
          <a:xfrm>
            <a:off x="800280" y="4851360"/>
            <a:ext cx="252360" cy="252360"/>
          </a:xfrm>
          <a:prstGeom prst="rect">
            <a:avLst/>
          </a:prstGeom>
          <a:ln w="0">
            <a:noFill/>
          </a:ln>
        </p:spPr>
      </p:pic>
      <p:sp>
        <p:nvSpPr>
          <p:cNvPr id="174" name="Text 10"/>
          <p:cNvSpPr/>
          <p:nvPr/>
        </p:nvSpPr>
        <p:spPr>
          <a:xfrm>
            <a:off x="1152000" y="480060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Players with no injury history show +4.35% median value growth.</a:t>
            </a:r>
            <a:endParaRPr lang="en-US" sz="1400" b="0" strike="noStrike" spc="-1">
              <a:solidFill>
                <a:srgbClr val="000000"/>
              </a:solidFill>
              <a:latin typeface="Arial"/>
            </a:endParaRPr>
          </a:p>
        </p:txBody>
      </p:sp>
      <p:pic>
        <p:nvPicPr>
          <p:cNvPr id="175" name="Image 4" descr="preencoded.png"/>
          <p:cNvPicPr/>
          <p:nvPr/>
        </p:nvPicPr>
        <p:blipFill>
          <a:blip r:embed="rId3"/>
          <a:stretch/>
        </p:blipFill>
        <p:spPr>
          <a:xfrm>
            <a:off x="800280" y="5689440"/>
            <a:ext cx="252360" cy="252360"/>
          </a:xfrm>
          <a:prstGeom prst="rect">
            <a:avLst/>
          </a:prstGeom>
          <a:ln w="0">
            <a:noFill/>
          </a:ln>
        </p:spPr>
      </p:pic>
      <p:sp>
        <p:nvSpPr>
          <p:cNvPr id="176" name="Text 11"/>
          <p:cNvSpPr/>
          <p:nvPr/>
        </p:nvSpPr>
        <p:spPr>
          <a:xfrm>
            <a:off x="1152000" y="563868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The real signal is having any injury history, not how recent it is.</a:t>
            </a:r>
            <a:endParaRPr lang="en-US" sz="1400" b="0" strike="noStrike" spc="-1">
              <a:solidFill>
                <a:srgbClr val="000000"/>
              </a:solidFill>
              <a:latin typeface="Arial"/>
            </a:endParaRPr>
          </a:p>
        </p:txBody>
      </p:sp>
      <p:sp>
        <p:nvSpPr>
          <p:cNvPr id="177" name="Shape 12"/>
          <p:cNvSpPr/>
          <p:nvPr/>
        </p:nvSpPr>
        <p:spPr>
          <a:xfrm>
            <a:off x="6217920" y="594360"/>
            <a:ext cx="5146200" cy="4543920"/>
          </a:xfrm>
          <a:prstGeom prst="roundRect">
            <a:avLst>
              <a:gd name="adj" fmla="val 1599"/>
            </a:avLst>
          </a:prstGeom>
          <a:solidFill>
            <a:srgbClr val="FFFFFF"/>
          </a:solidFill>
          <a:ln w="0">
            <a:noFill/>
          </a:ln>
          <a:effectLst>
            <a:outerShdw blurRad="101520" dist="38160" dir="5400000" algn="bl" rotWithShape="0">
              <a:srgbClr val="8C93A6">
                <a:alpha val="2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78" name="Text 13"/>
          <p:cNvSpPr/>
          <p:nvPr/>
        </p:nvSpPr>
        <p:spPr>
          <a:xfrm>
            <a:off x="6537960" y="822960"/>
            <a:ext cx="450612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1A1A"/>
                </a:solidFill>
                <a:latin typeface="Calibri"/>
                <a:ea typeface="Calibri"/>
              </a:rPr>
              <a:t>Median value change, by injury history (%)</a:t>
            </a:r>
            <a:endParaRPr lang="en-US" sz="1350" b="0" strike="noStrike" spc="-1">
              <a:solidFill>
                <a:srgbClr val="000000"/>
              </a:solidFill>
              <a:latin typeface="Arial"/>
            </a:endParaRPr>
          </a:p>
        </p:txBody>
      </p:sp>
      <p:sp>
        <p:nvSpPr>
          <p:cNvPr id="179" name="Text 14"/>
          <p:cNvSpPr/>
          <p:nvPr/>
        </p:nvSpPr>
        <p:spPr>
          <a:xfrm>
            <a:off x="6537960" y="3879720"/>
            <a:ext cx="4506120" cy="95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i="1" strike="noStrike" spc="-1">
                <a:solidFill>
                  <a:srgbClr val="44506B"/>
                </a:solidFill>
                <a:latin typeface="Calibri"/>
                <a:ea typeface="Calibri"/>
              </a:rPr>
              <a:t>n = 29,324 player-valuation snapshots (10,478 no-injury vs. 18,846 with any injury history, pooled across recency bands). “No prior injury” figure excludes low-starting-valuation snapshots to remove a breakout-debut artifact.</a:t>
            </a:r>
            <a:endParaRPr lang="en-US" sz="1300" b="0" strike="noStrike" spc="-1">
              <a:solidFill>
                <a:srgbClr val="000000"/>
              </a:solidFill>
              <a:latin typeface="Arial"/>
            </a:endParaRPr>
          </a:p>
        </p:txBody>
      </p:sp>
      <p:sp>
        <p:nvSpPr>
          <p:cNvPr id="180" name="Text 15"/>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5A6478"/>
                </a:solidFill>
                <a:latin typeface="Calibri"/>
                <a:ea typeface="Calibri"/>
              </a:rPr>
              <a:t>07</a:t>
            </a:r>
            <a:endParaRPr lang="en-US" sz="1200" b="0" strike="noStrike" spc="-1">
              <a:solidFill>
                <a:srgbClr val="000000"/>
              </a:solidFill>
              <a:latin typeface="Arial"/>
            </a:endParaRPr>
          </a:p>
        </p:txBody>
      </p:sp>
      <p:cxnSp>
        <p:nvCxnSpPr>
          <p:cNvPr id="181" name="Connector 62"/>
          <p:cNvCxnSpPr/>
          <p:nvPr/>
        </p:nvCxnSpPr>
        <p:spPr>
          <a:xfrm>
            <a:off x="8791920" y="1508760"/>
            <a:ext cx="1800" cy="1905000"/>
          </a:xfrm>
          <a:prstGeom prst="straightConnector1">
            <a:avLst/>
          </a:prstGeom>
          <a:ln w="0">
            <a:solidFill>
              <a:srgbClr val="E3E6EC"/>
            </a:solidFill>
          </a:ln>
        </p:spPr>
      </p:cxnSp>
      <p:sp>
        <p:nvSpPr>
          <p:cNvPr id="182" name="Isosceles Triangle 63"/>
          <p:cNvSpPr/>
          <p:nvPr/>
        </p:nvSpPr>
        <p:spPr>
          <a:xfrm>
            <a:off x="7550640" y="1430280"/>
            <a:ext cx="226800" cy="226800"/>
          </a:xfrm>
          <a:prstGeom prst="triangle">
            <a:avLst>
              <a:gd name="adj" fmla="val 50000"/>
            </a:avLst>
          </a:prstGeom>
          <a:solidFill>
            <a:srgbClr val="E8A33D"/>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Calibri"/>
            </a:endParaRPr>
          </a:p>
        </p:txBody>
      </p:sp>
      <p:sp>
        <p:nvSpPr>
          <p:cNvPr id="183" name="TextBox 64"/>
          <p:cNvSpPr/>
          <p:nvPr/>
        </p:nvSpPr>
        <p:spPr>
          <a:xfrm>
            <a:off x="6537960" y="1840320"/>
            <a:ext cx="2252160" cy="76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5000" b="1" strike="noStrike" spc="-1">
                <a:solidFill>
                  <a:srgbClr val="E8A33D"/>
                </a:solidFill>
                <a:latin typeface="Calibri"/>
              </a:rPr>
              <a:t>+4.35%</a:t>
            </a:r>
            <a:endParaRPr lang="en-US" sz="5000" b="0" strike="noStrike" spc="-1">
              <a:solidFill>
                <a:srgbClr val="000000"/>
              </a:solidFill>
              <a:latin typeface="Arial"/>
            </a:endParaRPr>
          </a:p>
        </p:txBody>
      </p:sp>
      <p:sp>
        <p:nvSpPr>
          <p:cNvPr id="184" name="TextBox 65"/>
          <p:cNvSpPr/>
          <p:nvPr/>
        </p:nvSpPr>
        <p:spPr>
          <a:xfrm>
            <a:off x="6537960" y="2780280"/>
            <a:ext cx="2252160" cy="213120"/>
          </a:xfrm>
          <a:prstGeom prst="rect">
            <a:avLst/>
          </a:prstGeom>
          <a:noFill/>
          <a:ln w="0">
            <a:noFill/>
          </a:ln>
        </p:spPr>
        <p:style>
          <a:lnRef idx="0">
            <a:scrgbClr r="0" g="0" b="0"/>
          </a:lnRef>
          <a:fillRef idx="0">
            <a:scrgbClr r="0" g="0" b="0"/>
          </a:fillRef>
          <a:effectRef idx="0">
            <a:scrgbClr r="0" g="0" b="0"/>
          </a:effectRef>
          <a:fontRef idx="minor"/>
        </p:style>
        <p:txBody>
          <a:bodyPr lIns="79920" tIns="0" rIns="79920" bIns="0" anchor="t">
            <a:spAutoFit/>
          </a:bodyPr>
          <a:lstStyle/>
          <a:p>
            <a:pPr algn="ctr" defTabSz="914400">
              <a:lnSpc>
                <a:spcPct val="100000"/>
              </a:lnSpc>
            </a:pPr>
            <a:r>
              <a:rPr lang="en-US" sz="1400" b="1" strike="noStrike" spc="-1">
                <a:solidFill>
                  <a:srgbClr val="1A1A1A"/>
                </a:solidFill>
                <a:latin typeface="Calibri"/>
              </a:rPr>
              <a:t>No injury history</a:t>
            </a:r>
            <a:endParaRPr lang="en-US" sz="1400" b="0" strike="noStrike" spc="-1">
              <a:solidFill>
                <a:srgbClr val="000000"/>
              </a:solidFill>
              <a:latin typeface="Arial"/>
            </a:endParaRPr>
          </a:p>
        </p:txBody>
      </p:sp>
      <p:sp>
        <p:nvSpPr>
          <p:cNvPr id="185" name="TextBox 66"/>
          <p:cNvSpPr/>
          <p:nvPr/>
        </p:nvSpPr>
        <p:spPr>
          <a:xfrm>
            <a:off x="6537960" y="3230280"/>
            <a:ext cx="2252160" cy="167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100" b="0" i="1" strike="noStrike" spc="-1">
                <a:solidFill>
                  <a:srgbClr val="44506B"/>
                </a:solidFill>
                <a:latin typeface="Calibri"/>
              </a:rPr>
              <a:t>n = 10,478</a:t>
            </a:r>
            <a:endParaRPr lang="en-US" sz="1100" b="0" strike="noStrike" spc="-1">
              <a:solidFill>
                <a:srgbClr val="000000"/>
              </a:solidFill>
              <a:latin typeface="Arial"/>
            </a:endParaRPr>
          </a:p>
        </p:txBody>
      </p:sp>
      <p:sp>
        <p:nvSpPr>
          <p:cNvPr id="186" name="Rounded Rectangle 67"/>
          <p:cNvSpPr/>
          <p:nvPr/>
        </p:nvSpPr>
        <p:spPr>
          <a:xfrm>
            <a:off x="9768960" y="1508760"/>
            <a:ext cx="298080" cy="73080"/>
          </a:xfrm>
          <a:prstGeom prst="roundRect">
            <a:avLst>
              <a:gd name="adj" fmla="val 50000"/>
            </a:avLst>
          </a:prstGeom>
          <a:solidFill>
            <a:srgbClr val="5A6478"/>
          </a:solidFill>
          <a:ln>
            <a:noFill/>
          </a:ln>
        </p:spPr>
        <p:style>
          <a:lnRef idx="1">
            <a:schemeClr val="accent1"/>
          </a:lnRef>
          <a:fillRef idx="3">
            <a:schemeClr val="accent1"/>
          </a:fillRef>
          <a:effectRef idx="2">
            <a:schemeClr val="accent1"/>
          </a:effectRef>
          <a:fontRef idx="minor"/>
        </p:style>
        <p:txBody>
          <a:bodyPr lIns="90000" tIns="7920" rIns="90000" bIns="7920" anchor="ctr">
            <a:noAutofit/>
          </a:bodyPr>
          <a:lstStyle/>
          <a:p>
            <a:pPr algn="ctr" defTabSz="914400">
              <a:lnSpc>
                <a:spcPct val="100000"/>
              </a:lnSpc>
            </a:pPr>
            <a:endParaRPr lang="en-US" sz="1800" b="0" strike="noStrike" spc="-1">
              <a:solidFill>
                <a:schemeClr val="lt1"/>
              </a:solidFill>
              <a:latin typeface="Calibri"/>
            </a:endParaRPr>
          </a:p>
        </p:txBody>
      </p:sp>
      <p:sp>
        <p:nvSpPr>
          <p:cNvPr id="187" name="TextBox 68"/>
          <p:cNvSpPr/>
          <p:nvPr/>
        </p:nvSpPr>
        <p:spPr>
          <a:xfrm>
            <a:off x="8791920" y="1840320"/>
            <a:ext cx="2252160" cy="76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5000" b="1" strike="noStrike" spc="-1">
                <a:solidFill>
                  <a:srgbClr val="5A6478"/>
                </a:solidFill>
                <a:latin typeface="Calibri"/>
              </a:rPr>
              <a:t>0.0%</a:t>
            </a:r>
            <a:endParaRPr lang="en-US" sz="5000" b="0" strike="noStrike" spc="-1">
              <a:solidFill>
                <a:srgbClr val="000000"/>
              </a:solidFill>
              <a:latin typeface="Arial"/>
            </a:endParaRPr>
          </a:p>
        </p:txBody>
      </p:sp>
      <p:sp>
        <p:nvSpPr>
          <p:cNvPr id="188" name="TextBox 69"/>
          <p:cNvSpPr/>
          <p:nvPr/>
        </p:nvSpPr>
        <p:spPr>
          <a:xfrm>
            <a:off x="8791920" y="2780280"/>
            <a:ext cx="2252160" cy="213120"/>
          </a:xfrm>
          <a:prstGeom prst="rect">
            <a:avLst/>
          </a:prstGeom>
          <a:noFill/>
          <a:ln w="0">
            <a:noFill/>
          </a:ln>
        </p:spPr>
        <p:style>
          <a:lnRef idx="0">
            <a:scrgbClr r="0" g="0" b="0"/>
          </a:lnRef>
          <a:fillRef idx="0">
            <a:scrgbClr r="0" g="0" b="0"/>
          </a:fillRef>
          <a:effectRef idx="0">
            <a:scrgbClr r="0" g="0" b="0"/>
          </a:effectRef>
          <a:fontRef idx="minor"/>
        </p:style>
        <p:txBody>
          <a:bodyPr lIns="79920" tIns="0" rIns="79920" bIns="0" anchor="t">
            <a:spAutoFit/>
          </a:bodyPr>
          <a:lstStyle/>
          <a:p>
            <a:pPr algn="ctr" defTabSz="914400">
              <a:lnSpc>
                <a:spcPct val="100000"/>
              </a:lnSpc>
            </a:pPr>
            <a:r>
              <a:rPr lang="en-US" sz="1400" b="1" strike="noStrike" spc="-1">
                <a:solidFill>
                  <a:srgbClr val="1A1A1A"/>
                </a:solidFill>
                <a:latin typeface="Calibri"/>
              </a:rPr>
              <a:t>Any injury history</a:t>
            </a:r>
            <a:endParaRPr lang="en-US" sz="1400" b="0" strike="noStrike" spc="-1">
              <a:solidFill>
                <a:srgbClr val="000000"/>
              </a:solidFill>
              <a:latin typeface="Arial"/>
            </a:endParaRPr>
          </a:p>
        </p:txBody>
      </p:sp>
      <p:sp>
        <p:nvSpPr>
          <p:cNvPr id="189" name="TextBox 70"/>
          <p:cNvSpPr/>
          <p:nvPr/>
        </p:nvSpPr>
        <p:spPr>
          <a:xfrm>
            <a:off x="8791920" y="3230280"/>
            <a:ext cx="2252160" cy="167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1100" b="0" i="1" strike="noStrike" spc="-1">
                <a:solidFill>
                  <a:srgbClr val="44506B"/>
                </a:solidFill>
                <a:latin typeface="Calibri"/>
              </a:rPr>
              <a:t>n = 18,846</a:t>
            </a:r>
            <a:endParaRPr lang="en-US" sz="1100" b="0" strike="noStrike" spc="-1">
              <a:solidFill>
                <a:srgbClr val="000000"/>
              </a:solidFill>
              <a:latin typeface="Arial"/>
            </a:endParaRPr>
          </a:p>
        </p:txBody>
      </p:sp>
      <p:sp>
        <p:nvSpPr>
          <p:cNvPr id="190" name="TextBox 71"/>
          <p:cNvSpPr/>
          <p:nvPr/>
        </p:nvSpPr>
        <p:spPr>
          <a:xfrm>
            <a:off x="822960" y="6180120"/>
            <a:ext cx="4935960" cy="30777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00" b="1" i="1" strike="noStrike" spc="-1">
                <a:solidFill>
                  <a:srgbClr val="44506B"/>
                </a:solidFill>
                <a:latin typeface="Calibri"/>
              </a:rPr>
              <a:t>Note: </a:t>
            </a:r>
            <a:r>
              <a:rPr lang="en-US" sz="1000" b="0" i="1" strike="noStrike" spc="-1">
                <a:solidFill>
                  <a:srgbClr val="44506B"/>
                </a:solidFill>
                <a:latin typeface="Calibri"/>
              </a:rPr>
              <a:t>“value” = Transfermarkt market valuation, not on-pitch performance. Injured players skew older, so part of this gap may reflect age.</a:t>
            </a:r>
            <a:endParaRPr lang="en-US" sz="1000" b="0" strike="noStrike" spc="-1">
              <a:solidFill>
                <a:srgbClr val="000000"/>
              </a:solidFill>
              <a:latin typeface="Arial"/>
            </a:endParaRPr>
          </a:p>
        </p:txBody>
      </p:sp>
      <p:pic>
        <p:nvPicPr>
          <p:cNvPr id="191" name="Copied Picture 182" descr="preencoded.png"/>
          <p:cNvPicPr/>
          <p:nvPr/>
        </p:nvPicPr>
        <p:blipFill>
          <a:blip r:embed="rId4"/>
          <a:stretch/>
        </p:blipFill>
        <p:spPr>
          <a:xfrm>
            <a:off x="901800" y="673200"/>
            <a:ext cx="354240" cy="354240"/>
          </a:xfrm>
          <a:prstGeom prst="rect">
            <a:avLst/>
          </a:prstGeom>
          <a:ln w="0">
            <a:noFill/>
          </a:ln>
        </p:spPr>
      </p:pic>
      <p:pic>
        <p:nvPicPr>
          <p:cNvPr id="192" name="Graphic 183" descr="Scales icon"/>
          <p:cNvPicPr/>
          <p:nvPr/>
        </p:nvPicPr>
        <p:blipFill>
          <a:blip r:embed="rId5">
            <a:extLst>
              <a:ext uri="{96DAC541-7B7A-43D3-8B79-37D633B846F1}">
                <asvg:svgBlip xmlns:asvg="http://schemas.microsoft.com/office/drawing/2016/SVG/main" r:embed="rId6"/>
              </a:ext>
            </a:extLst>
          </a:blip>
          <a:stretch/>
        </p:blipFill>
        <p:spPr>
          <a:xfrm>
            <a:off x="1028880" y="3219480"/>
            <a:ext cx="277920" cy="277920"/>
          </a:xfrm>
          <a:prstGeom prst="rect">
            <a:avLst/>
          </a:prstGeom>
          <a:ln w="0">
            <a:noFill/>
          </a:ln>
        </p:spPr>
      </p:pic>
    </p:spTree>
    <p:extLst>
      <p:ext uri="{BB962C8B-B14F-4D97-AF65-F5344CB8AC3E}">
        <p14:creationId xmlns:p14="http://schemas.microsoft.com/office/powerpoint/2010/main" val="203130418"/>
      </p:ext>
    </p:extLst>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additive="repl">
                                        <p:cTn id="7" dur="450"/>
                                        <p:tgtEl>
                                          <p:spTgt spid="166"/>
                                        </p:tgtEl>
                                      </p:cBhvr>
                                    </p:animEffect>
                                  </p:childTnLst>
                                </p:cTn>
                              </p:par>
                              <p:par>
                                <p:cTn id="8" presetID="10" presetClass="entr" fill="hold" nodeType="withEffect">
                                  <p:stCondLst>
                                    <p:cond delay="0"/>
                                  </p:stCondLst>
                                  <p:childTnLst>
                                    <p:set>
                                      <p:cBhvr>
                                        <p:cTn id="9" dur="1" fill="hold">
                                          <p:stCondLst>
                                            <p:cond delay="0"/>
                                          </p:stCondLst>
                                        </p:cTn>
                                        <p:tgtEl>
                                          <p:spTgt spid="167"/>
                                        </p:tgtEl>
                                        <p:attrNameLst>
                                          <p:attrName>style.visibility</p:attrName>
                                        </p:attrNameLst>
                                      </p:cBhvr>
                                      <p:to>
                                        <p:strVal val="visible"/>
                                      </p:to>
                                    </p:set>
                                    <p:animEffect transition="in" filter="fade">
                                      <p:cBhvr additive="repl">
                                        <p:cTn id="10" dur="450"/>
                                        <p:tgtEl>
                                          <p:spTgt spid="167"/>
                                        </p:tgtEl>
                                      </p:cBhvr>
                                    </p:animEffect>
                                  </p:childTnLst>
                                </p:cTn>
                              </p:par>
                              <p:par>
                                <p:cTn id="11" presetID="10" presetClass="entr" fill="hold" nodeType="withEffect">
                                  <p:stCondLst>
                                    <p:cond delay="0"/>
                                  </p:stCondLst>
                                  <p:childTnLst>
                                    <p:set>
                                      <p:cBhvr>
                                        <p:cTn id="12" dur="1" fill="hold">
                                          <p:stCondLst>
                                            <p:cond delay="0"/>
                                          </p:stCondLst>
                                        </p:cTn>
                                        <p:tgtEl>
                                          <p:spTgt spid="168"/>
                                        </p:tgtEl>
                                        <p:attrNameLst>
                                          <p:attrName>style.visibility</p:attrName>
                                        </p:attrNameLst>
                                      </p:cBhvr>
                                      <p:to>
                                        <p:strVal val="visible"/>
                                      </p:to>
                                    </p:set>
                                    <p:animEffect transition="in" filter="fade">
                                      <p:cBhvr additive="repl">
                                        <p:cTn id="13" dur="450"/>
                                        <p:tgtEl>
                                          <p:spTgt spid="16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nodeType="clickEffect">
                                  <p:stCondLst>
                                    <p:cond delay="0"/>
                                  </p:stCondLst>
                                  <p:childTnLst>
                                    <p:set>
                                      <p:cBhvr>
                                        <p:cTn id="17" dur="1" fill="hold">
                                          <p:stCondLst>
                                            <p:cond delay="0"/>
                                          </p:stCondLst>
                                        </p:cTn>
                                        <p:tgtEl>
                                          <p:spTgt spid="169"/>
                                        </p:tgtEl>
                                        <p:attrNameLst>
                                          <p:attrName>style.visibility</p:attrName>
                                        </p:attrNameLst>
                                      </p:cBhvr>
                                      <p:to>
                                        <p:strVal val="visible"/>
                                      </p:to>
                                    </p:set>
                                    <p:animEffect transition="in" filter="fade">
                                      <p:cBhvr additive="repl">
                                        <p:cTn id="18" dur="450"/>
                                        <p:tgtEl>
                                          <p:spTgt spid="169"/>
                                        </p:tgtEl>
                                      </p:cBhvr>
                                    </p:animEffect>
                                  </p:childTnLst>
                                </p:cTn>
                              </p:par>
                              <p:par>
                                <p:cTn id="19" presetID="10" presetClass="entr" fill="hold" nodeType="withEffect">
                                  <p:stCondLst>
                                    <p:cond delay="0"/>
                                  </p:stCondLst>
                                  <p:childTnLst>
                                    <p:set>
                                      <p:cBhvr>
                                        <p:cTn id="20" dur="1" fill="hold">
                                          <p:stCondLst>
                                            <p:cond delay="0"/>
                                          </p:stCondLst>
                                        </p:cTn>
                                        <p:tgtEl>
                                          <p:spTgt spid="170"/>
                                        </p:tgtEl>
                                        <p:attrNameLst>
                                          <p:attrName>style.visibility</p:attrName>
                                        </p:attrNameLst>
                                      </p:cBhvr>
                                      <p:to>
                                        <p:strVal val="visible"/>
                                      </p:to>
                                    </p:set>
                                    <p:animEffect transition="in" filter="fade">
                                      <p:cBhvr additive="repl">
                                        <p:cTn id="21" dur="450"/>
                                        <p:tgtEl>
                                          <p:spTgt spid="17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fill="hold" nodeType="clickEffect">
                                  <p:stCondLst>
                                    <p:cond delay="0"/>
                                  </p:stCondLst>
                                  <p:childTnLst>
                                    <p:set>
                                      <p:cBhvr>
                                        <p:cTn id="25" dur="1" fill="hold">
                                          <p:stCondLst>
                                            <p:cond delay="0"/>
                                          </p:stCondLst>
                                        </p:cTn>
                                        <p:tgtEl>
                                          <p:spTgt spid="171"/>
                                        </p:tgtEl>
                                        <p:attrNameLst>
                                          <p:attrName>style.visibility</p:attrName>
                                        </p:attrNameLst>
                                      </p:cBhvr>
                                      <p:to>
                                        <p:strVal val="visible"/>
                                      </p:to>
                                    </p:set>
                                    <p:animEffect transition="in" filter="fade">
                                      <p:cBhvr additive="repl">
                                        <p:cTn id="26" dur="450"/>
                                        <p:tgtEl>
                                          <p:spTgt spid="171"/>
                                        </p:tgtEl>
                                      </p:cBhvr>
                                    </p:animEffect>
                                  </p:childTnLst>
                                </p:cTn>
                              </p:par>
                              <p:par>
                                <p:cTn id="27" presetID="10" presetClass="entr" fill="hold" nodeType="withEffect">
                                  <p:stCondLst>
                                    <p:cond delay="0"/>
                                  </p:stCondLst>
                                  <p:childTnLst>
                                    <p:set>
                                      <p:cBhvr>
                                        <p:cTn id="28" dur="1" fill="hold">
                                          <p:stCondLst>
                                            <p:cond delay="0"/>
                                          </p:stCondLst>
                                        </p:cTn>
                                        <p:tgtEl>
                                          <p:spTgt spid="172"/>
                                        </p:tgtEl>
                                        <p:attrNameLst>
                                          <p:attrName>style.visibility</p:attrName>
                                        </p:attrNameLst>
                                      </p:cBhvr>
                                      <p:to>
                                        <p:strVal val="visible"/>
                                      </p:to>
                                    </p:set>
                                    <p:animEffect transition="in" filter="fade">
                                      <p:cBhvr additive="repl">
                                        <p:cTn id="29" dur="450"/>
                                        <p:tgtEl>
                                          <p:spTgt spid="17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fill="hold" nodeType="clickEffect">
                                  <p:stCondLst>
                                    <p:cond delay="0"/>
                                  </p:stCondLst>
                                  <p:childTnLst>
                                    <p:set>
                                      <p:cBhvr>
                                        <p:cTn id="33" dur="1" fill="hold">
                                          <p:stCondLst>
                                            <p:cond delay="0"/>
                                          </p:stCondLst>
                                        </p:cTn>
                                        <p:tgtEl>
                                          <p:spTgt spid="173"/>
                                        </p:tgtEl>
                                        <p:attrNameLst>
                                          <p:attrName>style.visibility</p:attrName>
                                        </p:attrNameLst>
                                      </p:cBhvr>
                                      <p:to>
                                        <p:strVal val="visible"/>
                                      </p:to>
                                    </p:set>
                                    <p:animEffect transition="in" filter="fade">
                                      <p:cBhvr additive="repl">
                                        <p:cTn id="34" dur="450"/>
                                        <p:tgtEl>
                                          <p:spTgt spid="173"/>
                                        </p:tgtEl>
                                      </p:cBhvr>
                                    </p:animEffect>
                                  </p:childTnLst>
                                </p:cTn>
                              </p:par>
                              <p:par>
                                <p:cTn id="35" presetID="10" presetClass="entr" fill="hold" nodeType="withEffect">
                                  <p:stCondLst>
                                    <p:cond delay="0"/>
                                  </p:stCondLst>
                                  <p:childTnLst>
                                    <p:set>
                                      <p:cBhvr>
                                        <p:cTn id="36" dur="1" fill="hold">
                                          <p:stCondLst>
                                            <p:cond delay="0"/>
                                          </p:stCondLst>
                                        </p:cTn>
                                        <p:tgtEl>
                                          <p:spTgt spid="174"/>
                                        </p:tgtEl>
                                        <p:attrNameLst>
                                          <p:attrName>style.visibility</p:attrName>
                                        </p:attrNameLst>
                                      </p:cBhvr>
                                      <p:to>
                                        <p:strVal val="visible"/>
                                      </p:to>
                                    </p:set>
                                    <p:animEffect transition="in" filter="fade">
                                      <p:cBhvr additive="repl">
                                        <p:cTn id="37" dur="450"/>
                                        <p:tgtEl>
                                          <p:spTgt spid="17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fill="hold" nodeType="clickEffect">
                                  <p:stCondLst>
                                    <p:cond delay="0"/>
                                  </p:stCondLst>
                                  <p:childTnLst>
                                    <p:set>
                                      <p:cBhvr>
                                        <p:cTn id="41" dur="1" fill="hold">
                                          <p:stCondLst>
                                            <p:cond delay="0"/>
                                          </p:stCondLst>
                                        </p:cTn>
                                        <p:tgtEl>
                                          <p:spTgt spid="175"/>
                                        </p:tgtEl>
                                        <p:attrNameLst>
                                          <p:attrName>style.visibility</p:attrName>
                                        </p:attrNameLst>
                                      </p:cBhvr>
                                      <p:to>
                                        <p:strVal val="visible"/>
                                      </p:to>
                                    </p:set>
                                    <p:animEffect transition="in" filter="fade">
                                      <p:cBhvr additive="repl">
                                        <p:cTn id="42" dur="450"/>
                                        <p:tgtEl>
                                          <p:spTgt spid="175"/>
                                        </p:tgtEl>
                                      </p:cBhvr>
                                    </p:animEffect>
                                  </p:childTnLst>
                                </p:cTn>
                              </p:par>
                              <p:par>
                                <p:cTn id="43" presetID="10" presetClass="entr" fill="hold" nodeType="withEffect">
                                  <p:stCondLst>
                                    <p:cond delay="0"/>
                                  </p:stCondLst>
                                  <p:childTnLst>
                                    <p:set>
                                      <p:cBhvr>
                                        <p:cTn id="44" dur="1" fill="hold">
                                          <p:stCondLst>
                                            <p:cond delay="0"/>
                                          </p:stCondLst>
                                        </p:cTn>
                                        <p:tgtEl>
                                          <p:spTgt spid="176"/>
                                        </p:tgtEl>
                                        <p:attrNameLst>
                                          <p:attrName>style.visibility</p:attrName>
                                        </p:attrNameLst>
                                      </p:cBhvr>
                                      <p:to>
                                        <p:strVal val="visible"/>
                                      </p:to>
                                    </p:set>
                                    <p:animEffect transition="in" filter="fade">
                                      <p:cBhvr additive="repl">
                                        <p:cTn id="45" dur="450"/>
                                        <p:tgtEl>
                                          <p:spTgt spid="176"/>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fill="hold" nodeType="clickEffect">
                                  <p:stCondLst>
                                    <p:cond delay="0"/>
                                  </p:stCondLst>
                                  <p:childTnLst>
                                    <p:set>
                                      <p:cBhvr>
                                        <p:cTn id="49" dur="1" fill="hold">
                                          <p:stCondLst>
                                            <p:cond delay="0"/>
                                          </p:stCondLst>
                                        </p:cTn>
                                        <p:tgtEl>
                                          <p:spTgt spid="177"/>
                                        </p:tgtEl>
                                        <p:attrNameLst>
                                          <p:attrName>style.visibility</p:attrName>
                                        </p:attrNameLst>
                                      </p:cBhvr>
                                      <p:to>
                                        <p:strVal val="visible"/>
                                      </p:to>
                                    </p:set>
                                    <p:animEffect transition="in" filter="fade">
                                      <p:cBhvr additive="repl">
                                        <p:cTn id="50" dur="450"/>
                                        <p:tgtEl>
                                          <p:spTgt spid="177"/>
                                        </p:tgtEl>
                                      </p:cBhvr>
                                    </p:animEffect>
                                  </p:childTnLst>
                                </p:cTn>
                              </p:par>
                              <p:par>
                                <p:cTn id="51" presetID="10" presetClass="entr" fill="hold" nodeType="withEffect">
                                  <p:stCondLst>
                                    <p:cond delay="0"/>
                                  </p:stCondLst>
                                  <p:childTnLst>
                                    <p:set>
                                      <p:cBhvr>
                                        <p:cTn id="52" dur="1" fill="hold">
                                          <p:stCondLst>
                                            <p:cond delay="0"/>
                                          </p:stCondLst>
                                        </p:cTn>
                                        <p:tgtEl>
                                          <p:spTgt spid="178"/>
                                        </p:tgtEl>
                                        <p:attrNameLst>
                                          <p:attrName>style.visibility</p:attrName>
                                        </p:attrNameLst>
                                      </p:cBhvr>
                                      <p:to>
                                        <p:strVal val="visible"/>
                                      </p:to>
                                    </p:set>
                                    <p:animEffect transition="in" filter="fade">
                                      <p:cBhvr additive="repl">
                                        <p:cTn id="53" dur="450"/>
                                        <p:tgtEl>
                                          <p:spTgt spid="178"/>
                                        </p:tgtEl>
                                      </p:cBhvr>
                                    </p:animEffect>
                                  </p:childTnLst>
                                </p:cTn>
                              </p:par>
                              <p:par>
                                <p:cTn id="54" presetID="10" presetClass="entr" fill="hold" nodeType="withEffect">
                                  <p:stCondLst>
                                    <p:cond delay="0"/>
                                  </p:stCondLst>
                                  <p:childTnLst>
                                    <p:set>
                                      <p:cBhvr>
                                        <p:cTn id="55" dur="1" fill="hold">
                                          <p:stCondLst>
                                            <p:cond delay="0"/>
                                          </p:stCondLst>
                                        </p:cTn>
                                        <p:tgtEl>
                                          <p:spTgt spid="179"/>
                                        </p:tgtEl>
                                        <p:attrNameLst>
                                          <p:attrName>style.visibility</p:attrName>
                                        </p:attrNameLst>
                                      </p:cBhvr>
                                      <p:to>
                                        <p:strVal val="visible"/>
                                      </p:to>
                                    </p:set>
                                    <p:animEffect transition="in" filter="fade">
                                      <p:cBhvr additive="repl">
                                        <p:cTn id="56" dur="45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3" name="Shape 0"/>
          <p:cNvSpPr/>
          <p:nvPr/>
        </p:nvSpPr>
        <p:spPr>
          <a:xfrm>
            <a:off x="6302520" y="468720"/>
            <a:ext cx="752760" cy="752760"/>
          </a:xfrm>
          <a:prstGeom prst="ellipse">
            <a:avLst/>
          </a:prstGeom>
          <a:solidFill>
            <a:srgbClr val="1F7A4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4" name="Shape 1"/>
          <p:cNvSpPr/>
          <p:nvPr/>
        </p:nvSpPr>
        <p:spPr>
          <a:xfrm>
            <a:off x="6428160" y="594360"/>
            <a:ext cx="501120" cy="50112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5" name="Text 2"/>
          <p:cNvSpPr/>
          <p:nvPr/>
        </p:nvSpPr>
        <p:spPr>
          <a:xfrm>
            <a:off x="7086600" y="713160"/>
            <a:ext cx="427752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91">
                <a:solidFill>
                  <a:srgbClr val="1F7A4D"/>
                </a:solidFill>
                <a:latin typeface="Calibri"/>
                <a:ea typeface="Calibri"/>
              </a:rPr>
              <a:t>SPORTING DIRECTORS / FRONT OFFICE</a:t>
            </a:r>
            <a:endParaRPr lang="en-US" sz="1350" b="0" strike="noStrike" spc="-1">
              <a:solidFill>
                <a:srgbClr val="000000"/>
              </a:solidFill>
              <a:latin typeface="Arial"/>
            </a:endParaRPr>
          </a:p>
        </p:txBody>
      </p:sp>
      <p:sp>
        <p:nvSpPr>
          <p:cNvPr id="196" name="Text 3"/>
          <p:cNvSpPr/>
          <p:nvPr/>
        </p:nvSpPr>
        <p:spPr>
          <a:xfrm>
            <a:off x="6428160" y="1188720"/>
            <a:ext cx="493596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mbria"/>
                <a:ea typeface="Cambria"/>
              </a:rPr>
              <a:t>The 21–24 age band is the value-risk sweet spot</a:t>
            </a:r>
            <a:endParaRPr lang="en-US" sz="1800" b="0" strike="noStrike" spc="-1">
              <a:solidFill>
                <a:srgbClr val="000000"/>
              </a:solidFill>
              <a:latin typeface="Arial"/>
            </a:endParaRPr>
          </a:p>
        </p:txBody>
      </p:sp>
      <p:sp>
        <p:nvSpPr>
          <p:cNvPr id="197" name="Shape 4"/>
          <p:cNvSpPr/>
          <p:nvPr/>
        </p:nvSpPr>
        <p:spPr>
          <a:xfrm>
            <a:off x="6428160" y="2057400"/>
            <a:ext cx="4935960" cy="894240"/>
          </a:xfrm>
          <a:prstGeom prst="roundRect">
            <a:avLst>
              <a:gd name="adj" fmla="val 7143"/>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198" name="Text 5"/>
          <p:cNvSpPr/>
          <p:nvPr/>
        </p:nvSpPr>
        <p:spPr>
          <a:xfrm>
            <a:off x="6629400" y="2148840"/>
            <a:ext cx="4533480" cy="22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89">
                <a:solidFill>
                  <a:srgbClr val="E8A33D"/>
                </a:solidFill>
                <a:latin typeface="Calibri"/>
                <a:ea typeface="Calibri"/>
              </a:rPr>
              <a:t>HYPOTHESIS</a:t>
            </a:r>
            <a:endParaRPr lang="en-US" sz="1200" b="0" strike="noStrike" spc="-1">
              <a:solidFill>
                <a:srgbClr val="000000"/>
              </a:solidFill>
              <a:latin typeface="Arial"/>
            </a:endParaRPr>
          </a:p>
        </p:txBody>
      </p:sp>
      <p:sp>
        <p:nvSpPr>
          <p:cNvPr id="199" name="Text 6"/>
          <p:cNvSpPr/>
          <p:nvPr/>
        </p:nvSpPr>
        <p:spPr>
          <a:xfrm>
            <a:off x="6629400" y="2377440"/>
            <a:ext cx="453348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strike="noStrike" spc="-1">
                <a:solidFill>
                  <a:srgbClr val="FFFFFF"/>
                </a:solidFill>
                <a:latin typeface="Calibri"/>
                <a:ea typeface="Calibri"/>
              </a:rPr>
              <a:t>Younger players show a better value-risk tradeoff than veterans.</a:t>
            </a:r>
            <a:endParaRPr lang="en-US" sz="1400" b="0" strike="noStrike" spc="-1">
              <a:solidFill>
                <a:srgbClr val="000000"/>
              </a:solidFill>
              <a:latin typeface="Arial"/>
            </a:endParaRPr>
          </a:p>
        </p:txBody>
      </p:sp>
      <p:sp>
        <p:nvSpPr>
          <p:cNvPr id="200" name="Shape 7"/>
          <p:cNvSpPr/>
          <p:nvPr/>
        </p:nvSpPr>
        <p:spPr>
          <a:xfrm>
            <a:off x="6428160" y="3154680"/>
            <a:ext cx="4935960" cy="418680"/>
          </a:xfrm>
          <a:prstGeom prst="roundRect">
            <a:avLst>
              <a:gd name="adj" fmla="val 50000"/>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1" name="Text 8"/>
          <p:cNvSpPr/>
          <p:nvPr/>
        </p:nvSpPr>
        <p:spPr>
          <a:xfrm>
            <a:off x="6972480" y="3154680"/>
            <a:ext cx="426564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FFFFFF"/>
                </a:solidFill>
                <a:latin typeface="Calibri"/>
                <a:ea typeface="Calibri"/>
              </a:rPr>
              <a:t>SPLIT: risk confirmed, value tells a different story</a:t>
            </a:r>
            <a:endParaRPr lang="en-US" sz="1350" b="0" strike="noStrike" spc="-1">
              <a:solidFill>
                <a:srgbClr val="000000"/>
              </a:solidFill>
              <a:latin typeface="Arial"/>
            </a:endParaRPr>
          </a:p>
        </p:txBody>
      </p:sp>
      <p:pic>
        <p:nvPicPr>
          <p:cNvPr id="202" name="Image 2" descr="preencoded.png"/>
          <p:cNvPicPr/>
          <p:nvPr/>
        </p:nvPicPr>
        <p:blipFill>
          <a:blip r:embed="rId3"/>
          <a:stretch/>
        </p:blipFill>
        <p:spPr>
          <a:xfrm>
            <a:off x="6400800" y="4013280"/>
            <a:ext cx="252360" cy="252360"/>
          </a:xfrm>
          <a:prstGeom prst="rect">
            <a:avLst/>
          </a:prstGeom>
          <a:ln w="0">
            <a:noFill/>
          </a:ln>
        </p:spPr>
      </p:pic>
      <p:sp>
        <p:nvSpPr>
          <p:cNvPr id="203" name="Text 9"/>
          <p:cNvSpPr/>
          <p:nvPr/>
        </p:nvSpPr>
        <p:spPr>
          <a:xfrm>
            <a:off x="6757560" y="396252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Injury rate more than doubles with age: 2.5 to 6.0.</a:t>
            </a:r>
            <a:endParaRPr lang="en-US" sz="1400" b="0" strike="noStrike" spc="-1">
              <a:solidFill>
                <a:srgbClr val="000000"/>
              </a:solidFill>
              <a:latin typeface="Arial"/>
            </a:endParaRPr>
          </a:p>
        </p:txBody>
      </p:sp>
      <p:pic>
        <p:nvPicPr>
          <p:cNvPr id="204" name="Image 3" descr="preencoded.png"/>
          <p:cNvPicPr/>
          <p:nvPr/>
        </p:nvPicPr>
        <p:blipFill>
          <a:blip r:embed="rId3"/>
          <a:stretch/>
        </p:blipFill>
        <p:spPr>
          <a:xfrm>
            <a:off x="6400800" y="4851360"/>
            <a:ext cx="252360" cy="252360"/>
          </a:xfrm>
          <a:prstGeom prst="rect">
            <a:avLst/>
          </a:prstGeom>
          <a:ln w="0">
            <a:noFill/>
          </a:ln>
        </p:spPr>
      </p:pic>
      <p:sp>
        <p:nvSpPr>
          <p:cNvPr id="205" name="Text 10"/>
          <p:cNvSpPr/>
          <p:nvPr/>
        </p:nvSpPr>
        <p:spPr>
          <a:xfrm>
            <a:off x="6757560" y="480060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Only the 21–24 emerging band shows real value growth: +7.1%.</a:t>
            </a:r>
            <a:endParaRPr lang="en-US" sz="1400" b="0" strike="noStrike" spc="-1">
              <a:solidFill>
                <a:srgbClr val="000000"/>
              </a:solidFill>
              <a:latin typeface="Arial"/>
            </a:endParaRPr>
          </a:p>
        </p:txBody>
      </p:sp>
      <p:pic>
        <p:nvPicPr>
          <p:cNvPr id="206" name="Image 4" descr="preencoded.png"/>
          <p:cNvPicPr/>
          <p:nvPr/>
        </p:nvPicPr>
        <p:blipFill>
          <a:blip r:embed="rId3"/>
          <a:stretch/>
        </p:blipFill>
        <p:spPr>
          <a:xfrm>
            <a:off x="6400800" y="5689440"/>
            <a:ext cx="252360" cy="252360"/>
          </a:xfrm>
          <a:prstGeom prst="rect">
            <a:avLst/>
          </a:prstGeom>
          <a:ln w="0">
            <a:noFill/>
          </a:ln>
        </p:spPr>
      </p:pic>
      <p:sp>
        <p:nvSpPr>
          <p:cNvPr id="207" name="Text 11"/>
          <p:cNvSpPr/>
          <p:nvPr/>
        </p:nvSpPr>
        <p:spPr>
          <a:xfrm>
            <a:off x="6757560" y="563868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That band uniquely pairs strong growth with the lowest risk.</a:t>
            </a:r>
            <a:endParaRPr lang="en-US" sz="1400" b="0" strike="noStrike" spc="-1">
              <a:solidFill>
                <a:srgbClr val="000000"/>
              </a:solidFill>
              <a:latin typeface="Arial"/>
            </a:endParaRPr>
          </a:p>
        </p:txBody>
      </p:sp>
      <p:sp>
        <p:nvSpPr>
          <p:cNvPr id="208" name="Shape 12"/>
          <p:cNvSpPr/>
          <p:nvPr/>
        </p:nvSpPr>
        <p:spPr>
          <a:xfrm>
            <a:off x="822960" y="594360"/>
            <a:ext cx="5146200" cy="5621760"/>
          </a:xfrm>
          <a:prstGeom prst="roundRect">
            <a:avLst>
              <a:gd name="adj" fmla="val 1599"/>
            </a:avLst>
          </a:prstGeom>
          <a:solidFill>
            <a:srgbClr val="FFFFFF"/>
          </a:solidFill>
          <a:ln w="0">
            <a:noFill/>
          </a:ln>
          <a:effectLst>
            <a:outerShdw blurRad="101520" dist="38160" dir="5400000" algn="bl" rotWithShape="0">
              <a:srgbClr val="8C93A6">
                <a:alpha val="2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09" name="Text 13"/>
          <p:cNvSpPr/>
          <p:nvPr/>
        </p:nvSpPr>
        <p:spPr>
          <a:xfrm>
            <a:off x="1143000" y="822960"/>
            <a:ext cx="450612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1A1A"/>
                </a:solidFill>
                <a:latin typeface="Calibri"/>
                <a:ea typeface="Calibri"/>
              </a:rPr>
              <a:t>Median injury rate by age bracket (per 1,000 90s)</a:t>
            </a:r>
            <a:endParaRPr lang="en-US" sz="1350" b="0" strike="noStrike" spc="-1">
              <a:solidFill>
                <a:srgbClr val="000000"/>
              </a:solidFill>
              <a:latin typeface="Arial"/>
            </a:endParaRPr>
          </a:p>
        </p:txBody>
      </p:sp>
      <p:sp>
        <p:nvSpPr>
          <p:cNvPr id="210" name="Text 14"/>
          <p:cNvSpPr/>
          <p:nvPr/>
        </p:nvSpPr>
        <p:spPr>
          <a:xfrm>
            <a:off x="1143000" y="5029200"/>
            <a:ext cx="4506120" cy="95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i="1" strike="noStrike" spc="-1">
                <a:solidFill>
                  <a:srgbClr val="44506B"/>
                </a:solidFill>
                <a:latin typeface="Calibri"/>
                <a:ea typeface="Calibri"/>
              </a:rPr>
              <a:t>n = 582 players with usable playing-time data. Under-21 bucket (n=4) omitted, too small to plot reliably.</a:t>
            </a:r>
            <a:endParaRPr lang="en-US" sz="1300" b="0" strike="noStrike" spc="-1">
              <a:solidFill>
                <a:srgbClr val="000000"/>
              </a:solidFill>
              <a:latin typeface="Arial"/>
            </a:endParaRPr>
          </a:p>
        </p:txBody>
      </p:sp>
      <p:sp>
        <p:nvSpPr>
          <p:cNvPr id="211" name="Text 15"/>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5A6478"/>
                </a:solidFill>
                <a:latin typeface="Calibri"/>
                <a:ea typeface="Calibri"/>
              </a:rPr>
              <a:t>08</a:t>
            </a:r>
            <a:endParaRPr lang="en-US" sz="1200" b="0" strike="noStrike" spc="-1">
              <a:solidFill>
                <a:srgbClr val="000000"/>
              </a:solidFill>
              <a:latin typeface="Arial"/>
            </a:endParaRPr>
          </a:p>
        </p:txBody>
      </p:sp>
      <p:sp>
        <p:nvSpPr>
          <p:cNvPr id="212" name="TextBox 63"/>
          <p:cNvSpPr/>
          <p:nvPr/>
        </p:nvSpPr>
        <p:spPr>
          <a:xfrm>
            <a:off x="6757560" y="6099840"/>
            <a:ext cx="4606920" cy="30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00" b="1" i="1" strike="noStrike" spc="-1">
                <a:solidFill>
                  <a:srgbClr val="44506B"/>
                </a:solidFill>
                <a:latin typeface="Calibri"/>
              </a:rPr>
              <a:t>Note: </a:t>
            </a:r>
            <a:r>
              <a:rPr lang="en-US" sz="1000" b="0" i="1" strike="noStrike" spc="-1">
                <a:solidFill>
                  <a:srgbClr val="44506B"/>
                </a:solidFill>
                <a:latin typeface="Calibri"/>
              </a:rPr>
              <a:t>a “90” = one full match played. Rate is per 1,000 to compare players fairly, regardless of playing time.</a:t>
            </a:r>
            <a:endParaRPr lang="en-US" sz="1000" b="0" strike="noStrike" spc="-1">
              <a:solidFill>
                <a:srgbClr val="000000"/>
              </a:solidFill>
              <a:latin typeface="Arial"/>
            </a:endParaRPr>
          </a:p>
        </p:txBody>
      </p:sp>
      <p:graphicFrame>
        <p:nvGraphicFramePr>
          <p:cNvPr id="213" name="Chart 64"/>
          <p:cNvGraphicFramePr/>
          <p:nvPr/>
        </p:nvGraphicFramePr>
        <p:xfrm>
          <a:off x="1143000" y="1280160"/>
          <a:ext cx="4506120" cy="3564360"/>
        </p:xfrm>
        <a:graphic>
          <a:graphicData uri="http://schemas.openxmlformats.org/drawingml/2006/chart">
            <c:chart xmlns:c="http://schemas.openxmlformats.org/drawingml/2006/chart" xmlns:r="http://schemas.openxmlformats.org/officeDocument/2006/relationships" r:id="rId4"/>
          </a:graphicData>
        </a:graphic>
      </p:graphicFrame>
      <p:pic>
        <p:nvPicPr>
          <p:cNvPr id="214" name="Copied Picture 205" descr="preencoded.png"/>
          <p:cNvPicPr/>
          <p:nvPr/>
        </p:nvPicPr>
        <p:blipFill>
          <a:blip r:embed="rId5"/>
          <a:stretch/>
        </p:blipFill>
        <p:spPr>
          <a:xfrm>
            <a:off x="6502320" y="660240"/>
            <a:ext cx="354240" cy="354240"/>
          </a:xfrm>
          <a:prstGeom prst="rect">
            <a:avLst/>
          </a:prstGeom>
          <a:ln w="0">
            <a:noFill/>
          </a:ln>
        </p:spPr>
      </p:pic>
      <p:pic>
        <p:nvPicPr>
          <p:cNvPr id="215" name="Graphic 206" descr="Scales icon"/>
          <p:cNvPicPr/>
          <p:nvPr/>
        </p:nvPicPr>
        <p:blipFill>
          <a:blip r:embed="rId6">
            <a:extLst>
              <a:ext uri="{96DAC541-7B7A-43D3-8B79-37D633B846F1}">
                <asvg:svgBlip xmlns:asvg="http://schemas.microsoft.com/office/drawing/2016/SVG/main" r:embed="rId7"/>
              </a:ext>
            </a:extLst>
          </a:blip>
          <a:stretch/>
        </p:blipFill>
        <p:spPr>
          <a:xfrm>
            <a:off x="6629400" y="3219480"/>
            <a:ext cx="277920" cy="277920"/>
          </a:xfrm>
          <a:prstGeom prst="rect">
            <a:avLst/>
          </a:prstGeom>
          <a:ln w="0">
            <a:noFill/>
          </a:ln>
        </p:spPr>
      </p:pic>
    </p:spTree>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Effect transition="in" filter="fade">
                                      <p:cBhvr additive="repl">
                                        <p:cTn id="7" dur="450"/>
                                        <p:tgtEl>
                                          <p:spTgt spid="197"/>
                                        </p:tgtEl>
                                      </p:cBhvr>
                                    </p:animEffect>
                                  </p:childTnLst>
                                </p:cTn>
                              </p:par>
                              <p:par>
                                <p:cTn id="8" presetID="10" presetClass="entr" fill="hold" nodeType="withEffect">
                                  <p:stCondLst>
                                    <p:cond delay="0"/>
                                  </p:stCondLst>
                                  <p:childTnLst>
                                    <p:set>
                                      <p:cBhvr>
                                        <p:cTn id="9" dur="1" fill="hold">
                                          <p:stCondLst>
                                            <p:cond delay="0"/>
                                          </p:stCondLst>
                                        </p:cTn>
                                        <p:tgtEl>
                                          <p:spTgt spid="198"/>
                                        </p:tgtEl>
                                        <p:attrNameLst>
                                          <p:attrName>style.visibility</p:attrName>
                                        </p:attrNameLst>
                                      </p:cBhvr>
                                      <p:to>
                                        <p:strVal val="visible"/>
                                      </p:to>
                                    </p:set>
                                    <p:animEffect transition="in" filter="fade">
                                      <p:cBhvr additive="repl">
                                        <p:cTn id="10" dur="450"/>
                                        <p:tgtEl>
                                          <p:spTgt spid="198"/>
                                        </p:tgtEl>
                                      </p:cBhvr>
                                    </p:animEffect>
                                  </p:childTnLst>
                                </p:cTn>
                              </p:par>
                              <p:par>
                                <p:cTn id="11" presetID="10" presetClass="entr" fill="hold" nodeType="withEffect">
                                  <p:stCondLst>
                                    <p:cond delay="0"/>
                                  </p:stCondLst>
                                  <p:childTnLst>
                                    <p:set>
                                      <p:cBhvr>
                                        <p:cTn id="12" dur="1" fill="hold">
                                          <p:stCondLst>
                                            <p:cond delay="0"/>
                                          </p:stCondLst>
                                        </p:cTn>
                                        <p:tgtEl>
                                          <p:spTgt spid="199"/>
                                        </p:tgtEl>
                                        <p:attrNameLst>
                                          <p:attrName>style.visibility</p:attrName>
                                        </p:attrNameLst>
                                      </p:cBhvr>
                                      <p:to>
                                        <p:strVal val="visible"/>
                                      </p:to>
                                    </p:set>
                                    <p:animEffect transition="in" filter="fade">
                                      <p:cBhvr additive="repl">
                                        <p:cTn id="13" dur="450"/>
                                        <p:tgtEl>
                                          <p:spTgt spid="19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nodeType="clickEffect">
                                  <p:stCondLst>
                                    <p:cond delay="0"/>
                                  </p:stCondLst>
                                  <p:childTnLst>
                                    <p:set>
                                      <p:cBhvr>
                                        <p:cTn id="17" dur="1" fill="hold">
                                          <p:stCondLst>
                                            <p:cond delay="0"/>
                                          </p:stCondLst>
                                        </p:cTn>
                                        <p:tgtEl>
                                          <p:spTgt spid="200"/>
                                        </p:tgtEl>
                                        <p:attrNameLst>
                                          <p:attrName>style.visibility</p:attrName>
                                        </p:attrNameLst>
                                      </p:cBhvr>
                                      <p:to>
                                        <p:strVal val="visible"/>
                                      </p:to>
                                    </p:set>
                                    <p:animEffect transition="in" filter="fade">
                                      <p:cBhvr additive="repl">
                                        <p:cTn id="18" dur="450"/>
                                        <p:tgtEl>
                                          <p:spTgt spid="200"/>
                                        </p:tgtEl>
                                      </p:cBhvr>
                                    </p:animEffect>
                                  </p:childTnLst>
                                </p:cTn>
                              </p:par>
                              <p:par>
                                <p:cTn id="19" presetID="10" presetClass="entr" fill="hold" nodeType="withEffect">
                                  <p:stCondLst>
                                    <p:cond delay="0"/>
                                  </p:stCondLst>
                                  <p:childTnLst>
                                    <p:set>
                                      <p:cBhvr>
                                        <p:cTn id="20" dur="1" fill="hold">
                                          <p:stCondLst>
                                            <p:cond delay="0"/>
                                          </p:stCondLst>
                                        </p:cTn>
                                        <p:tgtEl>
                                          <p:spTgt spid="201"/>
                                        </p:tgtEl>
                                        <p:attrNameLst>
                                          <p:attrName>style.visibility</p:attrName>
                                        </p:attrNameLst>
                                      </p:cBhvr>
                                      <p:to>
                                        <p:strVal val="visible"/>
                                      </p:to>
                                    </p:set>
                                    <p:animEffect transition="in" filter="fade">
                                      <p:cBhvr additive="repl">
                                        <p:cTn id="21" dur="450"/>
                                        <p:tgtEl>
                                          <p:spTgt spid="20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fill="hold" nodeType="clickEffect">
                                  <p:stCondLst>
                                    <p:cond delay="0"/>
                                  </p:stCondLst>
                                  <p:childTnLst>
                                    <p:set>
                                      <p:cBhvr>
                                        <p:cTn id="25" dur="1" fill="hold">
                                          <p:stCondLst>
                                            <p:cond delay="0"/>
                                          </p:stCondLst>
                                        </p:cTn>
                                        <p:tgtEl>
                                          <p:spTgt spid="202"/>
                                        </p:tgtEl>
                                        <p:attrNameLst>
                                          <p:attrName>style.visibility</p:attrName>
                                        </p:attrNameLst>
                                      </p:cBhvr>
                                      <p:to>
                                        <p:strVal val="visible"/>
                                      </p:to>
                                    </p:set>
                                    <p:animEffect transition="in" filter="fade">
                                      <p:cBhvr additive="repl">
                                        <p:cTn id="26" dur="450"/>
                                        <p:tgtEl>
                                          <p:spTgt spid="202"/>
                                        </p:tgtEl>
                                      </p:cBhvr>
                                    </p:animEffect>
                                  </p:childTnLst>
                                </p:cTn>
                              </p:par>
                              <p:par>
                                <p:cTn id="27" presetID="10" presetClass="entr" fill="hold" nodeType="withEffect">
                                  <p:stCondLst>
                                    <p:cond delay="0"/>
                                  </p:stCondLst>
                                  <p:childTnLst>
                                    <p:set>
                                      <p:cBhvr>
                                        <p:cTn id="28" dur="1" fill="hold">
                                          <p:stCondLst>
                                            <p:cond delay="0"/>
                                          </p:stCondLst>
                                        </p:cTn>
                                        <p:tgtEl>
                                          <p:spTgt spid="203"/>
                                        </p:tgtEl>
                                        <p:attrNameLst>
                                          <p:attrName>style.visibility</p:attrName>
                                        </p:attrNameLst>
                                      </p:cBhvr>
                                      <p:to>
                                        <p:strVal val="visible"/>
                                      </p:to>
                                    </p:set>
                                    <p:animEffect transition="in" filter="fade">
                                      <p:cBhvr additive="repl">
                                        <p:cTn id="29" dur="450"/>
                                        <p:tgtEl>
                                          <p:spTgt spid="20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fill="hold" nodeType="clickEffect">
                                  <p:stCondLst>
                                    <p:cond delay="0"/>
                                  </p:stCondLst>
                                  <p:childTnLst>
                                    <p:set>
                                      <p:cBhvr>
                                        <p:cTn id="33" dur="1" fill="hold">
                                          <p:stCondLst>
                                            <p:cond delay="0"/>
                                          </p:stCondLst>
                                        </p:cTn>
                                        <p:tgtEl>
                                          <p:spTgt spid="204"/>
                                        </p:tgtEl>
                                        <p:attrNameLst>
                                          <p:attrName>style.visibility</p:attrName>
                                        </p:attrNameLst>
                                      </p:cBhvr>
                                      <p:to>
                                        <p:strVal val="visible"/>
                                      </p:to>
                                    </p:set>
                                    <p:animEffect transition="in" filter="fade">
                                      <p:cBhvr additive="repl">
                                        <p:cTn id="34" dur="450"/>
                                        <p:tgtEl>
                                          <p:spTgt spid="204"/>
                                        </p:tgtEl>
                                      </p:cBhvr>
                                    </p:animEffect>
                                  </p:childTnLst>
                                </p:cTn>
                              </p:par>
                              <p:par>
                                <p:cTn id="35" presetID="10" presetClass="entr" fill="hold" nodeType="withEffect">
                                  <p:stCondLst>
                                    <p:cond delay="0"/>
                                  </p:stCondLst>
                                  <p:childTnLst>
                                    <p:set>
                                      <p:cBhvr>
                                        <p:cTn id="36" dur="1" fill="hold">
                                          <p:stCondLst>
                                            <p:cond delay="0"/>
                                          </p:stCondLst>
                                        </p:cTn>
                                        <p:tgtEl>
                                          <p:spTgt spid="205"/>
                                        </p:tgtEl>
                                        <p:attrNameLst>
                                          <p:attrName>style.visibility</p:attrName>
                                        </p:attrNameLst>
                                      </p:cBhvr>
                                      <p:to>
                                        <p:strVal val="visible"/>
                                      </p:to>
                                    </p:set>
                                    <p:animEffect transition="in" filter="fade">
                                      <p:cBhvr additive="repl">
                                        <p:cTn id="37" dur="450"/>
                                        <p:tgtEl>
                                          <p:spTgt spid="20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fill="hold" nodeType="clickEffect">
                                  <p:stCondLst>
                                    <p:cond delay="0"/>
                                  </p:stCondLst>
                                  <p:childTnLst>
                                    <p:set>
                                      <p:cBhvr>
                                        <p:cTn id="41" dur="1" fill="hold">
                                          <p:stCondLst>
                                            <p:cond delay="0"/>
                                          </p:stCondLst>
                                        </p:cTn>
                                        <p:tgtEl>
                                          <p:spTgt spid="206"/>
                                        </p:tgtEl>
                                        <p:attrNameLst>
                                          <p:attrName>style.visibility</p:attrName>
                                        </p:attrNameLst>
                                      </p:cBhvr>
                                      <p:to>
                                        <p:strVal val="visible"/>
                                      </p:to>
                                    </p:set>
                                    <p:animEffect transition="in" filter="fade">
                                      <p:cBhvr additive="repl">
                                        <p:cTn id="42" dur="450"/>
                                        <p:tgtEl>
                                          <p:spTgt spid="206"/>
                                        </p:tgtEl>
                                      </p:cBhvr>
                                    </p:animEffect>
                                  </p:childTnLst>
                                </p:cTn>
                              </p:par>
                              <p:par>
                                <p:cTn id="43" presetID="10" presetClass="entr" fill="hold" nodeType="withEffect">
                                  <p:stCondLst>
                                    <p:cond delay="0"/>
                                  </p:stCondLst>
                                  <p:childTnLst>
                                    <p:set>
                                      <p:cBhvr>
                                        <p:cTn id="44" dur="1" fill="hold">
                                          <p:stCondLst>
                                            <p:cond delay="0"/>
                                          </p:stCondLst>
                                        </p:cTn>
                                        <p:tgtEl>
                                          <p:spTgt spid="207"/>
                                        </p:tgtEl>
                                        <p:attrNameLst>
                                          <p:attrName>style.visibility</p:attrName>
                                        </p:attrNameLst>
                                      </p:cBhvr>
                                      <p:to>
                                        <p:strVal val="visible"/>
                                      </p:to>
                                    </p:set>
                                    <p:animEffect transition="in" filter="fade">
                                      <p:cBhvr additive="repl">
                                        <p:cTn id="45" dur="450"/>
                                        <p:tgtEl>
                                          <p:spTgt spid="20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fill="hold" nodeType="clickEffect">
                                  <p:stCondLst>
                                    <p:cond delay="0"/>
                                  </p:stCondLst>
                                  <p:childTnLst>
                                    <p:set>
                                      <p:cBhvr>
                                        <p:cTn id="49" dur="1" fill="hold">
                                          <p:stCondLst>
                                            <p:cond delay="0"/>
                                          </p:stCondLst>
                                        </p:cTn>
                                        <p:tgtEl>
                                          <p:spTgt spid="208"/>
                                        </p:tgtEl>
                                        <p:attrNameLst>
                                          <p:attrName>style.visibility</p:attrName>
                                        </p:attrNameLst>
                                      </p:cBhvr>
                                      <p:to>
                                        <p:strVal val="visible"/>
                                      </p:to>
                                    </p:set>
                                    <p:animEffect transition="in" filter="fade">
                                      <p:cBhvr additive="repl">
                                        <p:cTn id="50" dur="450"/>
                                        <p:tgtEl>
                                          <p:spTgt spid="208"/>
                                        </p:tgtEl>
                                      </p:cBhvr>
                                    </p:animEffect>
                                  </p:childTnLst>
                                </p:cTn>
                              </p:par>
                              <p:par>
                                <p:cTn id="51" presetID="10" presetClass="entr" fill="hold" nodeType="withEffect">
                                  <p:stCondLst>
                                    <p:cond delay="0"/>
                                  </p:stCondLst>
                                  <p:childTnLst>
                                    <p:set>
                                      <p:cBhvr>
                                        <p:cTn id="52" dur="1" fill="hold">
                                          <p:stCondLst>
                                            <p:cond delay="0"/>
                                          </p:stCondLst>
                                        </p:cTn>
                                        <p:tgtEl>
                                          <p:spTgt spid="209"/>
                                        </p:tgtEl>
                                        <p:attrNameLst>
                                          <p:attrName>style.visibility</p:attrName>
                                        </p:attrNameLst>
                                      </p:cBhvr>
                                      <p:to>
                                        <p:strVal val="visible"/>
                                      </p:to>
                                    </p:set>
                                    <p:animEffect transition="in" filter="fade">
                                      <p:cBhvr additive="repl">
                                        <p:cTn id="53" dur="450"/>
                                        <p:tgtEl>
                                          <p:spTgt spid="209"/>
                                        </p:tgtEl>
                                      </p:cBhvr>
                                    </p:animEffect>
                                  </p:childTnLst>
                                </p:cTn>
                              </p:par>
                              <p:par>
                                <p:cTn id="54" presetID="10" presetClass="entr" fill="hold" nodeType="withEffect">
                                  <p:stCondLst>
                                    <p:cond delay="0"/>
                                  </p:stCondLst>
                                  <p:childTnLst>
                                    <p:set>
                                      <p:cBhvr>
                                        <p:cTn id="55" dur="1" fill="hold">
                                          <p:stCondLst>
                                            <p:cond delay="0"/>
                                          </p:stCondLst>
                                        </p:cTn>
                                        <p:tgtEl>
                                          <p:spTgt spid="210"/>
                                        </p:tgtEl>
                                        <p:attrNameLst>
                                          <p:attrName>style.visibility</p:attrName>
                                        </p:attrNameLst>
                                      </p:cBhvr>
                                      <p:to>
                                        <p:strVal val="visible"/>
                                      </p:to>
                                    </p:set>
                                    <p:animEffect transition="in" filter="fade">
                                      <p:cBhvr additive="repl">
                                        <p:cTn id="56" dur="450"/>
                                        <p:tgtEl>
                                          <p:spTgt spid="2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16" name="Shape 0"/>
          <p:cNvSpPr/>
          <p:nvPr/>
        </p:nvSpPr>
        <p:spPr>
          <a:xfrm>
            <a:off x="697320" y="468720"/>
            <a:ext cx="752760" cy="752760"/>
          </a:xfrm>
          <a:prstGeom prst="ellipse">
            <a:avLst/>
          </a:prstGeom>
          <a:solidFill>
            <a:srgbClr val="C0392B">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7" name="Shape 1"/>
          <p:cNvSpPr/>
          <p:nvPr/>
        </p:nvSpPr>
        <p:spPr>
          <a:xfrm>
            <a:off x="822960" y="594360"/>
            <a:ext cx="501120" cy="50112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18" name="Text 2"/>
          <p:cNvSpPr/>
          <p:nvPr/>
        </p:nvSpPr>
        <p:spPr>
          <a:xfrm>
            <a:off x="1481400" y="713160"/>
            <a:ext cx="427752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C0392B"/>
                </a:solidFill>
                <a:latin typeface="Calibri"/>
                <a:ea typeface="Calibri"/>
              </a:rPr>
              <a:t>MEDICAL / PERFORMANCE STAFF</a:t>
            </a:r>
            <a:endParaRPr lang="en-US" sz="1400" b="0" strike="noStrike" spc="-1">
              <a:solidFill>
                <a:srgbClr val="000000"/>
              </a:solidFill>
              <a:latin typeface="Arial"/>
            </a:endParaRPr>
          </a:p>
        </p:txBody>
      </p:sp>
      <p:sp>
        <p:nvSpPr>
          <p:cNvPr id="219" name="Text 3"/>
          <p:cNvSpPr/>
          <p:nvPr/>
        </p:nvSpPr>
        <p:spPr>
          <a:xfrm>
            <a:off x="822960" y="1188720"/>
            <a:ext cx="493596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mbria"/>
                <a:ea typeface="Cambria"/>
              </a:rPr>
              <a:t>Position doesn't predict injury risk, but goalkeepers still stand out</a:t>
            </a:r>
            <a:endParaRPr lang="en-US" sz="1800" b="0" strike="noStrike" spc="-1">
              <a:solidFill>
                <a:srgbClr val="000000"/>
              </a:solidFill>
              <a:latin typeface="Arial"/>
            </a:endParaRPr>
          </a:p>
        </p:txBody>
      </p:sp>
      <p:sp>
        <p:nvSpPr>
          <p:cNvPr id="220" name="Shape 4"/>
          <p:cNvSpPr/>
          <p:nvPr/>
        </p:nvSpPr>
        <p:spPr>
          <a:xfrm>
            <a:off x="822960" y="2057400"/>
            <a:ext cx="4935960" cy="894240"/>
          </a:xfrm>
          <a:prstGeom prst="roundRect">
            <a:avLst>
              <a:gd name="adj" fmla="val 7143"/>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21" name="Text 5"/>
          <p:cNvSpPr/>
          <p:nvPr/>
        </p:nvSpPr>
        <p:spPr>
          <a:xfrm>
            <a:off x="1024200" y="2148840"/>
            <a:ext cx="4533480" cy="22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89">
                <a:solidFill>
                  <a:srgbClr val="E8A33D"/>
                </a:solidFill>
                <a:latin typeface="Calibri"/>
                <a:ea typeface="Calibri"/>
              </a:rPr>
              <a:t>HYPOTHESIS</a:t>
            </a:r>
            <a:endParaRPr lang="en-US" sz="1200" b="0" strike="noStrike" spc="-1">
              <a:solidFill>
                <a:srgbClr val="000000"/>
              </a:solidFill>
              <a:latin typeface="Arial"/>
            </a:endParaRPr>
          </a:p>
        </p:txBody>
      </p:sp>
      <p:sp>
        <p:nvSpPr>
          <p:cNvPr id="222" name="Text 6"/>
          <p:cNvSpPr/>
          <p:nvPr/>
        </p:nvSpPr>
        <p:spPr>
          <a:xfrm>
            <a:off x="1024200" y="2377440"/>
            <a:ext cx="453348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strike="noStrike" spc="-1">
                <a:solidFill>
                  <a:srgbClr val="FFFFFF"/>
                </a:solidFill>
                <a:latin typeface="Calibri"/>
                <a:ea typeface="Calibri"/>
              </a:rPr>
              <a:t>Position predicts injury and workload risk.</a:t>
            </a:r>
            <a:endParaRPr lang="en-US" sz="1400" b="0" strike="noStrike" spc="-1">
              <a:solidFill>
                <a:srgbClr val="000000"/>
              </a:solidFill>
              <a:latin typeface="Arial"/>
            </a:endParaRPr>
          </a:p>
        </p:txBody>
      </p:sp>
      <p:sp>
        <p:nvSpPr>
          <p:cNvPr id="223" name="Shape 7"/>
          <p:cNvSpPr/>
          <p:nvPr/>
        </p:nvSpPr>
        <p:spPr>
          <a:xfrm>
            <a:off x="822960" y="3154680"/>
            <a:ext cx="4935960" cy="418680"/>
          </a:xfrm>
          <a:prstGeom prst="roundRect">
            <a:avLst>
              <a:gd name="adj" fmla="val 50000"/>
            </a:avLst>
          </a:prstGeom>
          <a:solidFill>
            <a:srgbClr val="6B728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224" name="Image 1" descr="preencoded.png"/>
          <p:cNvPicPr/>
          <p:nvPr/>
        </p:nvPicPr>
        <p:blipFill>
          <a:blip r:embed="rId3"/>
          <a:stretch/>
        </p:blipFill>
        <p:spPr>
          <a:xfrm>
            <a:off x="939960" y="3225960"/>
            <a:ext cx="252360" cy="252360"/>
          </a:xfrm>
          <a:prstGeom prst="rect">
            <a:avLst/>
          </a:prstGeom>
          <a:ln w="0">
            <a:noFill/>
          </a:ln>
        </p:spPr>
      </p:pic>
      <p:sp>
        <p:nvSpPr>
          <p:cNvPr id="225" name="Text 8"/>
          <p:cNvSpPr/>
          <p:nvPr/>
        </p:nvSpPr>
        <p:spPr>
          <a:xfrm>
            <a:off x="1280160" y="3154680"/>
            <a:ext cx="438732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FFFFFF"/>
                </a:solidFill>
                <a:latin typeface="Calibri"/>
                <a:ea typeface="Calibri"/>
              </a:rPr>
              <a:t>NOT CONFIRMED, but goalkeepers stand out</a:t>
            </a:r>
            <a:endParaRPr lang="en-US" sz="1350" b="0" strike="noStrike" spc="-1">
              <a:solidFill>
                <a:srgbClr val="000000"/>
              </a:solidFill>
              <a:latin typeface="Arial"/>
            </a:endParaRPr>
          </a:p>
        </p:txBody>
      </p:sp>
      <p:pic>
        <p:nvPicPr>
          <p:cNvPr id="226" name="Image 2" descr="preencoded.png"/>
          <p:cNvPicPr/>
          <p:nvPr/>
        </p:nvPicPr>
        <p:blipFill>
          <a:blip r:embed="rId4"/>
          <a:stretch/>
        </p:blipFill>
        <p:spPr>
          <a:xfrm>
            <a:off x="800280" y="4025880"/>
            <a:ext cx="252360" cy="252360"/>
          </a:xfrm>
          <a:prstGeom prst="rect">
            <a:avLst/>
          </a:prstGeom>
          <a:ln w="0">
            <a:noFill/>
          </a:ln>
        </p:spPr>
      </p:pic>
      <p:sp>
        <p:nvSpPr>
          <p:cNvPr id="227" name="Text 9"/>
          <p:cNvSpPr/>
          <p:nvPr/>
        </p:nvSpPr>
        <p:spPr>
          <a:xfrm>
            <a:off x="1152000" y="396252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Position alone does not statistically predict injury risk.</a:t>
            </a:r>
            <a:endParaRPr lang="en-US" sz="1400" b="0" strike="noStrike" spc="-1">
              <a:solidFill>
                <a:srgbClr val="000000"/>
              </a:solidFill>
              <a:latin typeface="Arial"/>
            </a:endParaRPr>
          </a:p>
        </p:txBody>
      </p:sp>
      <p:pic>
        <p:nvPicPr>
          <p:cNvPr id="228" name="Image 3" descr="preencoded.png"/>
          <p:cNvPicPr/>
          <p:nvPr/>
        </p:nvPicPr>
        <p:blipFill>
          <a:blip r:embed="rId4"/>
          <a:stretch/>
        </p:blipFill>
        <p:spPr>
          <a:xfrm>
            <a:off x="800280" y="4863960"/>
            <a:ext cx="252360" cy="252360"/>
          </a:xfrm>
          <a:prstGeom prst="rect">
            <a:avLst/>
          </a:prstGeom>
          <a:ln w="0">
            <a:noFill/>
          </a:ln>
        </p:spPr>
      </p:pic>
      <p:sp>
        <p:nvSpPr>
          <p:cNvPr id="229" name="Text 10"/>
          <p:cNvSpPr/>
          <p:nvPr/>
        </p:nvSpPr>
        <p:spPr>
          <a:xfrm>
            <a:off x="1152000" y="480060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Goalkeepers still trend lower: 2.3 vs. about 4.2 for outfield.</a:t>
            </a:r>
            <a:endParaRPr lang="en-US" sz="1400" b="0" strike="noStrike" spc="-1">
              <a:solidFill>
                <a:srgbClr val="000000"/>
              </a:solidFill>
              <a:latin typeface="Arial"/>
            </a:endParaRPr>
          </a:p>
        </p:txBody>
      </p:sp>
      <p:pic>
        <p:nvPicPr>
          <p:cNvPr id="230" name="Image 4" descr="preencoded.png"/>
          <p:cNvPicPr/>
          <p:nvPr/>
        </p:nvPicPr>
        <p:blipFill>
          <a:blip r:embed="rId4"/>
          <a:stretch/>
        </p:blipFill>
        <p:spPr>
          <a:xfrm>
            <a:off x="800280" y="5702400"/>
            <a:ext cx="252360" cy="252360"/>
          </a:xfrm>
          <a:prstGeom prst="rect">
            <a:avLst/>
          </a:prstGeom>
          <a:ln w="0">
            <a:noFill/>
          </a:ln>
        </p:spPr>
      </p:pic>
      <p:sp>
        <p:nvSpPr>
          <p:cNvPr id="231" name="Text 11"/>
          <p:cNvSpPr/>
          <p:nvPr/>
        </p:nvSpPr>
        <p:spPr>
          <a:xfrm>
            <a:off x="1152000" y="563868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Too few goalkeepers in the data (52) to call this confirmed.</a:t>
            </a:r>
            <a:endParaRPr lang="en-US" sz="1400" b="0" strike="noStrike" spc="-1">
              <a:solidFill>
                <a:srgbClr val="000000"/>
              </a:solidFill>
              <a:latin typeface="Arial"/>
            </a:endParaRPr>
          </a:p>
        </p:txBody>
      </p:sp>
      <p:sp>
        <p:nvSpPr>
          <p:cNvPr id="232" name="Shape 12"/>
          <p:cNvSpPr/>
          <p:nvPr/>
        </p:nvSpPr>
        <p:spPr>
          <a:xfrm>
            <a:off x="6217920" y="594360"/>
            <a:ext cx="5146200" cy="5621760"/>
          </a:xfrm>
          <a:prstGeom prst="roundRect">
            <a:avLst>
              <a:gd name="adj" fmla="val 1599"/>
            </a:avLst>
          </a:prstGeom>
          <a:solidFill>
            <a:srgbClr val="FFFFFF"/>
          </a:solidFill>
          <a:ln w="0">
            <a:noFill/>
          </a:ln>
          <a:effectLst>
            <a:outerShdw blurRad="101520" dist="38160" dir="5400000" algn="bl" rotWithShape="0">
              <a:srgbClr val="8C93A6">
                <a:alpha val="2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33" name="Text 13"/>
          <p:cNvSpPr/>
          <p:nvPr/>
        </p:nvSpPr>
        <p:spPr>
          <a:xfrm>
            <a:off x="6537960" y="822960"/>
            <a:ext cx="450612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1A1A"/>
                </a:solidFill>
                <a:latin typeface="Calibri"/>
                <a:ea typeface="Calibri"/>
              </a:rPr>
              <a:t>Median injuries per 1,000 90s, by position</a:t>
            </a:r>
            <a:endParaRPr lang="en-US" sz="1350" b="0" strike="noStrike" spc="-1">
              <a:solidFill>
                <a:srgbClr val="000000"/>
              </a:solidFill>
              <a:latin typeface="Arial"/>
            </a:endParaRPr>
          </a:p>
        </p:txBody>
      </p:sp>
      <p:sp>
        <p:nvSpPr>
          <p:cNvPr id="234" name="Text 14"/>
          <p:cNvSpPr/>
          <p:nvPr/>
        </p:nvSpPr>
        <p:spPr>
          <a:xfrm>
            <a:off x="6537960" y="5029200"/>
            <a:ext cx="4506120" cy="95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i="1" strike="noStrike" spc="-1">
                <a:solidFill>
                  <a:srgbClr val="44506B"/>
                </a:solidFill>
                <a:latin typeface="Calibri"/>
                <a:ea typeface="Calibri"/>
              </a:rPr>
              <a:t>n = 582 players (Goalkeeper n=52, Defender n=217, Midfield n=182, Attack n=131).</a:t>
            </a:r>
            <a:endParaRPr lang="en-US" sz="1300" b="0" strike="noStrike" spc="-1">
              <a:solidFill>
                <a:srgbClr val="000000"/>
              </a:solidFill>
              <a:latin typeface="Arial"/>
            </a:endParaRPr>
          </a:p>
        </p:txBody>
      </p:sp>
      <p:sp>
        <p:nvSpPr>
          <p:cNvPr id="235" name="Text 15"/>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5A6478"/>
                </a:solidFill>
                <a:latin typeface="Calibri"/>
                <a:ea typeface="Calibri"/>
              </a:rPr>
              <a:t>09</a:t>
            </a:r>
            <a:endParaRPr lang="en-US" sz="1200" b="0" strike="noStrike" spc="-1">
              <a:solidFill>
                <a:srgbClr val="000000"/>
              </a:solidFill>
              <a:latin typeface="Arial"/>
            </a:endParaRPr>
          </a:p>
        </p:txBody>
      </p:sp>
      <p:sp>
        <p:nvSpPr>
          <p:cNvPr id="236" name="TextBox 63"/>
          <p:cNvSpPr/>
          <p:nvPr/>
        </p:nvSpPr>
        <p:spPr>
          <a:xfrm>
            <a:off x="822960" y="6099840"/>
            <a:ext cx="5398560" cy="33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100" b="1" i="1" strike="noStrike" spc="-1">
                <a:solidFill>
                  <a:srgbClr val="44506B"/>
                </a:solidFill>
                <a:latin typeface="Calibri"/>
              </a:rPr>
              <a:t>Reminder: </a:t>
            </a:r>
            <a:r>
              <a:rPr lang="en-US" sz="1100" b="0" i="1" strike="noStrike" spc="-1">
                <a:solidFill>
                  <a:srgbClr val="44506B"/>
                </a:solidFill>
                <a:latin typeface="Calibri"/>
              </a:rPr>
              <a:t>“90s” = full matches played; injuries are counted per 1,000 to stay fair across playing time (see slide 08).</a:t>
            </a:r>
            <a:endParaRPr lang="en-US" sz="1100" b="0" strike="noStrike" spc="-1">
              <a:solidFill>
                <a:srgbClr val="000000"/>
              </a:solidFill>
              <a:latin typeface="Arial"/>
            </a:endParaRPr>
          </a:p>
        </p:txBody>
      </p:sp>
      <p:graphicFrame>
        <p:nvGraphicFramePr>
          <p:cNvPr id="237" name="Chart 64"/>
          <p:cNvGraphicFramePr/>
          <p:nvPr/>
        </p:nvGraphicFramePr>
        <p:xfrm>
          <a:off x="6537960" y="1280160"/>
          <a:ext cx="4506120" cy="3564360"/>
        </p:xfrm>
        <a:graphic>
          <a:graphicData uri="http://schemas.openxmlformats.org/drawingml/2006/chart">
            <c:chart xmlns:c="http://schemas.openxmlformats.org/drawingml/2006/chart" xmlns:r="http://schemas.openxmlformats.org/officeDocument/2006/relationships" r:id="rId5"/>
          </a:graphicData>
        </a:graphic>
      </p:graphicFrame>
      <p:pic>
        <p:nvPicPr>
          <p:cNvPr id="238" name="Copied Picture 228" descr="preencoded.png"/>
          <p:cNvPicPr/>
          <p:nvPr/>
        </p:nvPicPr>
        <p:blipFill>
          <a:blip r:embed="rId6"/>
          <a:stretch/>
        </p:blipFill>
        <p:spPr>
          <a:xfrm>
            <a:off x="914400" y="685800"/>
            <a:ext cx="303480" cy="303480"/>
          </a:xfrm>
          <a:prstGeom prst="rect">
            <a:avLst/>
          </a:prstGeom>
          <a:ln w="0">
            <a:noFill/>
          </a:ln>
        </p:spPr>
      </p:pic>
    </p:spTree>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20"/>
                                        </p:tgtEl>
                                        <p:attrNameLst>
                                          <p:attrName>style.visibility</p:attrName>
                                        </p:attrNameLst>
                                      </p:cBhvr>
                                      <p:to>
                                        <p:strVal val="visible"/>
                                      </p:to>
                                    </p:set>
                                    <p:animEffect transition="in" filter="fade">
                                      <p:cBhvr additive="repl">
                                        <p:cTn id="7" dur="450"/>
                                        <p:tgtEl>
                                          <p:spTgt spid="220"/>
                                        </p:tgtEl>
                                      </p:cBhvr>
                                    </p:animEffect>
                                  </p:childTnLst>
                                </p:cTn>
                              </p:par>
                              <p:par>
                                <p:cTn id="8" presetID="10" presetClass="entr" fill="hold" nodeType="withEffect">
                                  <p:stCondLst>
                                    <p:cond delay="0"/>
                                  </p:stCondLst>
                                  <p:childTnLst>
                                    <p:set>
                                      <p:cBhvr>
                                        <p:cTn id="9" dur="1" fill="hold">
                                          <p:stCondLst>
                                            <p:cond delay="0"/>
                                          </p:stCondLst>
                                        </p:cTn>
                                        <p:tgtEl>
                                          <p:spTgt spid="221"/>
                                        </p:tgtEl>
                                        <p:attrNameLst>
                                          <p:attrName>style.visibility</p:attrName>
                                        </p:attrNameLst>
                                      </p:cBhvr>
                                      <p:to>
                                        <p:strVal val="visible"/>
                                      </p:to>
                                    </p:set>
                                    <p:animEffect transition="in" filter="fade">
                                      <p:cBhvr additive="repl">
                                        <p:cTn id="10" dur="450"/>
                                        <p:tgtEl>
                                          <p:spTgt spid="221"/>
                                        </p:tgtEl>
                                      </p:cBhvr>
                                    </p:animEffect>
                                  </p:childTnLst>
                                </p:cTn>
                              </p:par>
                              <p:par>
                                <p:cTn id="11" presetID="10" presetClass="entr" fill="hold" nodeType="withEffect">
                                  <p:stCondLst>
                                    <p:cond delay="0"/>
                                  </p:stCondLst>
                                  <p:childTnLst>
                                    <p:set>
                                      <p:cBhvr>
                                        <p:cTn id="12" dur="1" fill="hold">
                                          <p:stCondLst>
                                            <p:cond delay="0"/>
                                          </p:stCondLst>
                                        </p:cTn>
                                        <p:tgtEl>
                                          <p:spTgt spid="222"/>
                                        </p:tgtEl>
                                        <p:attrNameLst>
                                          <p:attrName>style.visibility</p:attrName>
                                        </p:attrNameLst>
                                      </p:cBhvr>
                                      <p:to>
                                        <p:strVal val="visible"/>
                                      </p:to>
                                    </p:set>
                                    <p:animEffect transition="in" filter="fade">
                                      <p:cBhvr additive="repl">
                                        <p:cTn id="13" dur="450"/>
                                        <p:tgtEl>
                                          <p:spTgt spid="2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nodeType="clickEffect">
                                  <p:stCondLst>
                                    <p:cond delay="0"/>
                                  </p:stCondLst>
                                  <p:childTnLst>
                                    <p:set>
                                      <p:cBhvr>
                                        <p:cTn id="17" dur="1" fill="hold">
                                          <p:stCondLst>
                                            <p:cond delay="0"/>
                                          </p:stCondLst>
                                        </p:cTn>
                                        <p:tgtEl>
                                          <p:spTgt spid="223"/>
                                        </p:tgtEl>
                                        <p:attrNameLst>
                                          <p:attrName>style.visibility</p:attrName>
                                        </p:attrNameLst>
                                      </p:cBhvr>
                                      <p:to>
                                        <p:strVal val="visible"/>
                                      </p:to>
                                    </p:set>
                                    <p:animEffect transition="in" filter="fade">
                                      <p:cBhvr additive="repl">
                                        <p:cTn id="18" dur="450"/>
                                        <p:tgtEl>
                                          <p:spTgt spid="223"/>
                                        </p:tgtEl>
                                      </p:cBhvr>
                                    </p:animEffect>
                                  </p:childTnLst>
                                </p:cTn>
                              </p:par>
                              <p:par>
                                <p:cTn id="19" presetID="10" presetClass="entr" fill="hold" nodeType="withEffect">
                                  <p:stCondLst>
                                    <p:cond delay="0"/>
                                  </p:stCondLst>
                                  <p:childTnLst>
                                    <p:set>
                                      <p:cBhvr>
                                        <p:cTn id="20" dur="1" fill="hold">
                                          <p:stCondLst>
                                            <p:cond delay="0"/>
                                          </p:stCondLst>
                                        </p:cTn>
                                        <p:tgtEl>
                                          <p:spTgt spid="224"/>
                                        </p:tgtEl>
                                        <p:attrNameLst>
                                          <p:attrName>style.visibility</p:attrName>
                                        </p:attrNameLst>
                                      </p:cBhvr>
                                      <p:to>
                                        <p:strVal val="visible"/>
                                      </p:to>
                                    </p:set>
                                    <p:animEffect transition="in" filter="fade">
                                      <p:cBhvr additive="repl">
                                        <p:cTn id="21" dur="450"/>
                                        <p:tgtEl>
                                          <p:spTgt spid="224"/>
                                        </p:tgtEl>
                                      </p:cBhvr>
                                    </p:animEffect>
                                  </p:childTnLst>
                                </p:cTn>
                              </p:par>
                              <p:par>
                                <p:cTn id="22" presetID="10" presetClass="entr" fill="hold" nodeType="withEffect">
                                  <p:stCondLst>
                                    <p:cond delay="0"/>
                                  </p:stCondLst>
                                  <p:childTnLst>
                                    <p:set>
                                      <p:cBhvr>
                                        <p:cTn id="23" dur="1" fill="hold">
                                          <p:stCondLst>
                                            <p:cond delay="0"/>
                                          </p:stCondLst>
                                        </p:cTn>
                                        <p:tgtEl>
                                          <p:spTgt spid="225"/>
                                        </p:tgtEl>
                                        <p:attrNameLst>
                                          <p:attrName>style.visibility</p:attrName>
                                        </p:attrNameLst>
                                      </p:cBhvr>
                                      <p:to>
                                        <p:strVal val="visible"/>
                                      </p:to>
                                    </p:set>
                                    <p:animEffect transition="in" filter="fade">
                                      <p:cBhvr additive="repl">
                                        <p:cTn id="24" dur="450"/>
                                        <p:tgtEl>
                                          <p:spTgt spid="22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fill="hold" nodeType="clickEffect">
                                  <p:stCondLst>
                                    <p:cond delay="0"/>
                                  </p:stCondLst>
                                  <p:childTnLst>
                                    <p:set>
                                      <p:cBhvr>
                                        <p:cTn id="28" dur="1" fill="hold">
                                          <p:stCondLst>
                                            <p:cond delay="0"/>
                                          </p:stCondLst>
                                        </p:cTn>
                                        <p:tgtEl>
                                          <p:spTgt spid="226"/>
                                        </p:tgtEl>
                                        <p:attrNameLst>
                                          <p:attrName>style.visibility</p:attrName>
                                        </p:attrNameLst>
                                      </p:cBhvr>
                                      <p:to>
                                        <p:strVal val="visible"/>
                                      </p:to>
                                    </p:set>
                                    <p:animEffect transition="in" filter="fade">
                                      <p:cBhvr additive="repl">
                                        <p:cTn id="29" dur="450"/>
                                        <p:tgtEl>
                                          <p:spTgt spid="226"/>
                                        </p:tgtEl>
                                      </p:cBhvr>
                                    </p:animEffect>
                                  </p:childTnLst>
                                </p:cTn>
                              </p:par>
                              <p:par>
                                <p:cTn id="30" presetID="10" presetClass="entr" fill="hold" nodeType="withEffect">
                                  <p:stCondLst>
                                    <p:cond delay="0"/>
                                  </p:stCondLst>
                                  <p:childTnLst>
                                    <p:set>
                                      <p:cBhvr>
                                        <p:cTn id="31" dur="1" fill="hold">
                                          <p:stCondLst>
                                            <p:cond delay="0"/>
                                          </p:stCondLst>
                                        </p:cTn>
                                        <p:tgtEl>
                                          <p:spTgt spid="227"/>
                                        </p:tgtEl>
                                        <p:attrNameLst>
                                          <p:attrName>style.visibility</p:attrName>
                                        </p:attrNameLst>
                                      </p:cBhvr>
                                      <p:to>
                                        <p:strVal val="visible"/>
                                      </p:to>
                                    </p:set>
                                    <p:animEffect transition="in" filter="fade">
                                      <p:cBhvr additive="repl">
                                        <p:cTn id="32" dur="450"/>
                                        <p:tgtEl>
                                          <p:spTgt spid="2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fill="hold" nodeType="clickEffect">
                                  <p:stCondLst>
                                    <p:cond delay="0"/>
                                  </p:stCondLst>
                                  <p:childTnLst>
                                    <p:set>
                                      <p:cBhvr>
                                        <p:cTn id="36" dur="1" fill="hold">
                                          <p:stCondLst>
                                            <p:cond delay="0"/>
                                          </p:stCondLst>
                                        </p:cTn>
                                        <p:tgtEl>
                                          <p:spTgt spid="228"/>
                                        </p:tgtEl>
                                        <p:attrNameLst>
                                          <p:attrName>style.visibility</p:attrName>
                                        </p:attrNameLst>
                                      </p:cBhvr>
                                      <p:to>
                                        <p:strVal val="visible"/>
                                      </p:to>
                                    </p:set>
                                    <p:animEffect transition="in" filter="fade">
                                      <p:cBhvr additive="repl">
                                        <p:cTn id="37" dur="450"/>
                                        <p:tgtEl>
                                          <p:spTgt spid="228"/>
                                        </p:tgtEl>
                                      </p:cBhvr>
                                    </p:animEffect>
                                  </p:childTnLst>
                                </p:cTn>
                              </p:par>
                              <p:par>
                                <p:cTn id="38" presetID="10" presetClass="entr" fill="hold" nodeType="withEffect">
                                  <p:stCondLst>
                                    <p:cond delay="0"/>
                                  </p:stCondLst>
                                  <p:childTnLst>
                                    <p:set>
                                      <p:cBhvr>
                                        <p:cTn id="39" dur="1" fill="hold">
                                          <p:stCondLst>
                                            <p:cond delay="0"/>
                                          </p:stCondLst>
                                        </p:cTn>
                                        <p:tgtEl>
                                          <p:spTgt spid="229"/>
                                        </p:tgtEl>
                                        <p:attrNameLst>
                                          <p:attrName>style.visibility</p:attrName>
                                        </p:attrNameLst>
                                      </p:cBhvr>
                                      <p:to>
                                        <p:strVal val="visible"/>
                                      </p:to>
                                    </p:set>
                                    <p:animEffect transition="in" filter="fade">
                                      <p:cBhvr additive="repl">
                                        <p:cTn id="40" dur="450"/>
                                        <p:tgtEl>
                                          <p:spTgt spid="22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fill="hold" nodeType="clickEffect">
                                  <p:stCondLst>
                                    <p:cond delay="0"/>
                                  </p:stCondLst>
                                  <p:childTnLst>
                                    <p:set>
                                      <p:cBhvr>
                                        <p:cTn id="44" dur="1" fill="hold">
                                          <p:stCondLst>
                                            <p:cond delay="0"/>
                                          </p:stCondLst>
                                        </p:cTn>
                                        <p:tgtEl>
                                          <p:spTgt spid="230"/>
                                        </p:tgtEl>
                                        <p:attrNameLst>
                                          <p:attrName>style.visibility</p:attrName>
                                        </p:attrNameLst>
                                      </p:cBhvr>
                                      <p:to>
                                        <p:strVal val="visible"/>
                                      </p:to>
                                    </p:set>
                                    <p:animEffect transition="in" filter="fade">
                                      <p:cBhvr additive="repl">
                                        <p:cTn id="45" dur="450"/>
                                        <p:tgtEl>
                                          <p:spTgt spid="230"/>
                                        </p:tgtEl>
                                      </p:cBhvr>
                                    </p:animEffect>
                                  </p:childTnLst>
                                </p:cTn>
                              </p:par>
                              <p:par>
                                <p:cTn id="46" presetID="10" presetClass="entr" fill="hold" nodeType="withEffect">
                                  <p:stCondLst>
                                    <p:cond delay="0"/>
                                  </p:stCondLst>
                                  <p:childTnLst>
                                    <p:set>
                                      <p:cBhvr>
                                        <p:cTn id="47" dur="1" fill="hold">
                                          <p:stCondLst>
                                            <p:cond delay="0"/>
                                          </p:stCondLst>
                                        </p:cTn>
                                        <p:tgtEl>
                                          <p:spTgt spid="231"/>
                                        </p:tgtEl>
                                        <p:attrNameLst>
                                          <p:attrName>style.visibility</p:attrName>
                                        </p:attrNameLst>
                                      </p:cBhvr>
                                      <p:to>
                                        <p:strVal val="visible"/>
                                      </p:to>
                                    </p:set>
                                    <p:animEffect transition="in" filter="fade">
                                      <p:cBhvr additive="repl">
                                        <p:cTn id="48" dur="450"/>
                                        <p:tgtEl>
                                          <p:spTgt spid="23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fill="hold" nodeType="clickEffect">
                                  <p:stCondLst>
                                    <p:cond delay="0"/>
                                  </p:stCondLst>
                                  <p:childTnLst>
                                    <p:set>
                                      <p:cBhvr>
                                        <p:cTn id="52" dur="1" fill="hold">
                                          <p:stCondLst>
                                            <p:cond delay="0"/>
                                          </p:stCondLst>
                                        </p:cTn>
                                        <p:tgtEl>
                                          <p:spTgt spid="232"/>
                                        </p:tgtEl>
                                        <p:attrNameLst>
                                          <p:attrName>style.visibility</p:attrName>
                                        </p:attrNameLst>
                                      </p:cBhvr>
                                      <p:to>
                                        <p:strVal val="visible"/>
                                      </p:to>
                                    </p:set>
                                    <p:animEffect transition="in" filter="fade">
                                      <p:cBhvr additive="repl">
                                        <p:cTn id="53" dur="450"/>
                                        <p:tgtEl>
                                          <p:spTgt spid="232"/>
                                        </p:tgtEl>
                                      </p:cBhvr>
                                    </p:animEffect>
                                  </p:childTnLst>
                                </p:cTn>
                              </p:par>
                              <p:par>
                                <p:cTn id="54" presetID="10" presetClass="entr" fill="hold" nodeType="withEffect">
                                  <p:stCondLst>
                                    <p:cond delay="0"/>
                                  </p:stCondLst>
                                  <p:childTnLst>
                                    <p:set>
                                      <p:cBhvr>
                                        <p:cTn id="55" dur="1" fill="hold">
                                          <p:stCondLst>
                                            <p:cond delay="0"/>
                                          </p:stCondLst>
                                        </p:cTn>
                                        <p:tgtEl>
                                          <p:spTgt spid="233"/>
                                        </p:tgtEl>
                                        <p:attrNameLst>
                                          <p:attrName>style.visibility</p:attrName>
                                        </p:attrNameLst>
                                      </p:cBhvr>
                                      <p:to>
                                        <p:strVal val="visible"/>
                                      </p:to>
                                    </p:set>
                                    <p:animEffect transition="in" filter="fade">
                                      <p:cBhvr additive="repl">
                                        <p:cTn id="56" dur="450"/>
                                        <p:tgtEl>
                                          <p:spTgt spid="233"/>
                                        </p:tgtEl>
                                      </p:cBhvr>
                                    </p:animEffect>
                                  </p:childTnLst>
                                </p:cTn>
                              </p:par>
                              <p:par>
                                <p:cTn id="57" presetID="10" presetClass="entr" fill="hold" nodeType="withEffect">
                                  <p:stCondLst>
                                    <p:cond delay="0"/>
                                  </p:stCondLst>
                                  <p:childTnLst>
                                    <p:set>
                                      <p:cBhvr>
                                        <p:cTn id="58" dur="1" fill="hold">
                                          <p:stCondLst>
                                            <p:cond delay="0"/>
                                          </p:stCondLst>
                                        </p:cTn>
                                        <p:tgtEl>
                                          <p:spTgt spid="234"/>
                                        </p:tgtEl>
                                        <p:attrNameLst>
                                          <p:attrName>style.visibility</p:attrName>
                                        </p:attrNameLst>
                                      </p:cBhvr>
                                      <p:to>
                                        <p:strVal val="visible"/>
                                      </p:to>
                                    </p:set>
                                    <p:animEffect transition="in" filter="fade">
                                      <p:cBhvr additive="repl">
                                        <p:cTn id="59" dur="45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239" name="Corner 610"/>
          <p:cNvSpPr/>
          <p:nvPr/>
        </p:nvSpPr>
        <p:spPr>
          <a:xfrm>
            <a:off x="-368280" y="-368280"/>
            <a:ext cx="735120" cy="735120"/>
          </a:xfrm>
          <a:prstGeom prst="ellipse">
            <a:avLst/>
          </a:prstGeom>
          <a:noFill/>
          <a:ln w="12700">
            <a:solidFill>
              <a:srgbClr val="1E5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40" name="Corner 611"/>
          <p:cNvSpPr/>
          <p:nvPr/>
        </p:nvSpPr>
        <p:spPr>
          <a:xfrm>
            <a:off x="11823840" y="-368280"/>
            <a:ext cx="735120" cy="735120"/>
          </a:xfrm>
          <a:prstGeom prst="ellipse">
            <a:avLst/>
          </a:prstGeom>
          <a:noFill/>
          <a:ln w="12700">
            <a:solidFill>
              <a:srgbClr val="1E5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41" name="Corner 612"/>
          <p:cNvSpPr/>
          <p:nvPr/>
        </p:nvSpPr>
        <p:spPr>
          <a:xfrm>
            <a:off x="-368280" y="6489720"/>
            <a:ext cx="735120" cy="735120"/>
          </a:xfrm>
          <a:prstGeom prst="ellipse">
            <a:avLst/>
          </a:prstGeom>
          <a:noFill/>
          <a:ln w="12700">
            <a:solidFill>
              <a:srgbClr val="1E5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42" name="Corner 613"/>
          <p:cNvSpPr/>
          <p:nvPr/>
        </p:nvSpPr>
        <p:spPr>
          <a:xfrm>
            <a:off x="11823840" y="6489720"/>
            <a:ext cx="735120" cy="735120"/>
          </a:xfrm>
          <a:prstGeom prst="ellipse">
            <a:avLst/>
          </a:prstGeom>
          <a:noFill/>
          <a:ln w="12700">
            <a:solidFill>
              <a:srgbClr val="1E5A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43" name="Quiz Eyebrow"/>
          <p:cNvSpPr/>
          <p:nvPr/>
        </p:nvSpPr>
        <p:spPr>
          <a:xfrm>
            <a:off x="825480" y="787320"/>
            <a:ext cx="6348600" cy="316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400" b="1" strike="noStrike" spc="191">
                <a:solidFill>
                  <a:srgbClr val="E8A33D"/>
                </a:solidFill>
                <a:latin typeface="Calibri"/>
                <a:ea typeface="Calibri"/>
              </a:rPr>
              <a:t>GUESS THE NUMBER</a:t>
            </a:r>
            <a:endParaRPr lang="en-US" sz="1400" b="0" strike="noStrike" spc="-1">
              <a:solidFill>
                <a:srgbClr val="FFFFFF"/>
              </a:solidFill>
              <a:latin typeface="Arial"/>
            </a:endParaRPr>
          </a:p>
        </p:txBody>
      </p:sp>
      <p:sp>
        <p:nvSpPr>
          <p:cNvPr id="244" name="Quiz Title"/>
          <p:cNvSpPr/>
          <p:nvPr/>
        </p:nvSpPr>
        <p:spPr>
          <a:xfrm>
            <a:off x="825480" y="1168560"/>
            <a:ext cx="10539720" cy="73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3200" b="1" strike="noStrike" spc="-1">
                <a:solidFill>
                  <a:srgbClr val="FFFFFF"/>
                </a:solidFill>
                <a:latin typeface="Cambria"/>
                <a:ea typeface="Cambria"/>
              </a:rPr>
              <a:t>How often did the forecast call the direction right?</a:t>
            </a:r>
            <a:endParaRPr lang="en-US" sz="3200" b="0" strike="noStrike" spc="-1">
              <a:solidFill>
                <a:srgbClr val="FFFFFF"/>
              </a:solidFill>
              <a:latin typeface="Arial"/>
            </a:endParaRPr>
          </a:p>
        </p:txBody>
      </p:sp>
      <p:sp>
        <p:nvSpPr>
          <p:cNvPr id="245" name="Quiz Subtitle"/>
          <p:cNvSpPr/>
          <p:nvPr/>
        </p:nvSpPr>
        <p:spPr>
          <a:xfrm>
            <a:off x="825480" y="1930320"/>
            <a:ext cx="10539720" cy="35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800" b="0" strike="noStrike" spc="-1">
                <a:solidFill>
                  <a:srgbClr val="C5CEE0"/>
                </a:solidFill>
                <a:latin typeface="Calibri"/>
                <a:ea typeface="Calibri"/>
              </a:rPr>
              <a:t>150 players, backtested: did it get up-vs-down right? Shout your guess, then tap one.</a:t>
            </a:r>
            <a:endParaRPr lang="en-US" sz="1800" b="0" strike="noStrike" spc="-1">
              <a:solidFill>
                <a:srgbClr val="FFFFFF"/>
              </a:solidFill>
              <a:latin typeface="Arial"/>
            </a:endParaRPr>
          </a:p>
        </p:txBody>
      </p:sp>
      <p:sp>
        <p:nvSpPr>
          <p:cNvPr id="246" name="Option A"/>
          <p:cNvSpPr/>
          <p:nvPr/>
        </p:nvSpPr>
        <p:spPr>
          <a:xfrm>
            <a:off x="825480" y="2692440"/>
            <a:ext cx="3249720" cy="1497240"/>
          </a:xfrm>
          <a:prstGeom prst="roundRect">
            <a:avLst>
              <a:gd name="adj" fmla="val 6000"/>
            </a:avLst>
          </a:prstGeom>
          <a:solidFill>
            <a:srgbClr val="16264D"/>
          </a:solidFill>
          <a:ln w="0">
            <a:noFill/>
          </a:ln>
        </p:spPr>
        <p:style>
          <a:lnRef idx="0">
            <a:scrgbClr r="0" g="0" b="0"/>
          </a:lnRef>
          <a:fillRef idx="0">
            <a:scrgbClr r="0" g="0" b="0"/>
          </a:fillRef>
          <a:effectRef idx="0">
            <a:scrgbClr r="0" g="0" b="0"/>
          </a:effectRef>
          <a:fontRef idx="minor"/>
        </p:style>
        <p:txBody>
          <a:bodyPr lIns="177840" tIns="177840" rIns="177840" bIns="177840" anchor="ctr">
            <a:noAutofit/>
          </a:bodyPr>
          <a:lstStyle/>
          <a:p>
            <a:pPr algn="ctr" defTabSz="914400">
              <a:lnSpc>
                <a:spcPct val="100000"/>
              </a:lnSpc>
              <a:spcAft>
                <a:spcPts val="201"/>
              </a:spcAft>
            </a:pPr>
            <a:r>
              <a:rPr lang="en-US" sz="1600" b="1" strike="noStrike" spc="-1">
                <a:solidFill>
                  <a:srgbClr val="E8A33D"/>
                </a:solidFill>
                <a:latin typeface="Calibri"/>
                <a:ea typeface="Calibri"/>
              </a:rPr>
              <a:t>A</a:t>
            </a:r>
            <a:endParaRPr lang="en-US" sz="1600" b="0" strike="noStrike" spc="-1">
              <a:solidFill>
                <a:srgbClr val="FFFFFF"/>
              </a:solidFill>
              <a:latin typeface="Arial"/>
            </a:endParaRPr>
          </a:p>
          <a:p>
            <a:pPr algn="ctr" defTabSz="914400">
              <a:lnSpc>
                <a:spcPct val="100000"/>
              </a:lnSpc>
            </a:pPr>
            <a:r>
              <a:rPr lang="en-US" sz="4400" b="1" strike="noStrike" spc="-1">
                <a:solidFill>
                  <a:srgbClr val="FFFFFF"/>
                </a:solidFill>
                <a:latin typeface="Cambria"/>
                <a:ea typeface="Cambria"/>
              </a:rPr>
              <a:t>75%</a:t>
            </a:r>
            <a:endParaRPr lang="en-US" sz="4400" b="0" strike="noStrike" spc="-1">
              <a:solidFill>
                <a:srgbClr val="FFFFFF"/>
              </a:solidFill>
              <a:latin typeface="Arial"/>
            </a:endParaRPr>
          </a:p>
        </p:txBody>
      </p:sp>
      <p:sp>
        <p:nvSpPr>
          <p:cNvPr id="247" name="Feedback A"/>
          <p:cNvSpPr/>
          <p:nvPr/>
        </p:nvSpPr>
        <p:spPr>
          <a:xfrm>
            <a:off x="825480" y="4622760"/>
            <a:ext cx="3249720" cy="1268640"/>
          </a:xfrm>
          <a:prstGeom prst="roundRect">
            <a:avLst>
              <a:gd name="adj" fmla="val 6000"/>
            </a:avLst>
          </a:prstGeom>
          <a:noFill/>
          <a:ln w="19050">
            <a:solidFill>
              <a:srgbClr val="5A6A8F"/>
            </a:solidFill>
            <a:round/>
          </a:ln>
        </p:spPr>
        <p:style>
          <a:lnRef idx="0">
            <a:scrgbClr r="0" g="0" b="0"/>
          </a:lnRef>
          <a:fillRef idx="0">
            <a:scrgbClr r="0" g="0" b="0"/>
          </a:fillRef>
          <a:effectRef idx="0">
            <a:scrgbClr r="0" g="0" b="0"/>
          </a:effectRef>
          <a:fontRef idx="minor"/>
        </p:style>
        <p:txBody>
          <a:bodyPr lIns="177840" tIns="177840" rIns="177840" bIns="177840" anchor="ctr">
            <a:noAutofit/>
          </a:bodyPr>
          <a:lstStyle/>
          <a:p>
            <a:pPr defTabSz="914400">
              <a:lnSpc>
                <a:spcPct val="100000"/>
              </a:lnSpc>
            </a:pPr>
            <a:r>
              <a:rPr lang="en-US" sz="1600" b="1" strike="noStrike" spc="-1">
                <a:solidFill>
                  <a:srgbClr val="FFFFFF"/>
                </a:solidFill>
                <a:latin typeface="Calibri"/>
                <a:ea typeface="Calibri"/>
              </a:rPr>
              <a:t>Too optimistic. </a:t>
            </a:r>
            <a:r>
              <a:rPr lang="en-US" sz="1600" b="0" strike="noStrike" spc="-1">
                <a:solidFill>
                  <a:srgbClr val="C5CEE0"/>
                </a:solidFill>
                <a:latin typeface="Calibri"/>
                <a:ea typeface="Calibri"/>
              </a:rPr>
              <a:t>Most people guess high. The real figure is far lower.</a:t>
            </a:r>
            <a:endParaRPr lang="en-US" sz="1600" b="0" strike="noStrike" spc="-1">
              <a:solidFill>
                <a:srgbClr val="FFFFFF"/>
              </a:solidFill>
              <a:latin typeface="Arial"/>
            </a:endParaRPr>
          </a:p>
        </p:txBody>
      </p:sp>
      <p:sp>
        <p:nvSpPr>
          <p:cNvPr id="248" name="Option B"/>
          <p:cNvSpPr/>
          <p:nvPr/>
        </p:nvSpPr>
        <p:spPr>
          <a:xfrm>
            <a:off x="4470480" y="2692440"/>
            <a:ext cx="3249720" cy="1497240"/>
          </a:xfrm>
          <a:prstGeom prst="roundRect">
            <a:avLst>
              <a:gd name="adj" fmla="val 6000"/>
            </a:avLst>
          </a:prstGeom>
          <a:solidFill>
            <a:srgbClr val="16264D"/>
          </a:solidFill>
          <a:ln w="0">
            <a:noFill/>
          </a:ln>
        </p:spPr>
        <p:style>
          <a:lnRef idx="0">
            <a:scrgbClr r="0" g="0" b="0"/>
          </a:lnRef>
          <a:fillRef idx="0">
            <a:scrgbClr r="0" g="0" b="0"/>
          </a:fillRef>
          <a:effectRef idx="0">
            <a:scrgbClr r="0" g="0" b="0"/>
          </a:effectRef>
          <a:fontRef idx="minor"/>
        </p:style>
        <p:txBody>
          <a:bodyPr lIns="177840" tIns="177840" rIns="177840" bIns="177840" anchor="ctr">
            <a:noAutofit/>
          </a:bodyPr>
          <a:lstStyle/>
          <a:p>
            <a:pPr algn="ctr" defTabSz="914400">
              <a:lnSpc>
                <a:spcPct val="100000"/>
              </a:lnSpc>
              <a:spcAft>
                <a:spcPts val="201"/>
              </a:spcAft>
            </a:pPr>
            <a:r>
              <a:rPr lang="en-US" sz="1600" b="1" strike="noStrike" spc="-1">
                <a:solidFill>
                  <a:srgbClr val="E8A33D"/>
                </a:solidFill>
                <a:latin typeface="Calibri"/>
                <a:ea typeface="Calibri"/>
              </a:rPr>
              <a:t>B</a:t>
            </a:r>
            <a:endParaRPr lang="en-US" sz="1600" b="0" strike="noStrike" spc="-1">
              <a:solidFill>
                <a:srgbClr val="FFFFFF"/>
              </a:solidFill>
              <a:latin typeface="Arial"/>
            </a:endParaRPr>
          </a:p>
          <a:p>
            <a:pPr algn="ctr" defTabSz="914400">
              <a:lnSpc>
                <a:spcPct val="100000"/>
              </a:lnSpc>
            </a:pPr>
            <a:r>
              <a:rPr lang="en-US" sz="4400" b="1" strike="noStrike" spc="-1">
                <a:solidFill>
                  <a:srgbClr val="FFFFFF"/>
                </a:solidFill>
                <a:latin typeface="Cambria"/>
                <a:ea typeface="Cambria"/>
              </a:rPr>
              <a:t>50%</a:t>
            </a:r>
            <a:endParaRPr lang="en-US" sz="4400" b="0" strike="noStrike" spc="-1">
              <a:solidFill>
                <a:srgbClr val="FFFFFF"/>
              </a:solidFill>
              <a:latin typeface="Arial"/>
            </a:endParaRPr>
          </a:p>
        </p:txBody>
      </p:sp>
      <p:sp>
        <p:nvSpPr>
          <p:cNvPr id="249" name="Feedback B"/>
          <p:cNvSpPr/>
          <p:nvPr/>
        </p:nvSpPr>
        <p:spPr>
          <a:xfrm>
            <a:off x="4470480" y="4622760"/>
            <a:ext cx="3249720" cy="1268640"/>
          </a:xfrm>
          <a:prstGeom prst="roundRect">
            <a:avLst>
              <a:gd name="adj" fmla="val 6000"/>
            </a:avLst>
          </a:prstGeom>
          <a:noFill/>
          <a:ln w="19050">
            <a:solidFill>
              <a:srgbClr val="5A6A8F"/>
            </a:solidFill>
            <a:round/>
          </a:ln>
        </p:spPr>
        <p:style>
          <a:lnRef idx="0">
            <a:scrgbClr r="0" g="0" b="0"/>
          </a:lnRef>
          <a:fillRef idx="0">
            <a:scrgbClr r="0" g="0" b="0"/>
          </a:fillRef>
          <a:effectRef idx="0">
            <a:scrgbClr r="0" g="0" b="0"/>
          </a:effectRef>
          <a:fontRef idx="minor"/>
        </p:style>
        <p:txBody>
          <a:bodyPr lIns="177840" tIns="177840" rIns="177840" bIns="177840" anchor="ctr">
            <a:noAutofit/>
          </a:bodyPr>
          <a:lstStyle/>
          <a:p>
            <a:pPr defTabSz="914400">
              <a:lnSpc>
                <a:spcPct val="100000"/>
              </a:lnSpc>
            </a:pPr>
            <a:r>
              <a:rPr lang="en-US" sz="1600" b="1" strike="noStrike" spc="-1">
                <a:solidFill>
                  <a:srgbClr val="FFFFFF"/>
                </a:solidFill>
                <a:latin typeface="Calibri"/>
                <a:ea typeface="Calibri"/>
              </a:rPr>
              <a:t>Lower still. </a:t>
            </a:r>
            <a:r>
              <a:rPr lang="en-US" sz="1600" b="0" strike="noStrike" spc="-1">
                <a:solidFill>
                  <a:srgbClr val="C5CEE0"/>
                </a:solidFill>
                <a:latin typeface="Calibri"/>
                <a:ea typeface="Calibri"/>
              </a:rPr>
              <a:t>50% is a coin flip. The model did worse than that.</a:t>
            </a:r>
            <a:endParaRPr lang="en-US" sz="1600" b="0" strike="noStrike" spc="-1">
              <a:solidFill>
                <a:srgbClr val="FFFFFF"/>
              </a:solidFill>
              <a:latin typeface="Arial"/>
            </a:endParaRPr>
          </a:p>
        </p:txBody>
      </p:sp>
      <p:sp>
        <p:nvSpPr>
          <p:cNvPr id="250" name="Option C"/>
          <p:cNvSpPr/>
          <p:nvPr/>
        </p:nvSpPr>
        <p:spPr>
          <a:xfrm>
            <a:off x="8115480" y="2692440"/>
            <a:ext cx="3249720" cy="1497240"/>
          </a:xfrm>
          <a:prstGeom prst="roundRect">
            <a:avLst>
              <a:gd name="adj" fmla="val 6000"/>
            </a:avLst>
          </a:prstGeom>
          <a:solidFill>
            <a:srgbClr val="16264D"/>
          </a:solidFill>
          <a:ln w="0">
            <a:noFill/>
          </a:ln>
        </p:spPr>
        <p:style>
          <a:lnRef idx="0">
            <a:scrgbClr r="0" g="0" b="0"/>
          </a:lnRef>
          <a:fillRef idx="0">
            <a:scrgbClr r="0" g="0" b="0"/>
          </a:fillRef>
          <a:effectRef idx="0">
            <a:scrgbClr r="0" g="0" b="0"/>
          </a:effectRef>
          <a:fontRef idx="minor"/>
        </p:style>
        <p:txBody>
          <a:bodyPr lIns="177840" tIns="177840" rIns="177840" bIns="177840" anchor="ctr">
            <a:noAutofit/>
          </a:bodyPr>
          <a:lstStyle/>
          <a:p>
            <a:pPr algn="ctr" defTabSz="914400">
              <a:lnSpc>
                <a:spcPct val="100000"/>
              </a:lnSpc>
              <a:spcAft>
                <a:spcPts val="201"/>
              </a:spcAft>
            </a:pPr>
            <a:r>
              <a:rPr lang="en-US" sz="1600" b="1" strike="noStrike" spc="-1">
                <a:solidFill>
                  <a:srgbClr val="E8A33D"/>
                </a:solidFill>
                <a:latin typeface="Calibri"/>
                <a:ea typeface="Calibri"/>
              </a:rPr>
              <a:t>C</a:t>
            </a:r>
            <a:endParaRPr lang="en-US" sz="1600" b="0" strike="noStrike" spc="-1">
              <a:solidFill>
                <a:srgbClr val="FFFFFF"/>
              </a:solidFill>
              <a:latin typeface="Arial"/>
            </a:endParaRPr>
          </a:p>
          <a:p>
            <a:pPr algn="ctr" defTabSz="914400">
              <a:lnSpc>
                <a:spcPct val="100000"/>
              </a:lnSpc>
            </a:pPr>
            <a:r>
              <a:rPr lang="en-US" sz="4400" b="1" strike="noStrike" spc="-1">
                <a:solidFill>
                  <a:srgbClr val="FFFFFF"/>
                </a:solidFill>
                <a:latin typeface="Cambria"/>
                <a:ea typeface="Cambria"/>
              </a:rPr>
              <a:t>23%</a:t>
            </a:r>
            <a:endParaRPr lang="en-US" sz="4400" b="0" strike="noStrike" spc="-1">
              <a:solidFill>
                <a:srgbClr val="FFFFFF"/>
              </a:solidFill>
              <a:latin typeface="Arial"/>
            </a:endParaRPr>
          </a:p>
        </p:txBody>
      </p:sp>
      <p:sp>
        <p:nvSpPr>
          <p:cNvPr id="251" name="Feedback C"/>
          <p:cNvSpPr/>
          <p:nvPr/>
        </p:nvSpPr>
        <p:spPr>
          <a:xfrm>
            <a:off x="8115480" y="4622760"/>
            <a:ext cx="3249720" cy="1268640"/>
          </a:xfrm>
          <a:prstGeom prst="roundRect">
            <a:avLst>
              <a:gd name="adj" fmla="val 6000"/>
            </a:avLst>
          </a:prstGeom>
          <a:noFill/>
          <a:ln w="19050">
            <a:solidFill>
              <a:srgbClr val="E8A33D"/>
            </a:solidFill>
            <a:round/>
          </a:ln>
        </p:spPr>
        <p:style>
          <a:lnRef idx="0">
            <a:scrgbClr r="0" g="0" b="0"/>
          </a:lnRef>
          <a:fillRef idx="0">
            <a:scrgbClr r="0" g="0" b="0"/>
          </a:fillRef>
          <a:effectRef idx="0">
            <a:scrgbClr r="0" g="0" b="0"/>
          </a:effectRef>
          <a:fontRef idx="minor"/>
        </p:style>
        <p:txBody>
          <a:bodyPr lIns="177840" tIns="177840" rIns="177840" bIns="177840" anchor="ctr">
            <a:noAutofit/>
          </a:bodyPr>
          <a:lstStyle/>
          <a:p>
            <a:pPr defTabSz="914400">
              <a:lnSpc>
                <a:spcPct val="100000"/>
              </a:lnSpc>
            </a:pPr>
            <a:r>
              <a:rPr lang="en-US" sz="1600" b="1" strike="noStrike" spc="-1">
                <a:solidFill>
                  <a:srgbClr val="E8A33D"/>
                </a:solidFill>
                <a:latin typeface="Calibri"/>
                <a:ea typeface="Calibri"/>
              </a:rPr>
              <a:t>Correct. </a:t>
            </a:r>
            <a:r>
              <a:rPr lang="en-US" sz="1600" b="0" strike="noStrike" spc="-1">
                <a:solidFill>
                  <a:srgbClr val="FFFFFF"/>
                </a:solidFill>
                <a:latin typeface="Calibri"/>
                <a:ea typeface="Calibri"/>
              </a:rPr>
              <a:t>22.7%: the forecast was worse than a coin flip.</a:t>
            </a:r>
            <a:endParaRPr lang="en-US" sz="1600" b="0" strike="noStrike" spc="-1">
              <a:solidFill>
                <a:srgbClr val="FFFFFF"/>
              </a:solidFill>
              <a:latin typeface="Arial"/>
            </a:endParaRPr>
          </a:p>
        </p:txBody>
      </p:sp>
      <p:sp>
        <p:nvSpPr>
          <p:cNvPr id="252" name="Text 15"/>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7F8DB0"/>
                </a:solidFill>
                <a:latin typeface="Calibri"/>
                <a:ea typeface="Calibri"/>
              </a:rPr>
              <a:t>10</a:t>
            </a:r>
            <a:endParaRPr lang="en-US" sz="1200" b="0" strike="noStrike" spc="-1">
              <a:solidFill>
                <a:srgbClr val="FFFFFF"/>
              </a:solidFill>
              <a:latin typeface="Arial"/>
            </a:endParaRPr>
          </a:p>
        </p:txBody>
      </p:sp>
    </p:spTree>
  </p:cSld>
  <p:clrMapOvr>
    <a:masterClrMapping/>
  </p:clrMapOvr>
  <p:transition spd="med">
    <p:fade/>
  </p:transition>
  <p:timing>
    <p:tnLst>
      <p:par>
        <p:cTn id="1" dur="indefinite" restart="never" nodeType="tmRoot">
          <p:childTnLst>
            <p:seq>
              <p:cTn id="2" restart="whenNotActive" fill="hold" nodeType="interactiveSeq">
                <p:stCondLst>
                  <p:cond evt="onClick" delay="0">
                    <p:tgtEl>
                      <p:spTgt spid="246"/>
                    </p:tgtEl>
                  </p:cond>
                </p:stCondLst>
                <p:childTnLst>
                  <p:par>
                    <p:cTn id="3" fill="hold">
                      <p:stCondLst>
                        <p:cond evt="onClick" delay="0">
                          <p:tgtEl>
                            <p:spTgt spid="246"/>
                          </p:tgtEl>
                        </p:cond>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additive="repl">
                                        <p:cTn id="7" dur="5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seq>
              <p:cTn id="8" restart="whenNotActive" fill="hold" nodeType="interactiveSeq">
                <p:stCondLst>
                  <p:cond evt="onClick" delay="0">
                    <p:tgtEl>
                      <p:spTgt spid="248"/>
                    </p:tgtEl>
                  </p:cond>
                </p:stCondLst>
                <p:childTnLst>
                  <p:par>
                    <p:cTn id="9" fill="hold">
                      <p:stCondLst>
                        <p:cond evt="onClick" delay="0">
                          <p:tgtEl>
                            <p:spTgt spid="248"/>
                          </p:tgtEl>
                        </p:cond>
                      </p:stCondLst>
                      <p:childTnLst>
                        <p:par>
                          <p:cTn id="10" fill="hold">
                            <p:stCondLst>
                              <p:cond delay="0"/>
                            </p:stCondLst>
                            <p:childTnLst>
                              <p:par>
                                <p:cTn id="11" presetID="10" presetClass="entr" fill="hold" nodeType="clickEffect">
                                  <p:stCondLst>
                                    <p:cond delay="0"/>
                                  </p:stCondLst>
                                  <p:childTnLst>
                                    <p:set>
                                      <p:cBhvr>
                                        <p:cTn id="12" dur="1" fill="hold">
                                          <p:stCondLst>
                                            <p:cond delay="0"/>
                                          </p:stCondLst>
                                        </p:cTn>
                                        <p:tgtEl>
                                          <p:spTgt spid="249"/>
                                        </p:tgtEl>
                                        <p:attrNameLst>
                                          <p:attrName>style.visibility</p:attrName>
                                        </p:attrNameLst>
                                      </p:cBhvr>
                                      <p:to>
                                        <p:strVal val="visible"/>
                                      </p:to>
                                    </p:set>
                                    <p:animEffect transition="in" filter="fade">
                                      <p:cBhvr additive="repl">
                                        <p:cTn id="13" dur="500"/>
                                        <p:tgtEl>
                                          <p:spTgt spid="249"/>
                                        </p:tgtEl>
                                      </p:cBhvr>
                                    </p:animEffect>
                                  </p:childTnLst>
                                </p:cTn>
                              </p:par>
                            </p:childTnLst>
                          </p:cTn>
                        </p:par>
                      </p:childTnLst>
                    </p:cTn>
                  </p:par>
                </p:childTnLst>
              </p:cTn>
              <p:prevCondLst>
                <p:cond evt="onPrev" delay="0">
                  <p:tgtEl>
                    <p:sldTgt/>
                  </p:tgtEl>
                </p:cond>
              </p:prevCondLst>
              <p:nextCondLst>
                <p:cond evt="onNext" delay="0">
                  <p:tgtEl>
                    <p:sldTgt/>
                  </p:tgtEl>
                </p:cond>
              </p:nextCondLst>
            </p:seq>
            <p:seq>
              <p:cTn id="14" restart="whenNotActive" fill="hold" nodeType="interactiveSeq">
                <p:stCondLst>
                  <p:cond evt="onClick" delay="0">
                    <p:tgtEl>
                      <p:spTgt spid="250"/>
                    </p:tgtEl>
                  </p:cond>
                </p:stCondLst>
                <p:childTnLst>
                  <p:par>
                    <p:cTn id="15" fill="hold">
                      <p:stCondLst>
                        <p:cond evt="onClick" delay="0">
                          <p:tgtEl>
                            <p:spTgt spid="250"/>
                          </p:tgtEl>
                        </p:cond>
                      </p:stCondLst>
                      <p:childTnLst>
                        <p:par>
                          <p:cTn id="16" fill="hold">
                            <p:stCondLst>
                              <p:cond delay="0"/>
                            </p:stCondLst>
                            <p:childTnLst>
                              <p:par>
                                <p:cTn id="17" presetID="10" presetClass="entr" fill="hold" nodeType="clickEffect">
                                  <p:stCondLst>
                                    <p:cond delay="0"/>
                                  </p:stCondLst>
                                  <p:childTnLst>
                                    <p:set>
                                      <p:cBhvr>
                                        <p:cTn id="18" dur="1" fill="hold">
                                          <p:stCondLst>
                                            <p:cond delay="0"/>
                                          </p:stCondLst>
                                        </p:cTn>
                                        <p:tgtEl>
                                          <p:spTgt spid="251"/>
                                        </p:tgtEl>
                                        <p:attrNameLst>
                                          <p:attrName>style.visibility</p:attrName>
                                        </p:attrNameLst>
                                      </p:cBhvr>
                                      <p:to>
                                        <p:strVal val="visible"/>
                                      </p:to>
                                    </p:set>
                                    <p:animEffect transition="in" filter="fade">
                                      <p:cBhvr additive="repl">
                                        <p:cTn id="19" dur="500"/>
                                        <p:tgtEl>
                                          <p:spTgt spid="251"/>
                                        </p:tgtEl>
                                      </p:cBhvr>
                                    </p:animEffect>
                                  </p:childTnLst>
                                </p:cTn>
                              </p:par>
                              <p:par>
                                <p:cTn id="20" presetID="6" presetClass="emph" autoRev="1" fill="hold" nodeType="withEffect">
                                  <p:stCondLst>
                                    <p:cond delay="0"/>
                                  </p:stCondLst>
                                  <p:childTnLst>
                                    <p:animScale>
                                      <p:cBhvr>
                                        <p:cTn id="21" dur="300" fill="hold"/>
                                        <p:tgtEl>
                                          <p:spTgt spid="250"/>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Shape 0"/>
          <p:cNvSpPr/>
          <p:nvPr/>
        </p:nvSpPr>
        <p:spPr>
          <a:xfrm>
            <a:off x="697320" y="468720"/>
            <a:ext cx="752760" cy="752760"/>
          </a:xfrm>
          <a:prstGeom prst="ellipse">
            <a:avLst/>
          </a:prstGeom>
          <a:solidFill>
            <a:srgbClr val="0F1B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54" name="Shape 1"/>
          <p:cNvSpPr/>
          <p:nvPr/>
        </p:nvSpPr>
        <p:spPr>
          <a:xfrm>
            <a:off x="822960" y="594360"/>
            <a:ext cx="501120" cy="501120"/>
          </a:xfrm>
          <a:prstGeom prst="ellipse">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255" name="Image 0" descr="preencoded.png"/>
          <p:cNvPicPr/>
          <p:nvPr/>
        </p:nvPicPr>
        <p:blipFill>
          <a:blip r:embed="rId3"/>
          <a:stretch/>
        </p:blipFill>
        <p:spPr>
          <a:xfrm>
            <a:off x="969120" y="740520"/>
            <a:ext cx="208440" cy="208440"/>
          </a:xfrm>
          <a:prstGeom prst="rect">
            <a:avLst/>
          </a:prstGeom>
          <a:ln w="0">
            <a:noFill/>
          </a:ln>
        </p:spPr>
      </p:pic>
      <p:sp>
        <p:nvSpPr>
          <p:cNvPr id="256" name="Text 2"/>
          <p:cNvSpPr/>
          <p:nvPr/>
        </p:nvSpPr>
        <p:spPr>
          <a:xfrm>
            <a:off x="1481400" y="713160"/>
            <a:ext cx="427752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0F1B3D"/>
                </a:solidFill>
                <a:latin typeface="Calibri"/>
                <a:ea typeface="Calibri"/>
              </a:rPr>
              <a:t>VALUE FORECAST VALIDATION</a:t>
            </a:r>
            <a:endParaRPr lang="en-US" sz="1400" b="0" strike="noStrike" spc="-1">
              <a:solidFill>
                <a:srgbClr val="000000"/>
              </a:solidFill>
              <a:latin typeface="Arial"/>
            </a:endParaRPr>
          </a:p>
        </p:txBody>
      </p:sp>
      <p:sp>
        <p:nvSpPr>
          <p:cNvPr id="257" name="Text 3"/>
          <p:cNvSpPr/>
          <p:nvPr/>
        </p:nvSpPr>
        <p:spPr>
          <a:xfrm>
            <a:off x="822960" y="1188720"/>
            <a:ext cx="493596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1A1A1A"/>
                </a:solidFill>
                <a:latin typeface="Cambria"/>
                <a:ea typeface="Cambria"/>
              </a:rPr>
              <a:t>The value forecast is worse than a coin flip</a:t>
            </a:r>
            <a:endParaRPr lang="en-US" sz="1800" b="0" strike="noStrike" spc="-1">
              <a:solidFill>
                <a:srgbClr val="000000"/>
              </a:solidFill>
              <a:latin typeface="Arial"/>
            </a:endParaRPr>
          </a:p>
        </p:txBody>
      </p:sp>
      <p:sp>
        <p:nvSpPr>
          <p:cNvPr id="258" name="Shape 4"/>
          <p:cNvSpPr/>
          <p:nvPr/>
        </p:nvSpPr>
        <p:spPr>
          <a:xfrm>
            <a:off x="822960" y="2057400"/>
            <a:ext cx="4935960" cy="894240"/>
          </a:xfrm>
          <a:prstGeom prst="roundRect">
            <a:avLst>
              <a:gd name="adj" fmla="val 7143"/>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59" name="Text 5"/>
          <p:cNvSpPr/>
          <p:nvPr/>
        </p:nvSpPr>
        <p:spPr>
          <a:xfrm>
            <a:off x="1024200" y="2148840"/>
            <a:ext cx="4533480" cy="22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89">
                <a:solidFill>
                  <a:srgbClr val="E8A33D"/>
                </a:solidFill>
                <a:latin typeface="Calibri"/>
                <a:ea typeface="Calibri"/>
              </a:rPr>
              <a:t>HYPOTHESIS</a:t>
            </a:r>
            <a:endParaRPr lang="en-US" sz="1200" b="0" strike="noStrike" spc="-1">
              <a:solidFill>
                <a:srgbClr val="000000"/>
              </a:solidFill>
              <a:latin typeface="Arial"/>
            </a:endParaRPr>
          </a:p>
        </p:txBody>
      </p:sp>
      <p:sp>
        <p:nvSpPr>
          <p:cNvPr id="260" name="Text 6"/>
          <p:cNvSpPr/>
          <p:nvPr/>
        </p:nvSpPr>
        <p:spPr>
          <a:xfrm>
            <a:off x="1024200" y="2377440"/>
            <a:ext cx="453348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strike="noStrike" spc="-1">
                <a:solidFill>
                  <a:srgbClr val="FFFFFF"/>
                </a:solidFill>
                <a:latin typeface="Calibri"/>
                <a:ea typeface="Calibri"/>
              </a:rPr>
              <a:t>A player's market value trend can be forecast from historical valuation snapshots alone.</a:t>
            </a:r>
            <a:endParaRPr lang="en-US" sz="1400" b="0" strike="noStrike" spc="-1">
              <a:solidFill>
                <a:srgbClr val="000000"/>
              </a:solidFill>
              <a:latin typeface="Arial"/>
            </a:endParaRPr>
          </a:p>
        </p:txBody>
      </p:sp>
      <p:sp>
        <p:nvSpPr>
          <p:cNvPr id="261" name="Shape 7"/>
          <p:cNvSpPr/>
          <p:nvPr/>
        </p:nvSpPr>
        <p:spPr>
          <a:xfrm>
            <a:off x="822960" y="3154680"/>
            <a:ext cx="4935960" cy="418680"/>
          </a:xfrm>
          <a:prstGeom prst="roundRect">
            <a:avLst>
              <a:gd name="adj" fmla="val 50000"/>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262" name="Image 1" descr="preencoded.png"/>
          <p:cNvPicPr/>
          <p:nvPr/>
        </p:nvPicPr>
        <p:blipFill>
          <a:blip r:embed="rId4"/>
          <a:stretch/>
        </p:blipFill>
        <p:spPr>
          <a:xfrm>
            <a:off x="969120" y="3255120"/>
            <a:ext cx="217800" cy="217800"/>
          </a:xfrm>
          <a:prstGeom prst="rect">
            <a:avLst/>
          </a:prstGeom>
          <a:ln w="0">
            <a:noFill/>
          </a:ln>
        </p:spPr>
      </p:pic>
      <p:sp>
        <p:nvSpPr>
          <p:cNvPr id="263" name="Text 8"/>
          <p:cNvSpPr/>
          <p:nvPr/>
        </p:nvSpPr>
        <p:spPr>
          <a:xfrm>
            <a:off x="1280160" y="3154680"/>
            <a:ext cx="4387320" cy="41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FFFFFF"/>
                </a:solidFill>
                <a:latin typeface="Calibri"/>
                <a:ea typeface="Calibri"/>
              </a:rPr>
              <a:t>NOT RELIABLE: worse than a coin flip</a:t>
            </a:r>
            <a:endParaRPr lang="en-US" sz="1350" b="0" strike="noStrike" spc="-1">
              <a:solidFill>
                <a:srgbClr val="000000"/>
              </a:solidFill>
              <a:latin typeface="Arial"/>
            </a:endParaRPr>
          </a:p>
        </p:txBody>
      </p:sp>
      <p:sp>
        <p:nvSpPr>
          <p:cNvPr id="264" name="Text 9"/>
          <p:cNvSpPr/>
          <p:nvPr/>
        </p:nvSpPr>
        <p:spPr>
          <a:xfrm>
            <a:off x="1152000" y="375920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Backtested on 150 players: forecast gets the direction right only 22.7% of the time.</a:t>
            </a:r>
            <a:endParaRPr lang="en-US" sz="1400" b="0" strike="noStrike" spc="-1">
              <a:solidFill>
                <a:srgbClr val="000000"/>
              </a:solidFill>
              <a:latin typeface="Arial"/>
            </a:endParaRPr>
          </a:p>
        </p:txBody>
      </p:sp>
      <p:sp>
        <p:nvSpPr>
          <p:cNvPr id="265" name="Text 10"/>
          <p:cNvSpPr/>
          <p:nvPr/>
        </p:nvSpPr>
        <p:spPr>
          <a:xfrm>
            <a:off x="1152000" y="4394200"/>
            <a:ext cx="4606920" cy="73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A coin flip would score about 50%. This model is confidently wrong, not just noisy: it called “rising” 91% of the time while 80% of outcomes actually fell.</a:t>
            </a:r>
            <a:endParaRPr lang="en-US" sz="1400" b="0" strike="noStrike" spc="-1">
              <a:solidFill>
                <a:srgbClr val="000000"/>
              </a:solidFill>
              <a:latin typeface="Arial"/>
            </a:endParaRPr>
          </a:p>
        </p:txBody>
      </p:sp>
      <p:sp>
        <p:nvSpPr>
          <p:cNvPr id="266" name="Text 11"/>
          <p:cNvSpPr/>
          <p:nvPr/>
        </p:nvSpPr>
        <p:spPr>
          <a:xfrm>
            <a:off x="1152000" y="5257800"/>
            <a:ext cx="4606920" cy="52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1A1A1A"/>
                </a:solidFill>
                <a:latin typeface="Calibri"/>
                <a:ea typeface="Calibri"/>
              </a:rPr>
              <a:t>Magnitude error is high too: 149% median error against real held-out values.</a:t>
            </a:r>
            <a:endParaRPr lang="en-US" sz="1400" b="0" strike="noStrike" spc="-1">
              <a:solidFill>
                <a:srgbClr val="000000"/>
              </a:solidFill>
              <a:latin typeface="Arial"/>
            </a:endParaRPr>
          </a:p>
        </p:txBody>
      </p:sp>
      <p:sp>
        <p:nvSpPr>
          <p:cNvPr id="267" name="Shape 12"/>
          <p:cNvSpPr/>
          <p:nvPr/>
        </p:nvSpPr>
        <p:spPr>
          <a:xfrm>
            <a:off x="6217920" y="594360"/>
            <a:ext cx="5146200" cy="5621760"/>
          </a:xfrm>
          <a:prstGeom prst="roundRect">
            <a:avLst>
              <a:gd name="adj" fmla="val 1599"/>
            </a:avLst>
          </a:prstGeom>
          <a:solidFill>
            <a:srgbClr val="FFFFFF"/>
          </a:solidFill>
          <a:ln w="0">
            <a:noFill/>
          </a:ln>
          <a:effectLst>
            <a:outerShdw blurRad="101520" dist="38160" dir="5400000" algn="bl" rotWithShape="0">
              <a:srgbClr val="8C93A6">
                <a:alpha val="2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68" name="Text 13"/>
          <p:cNvSpPr/>
          <p:nvPr/>
        </p:nvSpPr>
        <p:spPr>
          <a:xfrm>
            <a:off x="6537960" y="822960"/>
            <a:ext cx="450612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1A1A"/>
                </a:solidFill>
                <a:latin typeface="Calibri"/>
                <a:ea typeface="Calibri"/>
              </a:rPr>
              <a:t>Directional accuracy vs. a coin-flip baseline (%)</a:t>
            </a:r>
            <a:endParaRPr lang="en-US" sz="1350" b="0" strike="noStrike" spc="-1">
              <a:solidFill>
                <a:srgbClr val="000000"/>
              </a:solidFill>
              <a:latin typeface="Arial"/>
            </a:endParaRPr>
          </a:p>
        </p:txBody>
      </p:sp>
      <p:sp>
        <p:nvSpPr>
          <p:cNvPr id="269" name="Text 14"/>
          <p:cNvSpPr/>
          <p:nvPr/>
        </p:nvSpPr>
        <p:spPr>
          <a:xfrm>
            <a:off x="6537960" y="5029200"/>
            <a:ext cx="4506120" cy="95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00" b="0" i="1" strike="noStrike" spc="-1">
                <a:solidFill>
                  <a:srgbClr val="6B7280"/>
                </a:solidFill>
                <a:latin typeface="Calibri"/>
                <a:ea typeface="Calibri"/>
              </a:rPr>
              <a:t>n = 150 players sampled from 1,518 eligible (6+ valuation snapshots). Prophet model, log-space fit, last 2 snapshots per player held out.</a:t>
            </a:r>
            <a:endParaRPr lang="en-US" sz="1300" b="0" strike="noStrike" spc="-1">
              <a:solidFill>
                <a:srgbClr val="000000"/>
              </a:solidFill>
              <a:latin typeface="Arial"/>
            </a:endParaRPr>
          </a:p>
        </p:txBody>
      </p:sp>
      <p:sp>
        <p:nvSpPr>
          <p:cNvPr id="270" name="Text 15"/>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A3A9B5"/>
                </a:solidFill>
                <a:latin typeface="Calibri"/>
                <a:ea typeface="Calibri"/>
              </a:rPr>
              <a:t>11</a:t>
            </a:r>
            <a:endParaRPr lang="en-US" sz="1000" b="0" strike="noStrike" spc="-1">
              <a:solidFill>
                <a:srgbClr val="000000"/>
              </a:solidFill>
              <a:latin typeface="Arial"/>
            </a:endParaRPr>
          </a:p>
        </p:txBody>
      </p:sp>
      <p:sp>
        <p:nvSpPr>
          <p:cNvPr id="271" name="TextBox 25"/>
          <p:cNvSpPr/>
          <p:nvPr/>
        </p:nvSpPr>
        <p:spPr>
          <a:xfrm>
            <a:off x="822960" y="5892800"/>
            <a:ext cx="5143500" cy="50783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100" b="1" i="1" strike="noStrike" spc="-1">
                <a:solidFill>
                  <a:srgbClr val="44506B"/>
                </a:solidFill>
                <a:latin typeface="Calibri"/>
              </a:rPr>
              <a:t>Term check: </a:t>
            </a:r>
            <a:r>
              <a:rPr lang="en-US" sz="1100" b="0" i="1" strike="noStrike" spc="-1">
                <a:solidFill>
                  <a:srgbClr val="44506B"/>
                </a:solidFill>
                <a:latin typeface="Calibri"/>
              </a:rPr>
              <a:t>“directional accuracy” = did the forecast get up-vs-down right (not the exact number). “Backtested” = tested against real past outcomes the model never saw during training.</a:t>
            </a:r>
            <a:endParaRPr lang="en-US" sz="1100" b="0" strike="noStrike" spc="-1">
              <a:solidFill>
                <a:srgbClr val="000000"/>
              </a:solidFill>
              <a:latin typeface="Arial"/>
            </a:endParaRPr>
          </a:p>
        </p:txBody>
      </p:sp>
      <p:graphicFrame>
        <p:nvGraphicFramePr>
          <p:cNvPr id="272" name="Chart 26"/>
          <p:cNvGraphicFramePr/>
          <p:nvPr/>
        </p:nvGraphicFramePr>
        <p:xfrm>
          <a:off x="6537960" y="1280160"/>
          <a:ext cx="4506120" cy="3564360"/>
        </p:xfrm>
        <a:graphic>
          <a:graphicData uri="http://schemas.openxmlformats.org/drawingml/2006/chart">
            <c:chart xmlns:c="http://schemas.openxmlformats.org/drawingml/2006/chart" xmlns:r="http://schemas.openxmlformats.org/officeDocument/2006/relationships" r:id="rId5"/>
          </a:graphicData>
        </a:graphic>
      </p:graphicFrame>
      <p:pic>
        <p:nvPicPr>
          <p:cNvPr id="273" name="Copied Picture 251" descr="preencoded.png"/>
          <p:cNvPicPr/>
          <p:nvPr/>
        </p:nvPicPr>
        <p:blipFill>
          <a:blip r:embed="rId6"/>
          <a:stretch/>
        </p:blipFill>
        <p:spPr>
          <a:xfrm>
            <a:off x="825480" y="3810000"/>
            <a:ext cx="252360" cy="252360"/>
          </a:xfrm>
          <a:prstGeom prst="rect">
            <a:avLst/>
          </a:prstGeom>
          <a:ln w="0">
            <a:noFill/>
          </a:ln>
        </p:spPr>
      </p:pic>
      <p:pic>
        <p:nvPicPr>
          <p:cNvPr id="274" name="Copied Picture 252" descr="preencoded.png"/>
          <p:cNvPicPr/>
          <p:nvPr/>
        </p:nvPicPr>
        <p:blipFill>
          <a:blip r:embed="rId6"/>
          <a:stretch/>
        </p:blipFill>
        <p:spPr>
          <a:xfrm>
            <a:off x="825480" y="4343400"/>
            <a:ext cx="252360" cy="252360"/>
          </a:xfrm>
          <a:prstGeom prst="rect">
            <a:avLst/>
          </a:prstGeom>
          <a:ln w="0">
            <a:noFill/>
          </a:ln>
        </p:spPr>
      </p:pic>
      <p:pic>
        <p:nvPicPr>
          <p:cNvPr id="275" name="Copied Picture 253" descr="preencoded.png"/>
          <p:cNvPicPr/>
          <p:nvPr/>
        </p:nvPicPr>
        <p:blipFill>
          <a:blip r:embed="rId6"/>
          <a:stretch/>
        </p:blipFill>
        <p:spPr>
          <a:xfrm>
            <a:off x="825480" y="5308600"/>
            <a:ext cx="252360" cy="252360"/>
          </a:xfrm>
          <a:prstGeom prst="rect">
            <a:avLst/>
          </a:prstGeom>
          <a:ln w="0">
            <a:noFill/>
          </a:ln>
        </p:spPr>
      </p:pic>
    </p:spTree>
    <p:extLst>
      <p:ext uri="{BB962C8B-B14F-4D97-AF65-F5344CB8AC3E}">
        <p14:creationId xmlns:p14="http://schemas.microsoft.com/office/powerpoint/2010/main" val="969053152"/>
      </p:ext>
    </p:extLst>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additive="repl">
                                        <p:cTn id="7" dur="500"/>
                                        <p:tgtEl>
                                          <p:spTgt spid="258"/>
                                        </p:tgtEl>
                                      </p:cBhvr>
                                    </p:animEffect>
                                  </p:childTnLst>
                                </p:cTn>
                              </p:par>
                              <p:par>
                                <p:cTn id="8" presetID="10" presetClass="entr" fill="hold" nodeType="withEffect">
                                  <p:stCondLst>
                                    <p:cond delay="0"/>
                                  </p:stCondLst>
                                  <p:childTnLst>
                                    <p:set>
                                      <p:cBhvr>
                                        <p:cTn id="9" dur="1" fill="hold">
                                          <p:stCondLst>
                                            <p:cond delay="0"/>
                                          </p:stCondLst>
                                        </p:cTn>
                                        <p:tgtEl>
                                          <p:spTgt spid="259"/>
                                        </p:tgtEl>
                                        <p:attrNameLst>
                                          <p:attrName>style.visibility</p:attrName>
                                        </p:attrNameLst>
                                      </p:cBhvr>
                                      <p:to>
                                        <p:strVal val="visible"/>
                                      </p:to>
                                    </p:set>
                                    <p:animEffect transition="in" filter="fade">
                                      <p:cBhvr additive="repl">
                                        <p:cTn id="10" dur="500"/>
                                        <p:tgtEl>
                                          <p:spTgt spid="259"/>
                                        </p:tgtEl>
                                      </p:cBhvr>
                                    </p:animEffect>
                                  </p:childTnLst>
                                </p:cTn>
                              </p:par>
                              <p:par>
                                <p:cTn id="11" presetID="10" presetClass="entr" fill="hold" nodeType="withEffect">
                                  <p:stCondLst>
                                    <p:cond delay="0"/>
                                  </p:stCondLst>
                                  <p:childTnLst>
                                    <p:set>
                                      <p:cBhvr>
                                        <p:cTn id="12" dur="1" fill="hold">
                                          <p:stCondLst>
                                            <p:cond delay="0"/>
                                          </p:stCondLst>
                                        </p:cTn>
                                        <p:tgtEl>
                                          <p:spTgt spid="260"/>
                                        </p:tgtEl>
                                        <p:attrNameLst>
                                          <p:attrName>style.visibility</p:attrName>
                                        </p:attrNameLst>
                                      </p:cBhvr>
                                      <p:to>
                                        <p:strVal val="visible"/>
                                      </p:to>
                                    </p:set>
                                    <p:animEffect transition="in" filter="fade">
                                      <p:cBhvr additive="repl">
                                        <p:cTn id="13" dur="500"/>
                                        <p:tgtEl>
                                          <p:spTgt spid="26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fill="hold" nodeType="clickEffect">
                                  <p:stCondLst>
                                    <p:cond delay="0"/>
                                  </p:stCondLst>
                                  <p:childTnLst>
                                    <p:set>
                                      <p:cBhvr>
                                        <p:cTn id="17" dur="1" fill="hold">
                                          <p:stCondLst>
                                            <p:cond delay="0"/>
                                          </p:stCondLst>
                                        </p:cTn>
                                        <p:tgtEl>
                                          <p:spTgt spid="267"/>
                                        </p:tgtEl>
                                        <p:attrNameLst>
                                          <p:attrName>style.visibility</p:attrName>
                                        </p:attrNameLst>
                                      </p:cBhvr>
                                      <p:to>
                                        <p:strVal val="visible"/>
                                      </p:to>
                                    </p:set>
                                    <p:animEffect transition="in" filter="fade">
                                      <p:cBhvr additive="repl">
                                        <p:cTn id="18" dur="500"/>
                                        <p:tgtEl>
                                          <p:spTgt spid="267"/>
                                        </p:tgtEl>
                                      </p:cBhvr>
                                    </p:animEffect>
                                  </p:childTnLst>
                                </p:cTn>
                              </p:par>
                              <p:par>
                                <p:cTn id="19" presetID="10" presetClass="entr" fill="hold" nodeType="withEffect">
                                  <p:stCondLst>
                                    <p:cond delay="0"/>
                                  </p:stCondLst>
                                  <p:childTnLst>
                                    <p:set>
                                      <p:cBhvr>
                                        <p:cTn id="20" dur="1" fill="hold">
                                          <p:stCondLst>
                                            <p:cond delay="0"/>
                                          </p:stCondLst>
                                        </p:cTn>
                                        <p:tgtEl>
                                          <p:spTgt spid="268"/>
                                        </p:tgtEl>
                                        <p:attrNameLst>
                                          <p:attrName>style.visibility</p:attrName>
                                        </p:attrNameLst>
                                      </p:cBhvr>
                                      <p:to>
                                        <p:strVal val="visible"/>
                                      </p:to>
                                    </p:set>
                                    <p:animEffect transition="in" filter="fade">
                                      <p:cBhvr additive="repl">
                                        <p:cTn id="21" dur="500"/>
                                        <p:tgtEl>
                                          <p:spTgt spid="268"/>
                                        </p:tgtEl>
                                      </p:cBhvr>
                                    </p:animEffect>
                                  </p:childTnLst>
                                </p:cTn>
                              </p:par>
                              <p:par>
                                <p:cTn id="22" presetID="22" presetClass="entr" presetSubtype="4" fill="hold" nodeType="withEffect">
                                  <p:stCondLst>
                                    <p:cond delay="0"/>
                                  </p:stCondLst>
                                  <p:childTnLst>
                                    <p:set>
                                      <p:cBhvr>
                                        <p:cTn id="23" dur="1" fill="hold">
                                          <p:stCondLst>
                                            <p:cond delay="0"/>
                                          </p:stCondLst>
                                        </p:cTn>
                                        <p:tgtEl>
                                          <p:spTgt spid="272"/>
                                        </p:tgtEl>
                                        <p:attrNameLst>
                                          <p:attrName>style.visibility</p:attrName>
                                        </p:attrNameLst>
                                      </p:cBhvr>
                                      <p:to>
                                        <p:strVal val="visible"/>
                                      </p:to>
                                    </p:set>
                                    <p:animEffect transition="in" filter="wipe(up)">
                                      <p:cBhvr additive="repl">
                                        <p:cTn id="24" dur="700"/>
                                        <p:tgtEl>
                                          <p:spTgt spid="272"/>
                                        </p:tgtEl>
                                      </p:cBhvr>
                                    </p:animEffect>
                                  </p:childTnLst>
                                </p:cTn>
                              </p:par>
                              <p:par>
                                <p:cTn id="25" presetID="10" presetClass="entr" fill="hold" nodeType="withEffect">
                                  <p:stCondLst>
                                    <p:cond delay="0"/>
                                  </p:stCondLst>
                                  <p:childTnLst>
                                    <p:set>
                                      <p:cBhvr>
                                        <p:cTn id="26" dur="1" fill="hold">
                                          <p:stCondLst>
                                            <p:cond delay="0"/>
                                          </p:stCondLst>
                                        </p:cTn>
                                        <p:tgtEl>
                                          <p:spTgt spid="269"/>
                                        </p:tgtEl>
                                        <p:attrNameLst>
                                          <p:attrName>style.visibility</p:attrName>
                                        </p:attrNameLst>
                                      </p:cBhvr>
                                      <p:to>
                                        <p:strVal val="visible"/>
                                      </p:to>
                                    </p:set>
                                    <p:animEffect transition="in" filter="fade">
                                      <p:cBhvr additive="repl">
                                        <p:cTn id="27" dur="500"/>
                                        <p:tgtEl>
                                          <p:spTgt spid="269"/>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261"/>
                                        </p:tgtEl>
                                        <p:attrNameLst>
                                          <p:attrName>style.visibility</p:attrName>
                                        </p:attrNameLst>
                                      </p:cBhvr>
                                      <p:to>
                                        <p:strVal val="visible"/>
                                      </p:to>
                                    </p:set>
                                    <p:anim calcmode="lin" valueType="num">
                                      <p:cBhvr additive="repl">
                                        <p:cTn id="32" dur="500" fill="hold"/>
                                        <p:tgtEl>
                                          <p:spTgt spid="261"/>
                                        </p:tgtEl>
                                        <p:attrNameLst>
                                          <p:attrName>ppt_w</p:attrName>
                                        </p:attrNameLst>
                                      </p:cBhvr>
                                      <p:tavLst>
                                        <p:tav tm="0">
                                          <p:val>
                                            <p:fltVal val="0"/>
                                          </p:val>
                                        </p:tav>
                                        <p:tav tm="100000">
                                          <p:val>
                                            <p:strVal val="#ppt_w"/>
                                          </p:val>
                                        </p:tav>
                                      </p:tavLst>
                                    </p:anim>
                                    <p:anim calcmode="lin" valueType="num">
                                      <p:cBhvr additive="repl">
                                        <p:cTn id="33" dur="500" fill="hold"/>
                                        <p:tgtEl>
                                          <p:spTgt spid="261"/>
                                        </p:tgtEl>
                                        <p:attrNameLst>
                                          <p:attrName>ppt_h</p:attrName>
                                        </p:attrNameLst>
                                      </p:cBhvr>
                                      <p:tavLst>
                                        <p:tav tm="0">
                                          <p:val>
                                            <p:fltVal val="0"/>
                                          </p:val>
                                        </p:tav>
                                        <p:tav tm="100000">
                                          <p:val>
                                            <p:strVal val="#ppt_h"/>
                                          </p:val>
                                        </p:tav>
                                      </p:tavLst>
                                    </p:anim>
                                    <p:animEffect transition="in" filter="fade">
                                      <p:cBhvr additive="repl">
                                        <p:cTn id="34" dur="500"/>
                                        <p:tgtEl>
                                          <p:spTgt spid="261"/>
                                        </p:tgtEl>
                                      </p:cBhvr>
                                    </p:animEffect>
                                  </p:childTnLst>
                                </p:cTn>
                              </p:par>
                              <p:par>
                                <p:cTn id="35" presetID="53" presetClass="entr" presetSubtype="16" fill="hold" nodeType="withEffect">
                                  <p:stCondLst>
                                    <p:cond delay="0"/>
                                  </p:stCondLst>
                                  <p:childTnLst>
                                    <p:set>
                                      <p:cBhvr>
                                        <p:cTn id="36" dur="1" fill="hold">
                                          <p:stCondLst>
                                            <p:cond delay="0"/>
                                          </p:stCondLst>
                                        </p:cTn>
                                        <p:tgtEl>
                                          <p:spTgt spid="262"/>
                                        </p:tgtEl>
                                        <p:attrNameLst>
                                          <p:attrName>style.visibility</p:attrName>
                                        </p:attrNameLst>
                                      </p:cBhvr>
                                      <p:to>
                                        <p:strVal val="visible"/>
                                      </p:to>
                                    </p:set>
                                    <p:anim calcmode="lin" valueType="num">
                                      <p:cBhvr additive="repl">
                                        <p:cTn id="37" dur="500" fill="hold"/>
                                        <p:tgtEl>
                                          <p:spTgt spid="262"/>
                                        </p:tgtEl>
                                        <p:attrNameLst>
                                          <p:attrName>ppt_w</p:attrName>
                                        </p:attrNameLst>
                                      </p:cBhvr>
                                      <p:tavLst>
                                        <p:tav tm="0">
                                          <p:val>
                                            <p:fltVal val="0"/>
                                          </p:val>
                                        </p:tav>
                                        <p:tav tm="100000">
                                          <p:val>
                                            <p:strVal val="#ppt_w"/>
                                          </p:val>
                                        </p:tav>
                                      </p:tavLst>
                                    </p:anim>
                                    <p:anim calcmode="lin" valueType="num">
                                      <p:cBhvr additive="repl">
                                        <p:cTn id="38" dur="500" fill="hold"/>
                                        <p:tgtEl>
                                          <p:spTgt spid="262"/>
                                        </p:tgtEl>
                                        <p:attrNameLst>
                                          <p:attrName>ppt_h</p:attrName>
                                        </p:attrNameLst>
                                      </p:cBhvr>
                                      <p:tavLst>
                                        <p:tav tm="0">
                                          <p:val>
                                            <p:fltVal val="0"/>
                                          </p:val>
                                        </p:tav>
                                        <p:tav tm="100000">
                                          <p:val>
                                            <p:strVal val="#ppt_h"/>
                                          </p:val>
                                        </p:tav>
                                      </p:tavLst>
                                    </p:anim>
                                    <p:animEffect transition="in" filter="fade">
                                      <p:cBhvr additive="repl">
                                        <p:cTn id="39" dur="500"/>
                                        <p:tgtEl>
                                          <p:spTgt spid="262"/>
                                        </p:tgtEl>
                                      </p:cBhvr>
                                    </p:animEffect>
                                  </p:childTnLst>
                                </p:cTn>
                              </p:par>
                              <p:par>
                                <p:cTn id="40" presetID="53" presetClass="entr" presetSubtype="16" fill="hold" nodeType="withEffect">
                                  <p:stCondLst>
                                    <p:cond delay="0"/>
                                  </p:stCondLst>
                                  <p:childTnLst>
                                    <p:set>
                                      <p:cBhvr>
                                        <p:cTn id="41" dur="1" fill="hold">
                                          <p:stCondLst>
                                            <p:cond delay="0"/>
                                          </p:stCondLst>
                                        </p:cTn>
                                        <p:tgtEl>
                                          <p:spTgt spid="263"/>
                                        </p:tgtEl>
                                        <p:attrNameLst>
                                          <p:attrName>style.visibility</p:attrName>
                                        </p:attrNameLst>
                                      </p:cBhvr>
                                      <p:to>
                                        <p:strVal val="visible"/>
                                      </p:to>
                                    </p:set>
                                    <p:anim calcmode="lin" valueType="num">
                                      <p:cBhvr additive="repl">
                                        <p:cTn id="42" dur="500" fill="hold"/>
                                        <p:tgtEl>
                                          <p:spTgt spid="263"/>
                                        </p:tgtEl>
                                        <p:attrNameLst>
                                          <p:attrName>ppt_w</p:attrName>
                                        </p:attrNameLst>
                                      </p:cBhvr>
                                      <p:tavLst>
                                        <p:tav tm="0">
                                          <p:val>
                                            <p:fltVal val="0"/>
                                          </p:val>
                                        </p:tav>
                                        <p:tav tm="100000">
                                          <p:val>
                                            <p:strVal val="#ppt_w"/>
                                          </p:val>
                                        </p:tav>
                                      </p:tavLst>
                                    </p:anim>
                                    <p:anim calcmode="lin" valueType="num">
                                      <p:cBhvr additive="repl">
                                        <p:cTn id="43" dur="500" fill="hold"/>
                                        <p:tgtEl>
                                          <p:spTgt spid="263"/>
                                        </p:tgtEl>
                                        <p:attrNameLst>
                                          <p:attrName>ppt_h</p:attrName>
                                        </p:attrNameLst>
                                      </p:cBhvr>
                                      <p:tavLst>
                                        <p:tav tm="0">
                                          <p:val>
                                            <p:fltVal val="0"/>
                                          </p:val>
                                        </p:tav>
                                        <p:tav tm="100000">
                                          <p:val>
                                            <p:strVal val="#ppt_h"/>
                                          </p:val>
                                        </p:tav>
                                      </p:tavLst>
                                    </p:anim>
                                    <p:animEffect transition="in" filter="fade">
                                      <p:cBhvr additive="repl">
                                        <p:cTn id="44" dur="500"/>
                                        <p:tgtEl>
                                          <p:spTgt spid="26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fill="hold" nodeType="clickEffect">
                                  <p:stCondLst>
                                    <p:cond delay="0"/>
                                  </p:stCondLst>
                                  <p:childTnLst>
                                    <p:set>
                                      <p:cBhvr>
                                        <p:cTn id="48" dur="1" fill="hold">
                                          <p:stCondLst>
                                            <p:cond delay="0"/>
                                          </p:stCondLst>
                                        </p:cTn>
                                        <p:tgtEl>
                                          <p:spTgt spid="273"/>
                                        </p:tgtEl>
                                        <p:attrNameLst>
                                          <p:attrName>style.visibility</p:attrName>
                                        </p:attrNameLst>
                                      </p:cBhvr>
                                      <p:to>
                                        <p:strVal val="visible"/>
                                      </p:to>
                                    </p:set>
                                    <p:animEffect transition="in" filter="fade">
                                      <p:cBhvr additive="repl">
                                        <p:cTn id="49" dur="500"/>
                                        <p:tgtEl>
                                          <p:spTgt spid="273"/>
                                        </p:tgtEl>
                                      </p:cBhvr>
                                    </p:animEffect>
                                  </p:childTnLst>
                                </p:cTn>
                              </p:par>
                              <p:par>
                                <p:cTn id="50" presetID="10" presetClass="entr" fill="hold" nodeType="withEffect">
                                  <p:stCondLst>
                                    <p:cond delay="0"/>
                                  </p:stCondLst>
                                  <p:childTnLst>
                                    <p:set>
                                      <p:cBhvr>
                                        <p:cTn id="51" dur="1" fill="hold">
                                          <p:stCondLst>
                                            <p:cond delay="0"/>
                                          </p:stCondLst>
                                        </p:cTn>
                                        <p:tgtEl>
                                          <p:spTgt spid="264"/>
                                        </p:tgtEl>
                                        <p:attrNameLst>
                                          <p:attrName>style.visibility</p:attrName>
                                        </p:attrNameLst>
                                      </p:cBhvr>
                                      <p:to>
                                        <p:strVal val="visible"/>
                                      </p:to>
                                    </p:set>
                                    <p:animEffect transition="in" filter="fade">
                                      <p:cBhvr additive="repl">
                                        <p:cTn id="52" dur="500"/>
                                        <p:tgtEl>
                                          <p:spTgt spid="264"/>
                                        </p:tgtEl>
                                      </p:cBhvr>
                                    </p:animEffect>
                                  </p:childTnLst>
                                </p:cTn>
                              </p:par>
                            </p:childTnLst>
                          </p:cTn>
                        </p:par>
                        <p:par>
                          <p:cTn id="53" fill="hold">
                            <p:stCondLst>
                              <p:cond delay="500"/>
                            </p:stCondLst>
                            <p:childTnLst>
                              <p:par>
                                <p:cTn id="54" presetID="10" presetClass="entr" fill="hold" nodeType="afterEffect">
                                  <p:stCondLst>
                                    <p:cond delay="0"/>
                                  </p:stCondLst>
                                  <p:childTnLst>
                                    <p:set>
                                      <p:cBhvr>
                                        <p:cTn id="55" dur="1" fill="hold">
                                          <p:stCondLst>
                                            <p:cond delay="0"/>
                                          </p:stCondLst>
                                        </p:cTn>
                                        <p:tgtEl>
                                          <p:spTgt spid="274"/>
                                        </p:tgtEl>
                                        <p:attrNameLst>
                                          <p:attrName>style.visibility</p:attrName>
                                        </p:attrNameLst>
                                      </p:cBhvr>
                                      <p:to>
                                        <p:strVal val="visible"/>
                                      </p:to>
                                    </p:set>
                                    <p:animEffect transition="in" filter="fade">
                                      <p:cBhvr additive="repl">
                                        <p:cTn id="56" dur="500"/>
                                        <p:tgtEl>
                                          <p:spTgt spid="274"/>
                                        </p:tgtEl>
                                      </p:cBhvr>
                                    </p:animEffect>
                                  </p:childTnLst>
                                </p:cTn>
                              </p:par>
                              <p:par>
                                <p:cTn id="57" presetID="10" presetClass="entr" fill="hold" nodeType="withEffect">
                                  <p:stCondLst>
                                    <p:cond delay="0"/>
                                  </p:stCondLst>
                                  <p:childTnLst>
                                    <p:set>
                                      <p:cBhvr>
                                        <p:cTn id="58" dur="1" fill="hold">
                                          <p:stCondLst>
                                            <p:cond delay="0"/>
                                          </p:stCondLst>
                                        </p:cTn>
                                        <p:tgtEl>
                                          <p:spTgt spid="265"/>
                                        </p:tgtEl>
                                        <p:attrNameLst>
                                          <p:attrName>style.visibility</p:attrName>
                                        </p:attrNameLst>
                                      </p:cBhvr>
                                      <p:to>
                                        <p:strVal val="visible"/>
                                      </p:to>
                                    </p:set>
                                    <p:animEffect transition="in" filter="fade">
                                      <p:cBhvr additive="repl">
                                        <p:cTn id="59" dur="500"/>
                                        <p:tgtEl>
                                          <p:spTgt spid="265"/>
                                        </p:tgtEl>
                                      </p:cBhvr>
                                    </p:animEffect>
                                  </p:childTnLst>
                                </p:cTn>
                              </p:par>
                            </p:childTnLst>
                          </p:cTn>
                        </p:par>
                        <p:par>
                          <p:cTn id="60" fill="hold">
                            <p:stCondLst>
                              <p:cond delay="1000"/>
                            </p:stCondLst>
                            <p:childTnLst>
                              <p:par>
                                <p:cTn id="61" presetID="10" presetClass="entr" fill="hold" nodeType="afterEffect">
                                  <p:stCondLst>
                                    <p:cond delay="0"/>
                                  </p:stCondLst>
                                  <p:childTnLst>
                                    <p:set>
                                      <p:cBhvr>
                                        <p:cTn id="62" dur="1" fill="hold">
                                          <p:stCondLst>
                                            <p:cond delay="0"/>
                                          </p:stCondLst>
                                        </p:cTn>
                                        <p:tgtEl>
                                          <p:spTgt spid="275"/>
                                        </p:tgtEl>
                                        <p:attrNameLst>
                                          <p:attrName>style.visibility</p:attrName>
                                        </p:attrNameLst>
                                      </p:cBhvr>
                                      <p:to>
                                        <p:strVal val="visible"/>
                                      </p:to>
                                    </p:set>
                                    <p:animEffect transition="in" filter="fade">
                                      <p:cBhvr additive="repl">
                                        <p:cTn id="63" dur="500"/>
                                        <p:tgtEl>
                                          <p:spTgt spid="275"/>
                                        </p:tgtEl>
                                      </p:cBhvr>
                                    </p:animEffect>
                                  </p:childTnLst>
                                </p:cTn>
                              </p:par>
                              <p:par>
                                <p:cTn id="64" presetID="10" presetClass="entr" fill="hold" nodeType="withEffect">
                                  <p:stCondLst>
                                    <p:cond delay="0"/>
                                  </p:stCondLst>
                                  <p:childTnLst>
                                    <p:set>
                                      <p:cBhvr>
                                        <p:cTn id="65" dur="1" fill="hold">
                                          <p:stCondLst>
                                            <p:cond delay="0"/>
                                          </p:stCondLst>
                                        </p:cTn>
                                        <p:tgtEl>
                                          <p:spTgt spid="266"/>
                                        </p:tgtEl>
                                        <p:attrNameLst>
                                          <p:attrName>style.visibility</p:attrName>
                                        </p:attrNameLst>
                                      </p:cBhvr>
                                      <p:to>
                                        <p:strVal val="visible"/>
                                      </p:to>
                                    </p:set>
                                    <p:animEffect transition="in" filter="fade">
                                      <p:cBhvr additive="repl">
                                        <p:cTn id="66" dur="500"/>
                                        <p:tgtEl>
                                          <p:spTgt spid="266"/>
                                        </p:tgtEl>
                                      </p:cBhvr>
                                    </p:animEffect>
                                  </p:childTnLst>
                                </p:cTn>
                              </p:par>
                            </p:childTnLst>
                          </p:cTn>
                        </p:par>
                        <p:par>
                          <p:cTn id="67" fill="hold">
                            <p:stCondLst>
                              <p:cond delay="1500"/>
                            </p:stCondLst>
                            <p:childTnLst>
                              <p:par>
                                <p:cTn id="68" presetID="10" presetClass="entr" fill="hold" nodeType="afterEffect">
                                  <p:stCondLst>
                                    <p:cond delay="0"/>
                                  </p:stCondLst>
                                  <p:childTnLst>
                                    <p:set>
                                      <p:cBhvr>
                                        <p:cTn id="69" dur="1" fill="hold">
                                          <p:stCondLst>
                                            <p:cond delay="0"/>
                                          </p:stCondLst>
                                        </p:cTn>
                                        <p:tgtEl>
                                          <p:spTgt spid="271"/>
                                        </p:tgtEl>
                                        <p:attrNameLst>
                                          <p:attrName>style.visibility</p:attrName>
                                        </p:attrNameLst>
                                      </p:cBhvr>
                                      <p:to>
                                        <p:strVal val="visible"/>
                                      </p:to>
                                    </p:set>
                                    <p:animEffect transition="in" filter="fade">
                                      <p:cBhvr additive="repl">
                                        <p:cTn id="70" dur="500"/>
                                        <p:tgtEl>
                                          <p:spTgt spid="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276" name="Shape 0"/>
          <p:cNvSpPr/>
          <p:nvPr/>
        </p:nvSpPr>
        <p:spPr>
          <a:xfrm>
            <a:off x="-36576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77" name="Shape 1"/>
          <p:cNvSpPr/>
          <p:nvPr/>
        </p:nvSpPr>
        <p:spPr>
          <a:xfrm>
            <a:off x="1182600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78" name="Shape 2"/>
          <p:cNvSpPr/>
          <p:nvPr/>
        </p:nvSpPr>
        <p:spPr>
          <a:xfrm>
            <a:off x="-36576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79" name="Shape 3"/>
          <p:cNvSpPr/>
          <p:nvPr/>
        </p:nvSpPr>
        <p:spPr>
          <a:xfrm>
            <a:off x="1182600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80" name="Shape 4"/>
          <p:cNvSpPr/>
          <p:nvPr/>
        </p:nvSpPr>
        <p:spPr>
          <a:xfrm>
            <a:off x="-1371600" y="6217920"/>
            <a:ext cx="3655800" cy="3655800"/>
          </a:xfrm>
          <a:prstGeom prst="ellipse">
            <a:avLst/>
          </a:prstGeom>
          <a:solidFill>
            <a:srgbClr val="1F7A4D">
              <a:alpha val="5000"/>
            </a:srgbClr>
          </a:solidFill>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81" name="Shape 5"/>
          <p:cNvSpPr/>
          <p:nvPr/>
        </p:nvSpPr>
        <p:spPr>
          <a:xfrm>
            <a:off x="411480" y="8001000"/>
            <a:ext cx="89640" cy="89640"/>
          </a:xfrm>
          <a:prstGeom prst="ellipse">
            <a:avLst/>
          </a:prstGeom>
          <a:solidFill>
            <a:srgbClr val="E8A33D">
              <a:alpha val="75000"/>
            </a:srgbClr>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282" name="Shape 6"/>
          <p:cNvSpPr/>
          <p:nvPr/>
        </p:nvSpPr>
        <p:spPr>
          <a:xfrm>
            <a:off x="685800" y="502920"/>
            <a:ext cx="821160" cy="821160"/>
          </a:xfrm>
          <a:prstGeom prst="ellipse">
            <a:avLst/>
          </a:prstGeom>
          <a:solidFill>
            <a:srgbClr val="E8A3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83" name="Shape 7"/>
          <p:cNvSpPr/>
          <p:nvPr/>
        </p:nvSpPr>
        <p:spPr>
          <a:xfrm>
            <a:off x="822960" y="640080"/>
            <a:ext cx="546840" cy="54684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84" name="Text 8"/>
          <p:cNvSpPr/>
          <p:nvPr/>
        </p:nvSpPr>
        <p:spPr>
          <a:xfrm>
            <a:off x="1536120" y="777240"/>
            <a:ext cx="548460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E8A33D"/>
                </a:solidFill>
                <a:latin typeface="Calibri"/>
                <a:ea typeface="Calibri"/>
              </a:rPr>
              <a:t>THE HONEST CAVEAT</a:t>
            </a:r>
            <a:endParaRPr lang="en-US" sz="1400" b="0" strike="noStrike" spc="-1">
              <a:solidFill>
                <a:srgbClr val="FFFFFF"/>
              </a:solidFill>
              <a:latin typeface="Arial"/>
            </a:endParaRPr>
          </a:p>
        </p:txBody>
      </p:sp>
      <p:sp>
        <p:nvSpPr>
          <p:cNvPr id="285" name="Text 9"/>
          <p:cNvSpPr/>
          <p:nvPr/>
        </p:nvSpPr>
        <p:spPr>
          <a:xfrm>
            <a:off x="1051560" y="2217600"/>
            <a:ext cx="3061440" cy="146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600" b="1" strike="noStrike" spc="-1">
                <a:solidFill>
                  <a:srgbClr val="FFFFFF"/>
                </a:solidFill>
                <a:latin typeface="Cambria"/>
                <a:ea typeface="Cambria"/>
              </a:rPr>
              <a:t>67%</a:t>
            </a:r>
            <a:endParaRPr lang="en-US" sz="9600" b="0" strike="noStrike" spc="-1">
              <a:solidFill>
                <a:srgbClr val="FFFFFF"/>
              </a:solidFill>
              <a:latin typeface="Arial"/>
            </a:endParaRPr>
          </a:p>
        </p:txBody>
      </p:sp>
      <p:sp>
        <p:nvSpPr>
          <p:cNvPr id="286" name="Text 10"/>
          <p:cNvSpPr/>
          <p:nvPr/>
        </p:nvSpPr>
        <p:spPr>
          <a:xfrm>
            <a:off x="1051560" y="3719880"/>
            <a:ext cx="3061440" cy="39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91">
                <a:solidFill>
                  <a:srgbClr val="E8A33D"/>
                </a:solidFill>
                <a:latin typeface="Calibri"/>
                <a:ea typeface="Calibri"/>
              </a:rPr>
              <a:t>EXCLUDED</a:t>
            </a:r>
            <a:endParaRPr lang="en-US" sz="2000" b="0" strike="noStrike" spc="-1">
              <a:solidFill>
                <a:srgbClr val="FFFFFF"/>
              </a:solidFill>
              <a:latin typeface="Arial"/>
            </a:endParaRPr>
          </a:p>
        </p:txBody>
      </p:sp>
      <p:sp>
        <p:nvSpPr>
          <p:cNvPr id="287" name="Shape 11"/>
          <p:cNvSpPr/>
          <p:nvPr/>
        </p:nvSpPr>
        <p:spPr>
          <a:xfrm>
            <a:off x="1051560" y="5156280"/>
            <a:ext cx="144360" cy="14436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88" name="Text 12"/>
          <p:cNvSpPr/>
          <p:nvPr/>
        </p:nvSpPr>
        <p:spPr>
          <a:xfrm>
            <a:off x="1298520" y="5110560"/>
            <a:ext cx="406224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E8ECF5"/>
                </a:solidFill>
                <a:latin typeface="Calibri"/>
                <a:ea typeface="Calibri"/>
              </a:rPr>
              <a:t>1,310 players excluded, zero recorded FBref playing time</a:t>
            </a:r>
            <a:endParaRPr lang="en-US" sz="1400" b="0" strike="noStrike" spc="-1">
              <a:solidFill>
                <a:srgbClr val="FFFFFF"/>
              </a:solidFill>
              <a:latin typeface="Arial"/>
            </a:endParaRPr>
          </a:p>
        </p:txBody>
      </p:sp>
      <p:sp>
        <p:nvSpPr>
          <p:cNvPr id="289" name="Shape 13"/>
          <p:cNvSpPr/>
          <p:nvPr/>
        </p:nvSpPr>
        <p:spPr>
          <a:xfrm>
            <a:off x="1051560" y="5664240"/>
            <a:ext cx="144360" cy="144360"/>
          </a:xfrm>
          <a:prstGeom prst="ellipse">
            <a:avLst/>
          </a:prstGeom>
          <a:solidFill>
            <a:srgbClr val="8494C4"/>
          </a:solidFill>
          <a:ln w="9525">
            <a:solidFill>
              <a:srgbClr val="3C4A7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90" name="Text 14"/>
          <p:cNvSpPr/>
          <p:nvPr/>
        </p:nvSpPr>
        <p:spPr>
          <a:xfrm>
            <a:off x="1298520" y="5618520"/>
            <a:ext cx="406224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E8ECF5"/>
                </a:solidFill>
                <a:latin typeface="Calibri"/>
                <a:ea typeface="Calibri"/>
              </a:rPr>
              <a:t>649 players included, usable playing-time data (the age/position charts on slides 08–09 use a stricter n=582).</a:t>
            </a:r>
            <a:endParaRPr lang="en-US" sz="1400" b="0" strike="noStrike" spc="-1">
              <a:solidFill>
                <a:srgbClr val="FFFFFF"/>
              </a:solidFill>
              <a:latin typeface="Arial"/>
            </a:endParaRPr>
          </a:p>
        </p:txBody>
      </p:sp>
      <p:sp>
        <p:nvSpPr>
          <p:cNvPr id="291" name="Shape 15"/>
          <p:cNvSpPr/>
          <p:nvPr/>
        </p:nvSpPr>
        <p:spPr>
          <a:xfrm>
            <a:off x="5440680" y="777240"/>
            <a:ext cx="5941800" cy="5393160"/>
          </a:xfrm>
          <a:prstGeom prst="roundRect">
            <a:avLst>
              <a:gd name="adj" fmla="val 1525"/>
            </a:avLst>
          </a:prstGeom>
          <a:solidFill>
            <a:srgbClr val="1626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292" name="Text 16"/>
          <p:cNvSpPr/>
          <p:nvPr/>
        </p:nvSpPr>
        <p:spPr>
          <a:xfrm>
            <a:off x="5760720" y="1005840"/>
            <a:ext cx="530172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50" b="1" strike="noStrike" spc="-1">
                <a:solidFill>
                  <a:srgbClr val="E8A33D"/>
                </a:solidFill>
                <a:latin typeface="Calibri"/>
                <a:ea typeface="Calibri"/>
              </a:rPr>
              <a:t>Confirmed: a real coverage gap, not a matching bug</a:t>
            </a:r>
            <a:endParaRPr lang="en-US" sz="1450" b="0" strike="noStrike" spc="-1">
              <a:solidFill>
                <a:srgbClr val="FFFFFF"/>
              </a:solidFill>
              <a:latin typeface="Arial"/>
            </a:endParaRPr>
          </a:p>
        </p:txBody>
      </p:sp>
      <p:pic>
        <p:nvPicPr>
          <p:cNvPr id="293" name="Image 1" descr="preencoded.png"/>
          <p:cNvPicPr/>
          <p:nvPr/>
        </p:nvPicPr>
        <p:blipFill>
          <a:blip r:embed="rId3"/>
          <a:stretch/>
        </p:blipFill>
        <p:spPr>
          <a:xfrm>
            <a:off x="5740560" y="1816200"/>
            <a:ext cx="252360" cy="252360"/>
          </a:xfrm>
          <a:prstGeom prst="rect">
            <a:avLst/>
          </a:prstGeom>
          <a:ln w="0">
            <a:noFill/>
          </a:ln>
        </p:spPr>
      </p:pic>
      <p:sp>
        <p:nvSpPr>
          <p:cNvPr id="294" name="Text 17"/>
          <p:cNvSpPr/>
          <p:nvPr/>
        </p:nvSpPr>
        <p:spPr>
          <a:xfrm>
            <a:off x="6089760" y="1752480"/>
            <a:ext cx="497268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CADCFC"/>
                </a:solidFill>
                <a:latin typeface="Calibri"/>
                <a:ea typeface="Calibri"/>
              </a:rPr>
              <a:t>Zero of the 1,310 have any exact FBref name match. That rules out a silent matching bug.</a:t>
            </a:r>
            <a:endParaRPr lang="en-US" sz="1400" b="0" strike="noStrike" spc="-1">
              <a:solidFill>
                <a:srgbClr val="FFFFFF"/>
              </a:solidFill>
              <a:latin typeface="Arial"/>
            </a:endParaRPr>
          </a:p>
        </p:txBody>
      </p:sp>
      <p:pic>
        <p:nvPicPr>
          <p:cNvPr id="295" name="Image 2" descr="preencoded.png"/>
          <p:cNvPicPr/>
          <p:nvPr/>
        </p:nvPicPr>
        <p:blipFill>
          <a:blip r:embed="rId3"/>
          <a:stretch/>
        </p:blipFill>
        <p:spPr>
          <a:xfrm>
            <a:off x="5740560" y="2882880"/>
            <a:ext cx="252360" cy="252360"/>
          </a:xfrm>
          <a:prstGeom prst="rect">
            <a:avLst/>
          </a:prstGeom>
          <a:ln w="0">
            <a:noFill/>
          </a:ln>
        </p:spPr>
      </p:pic>
      <p:sp>
        <p:nvSpPr>
          <p:cNvPr id="296" name="Text 18"/>
          <p:cNvSpPr/>
          <p:nvPr/>
        </p:nvSpPr>
        <p:spPr>
          <a:xfrm>
            <a:off x="6089760" y="2819520"/>
            <a:ext cx="497268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CADCFC"/>
                </a:solidFill>
                <a:latin typeface="Calibri"/>
                <a:ea typeface="Calibri"/>
              </a:rPr>
              <a:t>Of these, 257 had no valuation yet during FBref's 2017–2024 window.</a:t>
            </a:r>
            <a:endParaRPr lang="en-US" sz="1400" b="0" strike="noStrike" spc="-1">
              <a:solidFill>
                <a:srgbClr val="FFFFFF"/>
              </a:solidFill>
              <a:latin typeface="Arial"/>
            </a:endParaRPr>
          </a:p>
        </p:txBody>
      </p:sp>
      <p:pic>
        <p:nvPicPr>
          <p:cNvPr id="297" name="Image 3" descr="preencoded.png"/>
          <p:cNvPicPr/>
          <p:nvPr/>
        </p:nvPicPr>
        <p:blipFill>
          <a:blip r:embed="rId3"/>
          <a:stretch/>
        </p:blipFill>
        <p:spPr>
          <a:xfrm>
            <a:off x="5740560" y="3949560"/>
            <a:ext cx="252360" cy="252360"/>
          </a:xfrm>
          <a:prstGeom prst="rect">
            <a:avLst/>
          </a:prstGeom>
          <a:ln w="0">
            <a:noFill/>
          </a:ln>
        </p:spPr>
      </p:pic>
      <p:sp>
        <p:nvSpPr>
          <p:cNvPr id="298" name="Text 19"/>
          <p:cNvSpPr/>
          <p:nvPr/>
        </p:nvSpPr>
        <p:spPr>
          <a:xfrm>
            <a:off x="6089760" y="3886200"/>
            <a:ext cx="497268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CADCFC"/>
                </a:solidFill>
                <a:latin typeface="Calibri"/>
                <a:ea typeface="Calibri"/>
              </a:rPr>
              <a:t>269 more looked like possible matches. Manual review found none, just shared surnames.</a:t>
            </a:r>
            <a:endParaRPr lang="en-US" sz="1400" b="0" strike="noStrike" spc="-1">
              <a:solidFill>
                <a:srgbClr val="FFFFFF"/>
              </a:solidFill>
              <a:latin typeface="Arial"/>
            </a:endParaRPr>
          </a:p>
        </p:txBody>
      </p:sp>
      <p:pic>
        <p:nvPicPr>
          <p:cNvPr id="299" name="Image 4" descr="preencoded.png"/>
          <p:cNvPicPr/>
          <p:nvPr/>
        </p:nvPicPr>
        <p:blipFill>
          <a:blip r:embed="rId3"/>
          <a:stretch/>
        </p:blipFill>
        <p:spPr>
          <a:xfrm>
            <a:off x="5740560" y="5016600"/>
            <a:ext cx="252360" cy="252360"/>
          </a:xfrm>
          <a:prstGeom prst="rect">
            <a:avLst/>
          </a:prstGeom>
          <a:ln w="0">
            <a:noFill/>
          </a:ln>
        </p:spPr>
      </p:pic>
      <p:sp>
        <p:nvSpPr>
          <p:cNvPr id="300" name="Text 20"/>
          <p:cNvSpPr/>
          <p:nvPr/>
        </p:nvSpPr>
        <p:spPr>
          <a:xfrm>
            <a:off x="6089760" y="4952880"/>
            <a:ext cx="497268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CADCFC"/>
                </a:solidFill>
                <a:latin typeface="Calibri"/>
                <a:ea typeface="Calibri"/>
              </a:rPr>
              <a:t>The other 784 had no FBref minutes inside the 2017–2024 window, or debuted after it closed.</a:t>
            </a:r>
            <a:endParaRPr lang="en-US" sz="1400" b="0" strike="noStrike" spc="-1">
              <a:solidFill>
                <a:srgbClr val="FFFFFF"/>
              </a:solidFill>
              <a:latin typeface="Arial"/>
            </a:endParaRPr>
          </a:p>
        </p:txBody>
      </p:sp>
      <p:sp>
        <p:nvSpPr>
          <p:cNvPr id="301" name="Text 21"/>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A8B4D0"/>
                </a:solidFill>
                <a:latin typeface="Calibri"/>
                <a:ea typeface="Calibri"/>
              </a:rPr>
              <a:t>12</a:t>
            </a:r>
            <a:endParaRPr lang="en-US" sz="1200" b="0" strike="noStrike" spc="-1">
              <a:solidFill>
                <a:srgbClr val="FFFFFF"/>
              </a:solidFill>
              <a:latin typeface="Arial"/>
            </a:endParaRPr>
          </a:p>
        </p:txBody>
      </p:sp>
      <p:pic>
        <p:nvPicPr>
          <p:cNvPr id="302" name="Graphic 30" descr="Football icon"/>
          <p:cNvPicPr/>
          <p:nvPr/>
        </p:nvPicPr>
        <p:blipFill>
          <a:blip r:embed="rId4">
            <a:extLst>
              <a:ext uri="{96DAC541-7B7A-43D3-8B79-37D633B846F1}">
                <asvg:svgBlip xmlns:asvg="http://schemas.microsoft.com/office/drawing/2016/SVG/main" r:embed="rId5"/>
              </a:ext>
            </a:extLst>
          </a:blip>
          <a:stretch/>
        </p:blipFill>
        <p:spPr>
          <a:xfrm>
            <a:off x="900360" y="717480"/>
            <a:ext cx="392040" cy="392040"/>
          </a:xfrm>
          <a:prstGeom prst="rect">
            <a:avLst/>
          </a:prstGeom>
          <a:ln w="0">
            <a:noFill/>
          </a:ln>
        </p:spPr>
      </p:pic>
    </p:spTree>
    <p:extLst>
      <p:ext uri="{BB962C8B-B14F-4D97-AF65-F5344CB8AC3E}">
        <p14:creationId xmlns:p14="http://schemas.microsoft.com/office/powerpoint/2010/main" val="2338506670"/>
      </p:ext>
    </p:extLst>
  </p:cSld>
  <p:clrMapOvr>
    <a:masterClrMapping/>
  </p:clrMapOvr>
  <p:transition spd="med">
    <p:fade/>
  </p:transition>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fade">
                                      <p:cBhvr additive="repl">
                                        <p:cTn id="7" dur="450"/>
                                        <p:tgtEl>
                                          <p:spTgt spid="285"/>
                                        </p:tgtEl>
                                      </p:cBhvr>
                                    </p:animEffect>
                                  </p:childTnLst>
                                </p:cTn>
                              </p:par>
                              <p:par>
                                <p:cTn id="8" presetID="10" presetClass="entr" fill="hold" nodeType="withEffect">
                                  <p:stCondLst>
                                    <p:cond delay="0"/>
                                  </p:stCondLst>
                                  <p:childTnLst>
                                    <p:set>
                                      <p:cBhvr>
                                        <p:cTn id="9" dur="1" fill="hold">
                                          <p:stCondLst>
                                            <p:cond delay="0"/>
                                          </p:stCondLst>
                                        </p:cTn>
                                        <p:tgtEl>
                                          <p:spTgt spid="286"/>
                                        </p:tgtEl>
                                        <p:attrNameLst>
                                          <p:attrName>style.visibility</p:attrName>
                                        </p:attrNameLst>
                                      </p:cBhvr>
                                      <p:to>
                                        <p:strVal val="visible"/>
                                      </p:to>
                                    </p:set>
                                    <p:animEffect transition="in" filter="fade">
                                      <p:cBhvr additive="repl">
                                        <p:cTn id="10" dur="450"/>
                                        <p:tgtEl>
                                          <p:spTgt spid="28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nodeType="clickEffect">
                                  <p:stCondLst>
                                    <p:cond delay="0"/>
                                  </p:stCondLst>
                                  <p:childTnLst>
                                    <p:set>
                                      <p:cBhvr>
                                        <p:cTn id="14" dur="1" fill="hold">
                                          <p:stCondLst>
                                            <p:cond delay="0"/>
                                          </p:stCondLst>
                                        </p:cTn>
                                        <p:tgtEl>
                                          <p:spTgt spid="287"/>
                                        </p:tgtEl>
                                        <p:attrNameLst>
                                          <p:attrName>style.visibility</p:attrName>
                                        </p:attrNameLst>
                                      </p:cBhvr>
                                      <p:to>
                                        <p:strVal val="visible"/>
                                      </p:to>
                                    </p:set>
                                    <p:animEffect transition="in" filter="fade">
                                      <p:cBhvr additive="repl">
                                        <p:cTn id="15" dur="450"/>
                                        <p:tgtEl>
                                          <p:spTgt spid="287"/>
                                        </p:tgtEl>
                                      </p:cBhvr>
                                    </p:animEffect>
                                  </p:childTnLst>
                                </p:cTn>
                              </p:par>
                              <p:par>
                                <p:cTn id="16" presetID="10" presetClass="entr" fill="hold" nodeType="withEffect">
                                  <p:stCondLst>
                                    <p:cond delay="0"/>
                                  </p:stCondLst>
                                  <p:childTnLst>
                                    <p:set>
                                      <p:cBhvr>
                                        <p:cTn id="17" dur="1" fill="hold">
                                          <p:stCondLst>
                                            <p:cond delay="0"/>
                                          </p:stCondLst>
                                        </p:cTn>
                                        <p:tgtEl>
                                          <p:spTgt spid="288"/>
                                        </p:tgtEl>
                                        <p:attrNameLst>
                                          <p:attrName>style.visibility</p:attrName>
                                        </p:attrNameLst>
                                      </p:cBhvr>
                                      <p:to>
                                        <p:strVal val="visible"/>
                                      </p:to>
                                    </p:set>
                                    <p:animEffect transition="in" filter="fade">
                                      <p:cBhvr additive="repl">
                                        <p:cTn id="18" dur="450"/>
                                        <p:tgtEl>
                                          <p:spTgt spid="288"/>
                                        </p:tgtEl>
                                      </p:cBhvr>
                                    </p:animEffect>
                                  </p:childTnLst>
                                </p:cTn>
                              </p:par>
                              <p:par>
                                <p:cTn id="19" presetID="10" presetClass="entr" fill="hold" nodeType="withEffect">
                                  <p:stCondLst>
                                    <p:cond delay="0"/>
                                  </p:stCondLst>
                                  <p:childTnLst>
                                    <p:set>
                                      <p:cBhvr>
                                        <p:cTn id="20" dur="1" fill="hold">
                                          <p:stCondLst>
                                            <p:cond delay="0"/>
                                          </p:stCondLst>
                                        </p:cTn>
                                        <p:tgtEl>
                                          <p:spTgt spid="289"/>
                                        </p:tgtEl>
                                        <p:attrNameLst>
                                          <p:attrName>style.visibility</p:attrName>
                                        </p:attrNameLst>
                                      </p:cBhvr>
                                      <p:to>
                                        <p:strVal val="visible"/>
                                      </p:to>
                                    </p:set>
                                    <p:animEffect transition="in" filter="fade">
                                      <p:cBhvr additive="repl">
                                        <p:cTn id="21" dur="450"/>
                                        <p:tgtEl>
                                          <p:spTgt spid="289"/>
                                        </p:tgtEl>
                                      </p:cBhvr>
                                    </p:animEffect>
                                  </p:childTnLst>
                                </p:cTn>
                              </p:par>
                              <p:par>
                                <p:cTn id="22" presetID="10" presetClass="entr" fill="hold" nodeType="withEffect">
                                  <p:stCondLst>
                                    <p:cond delay="0"/>
                                  </p:stCondLst>
                                  <p:childTnLst>
                                    <p:set>
                                      <p:cBhvr>
                                        <p:cTn id="23" dur="1" fill="hold">
                                          <p:stCondLst>
                                            <p:cond delay="0"/>
                                          </p:stCondLst>
                                        </p:cTn>
                                        <p:tgtEl>
                                          <p:spTgt spid="290"/>
                                        </p:tgtEl>
                                        <p:attrNameLst>
                                          <p:attrName>style.visibility</p:attrName>
                                        </p:attrNameLst>
                                      </p:cBhvr>
                                      <p:to>
                                        <p:strVal val="visible"/>
                                      </p:to>
                                    </p:set>
                                    <p:animEffect transition="in" filter="fade">
                                      <p:cBhvr additive="repl">
                                        <p:cTn id="24" dur="450"/>
                                        <p:tgtEl>
                                          <p:spTgt spid="29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fill="hold" nodeType="clickEffect">
                                  <p:stCondLst>
                                    <p:cond delay="0"/>
                                  </p:stCondLst>
                                  <p:childTnLst>
                                    <p:set>
                                      <p:cBhvr>
                                        <p:cTn id="28" dur="1" fill="hold">
                                          <p:stCondLst>
                                            <p:cond delay="0"/>
                                          </p:stCondLst>
                                        </p:cTn>
                                        <p:tgtEl>
                                          <p:spTgt spid="291"/>
                                        </p:tgtEl>
                                        <p:attrNameLst>
                                          <p:attrName>style.visibility</p:attrName>
                                        </p:attrNameLst>
                                      </p:cBhvr>
                                      <p:to>
                                        <p:strVal val="visible"/>
                                      </p:to>
                                    </p:set>
                                    <p:animEffect transition="in" filter="fade">
                                      <p:cBhvr additive="repl">
                                        <p:cTn id="29" dur="450"/>
                                        <p:tgtEl>
                                          <p:spTgt spid="291"/>
                                        </p:tgtEl>
                                      </p:cBhvr>
                                    </p:animEffect>
                                  </p:childTnLst>
                                </p:cTn>
                              </p:par>
                              <p:par>
                                <p:cTn id="30" presetID="10" presetClass="entr" fill="hold" nodeType="withEffect">
                                  <p:stCondLst>
                                    <p:cond delay="0"/>
                                  </p:stCondLst>
                                  <p:childTnLst>
                                    <p:set>
                                      <p:cBhvr>
                                        <p:cTn id="31" dur="1" fill="hold">
                                          <p:stCondLst>
                                            <p:cond delay="0"/>
                                          </p:stCondLst>
                                        </p:cTn>
                                        <p:tgtEl>
                                          <p:spTgt spid="292"/>
                                        </p:tgtEl>
                                        <p:attrNameLst>
                                          <p:attrName>style.visibility</p:attrName>
                                        </p:attrNameLst>
                                      </p:cBhvr>
                                      <p:to>
                                        <p:strVal val="visible"/>
                                      </p:to>
                                    </p:set>
                                    <p:animEffect transition="in" filter="fade">
                                      <p:cBhvr additive="repl">
                                        <p:cTn id="32" dur="450"/>
                                        <p:tgtEl>
                                          <p:spTgt spid="29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fill="hold" nodeType="clickEffect">
                                  <p:stCondLst>
                                    <p:cond delay="0"/>
                                  </p:stCondLst>
                                  <p:childTnLst>
                                    <p:set>
                                      <p:cBhvr>
                                        <p:cTn id="36" dur="1" fill="hold">
                                          <p:stCondLst>
                                            <p:cond delay="0"/>
                                          </p:stCondLst>
                                        </p:cTn>
                                        <p:tgtEl>
                                          <p:spTgt spid="293"/>
                                        </p:tgtEl>
                                        <p:attrNameLst>
                                          <p:attrName>style.visibility</p:attrName>
                                        </p:attrNameLst>
                                      </p:cBhvr>
                                      <p:to>
                                        <p:strVal val="visible"/>
                                      </p:to>
                                    </p:set>
                                    <p:animEffect transition="in" filter="fade">
                                      <p:cBhvr additive="repl">
                                        <p:cTn id="37" dur="450"/>
                                        <p:tgtEl>
                                          <p:spTgt spid="293"/>
                                        </p:tgtEl>
                                      </p:cBhvr>
                                    </p:animEffect>
                                  </p:childTnLst>
                                </p:cTn>
                              </p:par>
                              <p:par>
                                <p:cTn id="38" presetID="10" presetClass="entr" fill="hold" nodeType="withEffect">
                                  <p:stCondLst>
                                    <p:cond delay="0"/>
                                  </p:stCondLst>
                                  <p:childTnLst>
                                    <p:set>
                                      <p:cBhvr>
                                        <p:cTn id="39" dur="1" fill="hold">
                                          <p:stCondLst>
                                            <p:cond delay="0"/>
                                          </p:stCondLst>
                                        </p:cTn>
                                        <p:tgtEl>
                                          <p:spTgt spid="294"/>
                                        </p:tgtEl>
                                        <p:attrNameLst>
                                          <p:attrName>style.visibility</p:attrName>
                                        </p:attrNameLst>
                                      </p:cBhvr>
                                      <p:to>
                                        <p:strVal val="visible"/>
                                      </p:to>
                                    </p:set>
                                    <p:animEffect transition="in" filter="fade">
                                      <p:cBhvr additive="repl">
                                        <p:cTn id="40" dur="450"/>
                                        <p:tgtEl>
                                          <p:spTgt spid="29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fill="hold" nodeType="clickEffect">
                                  <p:stCondLst>
                                    <p:cond delay="0"/>
                                  </p:stCondLst>
                                  <p:childTnLst>
                                    <p:set>
                                      <p:cBhvr>
                                        <p:cTn id="44" dur="1" fill="hold">
                                          <p:stCondLst>
                                            <p:cond delay="0"/>
                                          </p:stCondLst>
                                        </p:cTn>
                                        <p:tgtEl>
                                          <p:spTgt spid="295"/>
                                        </p:tgtEl>
                                        <p:attrNameLst>
                                          <p:attrName>style.visibility</p:attrName>
                                        </p:attrNameLst>
                                      </p:cBhvr>
                                      <p:to>
                                        <p:strVal val="visible"/>
                                      </p:to>
                                    </p:set>
                                    <p:animEffect transition="in" filter="fade">
                                      <p:cBhvr additive="repl">
                                        <p:cTn id="45" dur="450"/>
                                        <p:tgtEl>
                                          <p:spTgt spid="295"/>
                                        </p:tgtEl>
                                      </p:cBhvr>
                                    </p:animEffect>
                                  </p:childTnLst>
                                </p:cTn>
                              </p:par>
                              <p:par>
                                <p:cTn id="46" presetID="10" presetClass="entr" fill="hold" nodeType="withEffect">
                                  <p:stCondLst>
                                    <p:cond delay="0"/>
                                  </p:stCondLst>
                                  <p:childTnLst>
                                    <p:set>
                                      <p:cBhvr>
                                        <p:cTn id="47" dur="1" fill="hold">
                                          <p:stCondLst>
                                            <p:cond delay="0"/>
                                          </p:stCondLst>
                                        </p:cTn>
                                        <p:tgtEl>
                                          <p:spTgt spid="296"/>
                                        </p:tgtEl>
                                        <p:attrNameLst>
                                          <p:attrName>style.visibility</p:attrName>
                                        </p:attrNameLst>
                                      </p:cBhvr>
                                      <p:to>
                                        <p:strVal val="visible"/>
                                      </p:to>
                                    </p:set>
                                    <p:animEffect transition="in" filter="fade">
                                      <p:cBhvr additive="repl">
                                        <p:cTn id="48" dur="450"/>
                                        <p:tgtEl>
                                          <p:spTgt spid="29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fill="hold" nodeType="clickEffect">
                                  <p:stCondLst>
                                    <p:cond delay="0"/>
                                  </p:stCondLst>
                                  <p:childTnLst>
                                    <p:set>
                                      <p:cBhvr>
                                        <p:cTn id="52" dur="1" fill="hold">
                                          <p:stCondLst>
                                            <p:cond delay="0"/>
                                          </p:stCondLst>
                                        </p:cTn>
                                        <p:tgtEl>
                                          <p:spTgt spid="297"/>
                                        </p:tgtEl>
                                        <p:attrNameLst>
                                          <p:attrName>style.visibility</p:attrName>
                                        </p:attrNameLst>
                                      </p:cBhvr>
                                      <p:to>
                                        <p:strVal val="visible"/>
                                      </p:to>
                                    </p:set>
                                    <p:animEffect transition="in" filter="fade">
                                      <p:cBhvr additive="repl">
                                        <p:cTn id="53" dur="450"/>
                                        <p:tgtEl>
                                          <p:spTgt spid="297"/>
                                        </p:tgtEl>
                                      </p:cBhvr>
                                    </p:animEffect>
                                  </p:childTnLst>
                                </p:cTn>
                              </p:par>
                              <p:par>
                                <p:cTn id="54" presetID="10" presetClass="entr" fill="hold" nodeType="withEffect">
                                  <p:stCondLst>
                                    <p:cond delay="0"/>
                                  </p:stCondLst>
                                  <p:childTnLst>
                                    <p:set>
                                      <p:cBhvr>
                                        <p:cTn id="55" dur="1" fill="hold">
                                          <p:stCondLst>
                                            <p:cond delay="0"/>
                                          </p:stCondLst>
                                        </p:cTn>
                                        <p:tgtEl>
                                          <p:spTgt spid="298"/>
                                        </p:tgtEl>
                                        <p:attrNameLst>
                                          <p:attrName>style.visibility</p:attrName>
                                        </p:attrNameLst>
                                      </p:cBhvr>
                                      <p:to>
                                        <p:strVal val="visible"/>
                                      </p:to>
                                    </p:set>
                                    <p:animEffect transition="in" filter="fade">
                                      <p:cBhvr additive="repl">
                                        <p:cTn id="56" dur="450"/>
                                        <p:tgtEl>
                                          <p:spTgt spid="298"/>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fill="hold" nodeType="clickEffect">
                                  <p:stCondLst>
                                    <p:cond delay="0"/>
                                  </p:stCondLst>
                                  <p:childTnLst>
                                    <p:set>
                                      <p:cBhvr>
                                        <p:cTn id="60" dur="1" fill="hold">
                                          <p:stCondLst>
                                            <p:cond delay="0"/>
                                          </p:stCondLst>
                                        </p:cTn>
                                        <p:tgtEl>
                                          <p:spTgt spid="299"/>
                                        </p:tgtEl>
                                        <p:attrNameLst>
                                          <p:attrName>style.visibility</p:attrName>
                                        </p:attrNameLst>
                                      </p:cBhvr>
                                      <p:to>
                                        <p:strVal val="visible"/>
                                      </p:to>
                                    </p:set>
                                    <p:animEffect transition="in" filter="fade">
                                      <p:cBhvr additive="repl">
                                        <p:cTn id="61" dur="450"/>
                                        <p:tgtEl>
                                          <p:spTgt spid="299"/>
                                        </p:tgtEl>
                                      </p:cBhvr>
                                    </p:animEffect>
                                  </p:childTnLst>
                                </p:cTn>
                              </p:par>
                              <p:par>
                                <p:cTn id="62" presetID="10" presetClass="entr" fill="hold" nodeType="withEffect">
                                  <p:stCondLst>
                                    <p:cond delay="0"/>
                                  </p:stCondLst>
                                  <p:childTnLst>
                                    <p:set>
                                      <p:cBhvr>
                                        <p:cTn id="63" dur="1" fill="hold">
                                          <p:stCondLst>
                                            <p:cond delay="0"/>
                                          </p:stCondLst>
                                        </p:cTn>
                                        <p:tgtEl>
                                          <p:spTgt spid="300"/>
                                        </p:tgtEl>
                                        <p:attrNameLst>
                                          <p:attrName>style.visibility</p:attrName>
                                        </p:attrNameLst>
                                      </p:cBhvr>
                                      <p:to>
                                        <p:strVal val="visible"/>
                                      </p:to>
                                    </p:set>
                                    <p:animEffect transition="in" filter="fade">
                                      <p:cBhvr additive="repl">
                                        <p:cTn id="64" dur="450"/>
                                        <p:tgtEl>
                                          <p:spTgt spid="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Text 0"/>
          <p:cNvSpPr/>
          <p:nvPr/>
        </p:nvSpPr>
        <p:spPr>
          <a:xfrm>
            <a:off x="822960" y="594360"/>
            <a:ext cx="54846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1F7A4D"/>
                </a:solidFill>
                <a:latin typeface="Calibri"/>
                <a:ea typeface="Calibri"/>
              </a:rPr>
              <a:t>SYNTHESIS</a:t>
            </a:r>
            <a:endParaRPr lang="en-US" sz="1400" b="0" strike="noStrike" spc="-1">
              <a:solidFill>
                <a:srgbClr val="000000"/>
              </a:solidFill>
              <a:latin typeface="Arial"/>
            </a:endParaRPr>
          </a:p>
        </p:txBody>
      </p:sp>
      <p:sp>
        <p:nvSpPr>
          <p:cNvPr id="304" name="Text 1"/>
          <p:cNvSpPr/>
          <p:nvPr/>
        </p:nvSpPr>
        <p:spPr>
          <a:xfrm>
            <a:off x="777240" y="896040"/>
            <a:ext cx="9142200" cy="72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A1A1A"/>
                </a:solidFill>
                <a:latin typeface="Cambria"/>
                <a:ea typeface="Cambria"/>
              </a:rPr>
              <a:t>So, worth the investment?</a:t>
            </a:r>
            <a:endParaRPr lang="en-US" sz="3200" b="0" strike="noStrike" spc="-1">
              <a:solidFill>
                <a:srgbClr val="000000"/>
              </a:solidFill>
              <a:latin typeface="Arial"/>
            </a:endParaRPr>
          </a:p>
        </p:txBody>
      </p:sp>
      <p:sp>
        <p:nvSpPr>
          <p:cNvPr id="305" name="Text 2"/>
          <p:cNvSpPr/>
          <p:nvPr/>
        </p:nvSpPr>
        <p:spPr>
          <a:xfrm>
            <a:off x="822960" y="1645920"/>
            <a:ext cx="10330920" cy="77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350" b="0" i="1" strike="noStrike" spc="-1">
                <a:solidFill>
                  <a:srgbClr val="6B7280"/>
                </a:solidFill>
                <a:latin typeface="Calibri"/>
                <a:ea typeface="Calibri"/>
              </a:rPr>
              <a:t>The clearest finding: any injury history flattens value growth, making it the signal that actually protects a recruitment decision.</a:t>
            </a:r>
            <a:endParaRPr lang="en-US" sz="1350" b="0" strike="noStrike" spc="-1">
              <a:solidFill>
                <a:srgbClr val="000000"/>
              </a:solidFill>
              <a:latin typeface="Arial"/>
            </a:endParaRPr>
          </a:p>
        </p:txBody>
      </p:sp>
      <p:sp>
        <p:nvSpPr>
          <p:cNvPr id="306" name="Shape 3"/>
          <p:cNvSpPr/>
          <p:nvPr/>
        </p:nvSpPr>
        <p:spPr>
          <a:xfrm>
            <a:off x="822960" y="2697480"/>
            <a:ext cx="3381480" cy="2329920"/>
          </a:xfrm>
          <a:prstGeom prst="roundRect">
            <a:avLst>
              <a:gd name="adj" fmla="val 3529"/>
            </a:avLst>
          </a:prstGeom>
          <a:solidFill>
            <a:srgbClr val="FFFFFF"/>
          </a:solidFill>
          <a:ln w="19050">
            <a:solidFill>
              <a:srgbClr val="E8A33D"/>
            </a:solidFill>
            <a:round/>
          </a:ln>
          <a:effectLst>
            <a:outerShdw blurRad="101520" dist="38160" dir="5400000" algn="bl" rotWithShape="0">
              <a:srgbClr val="8C93A6">
                <a:alpha val="2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07" name="Shape 4"/>
          <p:cNvSpPr/>
          <p:nvPr/>
        </p:nvSpPr>
        <p:spPr>
          <a:xfrm>
            <a:off x="960120" y="2834640"/>
            <a:ext cx="711360" cy="711360"/>
          </a:xfrm>
          <a:prstGeom prst="ellipse">
            <a:avLst/>
          </a:prstGeom>
          <a:solidFill>
            <a:srgbClr val="E8A3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08" name="Shape 5"/>
          <p:cNvSpPr/>
          <p:nvPr/>
        </p:nvSpPr>
        <p:spPr>
          <a:xfrm>
            <a:off x="1078920" y="2953440"/>
            <a:ext cx="473760" cy="47376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309" name="Image 0" descr="preencoded.png"/>
          <p:cNvPicPr/>
          <p:nvPr/>
        </p:nvPicPr>
        <p:blipFill>
          <a:blip r:embed="rId3"/>
          <a:stretch/>
        </p:blipFill>
        <p:spPr>
          <a:xfrm>
            <a:off x="1225440" y="3099960"/>
            <a:ext cx="181080" cy="181080"/>
          </a:xfrm>
          <a:prstGeom prst="rect">
            <a:avLst/>
          </a:prstGeom>
          <a:ln w="0">
            <a:noFill/>
          </a:ln>
        </p:spPr>
      </p:pic>
      <p:sp>
        <p:nvSpPr>
          <p:cNvPr id="310" name="Text 6"/>
          <p:cNvSpPr/>
          <p:nvPr/>
        </p:nvSpPr>
        <p:spPr>
          <a:xfrm>
            <a:off x="1078920" y="3008520"/>
            <a:ext cx="255852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1" strike="noStrike" spc="89">
                <a:solidFill>
                  <a:srgbClr val="B8790C"/>
                </a:solidFill>
                <a:latin typeface="Calibri"/>
                <a:ea typeface="Calibri"/>
              </a:rPr>
              <a:t>STRONGEST SIGNAL</a:t>
            </a:r>
            <a:endParaRPr lang="en-US" sz="1100" b="0" strike="noStrike" spc="-1">
              <a:solidFill>
                <a:srgbClr val="000000"/>
              </a:solidFill>
              <a:latin typeface="Arial"/>
            </a:endParaRPr>
          </a:p>
        </p:txBody>
      </p:sp>
      <p:sp>
        <p:nvSpPr>
          <p:cNvPr id="311" name="Text 7"/>
          <p:cNvSpPr/>
          <p:nvPr/>
        </p:nvSpPr>
        <p:spPr>
          <a:xfrm>
            <a:off x="1078920" y="3557160"/>
            <a:ext cx="286956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A1A1A"/>
                </a:solidFill>
                <a:latin typeface="Calibri"/>
                <a:ea typeface="Calibri"/>
              </a:rPr>
              <a:t>Scouting</a:t>
            </a:r>
            <a:endParaRPr lang="en-US" sz="1400" b="0" strike="noStrike" spc="-1">
              <a:solidFill>
                <a:srgbClr val="000000"/>
              </a:solidFill>
              <a:latin typeface="Arial"/>
            </a:endParaRPr>
          </a:p>
        </p:txBody>
      </p:sp>
      <p:sp>
        <p:nvSpPr>
          <p:cNvPr id="312" name="Text 8"/>
          <p:cNvSpPr/>
          <p:nvPr/>
        </p:nvSpPr>
        <p:spPr>
          <a:xfrm>
            <a:off x="1078920" y="3922920"/>
            <a:ext cx="2869560" cy="100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6B7280"/>
                </a:solidFill>
                <a:latin typeface="Calibri"/>
                <a:ea typeface="Calibri"/>
              </a:rPr>
              <a:t>Any injury history flattens value growth.</a:t>
            </a:r>
            <a:endParaRPr lang="en-US" sz="1400" b="0" strike="noStrike" spc="-1">
              <a:solidFill>
                <a:srgbClr val="000000"/>
              </a:solidFill>
              <a:latin typeface="Arial"/>
            </a:endParaRPr>
          </a:p>
        </p:txBody>
      </p:sp>
      <p:sp>
        <p:nvSpPr>
          <p:cNvPr id="313" name="Shape 9"/>
          <p:cNvSpPr/>
          <p:nvPr/>
        </p:nvSpPr>
        <p:spPr>
          <a:xfrm>
            <a:off x="4434840" y="2697480"/>
            <a:ext cx="3381480" cy="2329920"/>
          </a:xfrm>
          <a:prstGeom prst="roundRect">
            <a:avLst>
              <a:gd name="adj" fmla="val 3529"/>
            </a:avLst>
          </a:prstGeom>
          <a:solidFill>
            <a:srgbClr val="FFFFFF"/>
          </a:solidFill>
          <a:ln w="0">
            <a:noFill/>
          </a:ln>
          <a:effectLst>
            <a:outerShdw blurRad="101520" dist="38160" dir="5400000" algn="bl" rotWithShape="0">
              <a:srgbClr val="8C93A6">
                <a:alpha val="2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14" name="Shape 10"/>
          <p:cNvSpPr/>
          <p:nvPr/>
        </p:nvSpPr>
        <p:spPr>
          <a:xfrm>
            <a:off x="4572000" y="2834640"/>
            <a:ext cx="711360" cy="711360"/>
          </a:xfrm>
          <a:prstGeom prst="ellipse">
            <a:avLst/>
          </a:prstGeom>
          <a:solidFill>
            <a:srgbClr val="1F7A4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15" name="Shape 11"/>
          <p:cNvSpPr/>
          <p:nvPr/>
        </p:nvSpPr>
        <p:spPr>
          <a:xfrm>
            <a:off x="4690800" y="2953440"/>
            <a:ext cx="473760" cy="47376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316" name="Image 1" descr="preencoded.png"/>
          <p:cNvPicPr/>
          <p:nvPr/>
        </p:nvPicPr>
        <p:blipFill>
          <a:blip r:embed="rId4"/>
          <a:stretch/>
        </p:blipFill>
        <p:spPr>
          <a:xfrm>
            <a:off x="4837320" y="3099960"/>
            <a:ext cx="181080" cy="181080"/>
          </a:xfrm>
          <a:prstGeom prst="rect">
            <a:avLst/>
          </a:prstGeom>
          <a:ln w="0">
            <a:noFill/>
          </a:ln>
        </p:spPr>
      </p:pic>
      <p:sp>
        <p:nvSpPr>
          <p:cNvPr id="317" name="Text 12"/>
          <p:cNvSpPr/>
          <p:nvPr/>
        </p:nvSpPr>
        <p:spPr>
          <a:xfrm>
            <a:off x="4690800" y="3557160"/>
            <a:ext cx="286956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A1A1A"/>
                </a:solidFill>
                <a:latin typeface="Calibri"/>
                <a:ea typeface="Calibri"/>
              </a:rPr>
              <a:t>Front Office</a:t>
            </a:r>
            <a:endParaRPr lang="en-US" sz="1400" b="0" strike="noStrike" spc="-1">
              <a:solidFill>
                <a:srgbClr val="000000"/>
              </a:solidFill>
              <a:latin typeface="Arial"/>
            </a:endParaRPr>
          </a:p>
        </p:txBody>
      </p:sp>
      <p:sp>
        <p:nvSpPr>
          <p:cNvPr id="318" name="Text 13"/>
          <p:cNvSpPr/>
          <p:nvPr/>
        </p:nvSpPr>
        <p:spPr>
          <a:xfrm>
            <a:off x="4690800" y="3922920"/>
            <a:ext cx="2869560" cy="100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6B7280"/>
                </a:solidFill>
                <a:latin typeface="Calibri"/>
                <a:ea typeface="Calibri"/>
              </a:rPr>
              <a:t>21–24 is the true value-risk sweet spot.</a:t>
            </a:r>
            <a:endParaRPr lang="en-US" sz="1400" b="0" strike="noStrike" spc="-1">
              <a:solidFill>
                <a:srgbClr val="000000"/>
              </a:solidFill>
              <a:latin typeface="Arial"/>
            </a:endParaRPr>
          </a:p>
        </p:txBody>
      </p:sp>
      <p:sp>
        <p:nvSpPr>
          <p:cNvPr id="319" name="Shape 14"/>
          <p:cNvSpPr/>
          <p:nvPr/>
        </p:nvSpPr>
        <p:spPr>
          <a:xfrm>
            <a:off x="8046720" y="2697480"/>
            <a:ext cx="3381480" cy="2329920"/>
          </a:xfrm>
          <a:prstGeom prst="roundRect">
            <a:avLst>
              <a:gd name="adj" fmla="val 3529"/>
            </a:avLst>
          </a:prstGeom>
          <a:solidFill>
            <a:srgbClr val="FFFFFF"/>
          </a:solidFill>
          <a:ln w="0">
            <a:noFill/>
          </a:ln>
          <a:effectLst>
            <a:outerShdw blurRad="101520" dist="38160" dir="5400000" algn="bl" rotWithShape="0">
              <a:srgbClr val="8C93A6">
                <a:alpha val="2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20" name="Shape 15"/>
          <p:cNvSpPr/>
          <p:nvPr/>
        </p:nvSpPr>
        <p:spPr>
          <a:xfrm>
            <a:off x="8183880" y="2834640"/>
            <a:ext cx="711360" cy="711360"/>
          </a:xfrm>
          <a:prstGeom prst="ellipse">
            <a:avLst/>
          </a:prstGeom>
          <a:solidFill>
            <a:srgbClr val="C0392B">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21" name="Shape 16"/>
          <p:cNvSpPr/>
          <p:nvPr/>
        </p:nvSpPr>
        <p:spPr>
          <a:xfrm>
            <a:off x="8302680" y="2953440"/>
            <a:ext cx="473760" cy="47376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322" name="Image 2" descr="preencoded.png"/>
          <p:cNvPicPr/>
          <p:nvPr/>
        </p:nvPicPr>
        <p:blipFill>
          <a:blip r:embed="rId5"/>
          <a:stretch/>
        </p:blipFill>
        <p:spPr>
          <a:xfrm>
            <a:off x="8449200" y="3099960"/>
            <a:ext cx="181080" cy="181080"/>
          </a:xfrm>
          <a:prstGeom prst="rect">
            <a:avLst/>
          </a:prstGeom>
          <a:ln w="0">
            <a:noFill/>
          </a:ln>
        </p:spPr>
      </p:pic>
      <p:sp>
        <p:nvSpPr>
          <p:cNvPr id="323" name="Text 17"/>
          <p:cNvSpPr/>
          <p:nvPr/>
        </p:nvSpPr>
        <p:spPr>
          <a:xfrm>
            <a:off x="8302680" y="3557160"/>
            <a:ext cx="286956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A1A1A"/>
                </a:solidFill>
                <a:latin typeface="Calibri"/>
                <a:ea typeface="Calibri"/>
              </a:rPr>
              <a:t>Medical</a:t>
            </a:r>
            <a:endParaRPr lang="en-US" sz="1400" b="0" strike="noStrike" spc="-1">
              <a:solidFill>
                <a:srgbClr val="000000"/>
              </a:solidFill>
              <a:latin typeface="Arial"/>
            </a:endParaRPr>
          </a:p>
        </p:txBody>
      </p:sp>
      <p:sp>
        <p:nvSpPr>
          <p:cNvPr id="324" name="Text 18"/>
          <p:cNvSpPr/>
          <p:nvPr/>
        </p:nvSpPr>
        <p:spPr>
          <a:xfrm>
            <a:off x="8302680" y="3922920"/>
            <a:ext cx="2869560" cy="100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strike="noStrike" spc="-1">
                <a:solidFill>
                  <a:srgbClr val="6B7280"/>
                </a:solidFill>
                <a:latin typeface="Calibri"/>
                <a:ea typeface="Calibri"/>
              </a:rPr>
              <a:t>Position risk is unconfirmed. Keep monitoring workload.</a:t>
            </a:r>
            <a:endParaRPr lang="en-US" sz="1400" b="0" strike="noStrike" spc="-1">
              <a:solidFill>
                <a:srgbClr val="000000"/>
              </a:solidFill>
              <a:latin typeface="Arial"/>
            </a:endParaRPr>
          </a:p>
        </p:txBody>
      </p:sp>
      <p:sp>
        <p:nvSpPr>
          <p:cNvPr id="325" name="Shape 19"/>
          <p:cNvSpPr/>
          <p:nvPr/>
        </p:nvSpPr>
        <p:spPr>
          <a:xfrm>
            <a:off x="822960" y="5349240"/>
            <a:ext cx="10513800" cy="1049760"/>
          </a:xfrm>
          <a:prstGeom prst="roundRect">
            <a:avLst>
              <a:gd name="adj" fmla="val 7826"/>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26" name="Text 20"/>
          <p:cNvSpPr/>
          <p:nvPr/>
        </p:nvSpPr>
        <p:spPr>
          <a:xfrm>
            <a:off x="1051560" y="5349240"/>
            <a:ext cx="10056600" cy="104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E8A33D"/>
                </a:solidFill>
                <a:latin typeface="Calibri"/>
                <a:ea typeface="Calibri"/>
              </a:rPr>
              <a:t>Bottom line:  </a:t>
            </a:r>
            <a:r>
              <a:rPr lang="en-US" sz="1350" b="0" strike="noStrike" spc="-1">
                <a:solidFill>
                  <a:srgbClr val="FFFFFF"/>
                </a:solidFill>
                <a:latin typeface="Calibri"/>
                <a:ea typeface="Calibri"/>
              </a:rPr>
              <a:t>injury history is the reliable signal here; a rising valuation, or forecasting one, is not. The combined signal doesn't beat value alone yet, since the forecast half doesn't hold up on its own.</a:t>
            </a:r>
            <a:endParaRPr lang="en-US" sz="1350" b="0" strike="noStrike" spc="-1">
              <a:solidFill>
                <a:srgbClr val="000000"/>
              </a:solidFill>
              <a:latin typeface="Arial"/>
            </a:endParaRPr>
          </a:p>
        </p:txBody>
      </p:sp>
      <p:sp>
        <p:nvSpPr>
          <p:cNvPr id="327" name="Text 21"/>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A3A9B5"/>
                </a:solidFill>
                <a:latin typeface="Calibri"/>
                <a:ea typeface="Calibri"/>
              </a:rPr>
              <a:t>13</a:t>
            </a:r>
            <a:endParaRPr lang="en-US" sz="1000" b="0" strike="noStrike" spc="-1">
              <a:solidFill>
                <a:srgbClr val="000000"/>
              </a:solidFill>
              <a:latin typeface="Arial"/>
            </a:endParaRPr>
          </a:p>
        </p:txBody>
      </p:sp>
    </p:spTree>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fade">
                                      <p:cBhvr additive="repl">
                                        <p:cTn id="7" dur="500"/>
                                        <p:tgtEl>
                                          <p:spTgt spid="305"/>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306"/>
                                        </p:tgtEl>
                                        <p:attrNameLst>
                                          <p:attrName>style.visibility</p:attrName>
                                        </p:attrNameLst>
                                      </p:cBhvr>
                                      <p:to>
                                        <p:strVal val="visible"/>
                                      </p:to>
                                    </p:set>
                                    <p:anim calcmode="lin" valueType="num">
                                      <p:cBhvr additive="repl">
                                        <p:cTn id="12" dur="500" fill="hold"/>
                                        <p:tgtEl>
                                          <p:spTgt spid="306"/>
                                        </p:tgtEl>
                                        <p:attrNameLst>
                                          <p:attrName>ppt_w</p:attrName>
                                        </p:attrNameLst>
                                      </p:cBhvr>
                                      <p:tavLst>
                                        <p:tav tm="0">
                                          <p:val>
                                            <p:fltVal val="0"/>
                                          </p:val>
                                        </p:tav>
                                        <p:tav tm="100000">
                                          <p:val>
                                            <p:strVal val="#ppt_w"/>
                                          </p:val>
                                        </p:tav>
                                      </p:tavLst>
                                    </p:anim>
                                    <p:anim calcmode="lin" valueType="num">
                                      <p:cBhvr additive="repl">
                                        <p:cTn id="13" dur="500" fill="hold"/>
                                        <p:tgtEl>
                                          <p:spTgt spid="306"/>
                                        </p:tgtEl>
                                        <p:attrNameLst>
                                          <p:attrName>ppt_h</p:attrName>
                                        </p:attrNameLst>
                                      </p:cBhvr>
                                      <p:tavLst>
                                        <p:tav tm="0">
                                          <p:val>
                                            <p:fltVal val="0"/>
                                          </p:val>
                                        </p:tav>
                                        <p:tav tm="100000">
                                          <p:val>
                                            <p:strVal val="#ppt_h"/>
                                          </p:val>
                                        </p:tav>
                                      </p:tavLst>
                                    </p:anim>
                                    <p:animEffect transition="in" filter="fade">
                                      <p:cBhvr additive="repl">
                                        <p:cTn id="14" dur="500"/>
                                        <p:tgtEl>
                                          <p:spTgt spid="306"/>
                                        </p:tgtEl>
                                      </p:cBhvr>
                                    </p:animEffect>
                                  </p:childTnLst>
                                </p:cTn>
                              </p:par>
                              <p:par>
                                <p:cTn id="15" presetID="53" presetClass="entr" presetSubtype="16" fill="hold" nodeType="withEffect">
                                  <p:stCondLst>
                                    <p:cond delay="0"/>
                                  </p:stCondLst>
                                  <p:childTnLst>
                                    <p:set>
                                      <p:cBhvr>
                                        <p:cTn id="16" dur="1" fill="hold">
                                          <p:stCondLst>
                                            <p:cond delay="0"/>
                                          </p:stCondLst>
                                        </p:cTn>
                                        <p:tgtEl>
                                          <p:spTgt spid="307"/>
                                        </p:tgtEl>
                                        <p:attrNameLst>
                                          <p:attrName>style.visibility</p:attrName>
                                        </p:attrNameLst>
                                      </p:cBhvr>
                                      <p:to>
                                        <p:strVal val="visible"/>
                                      </p:to>
                                    </p:set>
                                    <p:anim calcmode="lin" valueType="num">
                                      <p:cBhvr additive="repl">
                                        <p:cTn id="17" dur="500" fill="hold"/>
                                        <p:tgtEl>
                                          <p:spTgt spid="307"/>
                                        </p:tgtEl>
                                        <p:attrNameLst>
                                          <p:attrName>ppt_w</p:attrName>
                                        </p:attrNameLst>
                                      </p:cBhvr>
                                      <p:tavLst>
                                        <p:tav tm="0">
                                          <p:val>
                                            <p:fltVal val="0"/>
                                          </p:val>
                                        </p:tav>
                                        <p:tav tm="100000">
                                          <p:val>
                                            <p:strVal val="#ppt_w"/>
                                          </p:val>
                                        </p:tav>
                                      </p:tavLst>
                                    </p:anim>
                                    <p:anim calcmode="lin" valueType="num">
                                      <p:cBhvr additive="repl">
                                        <p:cTn id="18" dur="500" fill="hold"/>
                                        <p:tgtEl>
                                          <p:spTgt spid="307"/>
                                        </p:tgtEl>
                                        <p:attrNameLst>
                                          <p:attrName>ppt_h</p:attrName>
                                        </p:attrNameLst>
                                      </p:cBhvr>
                                      <p:tavLst>
                                        <p:tav tm="0">
                                          <p:val>
                                            <p:fltVal val="0"/>
                                          </p:val>
                                        </p:tav>
                                        <p:tav tm="100000">
                                          <p:val>
                                            <p:strVal val="#ppt_h"/>
                                          </p:val>
                                        </p:tav>
                                      </p:tavLst>
                                    </p:anim>
                                    <p:animEffect transition="in" filter="fade">
                                      <p:cBhvr additive="repl">
                                        <p:cTn id="19" dur="500"/>
                                        <p:tgtEl>
                                          <p:spTgt spid="307"/>
                                        </p:tgtEl>
                                      </p:cBhvr>
                                    </p:animEffect>
                                  </p:childTnLst>
                                </p:cTn>
                              </p:par>
                              <p:par>
                                <p:cTn id="20" presetID="53" presetClass="entr" presetSubtype="16" fill="hold" nodeType="withEffect">
                                  <p:stCondLst>
                                    <p:cond delay="0"/>
                                  </p:stCondLst>
                                  <p:childTnLst>
                                    <p:set>
                                      <p:cBhvr>
                                        <p:cTn id="21" dur="1" fill="hold">
                                          <p:stCondLst>
                                            <p:cond delay="0"/>
                                          </p:stCondLst>
                                        </p:cTn>
                                        <p:tgtEl>
                                          <p:spTgt spid="308"/>
                                        </p:tgtEl>
                                        <p:attrNameLst>
                                          <p:attrName>style.visibility</p:attrName>
                                        </p:attrNameLst>
                                      </p:cBhvr>
                                      <p:to>
                                        <p:strVal val="visible"/>
                                      </p:to>
                                    </p:set>
                                    <p:anim calcmode="lin" valueType="num">
                                      <p:cBhvr additive="repl">
                                        <p:cTn id="22" dur="500" fill="hold"/>
                                        <p:tgtEl>
                                          <p:spTgt spid="308"/>
                                        </p:tgtEl>
                                        <p:attrNameLst>
                                          <p:attrName>ppt_w</p:attrName>
                                        </p:attrNameLst>
                                      </p:cBhvr>
                                      <p:tavLst>
                                        <p:tav tm="0">
                                          <p:val>
                                            <p:fltVal val="0"/>
                                          </p:val>
                                        </p:tav>
                                        <p:tav tm="100000">
                                          <p:val>
                                            <p:strVal val="#ppt_w"/>
                                          </p:val>
                                        </p:tav>
                                      </p:tavLst>
                                    </p:anim>
                                    <p:anim calcmode="lin" valueType="num">
                                      <p:cBhvr additive="repl">
                                        <p:cTn id="23" dur="500" fill="hold"/>
                                        <p:tgtEl>
                                          <p:spTgt spid="308"/>
                                        </p:tgtEl>
                                        <p:attrNameLst>
                                          <p:attrName>ppt_h</p:attrName>
                                        </p:attrNameLst>
                                      </p:cBhvr>
                                      <p:tavLst>
                                        <p:tav tm="0">
                                          <p:val>
                                            <p:fltVal val="0"/>
                                          </p:val>
                                        </p:tav>
                                        <p:tav tm="100000">
                                          <p:val>
                                            <p:strVal val="#ppt_h"/>
                                          </p:val>
                                        </p:tav>
                                      </p:tavLst>
                                    </p:anim>
                                    <p:animEffect transition="in" filter="fade">
                                      <p:cBhvr additive="repl">
                                        <p:cTn id="24" dur="500"/>
                                        <p:tgtEl>
                                          <p:spTgt spid="308"/>
                                        </p:tgtEl>
                                      </p:cBhvr>
                                    </p:animEffect>
                                  </p:childTnLst>
                                </p:cTn>
                              </p:par>
                              <p:par>
                                <p:cTn id="25" presetID="53" presetClass="entr" presetSubtype="16" fill="hold" nodeType="withEffect">
                                  <p:stCondLst>
                                    <p:cond delay="0"/>
                                  </p:stCondLst>
                                  <p:childTnLst>
                                    <p:set>
                                      <p:cBhvr>
                                        <p:cTn id="26" dur="1" fill="hold">
                                          <p:stCondLst>
                                            <p:cond delay="0"/>
                                          </p:stCondLst>
                                        </p:cTn>
                                        <p:tgtEl>
                                          <p:spTgt spid="309"/>
                                        </p:tgtEl>
                                        <p:attrNameLst>
                                          <p:attrName>style.visibility</p:attrName>
                                        </p:attrNameLst>
                                      </p:cBhvr>
                                      <p:to>
                                        <p:strVal val="visible"/>
                                      </p:to>
                                    </p:set>
                                    <p:anim calcmode="lin" valueType="num">
                                      <p:cBhvr additive="repl">
                                        <p:cTn id="27" dur="500" fill="hold"/>
                                        <p:tgtEl>
                                          <p:spTgt spid="309"/>
                                        </p:tgtEl>
                                        <p:attrNameLst>
                                          <p:attrName>ppt_w</p:attrName>
                                        </p:attrNameLst>
                                      </p:cBhvr>
                                      <p:tavLst>
                                        <p:tav tm="0">
                                          <p:val>
                                            <p:fltVal val="0"/>
                                          </p:val>
                                        </p:tav>
                                        <p:tav tm="100000">
                                          <p:val>
                                            <p:strVal val="#ppt_w"/>
                                          </p:val>
                                        </p:tav>
                                      </p:tavLst>
                                    </p:anim>
                                    <p:anim calcmode="lin" valueType="num">
                                      <p:cBhvr additive="repl">
                                        <p:cTn id="28" dur="500" fill="hold"/>
                                        <p:tgtEl>
                                          <p:spTgt spid="309"/>
                                        </p:tgtEl>
                                        <p:attrNameLst>
                                          <p:attrName>ppt_h</p:attrName>
                                        </p:attrNameLst>
                                      </p:cBhvr>
                                      <p:tavLst>
                                        <p:tav tm="0">
                                          <p:val>
                                            <p:fltVal val="0"/>
                                          </p:val>
                                        </p:tav>
                                        <p:tav tm="100000">
                                          <p:val>
                                            <p:strVal val="#ppt_h"/>
                                          </p:val>
                                        </p:tav>
                                      </p:tavLst>
                                    </p:anim>
                                    <p:animEffect transition="in" filter="fade">
                                      <p:cBhvr additive="repl">
                                        <p:cTn id="29" dur="500"/>
                                        <p:tgtEl>
                                          <p:spTgt spid="309"/>
                                        </p:tgtEl>
                                      </p:cBhvr>
                                    </p:animEffect>
                                  </p:childTnLst>
                                </p:cTn>
                              </p:par>
                              <p:par>
                                <p:cTn id="30" presetID="53" presetClass="entr" presetSubtype="16" fill="hold" nodeType="withEffect">
                                  <p:stCondLst>
                                    <p:cond delay="0"/>
                                  </p:stCondLst>
                                  <p:childTnLst>
                                    <p:set>
                                      <p:cBhvr>
                                        <p:cTn id="31" dur="1" fill="hold">
                                          <p:stCondLst>
                                            <p:cond delay="0"/>
                                          </p:stCondLst>
                                        </p:cTn>
                                        <p:tgtEl>
                                          <p:spTgt spid="310"/>
                                        </p:tgtEl>
                                        <p:attrNameLst>
                                          <p:attrName>style.visibility</p:attrName>
                                        </p:attrNameLst>
                                      </p:cBhvr>
                                      <p:to>
                                        <p:strVal val="visible"/>
                                      </p:to>
                                    </p:set>
                                    <p:anim calcmode="lin" valueType="num">
                                      <p:cBhvr additive="repl">
                                        <p:cTn id="32" dur="500" fill="hold"/>
                                        <p:tgtEl>
                                          <p:spTgt spid="310"/>
                                        </p:tgtEl>
                                        <p:attrNameLst>
                                          <p:attrName>ppt_w</p:attrName>
                                        </p:attrNameLst>
                                      </p:cBhvr>
                                      <p:tavLst>
                                        <p:tav tm="0">
                                          <p:val>
                                            <p:fltVal val="0"/>
                                          </p:val>
                                        </p:tav>
                                        <p:tav tm="100000">
                                          <p:val>
                                            <p:strVal val="#ppt_w"/>
                                          </p:val>
                                        </p:tav>
                                      </p:tavLst>
                                    </p:anim>
                                    <p:anim calcmode="lin" valueType="num">
                                      <p:cBhvr additive="repl">
                                        <p:cTn id="33" dur="500" fill="hold"/>
                                        <p:tgtEl>
                                          <p:spTgt spid="310"/>
                                        </p:tgtEl>
                                        <p:attrNameLst>
                                          <p:attrName>ppt_h</p:attrName>
                                        </p:attrNameLst>
                                      </p:cBhvr>
                                      <p:tavLst>
                                        <p:tav tm="0">
                                          <p:val>
                                            <p:fltVal val="0"/>
                                          </p:val>
                                        </p:tav>
                                        <p:tav tm="100000">
                                          <p:val>
                                            <p:strVal val="#ppt_h"/>
                                          </p:val>
                                        </p:tav>
                                      </p:tavLst>
                                    </p:anim>
                                    <p:animEffect transition="in" filter="fade">
                                      <p:cBhvr additive="repl">
                                        <p:cTn id="34" dur="500"/>
                                        <p:tgtEl>
                                          <p:spTgt spid="310"/>
                                        </p:tgtEl>
                                      </p:cBhvr>
                                    </p:animEffect>
                                  </p:childTnLst>
                                </p:cTn>
                              </p:par>
                              <p:par>
                                <p:cTn id="35" presetID="53" presetClass="entr" presetSubtype="16" fill="hold" nodeType="withEffect">
                                  <p:stCondLst>
                                    <p:cond delay="0"/>
                                  </p:stCondLst>
                                  <p:childTnLst>
                                    <p:set>
                                      <p:cBhvr>
                                        <p:cTn id="36" dur="1" fill="hold">
                                          <p:stCondLst>
                                            <p:cond delay="0"/>
                                          </p:stCondLst>
                                        </p:cTn>
                                        <p:tgtEl>
                                          <p:spTgt spid="311"/>
                                        </p:tgtEl>
                                        <p:attrNameLst>
                                          <p:attrName>style.visibility</p:attrName>
                                        </p:attrNameLst>
                                      </p:cBhvr>
                                      <p:to>
                                        <p:strVal val="visible"/>
                                      </p:to>
                                    </p:set>
                                    <p:anim calcmode="lin" valueType="num">
                                      <p:cBhvr additive="repl">
                                        <p:cTn id="37" dur="500" fill="hold"/>
                                        <p:tgtEl>
                                          <p:spTgt spid="311"/>
                                        </p:tgtEl>
                                        <p:attrNameLst>
                                          <p:attrName>ppt_w</p:attrName>
                                        </p:attrNameLst>
                                      </p:cBhvr>
                                      <p:tavLst>
                                        <p:tav tm="0">
                                          <p:val>
                                            <p:fltVal val="0"/>
                                          </p:val>
                                        </p:tav>
                                        <p:tav tm="100000">
                                          <p:val>
                                            <p:strVal val="#ppt_w"/>
                                          </p:val>
                                        </p:tav>
                                      </p:tavLst>
                                    </p:anim>
                                    <p:anim calcmode="lin" valueType="num">
                                      <p:cBhvr additive="repl">
                                        <p:cTn id="38" dur="500" fill="hold"/>
                                        <p:tgtEl>
                                          <p:spTgt spid="311"/>
                                        </p:tgtEl>
                                        <p:attrNameLst>
                                          <p:attrName>ppt_h</p:attrName>
                                        </p:attrNameLst>
                                      </p:cBhvr>
                                      <p:tavLst>
                                        <p:tav tm="0">
                                          <p:val>
                                            <p:fltVal val="0"/>
                                          </p:val>
                                        </p:tav>
                                        <p:tav tm="100000">
                                          <p:val>
                                            <p:strVal val="#ppt_h"/>
                                          </p:val>
                                        </p:tav>
                                      </p:tavLst>
                                    </p:anim>
                                    <p:animEffect transition="in" filter="fade">
                                      <p:cBhvr additive="repl">
                                        <p:cTn id="39" dur="500"/>
                                        <p:tgtEl>
                                          <p:spTgt spid="311"/>
                                        </p:tgtEl>
                                      </p:cBhvr>
                                    </p:animEffect>
                                  </p:childTnLst>
                                </p:cTn>
                              </p:par>
                              <p:par>
                                <p:cTn id="40" presetID="53" presetClass="entr" presetSubtype="16" fill="hold" nodeType="withEffect">
                                  <p:stCondLst>
                                    <p:cond delay="0"/>
                                  </p:stCondLst>
                                  <p:childTnLst>
                                    <p:set>
                                      <p:cBhvr>
                                        <p:cTn id="41" dur="1" fill="hold">
                                          <p:stCondLst>
                                            <p:cond delay="0"/>
                                          </p:stCondLst>
                                        </p:cTn>
                                        <p:tgtEl>
                                          <p:spTgt spid="312"/>
                                        </p:tgtEl>
                                        <p:attrNameLst>
                                          <p:attrName>style.visibility</p:attrName>
                                        </p:attrNameLst>
                                      </p:cBhvr>
                                      <p:to>
                                        <p:strVal val="visible"/>
                                      </p:to>
                                    </p:set>
                                    <p:anim calcmode="lin" valueType="num">
                                      <p:cBhvr additive="repl">
                                        <p:cTn id="42" dur="500" fill="hold"/>
                                        <p:tgtEl>
                                          <p:spTgt spid="312"/>
                                        </p:tgtEl>
                                        <p:attrNameLst>
                                          <p:attrName>ppt_w</p:attrName>
                                        </p:attrNameLst>
                                      </p:cBhvr>
                                      <p:tavLst>
                                        <p:tav tm="0">
                                          <p:val>
                                            <p:fltVal val="0"/>
                                          </p:val>
                                        </p:tav>
                                        <p:tav tm="100000">
                                          <p:val>
                                            <p:strVal val="#ppt_w"/>
                                          </p:val>
                                        </p:tav>
                                      </p:tavLst>
                                    </p:anim>
                                    <p:anim calcmode="lin" valueType="num">
                                      <p:cBhvr additive="repl">
                                        <p:cTn id="43" dur="500" fill="hold"/>
                                        <p:tgtEl>
                                          <p:spTgt spid="312"/>
                                        </p:tgtEl>
                                        <p:attrNameLst>
                                          <p:attrName>ppt_h</p:attrName>
                                        </p:attrNameLst>
                                      </p:cBhvr>
                                      <p:tavLst>
                                        <p:tav tm="0">
                                          <p:val>
                                            <p:fltVal val="0"/>
                                          </p:val>
                                        </p:tav>
                                        <p:tav tm="100000">
                                          <p:val>
                                            <p:strVal val="#ppt_h"/>
                                          </p:val>
                                        </p:tav>
                                      </p:tavLst>
                                    </p:anim>
                                    <p:animEffect transition="in" filter="fade">
                                      <p:cBhvr additive="repl">
                                        <p:cTn id="44" dur="500"/>
                                        <p:tgtEl>
                                          <p:spTgt spid="312"/>
                                        </p:tgtEl>
                                      </p:cBhvr>
                                    </p:animEffect>
                                  </p:childTnLst>
                                </p:cTn>
                              </p:par>
                            </p:childTnLst>
                          </p:cTn>
                        </p:par>
                        <p:par>
                          <p:cTn id="45" fill="hold">
                            <p:stCondLst>
                              <p:cond delay="500"/>
                            </p:stCondLst>
                            <p:childTnLst>
                              <p:par>
                                <p:cTn id="46" presetID="53" presetClass="entr" presetSubtype="16" fill="hold" nodeType="afterEffect">
                                  <p:stCondLst>
                                    <p:cond delay="0"/>
                                  </p:stCondLst>
                                  <p:childTnLst>
                                    <p:set>
                                      <p:cBhvr>
                                        <p:cTn id="47" dur="1" fill="hold">
                                          <p:stCondLst>
                                            <p:cond delay="0"/>
                                          </p:stCondLst>
                                        </p:cTn>
                                        <p:tgtEl>
                                          <p:spTgt spid="313"/>
                                        </p:tgtEl>
                                        <p:attrNameLst>
                                          <p:attrName>style.visibility</p:attrName>
                                        </p:attrNameLst>
                                      </p:cBhvr>
                                      <p:to>
                                        <p:strVal val="visible"/>
                                      </p:to>
                                    </p:set>
                                    <p:anim calcmode="lin" valueType="num">
                                      <p:cBhvr additive="repl">
                                        <p:cTn id="48" dur="500" fill="hold"/>
                                        <p:tgtEl>
                                          <p:spTgt spid="313"/>
                                        </p:tgtEl>
                                        <p:attrNameLst>
                                          <p:attrName>ppt_w</p:attrName>
                                        </p:attrNameLst>
                                      </p:cBhvr>
                                      <p:tavLst>
                                        <p:tav tm="0">
                                          <p:val>
                                            <p:fltVal val="0"/>
                                          </p:val>
                                        </p:tav>
                                        <p:tav tm="100000">
                                          <p:val>
                                            <p:strVal val="#ppt_w"/>
                                          </p:val>
                                        </p:tav>
                                      </p:tavLst>
                                    </p:anim>
                                    <p:anim calcmode="lin" valueType="num">
                                      <p:cBhvr additive="repl">
                                        <p:cTn id="49" dur="500" fill="hold"/>
                                        <p:tgtEl>
                                          <p:spTgt spid="313"/>
                                        </p:tgtEl>
                                        <p:attrNameLst>
                                          <p:attrName>ppt_h</p:attrName>
                                        </p:attrNameLst>
                                      </p:cBhvr>
                                      <p:tavLst>
                                        <p:tav tm="0">
                                          <p:val>
                                            <p:fltVal val="0"/>
                                          </p:val>
                                        </p:tav>
                                        <p:tav tm="100000">
                                          <p:val>
                                            <p:strVal val="#ppt_h"/>
                                          </p:val>
                                        </p:tav>
                                      </p:tavLst>
                                    </p:anim>
                                    <p:animEffect transition="in" filter="fade">
                                      <p:cBhvr additive="repl">
                                        <p:cTn id="50" dur="500"/>
                                        <p:tgtEl>
                                          <p:spTgt spid="313"/>
                                        </p:tgtEl>
                                      </p:cBhvr>
                                    </p:animEffect>
                                  </p:childTnLst>
                                </p:cTn>
                              </p:par>
                              <p:par>
                                <p:cTn id="51" presetID="53" presetClass="entr" presetSubtype="16" fill="hold" nodeType="withEffect">
                                  <p:stCondLst>
                                    <p:cond delay="0"/>
                                  </p:stCondLst>
                                  <p:childTnLst>
                                    <p:set>
                                      <p:cBhvr>
                                        <p:cTn id="52" dur="1" fill="hold">
                                          <p:stCondLst>
                                            <p:cond delay="0"/>
                                          </p:stCondLst>
                                        </p:cTn>
                                        <p:tgtEl>
                                          <p:spTgt spid="314"/>
                                        </p:tgtEl>
                                        <p:attrNameLst>
                                          <p:attrName>style.visibility</p:attrName>
                                        </p:attrNameLst>
                                      </p:cBhvr>
                                      <p:to>
                                        <p:strVal val="visible"/>
                                      </p:to>
                                    </p:set>
                                    <p:anim calcmode="lin" valueType="num">
                                      <p:cBhvr additive="repl">
                                        <p:cTn id="53" dur="500" fill="hold"/>
                                        <p:tgtEl>
                                          <p:spTgt spid="314"/>
                                        </p:tgtEl>
                                        <p:attrNameLst>
                                          <p:attrName>ppt_w</p:attrName>
                                        </p:attrNameLst>
                                      </p:cBhvr>
                                      <p:tavLst>
                                        <p:tav tm="0">
                                          <p:val>
                                            <p:fltVal val="0"/>
                                          </p:val>
                                        </p:tav>
                                        <p:tav tm="100000">
                                          <p:val>
                                            <p:strVal val="#ppt_w"/>
                                          </p:val>
                                        </p:tav>
                                      </p:tavLst>
                                    </p:anim>
                                    <p:anim calcmode="lin" valueType="num">
                                      <p:cBhvr additive="repl">
                                        <p:cTn id="54" dur="500" fill="hold"/>
                                        <p:tgtEl>
                                          <p:spTgt spid="314"/>
                                        </p:tgtEl>
                                        <p:attrNameLst>
                                          <p:attrName>ppt_h</p:attrName>
                                        </p:attrNameLst>
                                      </p:cBhvr>
                                      <p:tavLst>
                                        <p:tav tm="0">
                                          <p:val>
                                            <p:fltVal val="0"/>
                                          </p:val>
                                        </p:tav>
                                        <p:tav tm="100000">
                                          <p:val>
                                            <p:strVal val="#ppt_h"/>
                                          </p:val>
                                        </p:tav>
                                      </p:tavLst>
                                    </p:anim>
                                    <p:animEffect transition="in" filter="fade">
                                      <p:cBhvr additive="repl">
                                        <p:cTn id="55" dur="500"/>
                                        <p:tgtEl>
                                          <p:spTgt spid="314"/>
                                        </p:tgtEl>
                                      </p:cBhvr>
                                    </p:animEffect>
                                  </p:childTnLst>
                                </p:cTn>
                              </p:par>
                              <p:par>
                                <p:cTn id="56" presetID="53" presetClass="entr" presetSubtype="16" fill="hold" nodeType="withEffect">
                                  <p:stCondLst>
                                    <p:cond delay="0"/>
                                  </p:stCondLst>
                                  <p:childTnLst>
                                    <p:set>
                                      <p:cBhvr>
                                        <p:cTn id="57" dur="1" fill="hold">
                                          <p:stCondLst>
                                            <p:cond delay="0"/>
                                          </p:stCondLst>
                                        </p:cTn>
                                        <p:tgtEl>
                                          <p:spTgt spid="315"/>
                                        </p:tgtEl>
                                        <p:attrNameLst>
                                          <p:attrName>style.visibility</p:attrName>
                                        </p:attrNameLst>
                                      </p:cBhvr>
                                      <p:to>
                                        <p:strVal val="visible"/>
                                      </p:to>
                                    </p:set>
                                    <p:anim calcmode="lin" valueType="num">
                                      <p:cBhvr additive="repl">
                                        <p:cTn id="58" dur="500" fill="hold"/>
                                        <p:tgtEl>
                                          <p:spTgt spid="315"/>
                                        </p:tgtEl>
                                        <p:attrNameLst>
                                          <p:attrName>ppt_w</p:attrName>
                                        </p:attrNameLst>
                                      </p:cBhvr>
                                      <p:tavLst>
                                        <p:tav tm="0">
                                          <p:val>
                                            <p:fltVal val="0"/>
                                          </p:val>
                                        </p:tav>
                                        <p:tav tm="100000">
                                          <p:val>
                                            <p:strVal val="#ppt_w"/>
                                          </p:val>
                                        </p:tav>
                                      </p:tavLst>
                                    </p:anim>
                                    <p:anim calcmode="lin" valueType="num">
                                      <p:cBhvr additive="repl">
                                        <p:cTn id="59" dur="500" fill="hold"/>
                                        <p:tgtEl>
                                          <p:spTgt spid="315"/>
                                        </p:tgtEl>
                                        <p:attrNameLst>
                                          <p:attrName>ppt_h</p:attrName>
                                        </p:attrNameLst>
                                      </p:cBhvr>
                                      <p:tavLst>
                                        <p:tav tm="0">
                                          <p:val>
                                            <p:fltVal val="0"/>
                                          </p:val>
                                        </p:tav>
                                        <p:tav tm="100000">
                                          <p:val>
                                            <p:strVal val="#ppt_h"/>
                                          </p:val>
                                        </p:tav>
                                      </p:tavLst>
                                    </p:anim>
                                    <p:animEffect transition="in" filter="fade">
                                      <p:cBhvr additive="repl">
                                        <p:cTn id="60" dur="500"/>
                                        <p:tgtEl>
                                          <p:spTgt spid="315"/>
                                        </p:tgtEl>
                                      </p:cBhvr>
                                    </p:animEffect>
                                  </p:childTnLst>
                                </p:cTn>
                              </p:par>
                              <p:par>
                                <p:cTn id="61" presetID="53" presetClass="entr" presetSubtype="16" fill="hold" nodeType="withEffect">
                                  <p:stCondLst>
                                    <p:cond delay="0"/>
                                  </p:stCondLst>
                                  <p:childTnLst>
                                    <p:set>
                                      <p:cBhvr>
                                        <p:cTn id="62" dur="1" fill="hold">
                                          <p:stCondLst>
                                            <p:cond delay="0"/>
                                          </p:stCondLst>
                                        </p:cTn>
                                        <p:tgtEl>
                                          <p:spTgt spid="316"/>
                                        </p:tgtEl>
                                        <p:attrNameLst>
                                          <p:attrName>style.visibility</p:attrName>
                                        </p:attrNameLst>
                                      </p:cBhvr>
                                      <p:to>
                                        <p:strVal val="visible"/>
                                      </p:to>
                                    </p:set>
                                    <p:anim calcmode="lin" valueType="num">
                                      <p:cBhvr additive="repl">
                                        <p:cTn id="63" dur="500" fill="hold"/>
                                        <p:tgtEl>
                                          <p:spTgt spid="316"/>
                                        </p:tgtEl>
                                        <p:attrNameLst>
                                          <p:attrName>ppt_w</p:attrName>
                                        </p:attrNameLst>
                                      </p:cBhvr>
                                      <p:tavLst>
                                        <p:tav tm="0">
                                          <p:val>
                                            <p:fltVal val="0"/>
                                          </p:val>
                                        </p:tav>
                                        <p:tav tm="100000">
                                          <p:val>
                                            <p:strVal val="#ppt_w"/>
                                          </p:val>
                                        </p:tav>
                                      </p:tavLst>
                                    </p:anim>
                                    <p:anim calcmode="lin" valueType="num">
                                      <p:cBhvr additive="repl">
                                        <p:cTn id="64" dur="500" fill="hold"/>
                                        <p:tgtEl>
                                          <p:spTgt spid="316"/>
                                        </p:tgtEl>
                                        <p:attrNameLst>
                                          <p:attrName>ppt_h</p:attrName>
                                        </p:attrNameLst>
                                      </p:cBhvr>
                                      <p:tavLst>
                                        <p:tav tm="0">
                                          <p:val>
                                            <p:fltVal val="0"/>
                                          </p:val>
                                        </p:tav>
                                        <p:tav tm="100000">
                                          <p:val>
                                            <p:strVal val="#ppt_h"/>
                                          </p:val>
                                        </p:tav>
                                      </p:tavLst>
                                    </p:anim>
                                    <p:animEffect transition="in" filter="fade">
                                      <p:cBhvr additive="repl">
                                        <p:cTn id="65" dur="500"/>
                                        <p:tgtEl>
                                          <p:spTgt spid="316"/>
                                        </p:tgtEl>
                                      </p:cBhvr>
                                    </p:animEffect>
                                  </p:childTnLst>
                                </p:cTn>
                              </p:par>
                              <p:par>
                                <p:cTn id="66" presetID="53" presetClass="entr" presetSubtype="16" fill="hold" nodeType="withEffect">
                                  <p:stCondLst>
                                    <p:cond delay="0"/>
                                  </p:stCondLst>
                                  <p:childTnLst>
                                    <p:set>
                                      <p:cBhvr>
                                        <p:cTn id="67" dur="1" fill="hold">
                                          <p:stCondLst>
                                            <p:cond delay="0"/>
                                          </p:stCondLst>
                                        </p:cTn>
                                        <p:tgtEl>
                                          <p:spTgt spid="317"/>
                                        </p:tgtEl>
                                        <p:attrNameLst>
                                          <p:attrName>style.visibility</p:attrName>
                                        </p:attrNameLst>
                                      </p:cBhvr>
                                      <p:to>
                                        <p:strVal val="visible"/>
                                      </p:to>
                                    </p:set>
                                    <p:anim calcmode="lin" valueType="num">
                                      <p:cBhvr additive="repl">
                                        <p:cTn id="68" dur="500" fill="hold"/>
                                        <p:tgtEl>
                                          <p:spTgt spid="317"/>
                                        </p:tgtEl>
                                        <p:attrNameLst>
                                          <p:attrName>ppt_w</p:attrName>
                                        </p:attrNameLst>
                                      </p:cBhvr>
                                      <p:tavLst>
                                        <p:tav tm="0">
                                          <p:val>
                                            <p:fltVal val="0"/>
                                          </p:val>
                                        </p:tav>
                                        <p:tav tm="100000">
                                          <p:val>
                                            <p:strVal val="#ppt_w"/>
                                          </p:val>
                                        </p:tav>
                                      </p:tavLst>
                                    </p:anim>
                                    <p:anim calcmode="lin" valueType="num">
                                      <p:cBhvr additive="repl">
                                        <p:cTn id="69" dur="500" fill="hold"/>
                                        <p:tgtEl>
                                          <p:spTgt spid="317"/>
                                        </p:tgtEl>
                                        <p:attrNameLst>
                                          <p:attrName>ppt_h</p:attrName>
                                        </p:attrNameLst>
                                      </p:cBhvr>
                                      <p:tavLst>
                                        <p:tav tm="0">
                                          <p:val>
                                            <p:fltVal val="0"/>
                                          </p:val>
                                        </p:tav>
                                        <p:tav tm="100000">
                                          <p:val>
                                            <p:strVal val="#ppt_h"/>
                                          </p:val>
                                        </p:tav>
                                      </p:tavLst>
                                    </p:anim>
                                    <p:animEffect transition="in" filter="fade">
                                      <p:cBhvr additive="repl">
                                        <p:cTn id="70" dur="500"/>
                                        <p:tgtEl>
                                          <p:spTgt spid="317"/>
                                        </p:tgtEl>
                                      </p:cBhvr>
                                    </p:animEffect>
                                  </p:childTnLst>
                                </p:cTn>
                              </p:par>
                              <p:par>
                                <p:cTn id="71" presetID="53" presetClass="entr" presetSubtype="16" fill="hold" nodeType="withEffect">
                                  <p:stCondLst>
                                    <p:cond delay="0"/>
                                  </p:stCondLst>
                                  <p:childTnLst>
                                    <p:set>
                                      <p:cBhvr>
                                        <p:cTn id="72" dur="1" fill="hold">
                                          <p:stCondLst>
                                            <p:cond delay="0"/>
                                          </p:stCondLst>
                                        </p:cTn>
                                        <p:tgtEl>
                                          <p:spTgt spid="318"/>
                                        </p:tgtEl>
                                        <p:attrNameLst>
                                          <p:attrName>style.visibility</p:attrName>
                                        </p:attrNameLst>
                                      </p:cBhvr>
                                      <p:to>
                                        <p:strVal val="visible"/>
                                      </p:to>
                                    </p:set>
                                    <p:anim calcmode="lin" valueType="num">
                                      <p:cBhvr additive="repl">
                                        <p:cTn id="73" dur="500" fill="hold"/>
                                        <p:tgtEl>
                                          <p:spTgt spid="318"/>
                                        </p:tgtEl>
                                        <p:attrNameLst>
                                          <p:attrName>ppt_w</p:attrName>
                                        </p:attrNameLst>
                                      </p:cBhvr>
                                      <p:tavLst>
                                        <p:tav tm="0">
                                          <p:val>
                                            <p:fltVal val="0"/>
                                          </p:val>
                                        </p:tav>
                                        <p:tav tm="100000">
                                          <p:val>
                                            <p:strVal val="#ppt_w"/>
                                          </p:val>
                                        </p:tav>
                                      </p:tavLst>
                                    </p:anim>
                                    <p:anim calcmode="lin" valueType="num">
                                      <p:cBhvr additive="repl">
                                        <p:cTn id="74" dur="500" fill="hold"/>
                                        <p:tgtEl>
                                          <p:spTgt spid="318"/>
                                        </p:tgtEl>
                                        <p:attrNameLst>
                                          <p:attrName>ppt_h</p:attrName>
                                        </p:attrNameLst>
                                      </p:cBhvr>
                                      <p:tavLst>
                                        <p:tav tm="0">
                                          <p:val>
                                            <p:fltVal val="0"/>
                                          </p:val>
                                        </p:tav>
                                        <p:tav tm="100000">
                                          <p:val>
                                            <p:strVal val="#ppt_h"/>
                                          </p:val>
                                        </p:tav>
                                      </p:tavLst>
                                    </p:anim>
                                    <p:animEffect transition="in" filter="fade">
                                      <p:cBhvr additive="repl">
                                        <p:cTn id="75" dur="500"/>
                                        <p:tgtEl>
                                          <p:spTgt spid="318"/>
                                        </p:tgtEl>
                                      </p:cBhvr>
                                    </p:animEffect>
                                  </p:childTnLst>
                                </p:cTn>
                              </p:par>
                            </p:childTnLst>
                          </p:cTn>
                        </p:par>
                        <p:par>
                          <p:cTn id="76" fill="hold">
                            <p:stCondLst>
                              <p:cond delay="1000"/>
                            </p:stCondLst>
                            <p:childTnLst>
                              <p:par>
                                <p:cTn id="77" presetID="53" presetClass="entr" presetSubtype="16" fill="hold" nodeType="afterEffect">
                                  <p:stCondLst>
                                    <p:cond delay="0"/>
                                  </p:stCondLst>
                                  <p:childTnLst>
                                    <p:set>
                                      <p:cBhvr>
                                        <p:cTn id="78" dur="1" fill="hold">
                                          <p:stCondLst>
                                            <p:cond delay="0"/>
                                          </p:stCondLst>
                                        </p:cTn>
                                        <p:tgtEl>
                                          <p:spTgt spid="319"/>
                                        </p:tgtEl>
                                        <p:attrNameLst>
                                          <p:attrName>style.visibility</p:attrName>
                                        </p:attrNameLst>
                                      </p:cBhvr>
                                      <p:to>
                                        <p:strVal val="visible"/>
                                      </p:to>
                                    </p:set>
                                    <p:anim calcmode="lin" valueType="num">
                                      <p:cBhvr additive="repl">
                                        <p:cTn id="79" dur="500" fill="hold"/>
                                        <p:tgtEl>
                                          <p:spTgt spid="319"/>
                                        </p:tgtEl>
                                        <p:attrNameLst>
                                          <p:attrName>ppt_w</p:attrName>
                                        </p:attrNameLst>
                                      </p:cBhvr>
                                      <p:tavLst>
                                        <p:tav tm="0">
                                          <p:val>
                                            <p:fltVal val="0"/>
                                          </p:val>
                                        </p:tav>
                                        <p:tav tm="100000">
                                          <p:val>
                                            <p:strVal val="#ppt_w"/>
                                          </p:val>
                                        </p:tav>
                                      </p:tavLst>
                                    </p:anim>
                                    <p:anim calcmode="lin" valueType="num">
                                      <p:cBhvr additive="repl">
                                        <p:cTn id="80" dur="500" fill="hold"/>
                                        <p:tgtEl>
                                          <p:spTgt spid="319"/>
                                        </p:tgtEl>
                                        <p:attrNameLst>
                                          <p:attrName>ppt_h</p:attrName>
                                        </p:attrNameLst>
                                      </p:cBhvr>
                                      <p:tavLst>
                                        <p:tav tm="0">
                                          <p:val>
                                            <p:fltVal val="0"/>
                                          </p:val>
                                        </p:tav>
                                        <p:tav tm="100000">
                                          <p:val>
                                            <p:strVal val="#ppt_h"/>
                                          </p:val>
                                        </p:tav>
                                      </p:tavLst>
                                    </p:anim>
                                    <p:animEffect transition="in" filter="fade">
                                      <p:cBhvr additive="repl">
                                        <p:cTn id="81" dur="500"/>
                                        <p:tgtEl>
                                          <p:spTgt spid="319"/>
                                        </p:tgtEl>
                                      </p:cBhvr>
                                    </p:animEffect>
                                  </p:childTnLst>
                                </p:cTn>
                              </p:par>
                              <p:par>
                                <p:cTn id="82" presetID="53" presetClass="entr" presetSubtype="16" fill="hold" nodeType="withEffect">
                                  <p:stCondLst>
                                    <p:cond delay="0"/>
                                  </p:stCondLst>
                                  <p:childTnLst>
                                    <p:set>
                                      <p:cBhvr>
                                        <p:cTn id="83" dur="1" fill="hold">
                                          <p:stCondLst>
                                            <p:cond delay="0"/>
                                          </p:stCondLst>
                                        </p:cTn>
                                        <p:tgtEl>
                                          <p:spTgt spid="320"/>
                                        </p:tgtEl>
                                        <p:attrNameLst>
                                          <p:attrName>style.visibility</p:attrName>
                                        </p:attrNameLst>
                                      </p:cBhvr>
                                      <p:to>
                                        <p:strVal val="visible"/>
                                      </p:to>
                                    </p:set>
                                    <p:anim calcmode="lin" valueType="num">
                                      <p:cBhvr additive="repl">
                                        <p:cTn id="84" dur="500" fill="hold"/>
                                        <p:tgtEl>
                                          <p:spTgt spid="320"/>
                                        </p:tgtEl>
                                        <p:attrNameLst>
                                          <p:attrName>ppt_w</p:attrName>
                                        </p:attrNameLst>
                                      </p:cBhvr>
                                      <p:tavLst>
                                        <p:tav tm="0">
                                          <p:val>
                                            <p:fltVal val="0"/>
                                          </p:val>
                                        </p:tav>
                                        <p:tav tm="100000">
                                          <p:val>
                                            <p:strVal val="#ppt_w"/>
                                          </p:val>
                                        </p:tav>
                                      </p:tavLst>
                                    </p:anim>
                                    <p:anim calcmode="lin" valueType="num">
                                      <p:cBhvr additive="repl">
                                        <p:cTn id="85" dur="500" fill="hold"/>
                                        <p:tgtEl>
                                          <p:spTgt spid="320"/>
                                        </p:tgtEl>
                                        <p:attrNameLst>
                                          <p:attrName>ppt_h</p:attrName>
                                        </p:attrNameLst>
                                      </p:cBhvr>
                                      <p:tavLst>
                                        <p:tav tm="0">
                                          <p:val>
                                            <p:fltVal val="0"/>
                                          </p:val>
                                        </p:tav>
                                        <p:tav tm="100000">
                                          <p:val>
                                            <p:strVal val="#ppt_h"/>
                                          </p:val>
                                        </p:tav>
                                      </p:tavLst>
                                    </p:anim>
                                    <p:animEffect transition="in" filter="fade">
                                      <p:cBhvr additive="repl">
                                        <p:cTn id="86" dur="500"/>
                                        <p:tgtEl>
                                          <p:spTgt spid="320"/>
                                        </p:tgtEl>
                                      </p:cBhvr>
                                    </p:animEffect>
                                  </p:childTnLst>
                                </p:cTn>
                              </p:par>
                              <p:par>
                                <p:cTn id="87" presetID="53" presetClass="entr" presetSubtype="16" fill="hold" nodeType="withEffect">
                                  <p:stCondLst>
                                    <p:cond delay="0"/>
                                  </p:stCondLst>
                                  <p:childTnLst>
                                    <p:set>
                                      <p:cBhvr>
                                        <p:cTn id="88" dur="1" fill="hold">
                                          <p:stCondLst>
                                            <p:cond delay="0"/>
                                          </p:stCondLst>
                                        </p:cTn>
                                        <p:tgtEl>
                                          <p:spTgt spid="321"/>
                                        </p:tgtEl>
                                        <p:attrNameLst>
                                          <p:attrName>style.visibility</p:attrName>
                                        </p:attrNameLst>
                                      </p:cBhvr>
                                      <p:to>
                                        <p:strVal val="visible"/>
                                      </p:to>
                                    </p:set>
                                    <p:anim calcmode="lin" valueType="num">
                                      <p:cBhvr additive="repl">
                                        <p:cTn id="89" dur="500" fill="hold"/>
                                        <p:tgtEl>
                                          <p:spTgt spid="321"/>
                                        </p:tgtEl>
                                        <p:attrNameLst>
                                          <p:attrName>ppt_w</p:attrName>
                                        </p:attrNameLst>
                                      </p:cBhvr>
                                      <p:tavLst>
                                        <p:tav tm="0">
                                          <p:val>
                                            <p:fltVal val="0"/>
                                          </p:val>
                                        </p:tav>
                                        <p:tav tm="100000">
                                          <p:val>
                                            <p:strVal val="#ppt_w"/>
                                          </p:val>
                                        </p:tav>
                                      </p:tavLst>
                                    </p:anim>
                                    <p:anim calcmode="lin" valueType="num">
                                      <p:cBhvr additive="repl">
                                        <p:cTn id="90" dur="500" fill="hold"/>
                                        <p:tgtEl>
                                          <p:spTgt spid="321"/>
                                        </p:tgtEl>
                                        <p:attrNameLst>
                                          <p:attrName>ppt_h</p:attrName>
                                        </p:attrNameLst>
                                      </p:cBhvr>
                                      <p:tavLst>
                                        <p:tav tm="0">
                                          <p:val>
                                            <p:fltVal val="0"/>
                                          </p:val>
                                        </p:tav>
                                        <p:tav tm="100000">
                                          <p:val>
                                            <p:strVal val="#ppt_h"/>
                                          </p:val>
                                        </p:tav>
                                      </p:tavLst>
                                    </p:anim>
                                    <p:animEffect transition="in" filter="fade">
                                      <p:cBhvr additive="repl">
                                        <p:cTn id="91" dur="500"/>
                                        <p:tgtEl>
                                          <p:spTgt spid="321"/>
                                        </p:tgtEl>
                                      </p:cBhvr>
                                    </p:animEffect>
                                  </p:childTnLst>
                                </p:cTn>
                              </p:par>
                              <p:par>
                                <p:cTn id="92" presetID="53" presetClass="entr" presetSubtype="16" fill="hold" nodeType="withEffect">
                                  <p:stCondLst>
                                    <p:cond delay="0"/>
                                  </p:stCondLst>
                                  <p:childTnLst>
                                    <p:set>
                                      <p:cBhvr>
                                        <p:cTn id="93" dur="1" fill="hold">
                                          <p:stCondLst>
                                            <p:cond delay="0"/>
                                          </p:stCondLst>
                                        </p:cTn>
                                        <p:tgtEl>
                                          <p:spTgt spid="322"/>
                                        </p:tgtEl>
                                        <p:attrNameLst>
                                          <p:attrName>style.visibility</p:attrName>
                                        </p:attrNameLst>
                                      </p:cBhvr>
                                      <p:to>
                                        <p:strVal val="visible"/>
                                      </p:to>
                                    </p:set>
                                    <p:anim calcmode="lin" valueType="num">
                                      <p:cBhvr additive="repl">
                                        <p:cTn id="94" dur="500" fill="hold"/>
                                        <p:tgtEl>
                                          <p:spTgt spid="322"/>
                                        </p:tgtEl>
                                        <p:attrNameLst>
                                          <p:attrName>ppt_w</p:attrName>
                                        </p:attrNameLst>
                                      </p:cBhvr>
                                      <p:tavLst>
                                        <p:tav tm="0">
                                          <p:val>
                                            <p:fltVal val="0"/>
                                          </p:val>
                                        </p:tav>
                                        <p:tav tm="100000">
                                          <p:val>
                                            <p:strVal val="#ppt_w"/>
                                          </p:val>
                                        </p:tav>
                                      </p:tavLst>
                                    </p:anim>
                                    <p:anim calcmode="lin" valueType="num">
                                      <p:cBhvr additive="repl">
                                        <p:cTn id="95" dur="500" fill="hold"/>
                                        <p:tgtEl>
                                          <p:spTgt spid="322"/>
                                        </p:tgtEl>
                                        <p:attrNameLst>
                                          <p:attrName>ppt_h</p:attrName>
                                        </p:attrNameLst>
                                      </p:cBhvr>
                                      <p:tavLst>
                                        <p:tav tm="0">
                                          <p:val>
                                            <p:fltVal val="0"/>
                                          </p:val>
                                        </p:tav>
                                        <p:tav tm="100000">
                                          <p:val>
                                            <p:strVal val="#ppt_h"/>
                                          </p:val>
                                        </p:tav>
                                      </p:tavLst>
                                    </p:anim>
                                    <p:animEffect transition="in" filter="fade">
                                      <p:cBhvr additive="repl">
                                        <p:cTn id="96" dur="500"/>
                                        <p:tgtEl>
                                          <p:spTgt spid="322"/>
                                        </p:tgtEl>
                                      </p:cBhvr>
                                    </p:animEffect>
                                  </p:childTnLst>
                                </p:cTn>
                              </p:par>
                              <p:par>
                                <p:cTn id="97" presetID="53" presetClass="entr" presetSubtype="16" fill="hold" nodeType="withEffect">
                                  <p:stCondLst>
                                    <p:cond delay="0"/>
                                  </p:stCondLst>
                                  <p:childTnLst>
                                    <p:set>
                                      <p:cBhvr>
                                        <p:cTn id="98" dur="1" fill="hold">
                                          <p:stCondLst>
                                            <p:cond delay="0"/>
                                          </p:stCondLst>
                                        </p:cTn>
                                        <p:tgtEl>
                                          <p:spTgt spid="323"/>
                                        </p:tgtEl>
                                        <p:attrNameLst>
                                          <p:attrName>style.visibility</p:attrName>
                                        </p:attrNameLst>
                                      </p:cBhvr>
                                      <p:to>
                                        <p:strVal val="visible"/>
                                      </p:to>
                                    </p:set>
                                    <p:anim calcmode="lin" valueType="num">
                                      <p:cBhvr additive="repl">
                                        <p:cTn id="99" dur="500" fill="hold"/>
                                        <p:tgtEl>
                                          <p:spTgt spid="323"/>
                                        </p:tgtEl>
                                        <p:attrNameLst>
                                          <p:attrName>ppt_w</p:attrName>
                                        </p:attrNameLst>
                                      </p:cBhvr>
                                      <p:tavLst>
                                        <p:tav tm="0">
                                          <p:val>
                                            <p:fltVal val="0"/>
                                          </p:val>
                                        </p:tav>
                                        <p:tav tm="100000">
                                          <p:val>
                                            <p:strVal val="#ppt_w"/>
                                          </p:val>
                                        </p:tav>
                                      </p:tavLst>
                                    </p:anim>
                                    <p:anim calcmode="lin" valueType="num">
                                      <p:cBhvr additive="repl">
                                        <p:cTn id="100" dur="500" fill="hold"/>
                                        <p:tgtEl>
                                          <p:spTgt spid="323"/>
                                        </p:tgtEl>
                                        <p:attrNameLst>
                                          <p:attrName>ppt_h</p:attrName>
                                        </p:attrNameLst>
                                      </p:cBhvr>
                                      <p:tavLst>
                                        <p:tav tm="0">
                                          <p:val>
                                            <p:fltVal val="0"/>
                                          </p:val>
                                        </p:tav>
                                        <p:tav tm="100000">
                                          <p:val>
                                            <p:strVal val="#ppt_h"/>
                                          </p:val>
                                        </p:tav>
                                      </p:tavLst>
                                    </p:anim>
                                    <p:animEffect transition="in" filter="fade">
                                      <p:cBhvr additive="repl">
                                        <p:cTn id="101" dur="500"/>
                                        <p:tgtEl>
                                          <p:spTgt spid="323"/>
                                        </p:tgtEl>
                                      </p:cBhvr>
                                    </p:animEffect>
                                  </p:childTnLst>
                                </p:cTn>
                              </p:par>
                              <p:par>
                                <p:cTn id="102" presetID="53" presetClass="entr" presetSubtype="16" fill="hold" nodeType="withEffect">
                                  <p:stCondLst>
                                    <p:cond delay="0"/>
                                  </p:stCondLst>
                                  <p:childTnLst>
                                    <p:set>
                                      <p:cBhvr>
                                        <p:cTn id="103" dur="1" fill="hold">
                                          <p:stCondLst>
                                            <p:cond delay="0"/>
                                          </p:stCondLst>
                                        </p:cTn>
                                        <p:tgtEl>
                                          <p:spTgt spid="324"/>
                                        </p:tgtEl>
                                        <p:attrNameLst>
                                          <p:attrName>style.visibility</p:attrName>
                                        </p:attrNameLst>
                                      </p:cBhvr>
                                      <p:to>
                                        <p:strVal val="visible"/>
                                      </p:to>
                                    </p:set>
                                    <p:anim calcmode="lin" valueType="num">
                                      <p:cBhvr additive="repl">
                                        <p:cTn id="104" dur="500" fill="hold"/>
                                        <p:tgtEl>
                                          <p:spTgt spid="324"/>
                                        </p:tgtEl>
                                        <p:attrNameLst>
                                          <p:attrName>ppt_w</p:attrName>
                                        </p:attrNameLst>
                                      </p:cBhvr>
                                      <p:tavLst>
                                        <p:tav tm="0">
                                          <p:val>
                                            <p:fltVal val="0"/>
                                          </p:val>
                                        </p:tav>
                                        <p:tav tm="100000">
                                          <p:val>
                                            <p:strVal val="#ppt_w"/>
                                          </p:val>
                                        </p:tav>
                                      </p:tavLst>
                                    </p:anim>
                                    <p:anim calcmode="lin" valueType="num">
                                      <p:cBhvr additive="repl">
                                        <p:cTn id="105" dur="500" fill="hold"/>
                                        <p:tgtEl>
                                          <p:spTgt spid="324"/>
                                        </p:tgtEl>
                                        <p:attrNameLst>
                                          <p:attrName>ppt_h</p:attrName>
                                        </p:attrNameLst>
                                      </p:cBhvr>
                                      <p:tavLst>
                                        <p:tav tm="0">
                                          <p:val>
                                            <p:fltVal val="0"/>
                                          </p:val>
                                        </p:tav>
                                        <p:tav tm="100000">
                                          <p:val>
                                            <p:strVal val="#ppt_h"/>
                                          </p:val>
                                        </p:tav>
                                      </p:tavLst>
                                    </p:anim>
                                    <p:animEffect transition="in" filter="fade">
                                      <p:cBhvr additive="repl">
                                        <p:cTn id="106" dur="500"/>
                                        <p:tgtEl>
                                          <p:spTgt spid="324"/>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nodeType="clickEffect">
                                  <p:stCondLst>
                                    <p:cond delay="0"/>
                                  </p:stCondLst>
                                  <p:childTnLst>
                                    <p:set>
                                      <p:cBhvr>
                                        <p:cTn id="110" dur="1" fill="hold">
                                          <p:stCondLst>
                                            <p:cond delay="0"/>
                                          </p:stCondLst>
                                        </p:cTn>
                                        <p:tgtEl>
                                          <p:spTgt spid="325"/>
                                        </p:tgtEl>
                                        <p:attrNameLst>
                                          <p:attrName>style.visibility</p:attrName>
                                        </p:attrNameLst>
                                      </p:cBhvr>
                                      <p:to>
                                        <p:strVal val="visible"/>
                                      </p:to>
                                    </p:set>
                                    <p:animEffect transition="in" filter="wipe(up)">
                                      <p:cBhvr additive="repl">
                                        <p:cTn id="111" dur="700"/>
                                        <p:tgtEl>
                                          <p:spTgt spid="325"/>
                                        </p:tgtEl>
                                      </p:cBhvr>
                                    </p:animEffect>
                                  </p:childTnLst>
                                </p:cTn>
                              </p:par>
                              <p:par>
                                <p:cTn id="112" presetID="22" presetClass="entr" presetSubtype="4" fill="hold" nodeType="withEffect">
                                  <p:stCondLst>
                                    <p:cond delay="0"/>
                                  </p:stCondLst>
                                  <p:childTnLst>
                                    <p:set>
                                      <p:cBhvr>
                                        <p:cTn id="113" dur="1" fill="hold">
                                          <p:stCondLst>
                                            <p:cond delay="0"/>
                                          </p:stCondLst>
                                        </p:cTn>
                                        <p:tgtEl>
                                          <p:spTgt spid="326"/>
                                        </p:tgtEl>
                                        <p:attrNameLst>
                                          <p:attrName>style.visibility</p:attrName>
                                        </p:attrNameLst>
                                      </p:cBhvr>
                                      <p:to>
                                        <p:strVal val="visible"/>
                                      </p:to>
                                    </p:set>
                                    <p:animEffect transition="in" filter="wipe(up)">
                                      <p:cBhvr additive="repl">
                                        <p:cTn id="114" dur="700"/>
                                        <p:tgtEl>
                                          <p:spTgt spid="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28" name="Text 0"/>
          <p:cNvSpPr/>
          <p:nvPr/>
        </p:nvSpPr>
        <p:spPr>
          <a:xfrm>
            <a:off x="822960" y="594360"/>
            <a:ext cx="54846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1F7A4D"/>
                </a:solidFill>
                <a:latin typeface="Calibri"/>
                <a:ea typeface="Calibri"/>
              </a:rPr>
              <a:t>RECOMMENDATIONS</a:t>
            </a:r>
            <a:endParaRPr lang="en-US" sz="1400" b="0" strike="noStrike" spc="-1">
              <a:solidFill>
                <a:srgbClr val="000000"/>
              </a:solidFill>
              <a:latin typeface="Arial"/>
            </a:endParaRPr>
          </a:p>
        </p:txBody>
      </p:sp>
      <p:sp>
        <p:nvSpPr>
          <p:cNvPr id="329" name="Text 1"/>
          <p:cNvSpPr/>
          <p:nvPr/>
        </p:nvSpPr>
        <p:spPr>
          <a:xfrm>
            <a:off x="777240" y="896040"/>
            <a:ext cx="9599400" cy="72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A1A1A"/>
                </a:solidFill>
                <a:latin typeface="Cambria"/>
                <a:ea typeface="Cambria"/>
              </a:rPr>
              <a:t>What this means for recruitment</a:t>
            </a:r>
            <a:endParaRPr lang="en-US" sz="3200" b="0" strike="noStrike" spc="-1">
              <a:solidFill>
                <a:srgbClr val="000000"/>
              </a:solidFill>
              <a:latin typeface="Arial"/>
            </a:endParaRPr>
          </a:p>
        </p:txBody>
      </p:sp>
      <p:sp>
        <p:nvSpPr>
          <p:cNvPr id="330" name="Shape 2"/>
          <p:cNvSpPr/>
          <p:nvPr/>
        </p:nvSpPr>
        <p:spPr>
          <a:xfrm>
            <a:off x="822960" y="2011680"/>
            <a:ext cx="10513800" cy="1186920"/>
          </a:xfrm>
          <a:prstGeom prst="roundRect">
            <a:avLst>
              <a:gd name="adj" fmla="val 6923"/>
            </a:avLst>
          </a:prstGeom>
          <a:solidFill>
            <a:srgbClr val="FFFFFF"/>
          </a:solidFill>
          <a:ln w="0">
            <a:noFill/>
          </a:ln>
          <a:effectLst>
            <a:outerShdw blurRad="88920" dist="38160" dir="5400000" algn="bl" rotWithShape="0">
              <a:srgbClr val="8C93A6">
                <a:alpha val="2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31" name="Shape 3"/>
          <p:cNvSpPr/>
          <p:nvPr/>
        </p:nvSpPr>
        <p:spPr>
          <a:xfrm>
            <a:off x="937440" y="2180880"/>
            <a:ext cx="848520" cy="848520"/>
          </a:xfrm>
          <a:prstGeom prst="ellipse">
            <a:avLst/>
          </a:prstGeom>
          <a:solidFill>
            <a:srgbClr val="E8A33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32" name="Shape 4"/>
          <p:cNvSpPr/>
          <p:nvPr/>
        </p:nvSpPr>
        <p:spPr>
          <a:xfrm>
            <a:off x="1078920" y="2322720"/>
            <a:ext cx="565200" cy="56520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33" name="Text 5"/>
          <p:cNvSpPr/>
          <p:nvPr/>
        </p:nvSpPr>
        <p:spPr>
          <a:xfrm>
            <a:off x="1920240" y="2194560"/>
            <a:ext cx="2741400" cy="82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strike="noStrike" spc="-1">
                <a:solidFill>
                  <a:srgbClr val="1A1A1A"/>
                </a:solidFill>
                <a:latin typeface="Calibri"/>
                <a:ea typeface="Calibri"/>
              </a:rPr>
              <a:t>Scouting</a:t>
            </a:r>
            <a:endParaRPr lang="en-US" sz="1550" b="0" strike="noStrike" spc="-1">
              <a:solidFill>
                <a:srgbClr val="000000"/>
              </a:solidFill>
              <a:latin typeface="Arial"/>
            </a:endParaRPr>
          </a:p>
        </p:txBody>
      </p:sp>
      <p:sp>
        <p:nvSpPr>
          <p:cNvPr id="334" name="Text 6"/>
          <p:cNvSpPr/>
          <p:nvPr/>
        </p:nvSpPr>
        <p:spPr>
          <a:xfrm>
            <a:off x="4317840" y="2148840"/>
            <a:ext cx="6792840" cy="91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Screen for any injury history, not just recent incidents. That's the pattern the data actually supports.</a:t>
            </a:r>
            <a:endParaRPr lang="en-US" sz="1400" b="0" strike="noStrike" spc="-1">
              <a:solidFill>
                <a:srgbClr val="000000"/>
              </a:solidFill>
              <a:latin typeface="Arial"/>
            </a:endParaRPr>
          </a:p>
        </p:txBody>
      </p:sp>
      <p:sp>
        <p:nvSpPr>
          <p:cNvPr id="335" name="Shape 7"/>
          <p:cNvSpPr/>
          <p:nvPr/>
        </p:nvSpPr>
        <p:spPr>
          <a:xfrm>
            <a:off x="822960" y="3429000"/>
            <a:ext cx="10513800" cy="1186920"/>
          </a:xfrm>
          <a:prstGeom prst="roundRect">
            <a:avLst>
              <a:gd name="adj" fmla="val 6923"/>
            </a:avLst>
          </a:prstGeom>
          <a:solidFill>
            <a:srgbClr val="FFFFFF"/>
          </a:solidFill>
          <a:ln w="0">
            <a:noFill/>
          </a:ln>
          <a:effectLst>
            <a:outerShdw blurRad="88920" dist="38160" dir="5400000" algn="bl" rotWithShape="0">
              <a:srgbClr val="8C93A6">
                <a:alpha val="2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36" name="Shape 8"/>
          <p:cNvSpPr/>
          <p:nvPr/>
        </p:nvSpPr>
        <p:spPr>
          <a:xfrm>
            <a:off x="937440" y="3598200"/>
            <a:ext cx="848520" cy="848520"/>
          </a:xfrm>
          <a:prstGeom prst="ellipse">
            <a:avLst/>
          </a:prstGeom>
          <a:solidFill>
            <a:srgbClr val="1F7A4D">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37" name="Shape 9"/>
          <p:cNvSpPr/>
          <p:nvPr/>
        </p:nvSpPr>
        <p:spPr>
          <a:xfrm>
            <a:off x="1078920" y="3740040"/>
            <a:ext cx="565200" cy="565200"/>
          </a:xfrm>
          <a:prstGeom prst="ellipse">
            <a:avLst/>
          </a:prstGeom>
          <a:solidFill>
            <a:srgbClr val="1F7A4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338" name="Image 1" descr="preencoded.png"/>
          <p:cNvPicPr/>
          <p:nvPr/>
        </p:nvPicPr>
        <p:blipFill>
          <a:blip r:embed="rId3"/>
          <a:stretch/>
        </p:blipFill>
        <p:spPr>
          <a:xfrm>
            <a:off x="1225440" y="3886200"/>
            <a:ext cx="272520" cy="272520"/>
          </a:xfrm>
          <a:prstGeom prst="rect">
            <a:avLst/>
          </a:prstGeom>
          <a:ln w="0">
            <a:noFill/>
          </a:ln>
        </p:spPr>
      </p:pic>
      <p:sp>
        <p:nvSpPr>
          <p:cNvPr id="339" name="Text 10"/>
          <p:cNvSpPr/>
          <p:nvPr/>
        </p:nvSpPr>
        <p:spPr>
          <a:xfrm>
            <a:off x="1920240" y="3611880"/>
            <a:ext cx="2741400" cy="82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strike="noStrike" spc="-1">
                <a:solidFill>
                  <a:srgbClr val="1A1A1A"/>
                </a:solidFill>
                <a:latin typeface="Calibri"/>
                <a:ea typeface="Calibri"/>
              </a:rPr>
              <a:t>Front Office</a:t>
            </a:r>
            <a:endParaRPr lang="en-US" sz="1550" b="0" strike="noStrike" spc="-1">
              <a:solidFill>
                <a:srgbClr val="000000"/>
              </a:solidFill>
              <a:latin typeface="Arial"/>
            </a:endParaRPr>
          </a:p>
        </p:txBody>
      </p:sp>
      <p:sp>
        <p:nvSpPr>
          <p:cNvPr id="340" name="Text 11"/>
          <p:cNvSpPr/>
          <p:nvPr/>
        </p:nvSpPr>
        <p:spPr>
          <a:xfrm>
            <a:off x="4317840" y="3566160"/>
            <a:ext cx="6792840" cy="91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Weight the 21–24 age band in valuation models. It's the only bracket combining above-average growth with below-average risk.</a:t>
            </a:r>
            <a:endParaRPr lang="en-US" sz="1400" b="0" strike="noStrike" spc="-1">
              <a:solidFill>
                <a:srgbClr val="000000"/>
              </a:solidFill>
              <a:latin typeface="Arial"/>
            </a:endParaRPr>
          </a:p>
        </p:txBody>
      </p:sp>
      <p:sp>
        <p:nvSpPr>
          <p:cNvPr id="341" name="Shape 12"/>
          <p:cNvSpPr/>
          <p:nvPr/>
        </p:nvSpPr>
        <p:spPr>
          <a:xfrm>
            <a:off x="822960" y="4846320"/>
            <a:ext cx="10513800" cy="1186920"/>
          </a:xfrm>
          <a:prstGeom prst="roundRect">
            <a:avLst>
              <a:gd name="adj" fmla="val 6923"/>
            </a:avLst>
          </a:prstGeom>
          <a:solidFill>
            <a:srgbClr val="FFFFFF"/>
          </a:solidFill>
          <a:ln w="0">
            <a:noFill/>
          </a:ln>
          <a:effectLst>
            <a:outerShdw blurRad="88920" dist="38160" dir="5400000" algn="bl" rotWithShape="0">
              <a:srgbClr val="8C93A6">
                <a:alpha val="2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42" name="Shape 13"/>
          <p:cNvSpPr/>
          <p:nvPr/>
        </p:nvSpPr>
        <p:spPr>
          <a:xfrm>
            <a:off x="937440" y="5015520"/>
            <a:ext cx="848520" cy="848520"/>
          </a:xfrm>
          <a:prstGeom prst="ellipse">
            <a:avLst/>
          </a:prstGeom>
          <a:solidFill>
            <a:srgbClr val="C0392B">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43" name="Shape 14"/>
          <p:cNvSpPr/>
          <p:nvPr/>
        </p:nvSpPr>
        <p:spPr>
          <a:xfrm>
            <a:off x="1078920" y="5157360"/>
            <a:ext cx="565200" cy="565200"/>
          </a:xfrm>
          <a:prstGeom prst="ellipse">
            <a:avLst/>
          </a:prstGeom>
          <a:solidFill>
            <a:srgbClr val="C0392B"/>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pic>
        <p:nvPicPr>
          <p:cNvPr id="344" name="Image 2" descr="preencoded.png"/>
          <p:cNvPicPr/>
          <p:nvPr/>
        </p:nvPicPr>
        <p:blipFill>
          <a:blip r:embed="rId4"/>
          <a:stretch/>
        </p:blipFill>
        <p:spPr>
          <a:xfrm>
            <a:off x="1225440" y="5303520"/>
            <a:ext cx="272520" cy="272520"/>
          </a:xfrm>
          <a:prstGeom prst="rect">
            <a:avLst/>
          </a:prstGeom>
          <a:ln w="0">
            <a:noFill/>
          </a:ln>
        </p:spPr>
      </p:pic>
      <p:sp>
        <p:nvSpPr>
          <p:cNvPr id="345" name="Text 15"/>
          <p:cNvSpPr/>
          <p:nvPr/>
        </p:nvSpPr>
        <p:spPr>
          <a:xfrm>
            <a:off x="1920240" y="5029200"/>
            <a:ext cx="2741400" cy="82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strike="noStrike" spc="-1">
                <a:solidFill>
                  <a:srgbClr val="1A1A1A"/>
                </a:solidFill>
                <a:latin typeface="Calibri"/>
                <a:ea typeface="Calibri"/>
              </a:rPr>
              <a:t>Medical / Performance</a:t>
            </a:r>
            <a:endParaRPr lang="en-US" sz="1550" b="0" strike="noStrike" spc="-1">
              <a:solidFill>
                <a:srgbClr val="000000"/>
              </a:solidFill>
              <a:latin typeface="Arial"/>
            </a:endParaRPr>
          </a:p>
        </p:txBody>
      </p:sp>
      <p:sp>
        <p:nvSpPr>
          <p:cNvPr id="346" name="Text 16"/>
          <p:cNvSpPr/>
          <p:nvPr/>
        </p:nvSpPr>
        <p:spPr>
          <a:xfrm>
            <a:off x="4317840" y="4983480"/>
            <a:ext cx="6792840" cy="91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
                <a:solidFill>
                  <a:srgbClr val="44506B"/>
                </a:solidFill>
                <a:latin typeface="Calibri"/>
                <a:ea typeface="Calibri"/>
              </a:rPr>
              <a:t>Keep workload monitoring regardless of position. The goalkeeper pattern is promising but not yet statistically confirmed.</a:t>
            </a:r>
            <a:endParaRPr lang="en-US" sz="1400" b="0" strike="noStrike" spc="-1">
              <a:solidFill>
                <a:srgbClr val="000000"/>
              </a:solidFill>
              <a:latin typeface="Arial"/>
            </a:endParaRPr>
          </a:p>
        </p:txBody>
      </p:sp>
      <p:sp>
        <p:nvSpPr>
          <p:cNvPr id="347" name="Text 17"/>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5A6478"/>
                </a:solidFill>
                <a:latin typeface="Calibri"/>
                <a:ea typeface="Calibri"/>
              </a:rPr>
              <a:t>14</a:t>
            </a:r>
            <a:endParaRPr lang="en-US" sz="1200" b="0" strike="noStrike" spc="-1">
              <a:solidFill>
                <a:srgbClr val="000000"/>
              </a:solidFill>
              <a:latin typeface="Arial"/>
            </a:endParaRPr>
          </a:p>
        </p:txBody>
      </p:sp>
      <p:pic>
        <p:nvPicPr>
          <p:cNvPr id="348" name="Copied Picture 349" descr="preencoded.png"/>
          <p:cNvPicPr/>
          <p:nvPr/>
        </p:nvPicPr>
        <p:blipFill>
          <a:blip r:embed="rId5"/>
          <a:stretch/>
        </p:blipFill>
        <p:spPr>
          <a:xfrm>
            <a:off x="1219320" y="2463840"/>
            <a:ext cx="277920" cy="277920"/>
          </a:xfrm>
          <a:prstGeom prst="rect">
            <a:avLst/>
          </a:prstGeom>
          <a:ln w="0">
            <a:noFill/>
          </a:ln>
        </p:spPr>
      </p:pic>
    </p:spTree>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animEffect transition="in" filter="fade">
                                      <p:cBhvr additive="repl">
                                        <p:cTn id="7" dur="450"/>
                                        <p:tgtEl>
                                          <p:spTgt spid="330"/>
                                        </p:tgtEl>
                                      </p:cBhvr>
                                    </p:animEffect>
                                  </p:childTnLst>
                                </p:cTn>
                              </p:par>
                              <p:par>
                                <p:cTn id="8" presetID="10" presetClass="entr" fill="hold" nodeType="withEffect">
                                  <p:stCondLst>
                                    <p:cond delay="0"/>
                                  </p:stCondLst>
                                  <p:childTnLst>
                                    <p:set>
                                      <p:cBhvr>
                                        <p:cTn id="9" dur="1" fill="hold">
                                          <p:stCondLst>
                                            <p:cond delay="0"/>
                                          </p:stCondLst>
                                        </p:cTn>
                                        <p:tgtEl>
                                          <p:spTgt spid="334"/>
                                        </p:tgtEl>
                                        <p:attrNameLst>
                                          <p:attrName>style.visibility</p:attrName>
                                        </p:attrNameLst>
                                      </p:cBhvr>
                                      <p:to>
                                        <p:strVal val="visible"/>
                                      </p:to>
                                    </p:set>
                                    <p:animEffect transition="in" filter="fade">
                                      <p:cBhvr additive="repl">
                                        <p:cTn id="10" dur="450"/>
                                        <p:tgtEl>
                                          <p:spTgt spid="334"/>
                                        </p:tgtEl>
                                      </p:cBhvr>
                                    </p:animEffect>
                                  </p:childTnLst>
                                </p:cTn>
                              </p:par>
                              <p:par>
                                <p:cTn id="11" presetID="10" presetClass="entr" fill="hold" nodeType="withEffect">
                                  <p:stCondLst>
                                    <p:cond delay="0"/>
                                  </p:stCondLst>
                                  <p:childTnLst>
                                    <p:set>
                                      <p:cBhvr>
                                        <p:cTn id="12" dur="1" fill="hold">
                                          <p:stCondLst>
                                            <p:cond delay="0"/>
                                          </p:stCondLst>
                                        </p:cTn>
                                        <p:tgtEl>
                                          <p:spTgt spid="331"/>
                                        </p:tgtEl>
                                        <p:attrNameLst>
                                          <p:attrName>style.visibility</p:attrName>
                                        </p:attrNameLst>
                                      </p:cBhvr>
                                      <p:to>
                                        <p:strVal val="visible"/>
                                      </p:to>
                                    </p:set>
                                    <p:animEffect transition="in" filter="fade">
                                      <p:cBhvr additive="repl">
                                        <p:cTn id="13" dur="450"/>
                                        <p:tgtEl>
                                          <p:spTgt spid="331"/>
                                        </p:tgtEl>
                                      </p:cBhvr>
                                    </p:animEffect>
                                  </p:childTnLst>
                                </p:cTn>
                              </p:par>
                              <p:par>
                                <p:cTn id="14" presetID="10" presetClass="entr" fill="hold" nodeType="withEffect">
                                  <p:stCondLst>
                                    <p:cond delay="0"/>
                                  </p:stCondLst>
                                  <p:childTnLst>
                                    <p:set>
                                      <p:cBhvr>
                                        <p:cTn id="15" dur="1" fill="hold">
                                          <p:stCondLst>
                                            <p:cond delay="0"/>
                                          </p:stCondLst>
                                        </p:cTn>
                                        <p:tgtEl>
                                          <p:spTgt spid="333"/>
                                        </p:tgtEl>
                                        <p:attrNameLst>
                                          <p:attrName>style.visibility</p:attrName>
                                        </p:attrNameLst>
                                      </p:cBhvr>
                                      <p:to>
                                        <p:strVal val="visible"/>
                                      </p:to>
                                    </p:set>
                                    <p:animEffect transition="in" filter="fade">
                                      <p:cBhvr additive="repl">
                                        <p:cTn id="16" dur="450"/>
                                        <p:tgtEl>
                                          <p:spTgt spid="333"/>
                                        </p:tgtEl>
                                      </p:cBhvr>
                                    </p:animEffect>
                                  </p:childTnLst>
                                </p:cTn>
                              </p:par>
                              <p:par>
                                <p:cTn id="17" presetID="10" presetClass="entr" fill="hold" nodeType="withEffect">
                                  <p:stCondLst>
                                    <p:cond delay="0"/>
                                  </p:stCondLst>
                                  <p:childTnLst>
                                    <p:set>
                                      <p:cBhvr>
                                        <p:cTn id="18" dur="1" fill="hold">
                                          <p:stCondLst>
                                            <p:cond delay="0"/>
                                          </p:stCondLst>
                                        </p:cTn>
                                        <p:tgtEl>
                                          <p:spTgt spid="332"/>
                                        </p:tgtEl>
                                        <p:attrNameLst>
                                          <p:attrName>style.visibility</p:attrName>
                                        </p:attrNameLst>
                                      </p:cBhvr>
                                      <p:to>
                                        <p:strVal val="visible"/>
                                      </p:to>
                                    </p:set>
                                    <p:animEffect transition="in" filter="fade">
                                      <p:cBhvr additive="repl">
                                        <p:cTn id="19" dur="450"/>
                                        <p:tgtEl>
                                          <p:spTgt spid="332"/>
                                        </p:tgtEl>
                                      </p:cBhvr>
                                    </p:animEffect>
                                  </p:childTnLst>
                                </p:cTn>
                              </p:par>
                              <p:par>
                                <p:cTn id="20" presetID="10" presetClass="entr" fill="hold" nodeType="withEffect">
                                  <p:stCondLst>
                                    <p:cond delay="0"/>
                                  </p:stCondLst>
                                  <p:childTnLst>
                                    <p:set>
                                      <p:cBhvr>
                                        <p:cTn id="21" dur="1" fill="hold">
                                          <p:stCondLst>
                                            <p:cond delay="0"/>
                                          </p:stCondLst>
                                        </p:cTn>
                                        <p:tgtEl>
                                          <p:spTgt spid="348"/>
                                        </p:tgtEl>
                                        <p:attrNameLst>
                                          <p:attrName>style.visibility</p:attrName>
                                        </p:attrNameLst>
                                      </p:cBhvr>
                                      <p:to>
                                        <p:strVal val="visible"/>
                                      </p:to>
                                    </p:set>
                                    <p:animEffect transition="in" filter="fade">
                                      <p:cBhvr additive="repl">
                                        <p:cTn id="22" dur="450"/>
                                        <p:tgtEl>
                                          <p:spTgt spid="34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fill="hold" nodeType="clickEffect">
                                  <p:stCondLst>
                                    <p:cond delay="0"/>
                                  </p:stCondLst>
                                  <p:childTnLst>
                                    <p:set>
                                      <p:cBhvr>
                                        <p:cTn id="26" dur="1" fill="hold">
                                          <p:stCondLst>
                                            <p:cond delay="0"/>
                                          </p:stCondLst>
                                        </p:cTn>
                                        <p:tgtEl>
                                          <p:spTgt spid="335"/>
                                        </p:tgtEl>
                                        <p:attrNameLst>
                                          <p:attrName>style.visibility</p:attrName>
                                        </p:attrNameLst>
                                      </p:cBhvr>
                                      <p:to>
                                        <p:strVal val="visible"/>
                                      </p:to>
                                    </p:set>
                                    <p:animEffect transition="in" filter="fade">
                                      <p:cBhvr additive="repl">
                                        <p:cTn id="27" dur="450"/>
                                        <p:tgtEl>
                                          <p:spTgt spid="335"/>
                                        </p:tgtEl>
                                      </p:cBhvr>
                                    </p:animEffect>
                                  </p:childTnLst>
                                </p:cTn>
                              </p:par>
                              <p:par>
                                <p:cTn id="28" presetID="10" presetClass="entr" fill="hold" nodeType="withEffect">
                                  <p:stCondLst>
                                    <p:cond delay="0"/>
                                  </p:stCondLst>
                                  <p:childTnLst>
                                    <p:set>
                                      <p:cBhvr>
                                        <p:cTn id="29" dur="1" fill="hold">
                                          <p:stCondLst>
                                            <p:cond delay="0"/>
                                          </p:stCondLst>
                                        </p:cTn>
                                        <p:tgtEl>
                                          <p:spTgt spid="340"/>
                                        </p:tgtEl>
                                        <p:attrNameLst>
                                          <p:attrName>style.visibility</p:attrName>
                                        </p:attrNameLst>
                                      </p:cBhvr>
                                      <p:to>
                                        <p:strVal val="visible"/>
                                      </p:to>
                                    </p:set>
                                    <p:animEffect transition="in" filter="fade">
                                      <p:cBhvr additive="repl">
                                        <p:cTn id="30" dur="450"/>
                                        <p:tgtEl>
                                          <p:spTgt spid="340"/>
                                        </p:tgtEl>
                                      </p:cBhvr>
                                    </p:animEffect>
                                  </p:childTnLst>
                                </p:cTn>
                              </p:par>
                              <p:par>
                                <p:cTn id="31" presetID="10" presetClass="entr" fill="hold" nodeType="withEffect">
                                  <p:stCondLst>
                                    <p:cond delay="0"/>
                                  </p:stCondLst>
                                  <p:childTnLst>
                                    <p:set>
                                      <p:cBhvr>
                                        <p:cTn id="32" dur="1" fill="hold">
                                          <p:stCondLst>
                                            <p:cond delay="0"/>
                                          </p:stCondLst>
                                        </p:cTn>
                                        <p:tgtEl>
                                          <p:spTgt spid="336"/>
                                        </p:tgtEl>
                                        <p:attrNameLst>
                                          <p:attrName>style.visibility</p:attrName>
                                        </p:attrNameLst>
                                      </p:cBhvr>
                                      <p:to>
                                        <p:strVal val="visible"/>
                                      </p:to>
                                    </p:set>
                                    <p:animEffect transition="in" filter="fade">
                                      <p:cBhvr additive="repl">
                                        <p:cTn id="33" dur="450"/>
                                        <p:tgtEl>
                                          <p:spTgt spid="336"/>
                                        </p:tgtEl>
                                      </p:cBhvr>
                                    </p:animEffect>
                                  </p:childTnLst>
                                </p:cTn>
                              </p:par>
                              <p:par>
                                <p:cTn id="34" presetID="10" presetClass="entr" fill="hold" nodeType="withEffect">
                                  <p:stCondLst>
                                    <p:cond delay="0"/>
                                  </p:stCondLst>
                                  <p:childTnLst>
                                    <p:set>
                                      <p:cBhvr>
                                        <p:cTn id="35" dur="1" fill="hold">
                                          <p:stCondLst>
                                            <p:cond delay="0"/>
                                          </p:stCondLst>
                                        </p:cTn>
                                        <p:tgtEl>
                                          <p:spTgt spid="339"/>
                                        </p:tgtEl>
                                        <p:attrNameLst>
                                          <p:attrName>style.visibility</p:attrName>
                                        </p:attrNameLst>
                                      </p:cBhvr>
                                      <p:to>
                                        <p:strVal val="visible"/>
                                      </p:to>
                                    </p:set>
                                    <p:animEffect transition="in" filter="fade">
                                      <p:cBhvr additive="repl">
                                        <p:cTn id="36" dur="450"/>
                                        <p:tgtEl>
                                          <p:spTgt spid="339"/>
                                        </p:tgtEl>
                                      </p:cBhvr>
                                    </p:animEffect>
                                  </p:childTnLst>
                                </p:cTn>
                              </p:par>
                              <p:par>
                                <p:cTn id="37" presetID="10" presetClass="entr" fill="hold" nodeType="withEffect">
                                  <p:stCondLst>
                                    <p:cond delay="0"/>
                                  </p:stCondLst>
                                  <p:childTnLst>
                                    <p:set>
                                      <p:cBhvr>
                                        <p:cTn id="38" dur="1" fill="hold">
                                          <p:stCondLst>
                                            <p:cond delay="0"/>
                                          </p:stCondLst>
                                        </p:cTn>
                                        <p:tgtEl>
                                          <p:spTgt spid="337"/>
                                        </p:tgtEl>
                                        <p:attrNameLst>
                                          <p:attrName>style.visibility</p:attrName>
                                        </p:attrNameLst>
                                      </p:cBhvr>
                                      <p:to>
                                        <p:strVal val="visible"/>
                                      </p:to>
                                    </p:set>
                                    <p:animEffect transition="in" filter="fade">
                                      <p:cBhvr additive="repl">
                                        <p:cTn id="39" dur="450"/>
                                        <p:tgtEl>
                                          <p:spTgt spid="337"/>
                                        </p:tgtEl>
                                      </p:cBhvr>
                                    </p:animEffect>
                                  </p:childTnLst>
                                </p:cTn>
                              </p:par>
                              <p:par>
                                <p:cTn id="40" presetID="10" presetClass="entr" fill="hold" nodeType="withEffect">
                                  <p:stCondLst>
                                    <p:cond delay="0"/>
                                  </p:stCondLst>
                                  <p:childTnLst>
                                    <p:set>
                                      <p:cBhvr>
                                        <p:cTn id="41" dur="1" fill="hold">
                                          <p:stCondLst>
                                            <p:cond delay="0"/>
                                          </p:stCondLst>
                                        </p:cTn>
                                        <p:tgtEl>
                                          <p:spTgt spid="338"/>
                                        </p:tgtEl>
                                        <p:attrNameLst>
                                          <p:attrName>style.visibility</p:attrName>
                                        </p:attrNameLst>
                                      </p:cBhvr>
                                      <p:to>
                                        <p:strVal val="visible"/>
                                      </p:to>
                                    </p:set>
                                    <p:animEffect transition="in" filter="fade">
                                      <p:cBhvr additive="repl">
                                        <p:cTn id="42" dur="450"/>
                                        <p:tgtEl>
                                          <p:spTgt spid="3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fill="hold" nodeType="clickEffect">
                                  <p:stCondLst>
                                    <p:cond delay="0"/>
                                  </p:stCondLst>
                                  <p:childTnLst>
                                    <p:set>
                                      <p:cBhvr>
                                        <p:cTn id="46" dur="1" fill="hold">
                                          <p:stCondLst>
                                            <p:cond delay="0"/>
                                          </p:stCondLst>
                                        </p:cTn>
                                        <p:tgtEl>
                                          <p:spTgt spid="341"/>
                                        </p:tgtEl>
                                        <p:attrNameLst>
                                          <p:attrName>style.visibility</p:attrName>
                                        </p:attrNameLst>
                                      </p:cBhvr>
                                      <p:to>
                                        <p:strVal val="visible"/>
                                      </p:to>
                                    </p:set>
                                    <p:animEffect transition="in" filter="fade">
                                      <p:cBhvr additive="repl">
                                        <p:cTn id="47" dur="450"/>
                                        <p:tgtEl>
                                          <p:spTgt spid="341"/>
                                        </p:tgtEl>
                                      </p:cBhvr>
                                    </p:animEffect>
                                  </p:childTnLst>
                                </p:cTn>
                              </p:par>
                              <p:par>
                                <p:cTn id="48" presetID="10" presetClass="entr" fill="hold" nodeType="withEffect">
                                  <p:stCondLst>
                                    <p:cond delay="0"/>
                                  </p:stCondLst>
                                  <p:childTnLst>
                                    <p:set>
                                      <p:cBhvr>
                                        <p:cTn id="49" dur="1" fill="hold">
                                          <p:stCondLst>
                                            <p:cond delay="0"/>
                                          </p:stCondLst>
                                        </p:cTn>
                                        <p:tgtEl>
                                          <p:spTgt spid="346"/>
                                        </p:tgtEl>
                                        <p:attrNameLst>
                                          <p:attrName>style.visibility</p:attrName>
                                        </p:attrNameLst>
                                      </p:cBhvr>
                                      <p:to>
                                        <p:strVal val="visible"/>
                                      </p:to>
                                    </p:set>
                                    <p:animEffect transition="in" filter="fade">
                                      <p:cBhvr additive="repl">
                                        <p:cTn id="50" dur="450"/>
                                        <p:tgtEl>
                                          <p:spTgt spid="346"/>
                                        </p:tgtEl>
                                      </p:cBhvr>
                                    </p:animEffect>
                                  </p:childTnLst>
                                </p:cTn>
                              </p:par>
                              <p:par>
                                <p:cTn id="51" presetID="10" presetClass="entr" fill="hold" nodeType="withEffect">
                                  <p:stCondLst>
                                    <p:cond delay="0"/>
                                  </p:stCondLst>
                                  <p:childTnLst>
                                    <p:set>
                                      <p:cBhvr>
                                        <p:cTn id="52" dur="1" fill="hold">
                                          <p:stCondLst>
                                            <p:cond delay="0"/>
                                          </p:stCondLst>
                                        </p:cTn>
                                        <p:tgtEl>
                                          <p:spTgt spid="342"/>
                                        </p:tgtEl>
                                        <p:attrNameLst>
                                          <p:attrName>style.visibility</p:attrName>
                                        </p:attrNameLst>
                                      </p:cBhvr>
                                      <p:to>
                                        <p:strVal val="visible"/>
                                      </p:to>
                                    </p:set>
                                    <p:animEffect transition="in" filter="fade">
                                      <p:cBhvr additive="repl">
                                        <p:cTn id="53" dur="450"/>
                                        <p:tgtEl>
                                          <p:spTgt spid="342"/>
                                        </p:tgtEl>
                                      </p:cBhvr>
                                    </p:animEffect>
                                  </p:childTnLst>
                                </p:cTn>
                              </p:par>
                              <p:par>
                                <p:cTn id="54" presetID="10" presetClass="entr" fill="hold" nodeType="withEffect">
                                  <p:stCondLst>
                                    <p:cond delay="0"/>
                                  </p:stCondLst>
                                  <p:childTnLst>
                                    <p:set>
                                      <p:cBhvr>
                                        <p:cTn id="55" dur="1" fill="hold">
                                          <p:stCondLst>
                                            <p:cond delay="0"/>
                                          </p:stCondLst>
                                        </p:cTn>
                                        <p:tgtEl>
                                          <p:spTgt spid="345"/>
                                        </p:tgtEl>
                                        <p:attrNameLst>
                                          <p:attrName>style.visibility</p:attrName>
                                        </p:attrNameLst>
                                      </p:cBhvr>
                                      <p:to>
                                        <p:strVal val="visible"/>
                                      </p:to>
                                    </p:set>
                                    <p:animEffect transition="in" filter="fade">
                                      <p:cBhvr additive="repl">
                                        <p:cTn id="56" dur="450"/>
                                        <p:tgtEl>
                                          <p:spTgt spid="345"/>
                                        </p:tgtEl>
                                      </p:cBhvr>
                                    </p:animEffect>
                                  </p:childTnLst>
                                </p:cTn>
                              </p:par>
                              <p:par>
                                <p:cTn id="57" presetID="10" presetClass="entr" fill="hold" nodeType="withEffect">
                                  <p:stCondLst>
                                    <p:cond delay="0"/>
                                  </p:stCondLst>
                                  <p:childTnLst>
                                    <p:set>
                                      <p:cBhvr>
                                        <p:cTn id="58" dur="1" fill="hold">
                                          <p:stCondLst>
                                            <p:cond delay="0"/>
                                          </p:stCondLst>
                                        </p:cTn>
                                        <p:tgtEl>
                                          <p:spTgt spid="343"/>
                                        </p:tgtEl>
                                        <p:attrNameLst>
                                          <p:attrName>style.visibility</p:attrName>
                                        </p:attrNameLst>
                                      </p:cBhvr>
                                      <p:to>
                                        <p:strVal val="visible"/>
                                      </p:to>
                                    </p:set>
                                    <p:animEffect transition="in" filter="fade">
                                      <p:cBhvr additive="repl">
                                        <p:cTn id="59" dur="450"/>
                                        <p:tgtEl>
                                          <p:spTgt spid="343"/>
                                        </p:tgtEl>
                                      </p:cBhvr>
                                    </p:animEffect>
                                  </p:childTnLst>
                                </p:cTn>
                              </p:par>
                              <p:par>
                                <p:cTn id="60" presetID="10" presetClass="entr" fill="hold" nodeType="withEffect">
                                  <p:stCondLst>
                                    <p:cond delay="0"/>
                                  </p:stCondLst>
                                  <p:childTnLst>
                                    <p:set>
                                      <p:cBhvr>
                                        <p:cTn id="61" dur="1" fill="hold">
                                          <p:stCondLst>
                                            <p:cond delay="0"/>
                                          </p:stCondLst>
                                        </p:cTn>
                                        <p:tgtEl>
                                          <p:spTgt spid="344"/>
                                        </p:tgtEl>
                                        <p:attrNameLst>
                                          <p:attrName>style.visibility</p:attrName>
                                        </p:attrNameLst>
                                      </p:cBhvr>
                                      <p:to>
                                        <p:strVal val="visible"/>
                                      </p:to>
                                    </p:set>
                                    <p:animEffect transition="in" filter="fade">
                                      <p:cBhvr additive="repl">
                                        <p:cTn id="62" dur="450"/>
                                        <p:tgtEl>
                                          <p:spTgt spid="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349" name="Shape 0"/>
          <p:cNvSpPr/>
          <p:nvPr/>
        </p:nvSpPr>
        <p:spPr>
          <a:xfrm>
            <a:off x="-36576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50" name="Shape 1"/>
          <p:cNvSpPr/>
          <p:nvPr/>
        </p:nvSpPr>
        <p:spPr>
          <a:xfrm>
            <a:off x="1182600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51" name="Shape 2"/>
          <p:cNvSpPr/>
          <p:nvPr/>
        </p:nvSpPr>
        <p:spPr>
          <a:xfrm>
            <a:off x="-36576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52" name="Shape 3"/>
          <p:cNvSpPr/>
          <p:nvPr/>
        </p:nvSpPr>
        <p:spPr>
          <a:xfrm>
            <a:off x="1182600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53" name="Shape 4"/>
          <p:cNvSpPr/>
          <p:nvPr/>
        </p:nvSpPr>
        <p:spPr>
          <a:xfrm>
            <a:off x="7863840" y="137160"/>
            <a:ext cx="6581880" cy="6581880"/>
          </a:xfrm>
          <a:prstGeom prst="ellipse">
            <a:avLst/>
          </a:prstGeom>
          <a:solidFill>
            <a:srgbClr val="1F7A4D">
              <a:alpha val="5000"/>
            </a:srgbClr>
          </a:solidFill>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54" name="Shape 5"/>
          <p:cNvSpPr/>
          <p:nvPr/>
        </p:nvSpPr>
        <p:spPr>
          <a:xfrm>
            <a:off x="11109960" y="3383280"/>
            <a:ext cx="89640" cy="89640"/>
          </a:xfrm>
          <a:prstGeom prst="ellipse">
            <a:avLst/>
          </a:prstGeom>
          <a:solidFill>
            <a:srgbClr val="E8A33D">
              <a:alpha val="75000"/>
            </a:srgbClr>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355" name="Shape 6"/>
          <p:cNvSpPr/>
          <p:nvPr/>
        </p:nvSpPr>
        <p:spPr>
          <a:xfrm>
            <a:off x="7863840" y="3429000"/>
            <a:ext cx="4327560" cy="360"/>
          </a:xfrm>
          <a:prstGeom prst="line">
            <a:avLst/>
          </a:prstGeom>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strike="noStrike" spc="-1">
              <a:solidFill>
                <a:schemeClr val="dk1"/>
              </a:solidFill>
              <a:latin typeface="Calibri"/>
            </a:endParaRPr>
          </a:p>
        </p:txBody>
      </p:sp>
      <p:sp>
        <p:nvSpPr>
          <p:cNvPr id="356" name="Text 7"/>
          <p:cNvSpPr/>
          <p:nvPr/>
        </p:nvSpPr>
        <p:spPr>
          <a:xfrm>
            <a:off x="822960" y="1737360"/>
            <a:ext cx="54846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E8A33D"/>
                </a:solidFill>
                <a:latin typeface="Calibri"/>
                <a:ea typeface="Calibri"/>
              </a:rPr>
              <a:t>NOW, IN TABLEAU</a:t>
            </a:r>
            <a:endParaRPr lang="en-US" sz="1400" b="0" strike="noStrike" spc="-1">
              <a:solidFill>
                <a:srgbClr val="FFFFFF"/>
              </a:solidFill>
              <a:latin typeface="Arial"/>
            </a:endParaRPr>
          </a:p>
        </p:txBody>
      </p:sp>
      <p:sp>
        <p:nvSpPr>
          <p:cNvPr id="357" name="Text 8"/>
          <p:cNvSpPr/>
          <p:nvPr/>
        </p:nvSpPr>
        <p:spPr>
          <a:xfrm>
            <a:off x="777240" y="2057400"/>
            <a:ext cx="8227800" cy="100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600" b="1" strike="noStrike" spc="-1">
                <a:solidFill>
                  <a:srgbClr val="FFFFFF"/>
                </a:solidFill>
                <a:latin typeface="Cambria"/>
                <a:ea typeface="Cambria"/>
              </a:rPr>
              <a:t>See it live.</a:t>
            </a:r>
            <a:endParaRPr lang="en-US" sz="4600" b="0" strike="noStrike" spc="-1">
              <a:solidFill>
                <a:srgbClr val="FFFFFF"/>
              </a:solidFill>
              <a:latin typeface="Arial"/>
            </a:endParaRPr>
          </a:p>
        </p:txBody>
      </p:sp>
      <p:sp>
        <p:nvSpPr>
          <p:cNvPr id="358" name="Text 9"/>
          <p:cNvSpPr/>
          <p:nvPr/>
        </p:nvSpPr>
        <p:spPr>
          <a:xfrm>
            <a:off x="822960" y="3063240"/>
            <a:ext cx="7496280" cy="72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0" strike="noStrike" spc="-1">
                <a:solidFill>
                  <a:srgbClr val="CADCFC"/>
                </a:solidFill>
                <a:latin typeface="Calibri"/>
                <a:ea typeface="Calibri"/>
              </a:rPr>
              <a:t>Switching to the interactive dashboards: value vs. injury risk, age, recency, and position, with cross-filtering across every view.</a:t>
            </a:r>
            <a:endParaRPr lang="en-US" sz="1500" b="0" strike="noStrike" spc="-1">
              <a:solidFill>
                <a:srgbClr val="FFFFFF"/>
              </a:solidFill>
              <a:latin typeface="Arial"/>
            </a:endParaRPr>
          </a:p>
        </p:txBody>
      </p:sp>
      <p:sp>
        <p:nvSpPr>
          <p:cNvPr id="359" name="Shape 10">
            <a:hlinkClick r:id="rId3"/>
          </p:cNvPr>
          <p:cNvSpPr/>
          <p:nvPr/>
        </p:nvSpPr>
        <p:spPr>
          <a:xfrm>
            <a:off x="822960" y="4160520"/>
            <a:ext cx="3930120" cy="684000"/>
          </a:xfrm>
          <a:prstGeom prst="roundRect">
            <a:avLst>
              <a:gd name="adj" fmla="val 50000"/>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60" name="Shape 11"/>
          <p:cNvSpPr/>
          <p:nvPr/>
        </p:nvSpPr>
        <p:spPr>
          <a:xfrm rot="5400000">
            <a:off x="1300320" y="4402800"/>
            <a:ext cx="199440" cy="199440"/>
          </a:xfrm>
          <a:prstGeom prst="triangle">
            <a:avLst>
              <a:gd name="adj" fmla="val 50000"/>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61" name="Text 12">
            <a:hlinkClick r:id="rId3"/>
          </p:cNvPr>
          <p:cNvSpPr/>
          <p:nvPr/>
        </p:nvSpPr>
        <p:spPr>
          <a:xfrm>
            <a:off x="1691640" y="4160520"/>
            <a:ext cx="2970000" cy="68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sng" strike="noStrike" spc="-1">
                <a:solidFill>
                  <a:srgbClr val="0563C1"/>
                </a:solidFill>
                <a:uFillTx/>
                <a:latin typeface="Calibri"/>
                <a:ea typeface="Calibri"/>
                <a:hlinkClick r:id="rId3"/>
              </a:rPr>
              <a:t>Open Tableau Dashboard</a:t>
            </a:r>
            <a:endParaRPr lang="en-US" sz="1500" b="0" strike="noStrike" spc="-1">
              <a:solidFill>
                <a:srgbClr val="FFFFFF"/>
              </a:solidFill>
              <a:latin typeface="Arial"/>
            </a:endParaRPr>
          </a:p>
        </p:txBody>
      </p:sp>
      <p:sp>
        <p:nvSpPr>
          <p:cNvPr id="362" name="Shape 13"/>
          <p:cNvSpPr/>
          <p:nvPr/>
        </p:nvSpPr>
        <p:spPr>
          <a:xfrm>
            <a:off x="822960" y="5129640"/>
            <a:ext cx="89640" cy="8964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363" name="Text 14"/>
          <p:cNvSpPr/>
          <p:nvPr/>
        </p:nvSpPr>
        <p:spPr>
          <a:xfrm>
            <a:off x="1051560" y="5001840"/>
            <a:ext cx="36558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strike="noStrike" spc="-1">
                <a:solidFill>
                  <a:srgbClr val="AEB8D6"/>
                </a:solidFill>
                <a:latin typeface="Calibri"/>
                <a:ea typeface="Calibri"/>
              </a:rPr>
              <a:t>Cover (navigate from here)</a:t>
            </a:r>
            <a:endParaRPr lang="en-US" sz="1350" b="0" strike="noStrike" spc="-1">
              <a:solidFill>
                <a:srgbClr val="FFFFFF"/>
              </a:solidFill>
              <a:latin typeface="Arial"/>
            </a:endParaRPr>
          </a:p>
        </p:txBody>
      </p:sp>
      <p:sp>
        <p:nvSpPr>
          <p:cNvPr id="364" name="Shape 15"/>
          <p:cNvSpPr/>
          <p:nvPr/>
        </p:nvSpPr>
        <p:spPr>
          <a:xfrm>
            <a:off x="822960" y="5422320"/>
            <a:ext cx="89640" cy="8964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365" name="Text 16"/>
          <p:cNvSpPr/>
          <p:nvPr/>
        </p:nvSpPr>
        <p:spPr>
          <a:xfrm>
            <a:off x="1051560" y="5294520"/>
            <a:ext cx="36558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strike="noStrike" spc="-1">
                <a:solidFill>
                  <a:srgbClr val="AEB8D6"/>
                </a:solidFill>
                <a:latin typeface="Calibri"/>
                <a:ea typeface="Calibri"/>
              </a:rPr>
              <a:t>Value Trend</a:t>
            </a:r>
            <a:endParaRPr lang="en-US" sz="1350" b="0" strike="noStrike" spc="-1">
              <a:solidFill>
                <a:srgbClr val="FFFFFF"/>
              </a:solidFill>
              <a:latin typeface="Arial"/>
            </a:endParaRPr>
          </a:p>
        </p:txBody>
      </p:sp>
      <p:sp>
        <p:nvSpPr>
          <p:cNvPr id="366" name="Shape 17"/>
          <p:cNvSpPr/>
          <p:nvPr/>
        </p:nvSpPr>
        <p:spPr>
          <a:xfrm>
            <a:off x="822960" y="5715000"/>
            <a:ext cx="89640" cy="8964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367" name="Text 18"/>
          <p:cNvSpPr/>
          <p:nvPr/>
        </p:nvSpPr>
        <p:spPr>
          <a:xfrm>
            <a:off x="1051560" y="5586840"/>
            <a:ext cx="36558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strike="noStrike" spc="-1">
                <a:solidFill>
                  <a:srgbClr val="AEB8D6"/>
                </a:solidFill>
                <a:latin typeface="Calibri"/>
                <a:ea typeface="Calibri"/>
              </a:rPr>
              <a:t>Risk Summary</a:t>
            </a:r>
            <a:endParaRPr lang="en-US" sz="1350" b="0" strike="noStrike" spc="-1">
              <a:solidFill>
                <a:srgbClr val="FFFFFF"/>
              </a:solidFill>
              <a:latin typeface="Arial"/>
            </a:endParaRPr>
          </a:p>
        </p:txBody>
      </p:sp>
      <p:sp>
        <p:nvSpPr>
          <p:cNvPr id="368" name="Shape 19"/>
          <p:cNvSpPr/>
          <p:nvPr/>
        </p:nvSpPr>
        <p:spPr>
          <a:xfrm>
            <a:off x="822960" y="6007680"/>
            <a:ext cx="89640" cy="8964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369" name="Text 20"/>
          <p:cNvSpPr/>
          <p:nvPr/>
        </p:nvSpPr>
        <p:spPr>
          <a:xfrm>
            <a:off x="1051560" y="5879520"/>
            <a:ext cx="36558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strike="noStrike" spc="-1">
                <a:solidFill>
                  <a:srgbClr val="AEB8D6"/>
                </a:solidFill>
                <a:latin typeface="Calibri"/>
                <a:ea typeface="Calibri"/>
              </a:rPr>
              <a:t>Age &amp; Risk Profile</a:t>
            </a:r>
            <a:endParaRPr lang="en-US" sz="1350" b="0" strike="noStrike" spc="-1">
              <a:solidFill>
                <a:srgbClr val="FFFFFF"/>
              </a:solidFill>
              <a:latin typeface="Arial"/>
            </a:endParaRPr>
          </a:p>
        </p:txBody>
      </p:sp>
      <p:sp>
        <p:nvSpPr>
          <p:cNvPr id="370" name="Shape 21"/>
          <p:cNvSpPr/>
          <p:nvPr/>
        </p:nvSpPr>
        <p:spPr>
          <a:xfrm>
            <a:off x="822960" y="6300360"/>
            <a:ext cx="89640" cy="8964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371" name="Text 22"/>
          <p:cNvSpPr/>
          <p:nvPr/>
        </p:nvSpPr>
        <p:spPr>
          <a:xfrm>
            <a:off x="1051560" y="6172200"/>
            <a:ext cx="36558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strike="noStrike" spc="-1">
                <a:solidFill>
                  <a:srgbClr val="AEB8D6"/>
                </a:solidFill>
                <a:latin typeface="Calibri"/>
                <a:ea typeface="Calibri"/>
              </a:rPr>
              <a:t>Recency &amp; Position Risk Profile</a:t>
            </a:r>
            <a:endParaRPr lang="en-US" sz="1350" b="0" strike="noStrike" spc="-1">
              <a:solidFill>
                <a:srgbClr val="FFFFFF"/>
              </a:solidFill>
              <a:latin typeface="Arial"/>
            </a:endParaRPr>
          </a:p>
        </p:txBody>
      </p:sp>
      <p:sp>
        <p:nvSpPr>
          <p:cNvPr id="372" name="Text 23"/>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strike="noStrike" spc="-1">
                <a:solidFill>
                  <a:srgbClr val="6E7DA6"/>
                </a:solidFill>
                <a:latin typeface="Calibri"/>
                <a:ea typeface="Calibri"/>
              </a:rPr>
              <a:t>15</a:t>
            </a:r>
            <a:endParaRPr lang="en-US" sz="1000" b="0" strike="noStrike" spc="-1">
              <a:solidFill>
                <a:srgbClr val="FFFFFF"/>
              </a:solidFill>
              <a:latin typeface="Arial"/>
            </a:endParaRPr>
          </a:p>
        </p:txBody>
      </p:sp>
    </p:spTree>
  </p:cSld>
  <p:clrMapOvr>
    <a:masterClrMapping/>
  </p:clrMapOvr>
  <p:transition spd="med">
    <p:fade/>
  </p:transition>
  <p:timing>
    <p:tnLst>
      <p:par>
        <p:cTn id="1" dur="indefinite" restart="never" nodeType="tmRoot">
          <p:childTnLst>
            <p:seq>
              <p:cTn id="2" dur="indefinite" nodeType="mainSeq">
                <p:childTnLst>
                  <p:par>
                    <p:cTn id="3" fill="hold">
                      <p:stCondLst>
                        <p:cond delay="0"/>
                      </p:stCondLst>
                      <p:childTnLst>
                        <p:par>
                          <p:cTn id="4" fill="hold">
                            <p:stCondLst>
                              <p:cond delay="300"/>
                            </p:stCondLst>
                            <p:childTnLst>
                              <p:par>
                                <p:cTn id="5" presetID="53" presetClass="entr" presetSubtype="16" fill="hold" nodeType="afterEffect">
                                  <p:stCondLst>
                                    <p:cond delay="0"/>
                                  </p:stCondLst>
                                  <p:childTnLst>
                                    <p:set>
                                      <p:cBhvr>
                                        <p:cTn id="6" dur="1" fill="hold">
                                          <p:stCondLst>
                                            <p:cond delay="0"/>
                                          </p:stCondLst>
                                        </p:cTn>
                                        <p:tgtEl>
                                          <p:spTgt spid="359"/>
                                        </p:tgtEl>
                                        <p:attrNameLst>
                                          <p:attrName>style.visibility</p:attrName>
                                        </p:attrNameLst>
                                      </p:cBhvr>
                                      <p:to>
                                        <p:strVal val="visible"/>
                                      </p:to>
                                    </p:set>
                                    <p:anim calcmode="lin" valueType="num">
                                      <p:cBhvr additive="repl">
                                        <p:cTn id="7" dur="500" fill="hold"/>
                                        <p:tgtEl>
                                          <p:spTgt spid="359"/>
                                        </p:tgtEl>
                                        <p:attrNameLst>
                                          <p:attrName>ppt_w</p:attrName>
                                        </p:attrNameLst>
                                      </p:cBhvr>
                                      <p:tavLst>
                                        <p:tav tm="0">
                                          <p:val>
                                            <p:fltVal val="0"/>
                                          </p:val>
                                        </p:tav>
                                        <p:tav tm="100000">
                                          <p:val>
                                            <p:strVal val="#ppt_w"/>
                                          </p:val>
                                        </p:tav>
                                      </p:tavLst>
                                    </p:anim>
                                    <p:anim calcmode="lin" valueType="num">
                                      <p:cBhvr additive="repl">
                                        <p:cTn id="8" dur="500" fill="hold"/>
                                        <p:tgtEl>
                                          <p:spTgt spid="359"/>
                                        </p:tgtEl>
                                        <p:attrNameLst>
                                          <p:attrName>ppt_h</p:attrName>
                                        </p:attrNameLst>
                                      </p:cBhvr>
                                      <p:tavLst>
                                        <p:tav tm="0">
                                          <p:val>
                                            <p:fltVal val="0"/>
                                          </p:val>
                                        </p:tav>
                                        <p:tav tm="100000">
                                          <p:val>
                                            <p:strVal val="#ppt_h"/>
                                          </p:val>
                                        </p:tav>
                                      </p:tavLst>
                                    </p:anim>
                                    <p:animEffect transition="in" filter="fade">
                                      <p:cBhvr additive="repl">
                                        <p:cTn id="9" dur="500"/>
                                        <p:tgtEl>
                                          <p:spTgt spid="359"/>
                                        </p:tgtEl>
                                      </p:cBhvr>
                                    </p:animEffect>
                                  </p:childTnLst>
                                </p:cTn>
                              </p:par>
                              <p:par>
                                <p:cTn id="10" presetID="53" presetClass="entr" presetSubtype="16" fill="hold" nodeType="withEffect">
                                  <p:stCondLst>
                                    <p:cond delay="0"/>
                                  </p:stCondLst>
                                  <p:childTnLst>
                                    <p:set>
                                      <p:cBhvr>
                                        <p:cTn id="11" dur="1" fill="hold">
                                          <p:stCondLst>
                                            <p:cond delay="0"/>
                                          </p:stCondLst>
                                        </p:cTn>
                                        <p:tgtEl>
                                          <p:spTgt spid="360"/>
                                        </p:tgtEl>
                                        <p:attrNameLst>
                                          <p:attrName>style.visibility</p:attrName>
                                        </p:attrNameLst>
                                      </p:cBhvr>
                                      <p:to>
                                        <p:strVal val="visible"/>
                                      </p:to>
                                    </p:set>
                                    <p:anim calcmode="lin" valueType="num">
                                      <p:cBhvr additive="repl">
                                        <p:cTn id="12" dur="500" fill="hold"/>
                                        <p:tgtEl>
                                          <p:spTgt spid="360"/>
                                        </p:tgtEl>
                                        <p:attrNameLst>
                                          <p:attrName>ppt_w</p:attrName>
                                        </p:attrNameLst>
                                      </p:cBhvr>
                                      <p:tavLst>
                                        <p:tav tm="0">
                                          <p:val>
                                            <p:fltVal val="0"/>
                                          </p:val>
                                        </p:tav>
                                        <p:tav tm="100000">
                                          <p:val>
                                            <p:strVal val="#ppt_w"/>
                                          </p:val>
                                        </p:tav>
                                      </p:tavLst>
                                    </p:anim>
                                    <p:anim calcmode="lin" valueType="num">
                                      <p:cBhvr additive="repl">
                                        <p:cTn id="13" dur="500" fill="hold"/>
                                        <p:tgtEl>
                                          <p:spTgt spid="360"/>
                                        </p:tgtEl>
                                        <p:attrNameLst>
                                          <p:attrName>ppt_h</p:attrName>
                                        </p:attrNameLst>
                                      </p:cBhvr>
                                      <p:tavLst>
                                        <p:tav tm="0">
                                          <p:val>
                                            <p:fltVal val="0"/>
                                          </p:val>
                                        </p:tav>
                                        <p:tav tm="100000">
                                          <p:val>
                                            <p:strVal val="#ppt_h"/>
                                          </p:val>
                                        </p:tav>
                                      </p:tavLst>
                                    </p:anim>
                                    <p:animEffect transition="in" filter="fade">
                                      <p:cBhvr additive="repl">
                                        <p:cTn id="14" dur="500"/>
                                        <p:tgtEl>
                                          <p:spTgt spid="360"/>
                                        </p:tgtEl>
                                      </p:cBhvr>
                                    </p:animEffect>
                                  </p:childTnLst>
                                </p:cTn>
                              </p:par>
                              <p:par>
                                <p:cTn id="15" presetID="53" presetClass="entr" presetSubtype="16" fill="hold" nodeType="withEffect">
                                  <p:stCondLst>
                                    <p:cond delay="0"/>
                                  </p:stCondLst>
                                  <p:childTnLst>
                                    <p:set>
                                      <p:cBhvr>
                                        <p:cTn id="16" dur="1" fill="hold">
                                          <p:stCondLst>
                                            <p:cond delay="0"/>
                                          </p:stCondLst>
                                        </p:cTn>
                                        <p:tgtEl>
                                          <p:spTgt spid="361"/>
                                        </p:tgtEl>
                                        <p:attrNameLst>
                                          <p:attrName>style.visibility</p:attrName>
                                        </p:attrNameLst>
                                      </p:cBhvr>
                                      <p:to>
                                        <p:strVal val="visible"/>
                                      </p:to>
                                    </p:set>
                                    <p:anim calcmode="lin" valueType="num">
                                      <p:cBhvr additive="repl">
                                        <p:cTn id="17" dur="500" fill="hold"/>
                                        <p:tgtEl>
                                          <p:spTgt spid="361"/>
                                        </p:tgtEl>
                                        <p:attrNameLst>
                                          <p:attrName>ppt_w</p:attrName>
                                        </p:attrNameLst>
                                      </p:cBhvr>
                                      <p:tavLst>
                                        <p:tav tm="0">
                                          <p:val>
                                            <p:fltVal val="0"/>
                                          </p:val>
                                        </p:tav>
                                        <p:tav tm="100000">
                                          <p:val>
                                            <p:strVal val="#ppt_w"/>
                                          </p:val>
                                        </p:tav>
                                      </p:tavLst>
                                    </p:anim>
                                    <p:anim calcmode="lin" valueType="num">
                                      <p:cBhvr additive="repl">
                                        <p:cTn id="18" dur="500" fill="hold"/>
                                        <p:tgtEl>
                                          <p:spTgt spid="361"/>
                                        </p:tgtEl>
                                        <p:attrNameLst>
                                          <p:attrName>ppt_h</p:attrName>
                                        </p:attrNameLst>
                                      </p:cBhvr>
                                      <p:tavLst>
                                        <p:tav tm="0">
                                          <p:val>
                                            <p:fltVal val="0"/>
                                          </p:val>
                                        </p:tav>
                                        <p:tav tm="100000">
                                          <p:val>
                                            <p:strVal val="#ppt_h"/>
                                          </p:val>
                                        </p:tav>
                                      </p:tavLst>
                                    </p:anim>
                                    <p:animEffect transition="in" filter="fade">
                                      <p:cBhvr additive="repl">
                                        <p:cTn id="19" dur="500"/>
                                        <p:tgtEl>
                                          <p:spTgt spid="361"/>
                                        </p:tgtEl>
                                      </p:cBhvr>
                                    </p:animEffect>
                                  </p:childTnLst>
                                </p:cTn>
                              </p:par>
                            </p:childTnLst>
                          </p:cTn>
                        </p:par>
                        <p:par>
                          <p:cTn id="20" fill="hold">
                            <p:stCondLst>
                              <p:cond delay="800"/>
                            </p:stCondLst>
                            <p:childTnLst>
                              <p:par>
                                <p:cTn id="21" presetID="10" presetClass="entr" fill="hold" nodeType="afterEffect">
                                  <p:stCondLst>
                                    <p:cond delay="0"/>
                                  </p:stCondLst>
                                  <p:childTnLst>
                                    <p:set>
                                      <p:cBhvr>
                                        <p:cTn id="22" dur="1" fill="hold">
                                          <p:stCondLst>
                                            <p:cond delay="0"/>
                                          </p:stCondLst>
                                        </p:cTn>
                                        <p:tgtEl>
                                          <p:spTgt spid="362"/>
                                        </p:tgtEl>
                                        <p:attrNameLst>
                                          <p:attrName>style.visibility</p:attrName>
                                        </p:attrNameLst>
                                      </p:cBhvr>
                                      <p:to>
                                        <p:strVal val="visible"/>
                                      </p:to>
                                    </p:set>
                                    <p:animEffect transition="in" filter="fade">
                                      <p:cBhvr additive="repl">
                                        <p:cTn id="23" dur="350"/>
                                        <p:tgtEl>
                                          <p:spTgt spid="362"/>
                                        </p:tgtEl>
                                      </p:cBhvr>
                                    </p:animEffect>
                                  </p:childTnLst>
                                </p:cTn>
                              </p:par>
                              <p:par>
                                <p:cTn id="24" presetID="10" presetClass="entr" fill="hold" nodeType="withEffect">
                                  <p:stCondLst>
                                    <p:cond delay="0"/>
                                  </p:stCondLst>
                                  <p:childTnLst>
                                    <p:set>
                                      <p:cBhvr>
                                        <p:cTn id="25" dur="1" fill="hold">
                                          <p:stCondLst>
                                            <p:cond delay="0"/>
                                          </p:stCondLst>
                                        </p:cTn>
                                        <p:tgtEl>
                                          <p:spTgt spid="363"/>
                                        </p:tgtEl>
                                        <p:attrNameLst>
                                          <p:attrName>style.visibility</p:attrName>
                                        </p:attrNameLst>
                                      </p:cBhvr>
                                      <p:to>
                                        <p:strVal val="visible"/>
                                      </p:to>
                                    </p:set>
                                    <p:animEffect transition="in" filter="fade">
                                      <p:cBhvr additive="repl">
                                        <p:cTn id="26" dur="350"/>
                                        <p:tgtEl>
                                          <p:spTgt spid="363"/>
                                        </p:tgtEl>
                                      </p:cBhvr>
                                    </p:animEffect>
                                  </p:childTnLst>
                                </p:cTn>
                              </p:par>
                            </p:childTnLst>
                          </p:cTn>
                        </p:par>
                        <p:par>
                          <p:cTn id="27" fill="hold">
                            <p:stCondLst>
                              <p:cond delay="1150"/>
                            </p:stCondLst>
                            <p:childTnLst>
                              <p:par>
                                <p:cTn id="28" presetID="10" presetClass="entr" fill="hold" nodeType="afterEffect">
                                  <p:stCondLst>
                                    <p:cond delay="0"/>
                                  </p:stCondLst>
                                  <p:childTnLst>
                                    <p:set>
                                      <p:cBhvr>
                                        <p:cTn id="29" dur="1" fill="hold">
                                          <p:stCondLst>
                                            <p:cond delay="0"/>
                                          </p:stCondLst>
                                        </p:cTn>
                                        <p:tgtEl>
                                          <p:spTgt spid="364"/>
                                        </p:tgtEl>
                                        <p:attrNameLst>
                                          <p:attrName>style.visibility</p:attrName>
                                        </p:attrNameLst>
                                      </p:cBhvr>
                                      <p:to>
                                        <p:strVal val="visible"/>
                                      </p:to>
                                    </p:set>
                                    <p:animEffect transition="in" filter="fade">
                                      <p:cBhvr additive="repl">
                                        <p:cTn id="30" dur="350"/>
                                        <p:tgtEl>
                                          <p:spTgt spid="364"/>
                                        </p:tgtEl>
                                      </p:cBhvr>
                                    </p:animEffect>
                                  </p:childTnLst>
                                </p:cTn>
                              </p:par>
                              <p:par>
                                <p:cTn id="31" presetID="10" presetClass="entr" fill="hold" nodeType="withEffect">
                                  <p:stCondLst>
                                    <p:cond delay="0"/>
                                  </p:stCondLst>
                                  <p:childTnLst>
                                    <p:set>
                                      <p:cBhvr>
                                        <p:cTn id="32" dur="1" fill="hold">
                                          <p:stCondLst>
                                            <p:cond delay="0"/>
                                          </p:stCondLst>
                                        </p:cTn>
                                        <p:tgtEl>
                                          <p:spTgt spid="365"/>
                                        </p:tgtEl>
                                        <p:attrNameLst>
                                          <p:attrName>style.visibility</p:attrName>
                                        </p:attrNameLst>
                                      </p:cBhvr>
                                      <p:to>
                                        <p:strVal val="visible"/>
                                      </p:to>
                                    </p:set>
                                    <p:animEffect transition="in" filter="fade">
                                      <p:cBhvr additive="repl">
                                        <p:cTn id="33" dur="350"/>
                                        <p:tgtEl>
                                          <p:spTgt spid="365"/>
                                        </p:tgtEl>
                                      </p:cBhvr>
                                    </p:animEffect>
                                  </p:childTnLst>
                                </p:cTn>
                              </p:par>
                            </p:childTnLst>
                          </p:cTn>
                        </p:par>
                        <p:par>
                          <p:cTn id="34" fill="hold">
                            <p:stCondLst>
                              <p:cond delay="1500"/>
                            </p:stCondLst>
                            <p:childTnLst>
                              <p:par>
                                <p:cTn id="35" presetID="10" presetClass="entr" fill="hold" nodeType="afterEffect">
                                  <p:stCondLst>
                                    <p:cond delay="0"/>
                                  </p:stCondLst>
                                  <p:childTnLst>
                                    <p:set>
                                      <p:cBhvr>
                                        <p:cTn id="36" dur="1" fill="hold">
                                          <p:stCondLst>
                                            <p:cond delay="0"/>
                                          </p:stCondLst>
                                        </p:cTn>
                                        <p:tgtEl>
                                          <p:spTgt spid="366"/>
                                        </p:tgtEl>
                                        <p:attrNameLst>
                                          <p:attrName>style.visibility</p:attrName>
                                        </p:attrNameLst>
                                      </p:cBhvr>
                                      <p:to>
                                        <p:strVal val="visible"/>
                                      </p:to>
                                    </p:set>
                                    <p:animEffect transition="in" filter="fade">
                                      <p:cBhvr additive="repl">
                                        <p:cTn id="37" dur="350"/>
                                        <p:tgtEl>
                                          <p:spTgt spid="366"/>
                                        </p:tgtEl>
                                      </p:cBhvr>
                                    </p:animEffect>
                                  </p:childTnLst>
                                </p:cTn>
                              </p:par>
                              <p:par>
                                <p:cTn id="38" presetID="10" presetClass="entr" fill="hold" nodeType="withEffect">
                                  <p:stCondLst>
                                    <p:cond delay="0"/>
                                  </p:stCondLst>
                                  <p:childTnLst>
                                    <p:set>
                                      <p:cBhvr>
                                        <p:cTn id="39" dur="1" fill="hold">
                                          <p:stCondLst>
                                            <p:cond delay="0"/>
                                          </p:stCondLst>
                                        </p:cTn>
                                        <p:tgtEl>
                                          <p:spTgt spid="367"/>
                                        </p:tgtEl>
                                        <p:attrNameLst>
                                          <p:attrName>style.visibility</p:attrName>
                                        </p:attrNameLst>
                                      </p:cBhvr>
                                      <p:to>
                                        <p:strVal val="visible"/>
                                      </p:to>
                                    </p:set>
                                    <p:animEffect transition="in" filter="fade">
                                      <p:cBhvr additive="repl">
                                        <p:cTn id="40" dur="350"/>
                                        <p:tgtEl>
                                          <p:spTgt spid="367"/>
                                        </p:tgtEl>
                                      </p:cBhvr>
                                    </p:animEffect>
                                  </p:childTnLst>
                                </p:cTn>
                              </p:par>
                            </p:childTnLst>
                          </p:cTn>
                        </p:par>
                        <p:par>
                          <p:cTn id="41" fill="hold">
                            <p:stCondLst>
                              <p:cond delay="1850"/>
                            </p:stCondLst>
                            <p:childTnLst>
                              <p:par>
                                <p:cTn id="42" presetID="10" presetClass="entr" fill="hold" nodeType="afterEffect">
                                  <p:stCondLst>
                                    <p:cond delay="0"/>
                                  </p:stCondLst>
                                  <p:childTnLst>
                                    <p:set>
                                      <p:cBhvr>
                                        <p:cTn id="43" dur="1" fill="hold">
                                          <p:stCondLst>
                                            <p:cond delay="0"/>
                                          </p:stCondLst>
                                        </p:cTn>
                                        <p:tgtEl>
                                          <p:spTgt spid="368"/>
                                        </p:tgtEl>
                                        <p:attrNameLst>
                                          <p:attrName>style.visibility</p:attrName>
                                        </p:attrNameLst>
                                      </p:cBhvr>
                                      <p:to>
                                        <p:strVal val="visible"/>
                                      </p:to>
                                    </p:set>
                                    <p:animEffect transition="in" filter="fade">
                                      <p:cBhvr additive="repl">
                                        <p:cTn id="44" dur="350"/>
                                        <p:tgtEl>
                                          <p:spTgt spid="368"/>
                                        </p:tgtEl>
                                      </p:cBhvr>
                                    </p:animEffect>
                                  </p:childTnLst>
                                </p:cTn>
                              </p:par>
                              <p:par>
                                <p:cTn id="45" presetID="10" presetClass="entr" fill="hold" nodeType="withEffect">
                                  <p:stCondLst>
                                    <p:cond delay="0"/>
                                  </p:stCondLst>
                                  <p:childTnLst>
                                    <p:set>
                                      <p:cBhvr>
                                        <p:cTn id="46" dur="1" fill="hold">
                                          <p:stCondLst>
                                            <p:cond delay="0"/>
                                          </p:stCondLst>
                                        </p:cTn>
                                        <p:tgtEl>
                                          <p:spTgt spid="369"/>
                                        </p:tgtEl>
                                        <p:attrNameLst>
                                          <p:attrName>style.visibility</p:attrName>
                                        </p:attrNameLst>
                                      </p:cBhvr>
                                      <p:to>
                                        <p:strVal val="visible"/>
                                      </p:to>
                                    </p:set>
                                    <p:animEffect transition="in" filter="fade">
                                      <p:cBhvr additive="repl">
                                        <p:cTn id="47" dur="350"/>
                                        <p:tgtEl>
                                          <p:spTgt spid="369"/>
                                        </p:tgtEl>
                                      </p:cBhvr>
                                    </p:animEffect>
                                  </p:childTnLst>
                                </p:cTn>
                              </p:par>
                            </p:childTnLst>
                          </p:cTn>
                        </p:par>
                        <p:par>
                          <p:cTn id="48" fill="hold">
                            <p:stCondLst>
                              <p:cond delay="2200"/>
                            </p:stCondLst>
                            <p:childTnLst>
                              <p:par>
                                <p:cTn id="49" presetID="10" presetClass="entr" fill="hold" nodeType="afterEffect">
                                  <p:stCondLst>
                                    <p:cond delay="0"/>
                                  </p:stCondLst>
                                  <p:childTnLst>
                                    <p:set>
                                      <p:cBhvr>
                                        <p:cTn id="50" dur="1" fill="hold">
                                          <p:stCondLst>
                                            <p:cond delay="0"/>
                                          </p:stCondLst>
                                        </p:cTn>
                                        <p:tgtEl>
                                          <p:spTgt spid="370"/>
                                        </p:tgtEl>
                                        <p:attrNameLst>
                                          <p:attrName>style.visibility</p:attrName>
                                        </p:attrNameLst>
                                      </p:cBhvr>
                                      <p:to>
                                        <p:strVal val="visible"/>
                                      </p:to>
                                    </p:set>
                                    <p:animEffect transition="in" filter="fade">
                                      <p:cBhvr additive="repl">
                                        <p:cTn id="51" dur="350"/>
                                        <p:tgtEl>
                                          <p:spTgt spid="370"/>
                                        </p:tgtEl>
                                      </p:cBhvr>
                                    </p:animEffect>
                                  </p:childTnLst>
                                </p:cTn>
                              </p:par>
                              <p:par>
                                <p:cTn id="52" presetID="10" presetClass="entr" fill="hold" nodeType="withEffect">
                                  <p:stCondLst>
                                    <p:cond delay="0"/>
                                  </p:stCondLst>
                                  <p:childTnLst>
                                    <p:set>
                                      <p:cBhvr>
                                        <p:cTn id="53" dur="1" fill="hold">
                                          <p:stCondLst>
                                            <p:cond delay="0"/>
                                          </p:stCondLst>
                                        </p:cTn>
                                        <p:tgtEl>
                                          <p:spTgt spid="371"/>
                                        </p:tgtEl>
                                        <p:attrNameLst>
                                          <p:attrName>style.visibility</p:attrName>
                                        </p:attrNameLst>
                                      </p:cBhvr>
                                      <p:to>
                                        <p:strVal val="visible"/>
                                      </p:to>
                                    </p:set>
                                    <p:animEffect transition="in" filter="fade">
                                      <p:cBhvr additive="repl">
                                        <p:cTn id="54" dur="350"/>
                                        <p:tgtEl>
                                          <p:spTgt spid="371"/>
                                        </p:tgtEl>
                                      </p:cBhvr>
                                    </p:animEffect>
                                  </p:childTnLst>
                                </p:cTn>
                              </p:par>
                            </p:childTnLst>
                          </p:cTn>
                        </p:par>
                        <p:par>
                          <p:cTn id="55" fill="hold">
                            <p:stCondLst>
                              <p:cond delay="3050"/>
                            </p:stCondLst>
                            <p:childTnLst>
                              <p:par>
                                <p:cTn id="56" presetID="6" presetClass="emph" repeatCount="indefinite" autoRev="1" fill="hold" nodeType="afterEffect">
                                  <p:stCondLst>
                                    <p:cond delay="0"/>
                                  </p:stCondLst>
                                  <p:childTnLst>
                                    <p:animScale>
                                      <p:cBhvr>
                                        <p:cTn id="57" dur="600" fill="hold"/>
                                        <p:tgtEl>
                                          <p:spTgt spid="359"/>
                                        </p:tgtEl>
                                      </p:cBhvr>
                                      <p:by x="106000" y="106000"/>
                                    </p:animScale>
                                  </p:childTnLst>
                                </p:cTn>
                              </p:par>
                              <p:par>
                                <p:cTn id="58" presetID="6" presetClass="emph" repeatCount="indefinite" autoRev="1" fill="hold" nodeType="withEffect">
                                  <p:stCondLst>
                                    <p:cond delay="0"/>
                                  </p:stCondLst>
                                  <p:childTnLst>
                                    <p:animScale>
                                      <p:cBhvr>
                                        <p:cTn id="59" dur="600" fill="hold"/>
                                        <p:tgtEl>
                                          <p:spTgt spid="360"/>
                                        </p:tgtEl>
                                      </p:cBhvr>
                                      <p:by x="106000" y="106000"/>
                                    </p:animScale>
                                  </p:childTnLst>
                                </p:cTn>
                              </p:par>
                              <p:par>
                                <p:cTn id="60" presetID="6" presetClass="emph" repeatCount="indefinite" autoRev="1" fill="hold" nodeType="withEffect">
                                  <p:stCondLst>
                                    <p:cond delay="0"/>
                                  </p:stCondLst>
                                  <p:childTnLst>
                                    <p:animScale>
                                      <p:cBhvr>
                                        <p:cTn id="61" dur="600" fill="hold"/>
                                        <p:tgtEl>
                                          <p:spTgt spid="361"/>
                                        </p:tgtEl>
                                      </p:cBhvr>
                                      <p:by x="106000" y="106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B3D"/>
        </a:solidFill>
        <a:effectLst/>
      </p:bgPr>
    </p:bg>
    <p:spTree>
      <p:nvGrpSpPr>
        <p:cNvPr id="1" name=""/>
        <p:cNvGrpSpPr/>
        <p:nvPr/>
      </p:nvGrpSpPr>
      <p:grpSpPr>
        <a:xfrm>
          <a:off x="0" y="0"/>
          <a:ext cx="0" cy="0"/>
          <a:chOff x="0" y="0"/>
          <a:chExt cx="0" cy="0"/>
        </a:xfrm>
      </p:grpSpPr>
      <p:sp>
        <p:nvSpPr>
          <p:cNvPr id="373" name="Pitch 900"/>
          <p:cNvSpPr/>
          <p:nvPr/>
        </p:nvSpPr>
        <p:spPr>
          <a:xfrm>
            <a:off x="762120" y="762120"/>
            <a:ext cx="10666080" cy="533232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4" name="Pitch 901"/>
          <p:cNvSpPr/>
          <p:nvPr/>
        </p:nvSpPr>
        <p:spPr>
          <a:xfrm>
            <a:off x="6095880" y="761760"/>
            <a:ext cx="360" cy="5334120"/>
          </a:xfrm>
          <a:prstGeom prst="line">
            <a:avLst/>
          </a:prstGeom>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chemeClr val="dk1"/>
              </a:solidFill>
              <a:latin typeface="Calibri"/>
            </a:endParaRPr>
          </a:p>
        </p:txBody>
      </p:sp>
      <p:sp>
        <p:nvSpPr>
          <p:cNvPr id="375" name="Pitch 902"/>
          <p:cNvSpPr/>
          <p:nvPr/>
        </p:nvSpPr>
        <p:spPr>
          <a:xfrm>
            <a:off x="5207040" y="2540160"/>
            <a:ext cx="1776240" cy="1776240"/>
          </a:xfrm>
          <a:prstGeom prst="ellipse">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6" name="Pitch 903"/>
          <p:cNvSpPr/>
          <p:nvPr/>
        </p:nvSpPr>
        <p:spPr>
          <a:xfrm>
            <a:off x="6045120" y="3378240"/>
            <a:ext cx="99720" cy="99720"/>
          </a:xfrm>
          <a:prstGeom prst="ellipse">
            <a:avLst/>
          </a:prstGeom>
          <a:solidFill>
            <a:srgbClr val="1A2A4E"/>
          </a:solidFill>
          <a:ln w="12700">
            <a:solidFill>
              <a:srgbClr val="1A2A4E"/>
            </a:solidFill>
            <a:round/>
          </a:ln>
        </p:spPr>
        <p:style>
          <a:lnRef idx="0">
            <a:scrgbClr r="0" g="0" b="0"/>
          </a:lnRef>
          <a:fillRef idx="0">
            <a:scrgbClr r="0" g="0" b="0"/>
          </a:fillRef>
          <a:effectRef idx="0">
            <a:scrgbClr r="0" g="0" b="0"/>
          </a:effectRef>
          <a:fontRef idx="minor"/>
        </p:style>
        <p:txBody>
          <a:bodyPr lIns="90000" tIns="26640" rIns="90000" bIns="26640" anchor="t">
            <a:noAutofit/>
          </a:bodyPr>
          <a:lstStyle/>
          <a:p>
            <a:pPr defTabSz="914400">
              <a:lnSpc>
                <a:spcPct val="100000"/>
              </a:lnSpc>
            </a:pPr>
            <a:endParaRPr lang="en-US" sz="1800" b="0" strike="noStrike" spc="-1">
              <a:solidFill>
                <a:schemeClr val="dk1"/>
              </a:solidFill>
              <a:latin typeface="Calibri"/>
            </a:endParaRPr>
          </a:p>
        </p:txBody>
      </p:sp>
      <p:sp>
        <p:nvSpPr>
          <p:cNvPr id="377" name="Pitch 904"/>
          <p:cNvSpPr/>
          <p:nvPr/>
        </p:nvSpPr>
        <p:spPr>
          <a:xfrm>
            <a:off x="762120" y="1905120"/>
            <a:ext cx="1522080" cy="304632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8" name="Pitch 905"/>
          <p:cNvSpPr/>
          <p:nvPr/>
        </p:nvSpPr>
        <p:spPr>
          <a:xfrm>
            <a:off x="762120" y="2666880"/>
            <a:ext cx="658440" cy="152208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79" name="Pitch 906"/>
          <p:cNvSpPr/>
          <p:nvPr/>
        </p:nvSpPr>
        <p:spPr>
          <a:xfrm>
            <a:off x="9906120" y="1905120"/>
            <a:ext cx="1522080" cy="304632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80" name="Pitch 907"/>
          <p:cNvSpPr/>
          <p:nvPr/>
        </p:nvSpPr>
        <p:spPr>
          <a:xfrm>
            <a:off x="10769760" y="2666880"/>
            <a:ext cx="658440" cy="1522080"/>
          </a:xfrm>
          <a:prstGeom prst="rect">
            <a:avLst/>
          </a:prstGeom>
          <a:noFill/>
          <a:ln w="15875">
            <a:solidFill>
              <a:srgbClr val="1A2A4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81" name="Shape 0"/>
          <p:cNvSpPr/>
          <p:nvPr/>
        </p:nvSpPr>
        <p:spPr>
          <a:xfrm>
            <a:off x="-36576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82" name="Shape 1"/>
          <p:cNvSpPr/>
          <p:nvPr/>
        </p:nvSpPr>
        <p:spPr>
          <a:xfrm>
            <a:off x="11826000" y="-36576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83" name="Shape 2"/>
          <p:cNvSpPr/>
          <p:nvPr/>
        </p:nvSpPr>
        <p:spPr>
          <a:xfrm>
            <a:off x="-36576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84" name="Shape 3"/>
          <p:cNvSpPr/>
          <p:nvPr/>
        </p:nvSpPr>
        <p:spPr>
          <a:xfrm>
            <a:off x="11826000" y="6492240"/>
            <a:ext cx="729720" cy="729720"/>
          </a:xfrm>
          <a:prstGeom prst="ellipse">
            <a:avLst/>
          </a:prstGeom>
          <a:noFill/>
          <a:ln w="19050">
            <a:solidFill>
              <a:srgbClr val="1F7A4D">
                <a:alpha val="4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85" name="Shape 4"/>
          <p:cNvSpPr/>
          <p:nvPr/>
        </p:nvSpPr>
        <p:spPr>
          <a:xfrm>
            <a:off x="-3291840" y="-3291840"/>
            <a:ext cx="4753080" cy="4753080"/>
          </a:xfrm>
          <a:prstGeom prst="ellipse">
            <a:avLst/>
          </a:prstGeom>
          <a:solidFill>
            <a:srgbClr val="1F7A4D">
              <a:alpha val="5000"/>
            </a:srgbClr>
          </a:solidFill>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86" name="Shape 5"/>
          <p:cNvSpPr/>
          <p:nvPr/>
        </p:nvSpPr>
        <p:spPr>
          <a:xfrm>
            <a:off x="-960120" y="-960120"/>
            <a:ext cx="89640" cy="89640"/>
          </a:xfrm>
          <a:prstGeom prst="ellipse">
            <a:avLst/>
          </a:prstGeom>
          <a:solidFill>
            <a:srgbClr val="E8A33D">
              <a:alpha val="75000"/>
            </a:srgbClr>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387" name="Shape 6"/>
          <p:cNvSpPr/>
          <p:nvPr/>
        </p:nvSpPr>
        <p:spPr>
          <a:xfrm>
            <a:off x="9784080" y="4480560"/>
            <a:ext cx="6581880" cy="6581880"/>
          </a:xfrm>
          <a:prstGeom prst="ellipse">
            <a:avLst/>
          </a:prstGeom>
          <a:solidFill>
            <a:srgbClr val="1F7A4D">
              <a:alpha val="5000"/>
            </a:srgbClr>
          </a:solidFill>
          <a:ln w="25400">
            <a:solidFill>
              <a:srgbClr val="1F7A4D">
                <a:alpha val="38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388" name="Shape 7"/>
          <p:cNvSpPr/>
          <p:nvPr/>
        </p:nvSpPr>
        <p:spPr>
          <a:xfrm>
            <a:off x="13030200" y="7726680"/>
            <a:ext cx="89640" cy="89640"/>
          </a:xfrm>
          <a:prstGeom prst="ellipse">
            <a:avLst/>
          </a:prstGeom>
          <a:solidFill>
            <a:srgbClr val="E8A33D">
              <a:alpha val="75000"/>
            </a:srgbClr>
          </a:solidFill>
          <a:ln w="0">
            <a:noFill/>
          </a:ln>
        </p:spPr>
        <p:style>
          <a:lnRef idx="0">
            <a:scrgbClr r="0" g="0" b="0"/>
          </a:lnRef>
          <a:fillRef idx="0">
            <a:scrgbClr r="0" g="0" b="0"/>
          </a:fillRef>
          <a:effectRef idx="0">
            <a:scrgbClr r="0" g="0" b="0"/>
          </a:effectRef>
          <a:fontRef idx="minor"/>
        </p:style>
        <p:txBody>
          <a:bodyPr lIns="90000" tIns="19440" rIns="90000" bIns="19440" anchor="t">
            <a:noAutofit/>
          </a:bodyPr>
          <a:lstStyle/>
          <a:p>
            <a:pPr defTabSz="914400">
              <a:lnSpc>
                <a:spcPct val="100000"/>
              </a:lnSpc>
            </a:pPr>
            <a:endParaRPr lang="en-US" sz="1800" b="0" strike="noStrike" spc="-1">
              <a:solidFill>
                <a:schemeClr val="dk1"/>
              </a:solidFill>
              <a:latin typeface="Calibri"/>
            </a:endParaRPr>
          </a:p>
        </p:txBody>
      </p:sp>
      <p:sp>
        <p:nvSpPr>
          <p:cNvPr id="389" name="Text 8"/>
          <p:cNvSpPr/>
          <p:nvPr/>
        </p:nvSpPr>
        <p:spPr>
          <a:xfrm>
            <a:off x="822960" y="2286000"/>
            <a:ext cx="8227800" cy="109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800" b="1" strike="noStrike" spc="-1">
                <a:solidFill>
                  <a:srgbClr val="FFFFFF"/>
                </a:solidFill>
                <a:latin typeface="Cambria"/>
                <a:ea typeface="Cambria"/>
              </a:rPr>
              <a:t>Thank you.</a:t>
            </a:r>
            <a:endParaRPr lang="en-US" sz="4800" b="0" strike="noStrike" spc="-1">
              <a:solidFill>
                <a:srgbClr val="FFFFFF"/>
              </a:solidFill>
              <a:latin typeface="Arial"/>
            </a:endParaRPr>
          </a:p>
        </p:txBody>
      </p:sp>
      <p:sp>
        <p:nvSpPr>
          <p:cNvPr id="390" name="Text 9"/>
          <p:cNvSpPr/>
          <p:nvPr/>
        </p:nvSpPr>
        <p:spPr>
          <a:xfrm>
            <a:off x="822960" y="3246120"/>
            <a:ext cx="8227800" cy="54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strike="noStrike" spc="-1">
                <a:solidFill>
                  <a:srgbClr val="CADCFC"/>
                </a:solidFill>
                <a:latin typeface="Calibri"/>
                <a:ea typeface="Calibri"/>
              </a:rPr>
              <a:t>Questions welcome. Let's dig into the dashboards.</a:t>
            </a:r>
            <a:endParaRPr lang="en-US" sz="1600" b="0" strike="noStrike" spc="-1">
              <a:solidFill>
                <a:srgbClr val="FFFFFF"/>
              </a:solidFill>
              <a:latin typeface="Arial"/>
            </a:endParaRPr>
          </a:p>
        </p:txBody>
      </p:sp>
      <p:pic>
        <p:nvPicPr>
          <p:cNvPr id="391" name="Image 0" descr="preencoded.png"/>
          <p:cNvPicPr/>
          <p:nvPr/>
        </p:nvPicPr>
        <p:blipFill>
          <a:blip r:embed="rId3"/>
          <a:stretch/>
        </p:blipFill>
        <p:spPr>
          <a:xfrm>
            <a:off x="822960" y="4206240"/>
            <a:ext cx="290880" cy="290880"/>
          </a:xfrm>
          <a:prstGeom prst="rect">
            <a:avLst/>
          </a:prstGeom>
          <a:ln w="0">
            <a:noFill/>
          </a:ln>
        </p:spPr>
      </p:pic>
      <p:sp>
        <p:nvSpPr>
          <p:cNvPr id="392" name="Text 10">
            <a:hlinkClick r:id="rId4"/>
          </p:cNvPr>
          <p:cNvSpPr/>
          <p:nvPr/>
        </p:nvSpPr>
        <p:spPr>
          <a:xfrm>
            <a:off x="1234440" y="4206240"/>
            <a:ext cx="7770600" cy="29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u="sng" strike="noStrike" spc="-1">
                <a:solidFill>
                  <a:srgbClr val="0563C1"/>
                </a:solidFill>
                <a:uFillTx/>
                <a:latin typeface="Calibri"/>
                <a:ea typeface="Calibri"/>
                <a:hlinkClick r:id="rId4"/>
              </a:rPr>
              <a:t>github.com/Simba90m/capstone_project_worth_the_investment_PL</a:t>
            </a:r>
            <a:endParaRPr lang="en-US" sz="1300" b="0" strike="noStrike" spc="-1">
              <a:solidFill>
                <a:srgbClr val="FFFFFF"/>
              </a:solidFill>
              <a:latin typeface="Arial"/>
            </a:endParaRPr>
          </a:p>
        </p:txBody>
      </p:sp>
      <p:sp>
        <p:nvSpPr>
          <p:cNvPr id="393" name="Text 11"/>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A8B4D0"/>
                </a:solidFill>
                <a:latin typeface="Calibri"/>
                <a:ea typeface="Calibri"/>
              </a:rPr>
              <a:t>16</a:t>
            </a:r>
            <a:endParaRPr lang="en-US" sz="1200" b="0" strike="noStrike" spc="-1">
              <a:solidFill>
                <a:srgbClr val="FFFFFF"/>
              </a:solidFill>
              <a:latin typeface="Arial"/>
            </a:endParaRPr>
          </a:p>
        </p:txBody>
      </p:sp>
      <p:pic>
        <p:nvPicPr>
          <p:cNvPr id="394" name="Graphic 908" descr="Soccer ball on the penalty spot"/>
          <p:cNvPicPr/>
          <p:nvPr/>
        </p:nvPicPr>
        <p:blipFill>
          <a:blip r:embed="rId5">
            <a:extLst>
              <a:ext uri="{96DAC541-7B7A-43D3-8B79-37D633B846F1}">
                <asvg:svgBlip xmlns:asvg="http://schemas.microsoft.com/office/drawing/2016/SVG/main" r:embed="rId6"/>
              </a:ext>
            </a:extLst>
          </a:blip>
          <a:stretch/>
        </p:blipFill>
        <p:spPr>
          <a:xfrm>
            <a:off x="10452240" y="3238560"/>
            <a:ext cx="379080" cy="379080"/>
          </a:xfrm>
          <a:prstGeom prst="rect">
            <a:avLst/>
          </a:prstGeom>
          <a:ln w="0">
            <a:noFill/>
          </a:ln>
        </p:spPr>
      </p:pic>
      <p:sp>
        <p:nvSpPr>
          <p:cNvPr id="395" name="TextBox 937"/>
          <p:cNvSpPr/>
          <p:nvPr/>
        </p:nvSpPr>
        <p:spPr>
          <a:xfrm>
            <a:off x="822960" y="4648320"/>
            <a:ext cx="9599400" cy="42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pPr>
            <a:r>
              <a:rPr lang="en-US" sz="1400" b="1" strike="noStrike" spc="-1">
                <a:solidFill>
                  <a:srgbClr val="E8A33D"/>
                </a:solidFill>
                <a:latin typeface="Calibri"/>
              </a:rPr>
              <a:t>What this project demonstrates: </a:t>
            </a:r>
            <a:r>
              <a:rPr lang="en-US" sz="1400" b="0" strike="noStrike" spc="-1">
                <a:solidFill>
                  <a:srgbClr val="AEB8D6"/>
                </a:solidFill>
                <a:latin typeface="Calibri"/>
              </a:rPr>
              <a:t>a full 3-source pipeline  ·  honest hypothesis testing  ·  one real, actionable signal  ·  live interactive dashboards</a:t>
            </a:r>
            <a:endParaRPr lang="en-US" sz="1400" b="0" strike="noStrike" spc="-1">
              <a:solidFill>
                <a:srgbClr val="FFFFFF"/>
              </a:solidFill>
              <a:latin typeface="Arial"/>
            </a:endParaRPr>
          </a:p>
        </p:txBody>
      </p:sp>
    </p:spTree>
  </p:cSld>
  <p:clrMapOvr>
    <a:masterClrMapping/>
  </p:clrMapOvr>
  <p:transition spd="med">
    <p:fade/>
  </p:transition>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 presetClass="entr" fill="hold" nodeType="afterEffect">
                                  <p:stCondLst>
                                    <p:cond delay="0"/>
                                  </p:stCondLst>
                                  <p:childTnLst>
                                    <p:set>
                                      <p:cBhvr>
                                        <p:cTn id="6" dur="1" fill="hold">
                                          <p:stCondLst>
                                            <p:cond delay="0"/>
                                          </p:stCondLst>
                                        </p:cTn>
                                        <p:tgtEl>
                                          <p:spTgt spid="394"/>
                                        </p:tgtEl>
                                        <p:attrNameLst>
                                          <p:attrName>style.visibility</p:attrName>
                                        </p:attrNameLst>
                                      </p:cBhvr>
                                      <p:to>
                                        <p:strVal val="visible"/>
                                      </p:to>
                                    </p:set>
                                  </p:childTnLst>
                                </p:cTn>
                              </p:par>
                              <p:par>
                                <p:cTn id="7" presetClass="path" fill="hold" nodeType="withEffect">
                                  <p:stCondLst>
                                    <p:cond delay="0"/>
                                  </p:stCondLst>
                                  <p:childTnLst>
                                    <p:animMotion origin="layout" path="M -0.373 0 C -0.25 -0.06 -0.12 -0.03 0 0 E">
                                      <p:cBhvr>
                                        <p:cTn id="8" dur="1600" fill="hold"/>
                                        <p:tgtEl>
                                          <p:spTgt spid="394"/>
                                        </p:tgtEl>
                                        <p:attrNameLst>
                                          <p:attrName>ppt_x</p:attrName>
                                          <p:attrName>ppt_y</p:attrName>
                                        </p:attrNameLst>
                                      </p:cBhvr>
                                    </p:animMotion>
                                  </p:childTnLst>
                                </p:cTn>
                              </p:par>
                              <p:par>
                                <p:cTn id="9" presetID="8" presetClass="emph" fill="hold" nodeType="withEffect">
                                  <p:stCondLst>
                                    <p:cond delay="0"/>
                                  </p:stCondLst>
                                  <p:childTnLst>
                                    <p:animRot by="43200000">
                                      <p:cBhvr>
                                        <p:cTn id="10" dur="1600" fill="hold"/>
                                        <p:tgtEl>
                                          <p:spTgt spid="394"/>
                                        </p:tgtEl>
                                        <p:attrNameLst>
                                          <p:attrName>r</p:attrName>
                                        </p:attrNameLst>
                                      </p:cBhvr>
                                    </p:animRot>
                                  </p:childTnLst>
                                </p:cTn>
                              </p:par>
                              <p:par>
                                <p:cTn id="11" presetID="6" presetClass="emph" autoRev="1" fill="hold" nodeType="afterEffect">
                                  <p:stCondLst>
                                    <p:cond delay="0"/>
                                  </p:stCondLst>
                                  <p:childTnLst>
                                    <p:animScale>
                                      <p:cBhvr>
                                        <p:cTn id="12" dur="250" fill="hold"/>
                                        <p:tgtEl>
                                          <p:spTgt spid="394"/>
                                        </p:tgtEl>
                                      </p:cBhvr>
                                      <p:by x="130000" y="130000"/>
                                    </p:animScale>
                                  </p:childTnLst>
                                </p:cTn>
                              </p:par>
                            </p:childTnLst>
                          </p:cTn>
                        </p:par>
                      </p:childTnLst>
                    </p:cTn>
                  </p:par>
                  <p:par>
                    <p:cTn id="13" fill="hold">
                      <p:stCondLst>
                        <p:cond delay="indefinite"/>
                      </p:stCondLst>
                      <p:childTnLst>
                        <p:par>
                          <p:cTn id="14" fill="hold">
                            <p:stCondLst>
                              <p:cond delay="0"/>
                            </p:stCondLst>
                            <p:childTnLst>
                              <p:par>
                                <p:cTn id="15" presetID="10" presetClass="entr" fill="hold" nodeType="clickEffect">
                                  <p:stCondLst>
                                    <p:cond delay="0"/>
                                  </p:stCondLst>
                                  <p:childTnLst>
                                    <p:set>
                                      <p:cBhvr>
                                        <p:cTn id="16" dur="1" fill="hold">
                                          <p:stCondLst>
                                            <p:cond delay="0"/>
                                          </p:stCondLst>
                                        </p:cTn>
                                        <p:tgtEl>
                                          <p:spTgt spid="390"/>
                                        </p:tgtEl>
                                        <p:attrNameLst>
                                          <p:attrName>style.visibility</p:attrName>
                                        </p:attrNameLst>
                                      </p:cBhvr>
                                      <p:to>
                                        <p:strVal val="visible"/>
                                      </p:to>
                                    </p:set>
                                    <p:animEffect transition="in" filter="fade">
                                      <p:cBhvr additive="repl">
                                        <p:cTn id="17" dur="500"/>
                                        <p:tgtEl>
                                          <p:spTgt spid="39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fill="hold" nodeType="clickEffect">
                                  <p:stCondLst>
                                    <p:cond delay="0"/>
                                  </p:stCondLst>
                                  <p:childTnLst>
                                    <p:set>
                                      <p:cBhvr>
                                        <p:cTn id="21" dur="1" fill="hold">
                                          <p:stCondLst>
                                            <p:cond delay="0"/>
                                          </p:stCondLst>
                                        </p:cTn>
                                        <p:tgtEl>
                                          <p:spTgt spid="391"/>
                                        </p:tgtEl>
                                        <p:attrNameLst>
                                          <p:attrName>style.visibility</p:attrName>
                                        </p:attrNameLst>
                                      </p:cBhvr>
                                      <p:to>
                                        <p:strVal val="visible"/>
                                      </p:to>
                                    </p:set>
                                    <p:animEffect transition="in" filter="fade">
                                      <p:cBhvr additive="repl">
                                        <p:cTn id="22" dur="500"/>
                                        <p:tgtEl>
                                          <p:spTgt spid="391"/>
                                        </p:tgtEl>
                                      </p:cBhvr>
                                    </p:animEffect>
                                  </p:childTnLst>
                                </p:cTn>
                              </p:par>
                              <p:par>
                                <p:cTn id="23" presetID="10" presetClass="entr" fill="hold" nodeType="withEffect">
                                  <p:stCondLst>
                                    <p:cond delay="0"/>
                                  </p:stCondLst>
                                  <p:childTnLst>
                                    <p:set>
                                      <p:cBhvr>
                                        <p:cTn id="24" dur="1" fill="hold">
                                          <p:stCondLst>
                                            <p:cond delay="0"/>
                                          </p:stCondLst>
                                        </p:cTn>
                                        <p:tgtEl>
                                          <p:spTgt spid="392"/>
                                        </p:tgtEl>
                                        <p:attrNameLst>
                                          <p:attrName>style.visibility</p:attrName>
                                        </p:attrNameLst>
                                      </p:cBhvr>
                                      <p:to>
                                        <p:strVal val="visible"/>
                                      </p:to>
                                    </p:set>
                                    <p:animEffect transition="in" filter="fade">
                                      <p:cBhvr additive="repl">
                                        <p:cTn id="25" dur="500"/>
                                        <p:tgtEl>
                                          <p:spTgt spid="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396" name="Text 0"/>
          <p:cNvSpPr/>
          <p:nvPr/>
        </p:nvSpPr>
        <p:spPr>
          <a:xfrm>
            <a:off x="822960" y="594360"/>
            <a:ext cx="5484600" cy="31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1">
                <a:solidFill>
                  <a:srgbClr val="1F7A4D"/>
                </a:solidFill>
                <a:latin typeface="Calibri"/>
                <a:ea typeface="Calibri"/>
              </a:rPr>
              <a:t>APPENDIX / ROADMAP</a:t>
            </a:r>
            <a:endParaRPr lang="en-US" sz="1400" b="0" strike="noStrike" spc="-1">
              <a:solidFill>
                <a:srgbClr val="000000"/>
              </a:solidFill>
              <a:latin typeface="Arial"/>
            </a:endParaRPr>
          </a:p>
        </p:txBody>
      </p:sp>
      <p:sp>
        <p:nvSpPr>
          <p:cNvPr id="397" name="Text 1"/>
          <p:cNvSpPr/>
          <p:nvPr/>
        </p:nvSpPr>
        <p:spPr>
          <a:xfrm>
            <a:off x="777240" y="896040"/>
            <a:ext cx="7313400" cy="72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1A1A1A"/>
                </a:solidFill>
                <a:latin typeface="Cambria"/>
                <a:ea typeface="Cambria"/>
              </a:rPr>
              <a:t>Where we are</a:t>
            </a:r>
            <a:endParaRPr lang="en-US" sz="3200" b="0" strike="noStrike" spc="-1">
              <a:solidFill>
                <a:srgbClr val="000000"/>
              </a:solidFill>
              <a:latin typeface="Arial"/>
            </a:endParaRPr>
          </a:p>
        </p:txBody>
      </p:sp>
      <p:pic>
        <p:nvPicPr>
          <p:cNvPr id="398" name="Image 0" descr="preencoded.png"/>
          <p:cNvPicPr/>
          <p:nvPr/>
        </p:nvPicPr>
        <p:blipFill>
          <a:blip r:embed="rId3"/>
          <a:stretch/>
        </p:blipFill>
        <p:spPr>
          <a:xfrm>
            <a:off x="822960" y="1917720"/>
            <a:ext cx="309240" cy="309240"/>
          </a:xfrm>
          <a:prstGeom prst="rect">
            <a:avLst/>
          </a:prstGeom>
          <a:ln w="0">
            <a:noFill/>
          </a:ln>
        </p:spPr>
      </p:pic>
      <p:sp>
        <p:nvSpPr>
          <p:cNvPr id="399" name="Text 2"/>
          <p:cNvSpPr/>
          <p:nvPr/>
        </p:nvSpPr>
        <p:spPr>
          <a:xfrm>
            <a:off x="1298520" y="1905120"/>
            <a:ext cx="603324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1A1A1A"/>
                </a:solidFill>
                <a:latin typeface="Calibri"/>
                <a:ea typeface="Calibri"/>
              </a:rPr>
              <a:t>Business question with background &amp; impact</a:t>
            </a:r>
            <a:endParaRPr lang="en-US" sz="1300" b="0" strike="noStrike" spc="-1">
              <a:solidFill>
                <a:srgbClr val="000000"/>
              </a:solidFill>
              <a:latin typeface="Arial"/>
            </a:endParaRPr>
          </a:p>
        </p:txBody>
      </p:sp>
      <p:pic>
        <p:nvPicPr>
          <p:cNvPr id="400" name="Image 1" descr="preencoded.png"/>
          <p:cNvPicPr/>
          <p:nvPr/>
        </p:nvPicPr>
        <p:blipFill>
          <a:blip r:embed="rId3"/>
          <a:stretch/>
        </p:blipFill>
        <p:spPr>
          <a:xfrm>
            <a:off x="822960" y="2679840"/>
            <a:ext cx="309240" cy="309240"/>
          </a:xfrm>
          <a:prstGeom prst="rect">
            <a:avLst/>
          </a:prstGeom>
          <a:ln w="0">
            <a:noFill/>
          </a:ln>
        </p:spPr>
      </p:pic>
      <p:sp>
        <p:nvSpPr>
          <p:cNvPr id="401" name="Text 3"/>
          <p:cNvSpPr/>
          <p:nvPr/>
        </p:nvSpPr>
        <p:spPr>
          <a:xfrm>
            <a:off x="1298520" y="2666880"/>
            <a:ext cx="603324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1A1A1A"/>
                </a:solidFill>
                <a:latin typeface="Calibri"/>
                <a:ea typeface="Calibri"/>
              </a:rPr>
              <a:t>Technical analysis in Python + SQL + Tableau</a:t>
            </a:r>
            <a:endParaRPr lang="en-US" sz="1300" b="0" strike="noStrike" spc="-1">
              <a:solidFill>
                <a:srgbClr val="000000"/>
              </a:solidFill>
              <a:latin typeface="Arial"/>
            </a:endParaRPr>
          </a:p>
        </p:txBody>
      </p:sp>
      <p:pic>
        <p:nvPicPr>
          <p:cNvPr id="402" name="Image 2" descr="preencoded.png"/>
          <p:cNvPicPr/>
          <p:nvPr/>
        </p:nvPicPr>
        <p:blipFill>
          <a:blip r:embed="rId3"/>
          <a:stretch/>
        </p:blipFill>
        <p:spPr>
          <a:xfrm>
            <a:off x="822960" y="3441600"/>
            <a:ext cx="309240" cy="309240"/>
          </a:xfrm>
          <a:prstGeom prst="rect">
            <a:avLst/>
          </a:prstGeom>
          <a:ln w="0">
            <a:noFill/>
          </a:ln>
        </p:spPr>
      </p:pic>
      <p:sp>
        <p:nvSpPr>
          <p:cNvPr id="403" name="Text 4"/>
          <p:cNvSpPr/>
          <p:nvPr/>
        </p:nvSpPr>
        <p:spPr>
          <a:xfrm>
            <a:off x="1298520" y="3429000"/>
            <a:ext cx="603324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1A1A1A"/>
                </a:solidFill>
                <a:latin typeface="Calibri"/>
                <a:ea typeface="Calibri"/>
              </a:rPr>
              <a:t>Work stored in a GitHub repository</a:t>
            </a:r>
            <a:endParaRPr lang="en-US" sz="1300" b="0" strike="noStrike" spc="-1">
              <a:solidFill>
                <a:srgbClr val="000000"/>
              </a:solidFill>
              <a:latin typeface="Arial"/>
            </a:endParaRPr>
          </a:p>
        </p:txBody>
      </p:sp>
      <p:pic>
        <p:nvPicPr>
          <p:cNvPr id="404" name="Image 3" descr="preencoded.png"/>
          <p:cNvPicPr/>
          <p:nvPr/>
        </p:nvPicPr>
        <p:blipFill>
          <a:blip r:embed="rId3"/>
          <a:stretch/>
        </p:blipFill>
        <p:spPr>
          <a:xfrm>
            <a:off x="822960" y="4203720"/>
            <a:ext cx="309240" cy="309240"/>
          </a:xfrm>
          <a:prstGeom prst="rect">
            <a:avLst/>
          </a:prstGeom>
          <a:ln w="0">
            <a:noFill/>
          </a:ln>
        </p:spPr>
      </p:pic>
      <p:sp>
        <p:nvSpPr>
          <p:cNvPr id="405" name="Text 5"/>
          <p:cNvSpPr/>
          <p:nvPr/>
        </p:nvSpPr>
        <p:spPr>
          <a:xfrm>
            <a:off x="1298520" y="4191120"/>
            <a:ext cx="603324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1A1A1A"/>
                </a:solidFill>
                <a:latin typeface="Calibri"/>
                <a:ea typeface="Calibri"/>
              </a:rPr>
              <a:t>Data stored in a SQL database (DuckDB)</a:t>
            </a:r>
            <a:endParaRPr lang="en-US" sz="1300" b="0" strike="noStrike" spc="-1">
              <a:solidFill>
                <a:srgbClr val="000000"/>
              </a:solidFill>
              <a:latin typeface="Arial"/>
            </a:endParaRPr>
          </a:p>
        </p:txBody>
      </p:sp>
      <p:pic>
        <p:nvPicPr>
          <p:cNvPr id="406" name="Image 4" descr="preencoded.png"/>
          <p:cNvPicPr/>
          <p:nvPr/>
        </p:nvPicPr>
        <p:blipFill>
          <a:blip r:embed="rId3"/>
          <a:stretch/>
        </p:blipFill>
        <p:spPr>
          <a:xfrm>
            <a:off x="822960" y="4965840"/>
            <a:ext cx="309240" cy="309240"/>
          </a:xfrm>
          <a:prstGeom prst="rect">
            <a:avLst/>
          </a:prstGeom>
          <a:ln w="0">
            <a:noFill/>
          </a:ln>
        </p:spPr>
      </p:pic>
      <p:sp>
        <p:nvSpPr>
          <p:cNvPr id="407" name="Text 6"/>
          <p:cNvSpPr/>
          <p:nvPr/>
        </p:nvSpPr>
        <p:spPr>
          <a:xfrm>
            <a:off x="1298520" y="4952880"/>
            <a:ext cx="603324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1A1A1A"/>
                </a:solidFill>
                <a:latin typeface="Calibri"/>
                <a:ea typeface="Calibri"/>
              </a:rPr>
              <a:t>Multiple, genuinely-own data sources (3 combined)</a:t>
            </a:r>
            <a:endParaRPr lang="en-US" sz="1300" b="0" strike="noStrike" spc="-1">
              <a:solidFill>
                <a:srgbClr val="000000"/>
              </a:solidFill>
              <a:latin typeface="Arial"/>
            </a:endParaRPr>
          </a:p>
        </p:txBody>
      </p:sp>
      <p:sp>
        <p:nvSpPr>
          <p:cNvPr id="408" name="Text 8"/>
          <p:cNvSpPr/>
          <p:nvPr/>
        </p:nvSpPr>
        <p:spPr>
          <a:xfrm>
            <a:off x="1298520" y="5715000"/>
            <a:ext cx="603324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4A5568"/>
                </a:solidFill>
                <a:latin typeface="Calibri"/>
                <a:ea typeface="Calibri"/>
              </a:rPr>
              <a:t>Final presentation, slides in repo</a:t>
            </a:r>
            <a:endParaRPr lang="en-US" sz="1300" b="0" strike="noStrike" spc="-1">
              <a:solidFill>
                <a:srgbClr val="000000"/>
              </a:solidFill>
              <a:latin typeface="Arial"/>
            </a:endParaRPr>
          </a:p>
        </p:txBody>
      </p:sp>
      <p:sp>
        <p:nvSpPr>
          <p:cNvPr id="409" name="Shape 9"/>
          <p:cNvSpPr/>
          <p:nvPr/>
        </p:nvSpPr>
        <p:spPr>
          <a:xfrm>
            <a:off x="7818120" y="1920240"/>
            <a:ext cx="3518640" cy="4204440"/>
          </a:xfrm>
          <a:prstGeom prst="roundRect">
            <a:avLst>
              <a:gd name="adj" fmla="val 2338"/>
            </a:avLst>
          </a:prstGeom>
          <a:solidFill>
            <a:srgbClr val="0F1B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0" name="Text 10"/>
          <p:cNvSpPr/>
          <p:nvPr/>
        </p:nvSpPr>
        <p:spPr>
          <a:xfrm>
            <a:off x="8092440" y="2121480"/>
            <a:ext cx="3015720" cy="36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E8A33D"/>
                </a:solidFill>
                <a:latin typeface="Calibri"/>
                <a:ea typeface="Calibri"/>
              </a:rPr>
              <a:t>Capstone timeline</a:t>
            </a:r>
            <a:endParaRPr lang="en-US" sz="1300" b="0" strike="noStrike" spc="-1">
              <a:solidFill>
                <a:srgbClr val="000000"/>
              </a:solidFill>
              <a:latin typeface="Arial"/>
            </a:endParaRPr>
          </a:p>
        </p:txBody>
      </p:sp>
      <p:sp>
        <p:nvSpPr>
          <p:cNvPr id="411" name="Shape 11"/>
          <p:cNvSpPr/>
          <p:nvPr/>
        </p:nvSpPr>
        <p:spPr>
          <a:xfrm>
            <a:off x="8092440" y="2633400"/>
            <a:ext cx="144360" cy="144360"/>
          </a:xfrm>
          <a:prstGeom prst="ellipse">
            <a:avLst/>
          </a:prstGeom>
          <a:solidFill>
            <a:srgbClr val="3C4A7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2" name="Text 12"/>
          <p:cNvSpPr/>
          <p:nvPr/>
        </p:nvSpPr>
        <p:spPr>
          <a:xfrm>
            <a:off x="8366760" y="2532960"/>
            <a:ext cx="1004040" cy="29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ADCFC"/>
                </a:solidFill>
                <a:latin typeface="Calibri"/>
                <a:ea typeface="Calibri"/>
              </a:rPr>
              <a:t>Week 1</a:t>
            </a:r>
            <a:endParaRPr lang="en-US" sz="1300" b="0" strike="noStrike" spc="-1">
              <a:solidFill>
                <a:srgbClr val="000000"/>
              </a:solidFill>
              <a:latin typeface="Arial"/>
            </a:endParaRPr>
          </a:p>
        </p:txBody>
      </p:sp>
      <p:sp>
        <p:nvSpPr>
          <p:cNvPr id="413" name="Text 13"/>
          <p:cNvSpPr/>
          <p:nvPr/>
        </p:nvSpPr>
        <p:spPr>
          <a:xfrm>
            <a:off x="8366760" y="2807280"/>
            <a:ext cx="2832840" cy="40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B8C4E0"/>
                </a:solidFill>
                <a:latin typeface="Calibri"/>
                <a:ea typeface="Calibri"/>
              </a:rPr>
              <a:t>Plan: hypothesis, data inventory</a:t>
            </a:r>
            <a:endParaRPr lang="en-US" sz="1300" b="0" strike="noStrike" spc="-1">
              <a:solidFill>
                <a:srgbClr val="000000"/>
              </a:solidFill>
              <a:latin typeface="Arial"/>
            </a:endParaRPr>
          </a:p>
        </p:txBody>
      </p:sp>
      <p:sp>
        <p:nvSpPr>
          <p:cNvPr id="414" name="Shape 14"/>
          <p:cNvSpPr/>
          <p:nvPr/>
        </p:nvSpPr>
        <p:spPr>
          <a:xfrm>
            <a:off x="8092440" y="3291840"/>
            <a:ext cx="144360" cy="144360"/>
          </a:xfrm>
          <a:prstGeom prst="ellipse">
            <a:avLst/>
          </a:prstGeom>
          <a:solidFill>
            <a:srgbClr val="3C4A7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5" name="Text 15"/>
          <p:cNvSpPr/>
          <p:nvPr/>
        </p:nvSpPr>
        <p:spPr>
          <a:xfrm>
            <a:off x="8366760" y="3191400"/>
            <a:ext cx="1004040" cy="29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ADCFC"/>
                </a:solidFill>
                <a:latin typeface="Calibri"/>
                <a:ea typeface="Calibri"/>
              </a:rPr>
              <a:t>Week 2</a:t>
            </a:r>
            <a:endParaRPr lang="en-US" sz="1300" b="0" strike="noStrike" spc="-1">
              <a:solidFill>
                <a:srgbClr val="000000"/>
              </a:solidFill>
              <a:latin typeface="Arial"/>
            </a:endParaRPr>
          </a:p>
        </p:txBody>
      </p:sp>
      <p:sp>
        <p:nvSpPr>
          <p:cNvPr id="416" name="Text 16"/>
          <p:cNvSpPr/>
          <p:nvPr/>
        </p:nvSpPr>
        <p:spPr>
          <a:xfrm>
            <a:off x="8366760" y="3465720"/>
            <a:ext cx="2832840" cy="40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B8C4E0"/>
                </a:solidFill>
                <a:latin typeface="Calibri"/>
                <a:ea typeface="Calibri"/>
              </a:rPr>
              <a:t>Foundations: ETL, dbt, DuckDB</a:t>
            </a:r>
            <a:endParaRPr lang="en-US" sz="1300" b="0" strike="noStrike" spc="-1">
              <a:solidFill>
                <a:srgbClr val="000000"/>
              </a:solidFill>
              <a:latin typeface="Arial"/>
            </a:endParaRPr>
          </a:p>
        </p:txBody>
      </p:sp>
      <p:sp>
        <p:nvSpPr>
          <p:cNvPr id="417" name="Shape 17"/>
          <p:cNvSpPr/>
          <p:nvPr/>
        </p:nvSpPr>
        <p:spPr>
          <a:xfrm>
            <a:off x="8092440" y="3950280"/>
            <a:ext cx="144360" cy="144360"/>
          </a:xfrm>
          <a:prstGeom prst="ellipse">
            <a:avLst/>
          </a:prstGeom>
          <a:solidFill>
            <a:srgbClr val="3C4A7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18" name="Text 18"/>
          <p:cNvSpPr/>
          <p:nvPr/>
        </p:nvSpPr>
        <p:spPr>
          <a:xfrm>
            <a:off x="8366760" y="3849480"/>
            <a:ext cx="1004040" cy="29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ADCFC"/>
                </a:solidFill>
                <a:latin typeface="Calibri"/>
                <a:ea typeface="Calibri"/>
              </a:rPr>
              <a:t>Week 3</a:t>
            </a:r>
            <a:endParaRPr lang="en-US" sz="1300" b="0" strike="noStrike" spc="-1">
              <a:solidFill>
                <a:srgbClr val="000000"/>
              </a:solidFill>
              <a:latin typeface="Arial"/>
            </a:endParaRPr>
          </a:p>
        </p:txBody>
      </p:sp>
      <p:sp>
        <p:nvSpPr>
          <p:cNvPr id="419" name="Text 19"/>
          <p:cNvSpPr/>
          <p:nvPr/>
        </p:nvSpPr>
        <p:spPr>
          <a:xfrm>
            <a:off x="8366760" y="4123800"/>
            <a:ext cx="2832840" cy="40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B8C4E0"/>
                </a:solidFill>
                <a:latin typeface="Calibri"/>
                <a:ea typeface="Calibri"/>
              </a:rPr>
              <a:t>Build: analysis, statistical tests</a:t>
            </a:r>
            <a:endParaRPr lang="en-US" sz="1300" b="0" strike="noStrike" spc="-1">
              <a:solidFill>
                <a:srgbClr val="000000"/>
              </a:solidFill>
              <a:latin typeface="Arial"/>
            </a:endParaRPr>
          </a:p>
        </p:txBody>
      </p:sp>
      <p:sp>
        <p:nvSpPr>
          <p:cNvPr id="420" name="Shape 20"/>
          <p:cNvSpPr/>
          <p:nvPr/>
        </p:nvSpPr>
        <p:spPr>
          <a:xfrm>
            <a:off x="8092440" y="4608720"/>
            <a:ext cx="144360" cy="144360"/>
          </a:xfrm>
          <a:prstGeom prst="ellipse">
            <a:avLst/>
          </a:prstGeom>
          <a:solidFill>
            <a:srgbClr val="3C4A7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21" name="Text 21"/>
          <p:cNvSpPr/>
          <p:nvPr/>
        </p:nvSpPr>
        <p:spPr>
          <a:xfrm>
            <a:off x="8366760" y="4507920"/>
            <a:ext cx="1004040" cy="29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CADCFC"/>
                </a:solidFill>
                <a:latin typeface="Calibri"/>
                <a:ea typeface="Calibri"/>
              </a:rPr>
              <a:t>Week 4</a:t>
            </a:r>
            <a:endParaRPr lang="en-US" sz="1300" b="0" strike="noStrike" spc="-1">
              <a:solidFill>
                <a:srgbClr val="000000"/>
              </a:solidFill>
              <a:latin typeface="Arial"/>
            </a:endParaRPr>
          </a:p>
        </p:txBody>
      </p:sp>
      <p:sp>
        <p:nvSpPr>
          <p:cNvPr id="422" name="Text 22"/>
          <p:cNvSpPr/>
          <p:nvPr/>
        </p:nvSpPr>
        <p:spPr>
          <a:xfrm>
            <a:off x="8366760" y="4782240"/>
            <a:ext cx="2832840" cy="40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B8C4E0"/>
                </a:solidFill>
                <a:latin typeface="Calibri"/>
                <a:ea typeface="Calibri"/>
              </a:rPr>
              <a:t>Polish: Tableau, rehearsal, freeze</a:t>
            </a:r>
            <a:endParaRPr lang="en-US" sz="1300" b="0" strike="noStrike" spc="-1">
              <a:solidFill>
                <a:srgbClr val="000000"/>
              </a:solidFill>
              <a:latin typeface="Arial"/>
            </a:endParaRPr>
          </a:p>
        </p:txBody>
      </p:sp>
      <p:sp>
        <p:nvSpPr>
          <p:cNvPr id="423" name="Shape 23"/>
          <p:cNvSpPr/>
          <p:nvPr/>
        </p:nvSpPr>
        <p:spPr>
          <a:xfrm>
            <a:off x="8092440" y="5266800"/>
            <a:ext cx="144360" cy="144360"/>
          </a:xfrm>
          <a:prstGeom prst="ellipse">
            <a:avLst/>
          </a:prstGeom>
          <a:solidFill>
            <a:srgbClr val="E8A3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strike="noStrike" spc="-1">
              <a:solidFill>
                <a:schemeClr val="dk1"/>
              </a:solidFill>
              <a:latin typeface="Calibri"/>
            </a:endParaRPr>
          </a:p>
        </p:txBody>
      </p:sp>
      <p:sp>
        <p:nvSpPr>
          <p:cNvPr id="424" name="Text 24"/>
          <p:cNvSpPr/>
          <p:nvPr/>
        </p:nvSpPr>
        <p:spPr>
          <a:xfrm>
            <a:off x="8366760" y="5166360"/>
            <a:ext cx="1004040" cy="29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E8A33D"/>
                </a:solidFill>
                <a:latin typeface="Calibri"/>
                <a:ea typeface="Calibri"/>
              </a:rPr>
              <a:t>Sep 29</a:t>
            </a:r>
            <a:endParaRPr lang="en-US" sz="1300" b="0" strike="noStrike" spc="-1">
              <a:solidFill>
                <a:srgbClr val="000000"/>
              </a:solidFill>
              <a:latin typeface="Arial"/>
            </a:endParaRPr>
          </a:p>
        </p:txBody>
      </p:sp>
      <p:sp>
        <p:nvSpPr>
          <p:cNvPr id="425" name="Text 25"/>
          <p:cNvSpPr/>
          <p:nvPr/>
        </p:nvSpPr>
        <p:spPr>
          <a:xfrm>
            <a:off x="8366760" y="5440680"/>
            <a:ext cx="2832840" cy="40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B8C4E0"/>
                </a:solidFill>
                <a:latin typeface="Calibri"/>
                <a:ea typeface="Calibri"/>
              </a:rPr>
              <a:t>Capstone Event</a:t>
            </a:r>
            <a:endParaRPr lang="en-US" sz="1300" b="0" strike="noStrike" spc="-1">
              <a:solidFill>
                <a:srgbClr val="000000"/>
              </a:solidFill>
              <a:latin typeface="Arial"/>
            </a:endParaRPr>
          </a:p>
        </p:txBody>
      </p:sp>
      <p:sp>
        <p:nvSpPr>
          <p:cNvPr id="426" name="Text 26"/>
          <p:cNvSpPr/>
          <p:nvPr/>
        </p:nvSpPr>
        <p:spPr>
          <a:xfrm>
            <a:off x="825480" y="6400800"/>
            <a:ext cx="88880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5A6478"/>
                </a:solidFill>
                <a:latin typeface="Calibri"/>
                <a:ea typeface="Calibri"/>
              </a:rPr>
              <a:t>Kickoff Aug 26, 2026 to Capstone Event Sep 29, 2026. Today: final presentation and live Tableau walkthrough.</a:t>
            </a:r>
            <a:endParaRPr lang="en-US" sz="1300" b="0" strike="noStrike" spc="-1">
              <a:solidFill>
                <a:srgbClr val="000000"/>
              </a:solidFill>
              <a:latin typeface="Arial"/>
            </a:endParaRPr>
          </a:p>
        </p:txBody>
      </p:sp>
      <p:sp>
        <p:nvSpPr>
          <p:cNvPr id="427" name="Text 27"/>
          <p:cNvSpPr/>
          <p:nvPr/>
        </p:nvSpPr>
        <p:spPr>
          <a:xfrm>
            <a:off x="11368800" y="6400800"/>
            <a:ext cx="546840" cy="27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0" strike="noStrike" spc="-1">
                <a:solidFill>
                  <a:srgbClr val="5A6478"/>
                </a:solidFill>
                <a:latin typeface="Calibri"/>
                <a:ea typeface="Calibri"/>
              </a:rPr>
              <a:t>17</a:t>
            </a:r>
            <a:endParaRPr lang="en-US" sz="1200" b="0" strike="noStrike" spc="-1">
              <a:solidFill>
                <a:srgbClr val="000000"/>
              </a:solidFill>
              <a:latin typeface="Arial"/>
            </a:endParaRPr>
          </a:p>
        </p:txBody>
      </p:sp>
      <p:sp>
        <p:nvSpPr>
          <p:cNvPr id="428" name="TextBox 86"/>
          <p:cNvSpPr/>
          <p:nvPr/>
        </p:nvSpPr>
        <p:spPr>
          <a:xfrm>
            <a:off x="902880" y="5775480"/>
            <a:ext cx="149400" cy="213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spAutoFit/>
          </a:bodyPr>
          <a:lstStyle/>
          <a:p>
            <a:pPr algn="ctr" defTabSz="914400">
              <a:lnSpc>
                <a:spcPct val="100000"/>
              </a:lnSpc>
            </a:pPr>
            <a:r>
              <a:rPr lang="en-US" sz="1400" b="1" strike="noStrike" spc="-1">
                <a:solidFill>
                  <a:srgbClr val="FFFFFF"/>
                </a:solidFill>
                <a:latin typeface="Calibri"/>
              </a:rPr>
              <a:t>✓</a:t>
            </a:r>
            <a:endParaRPr lang="en-US" sz="1400" b="0" strike="noStrike" spc="-1">
              <a:solidFill>
                <a:srgbClr val="000000"/>
              </a:solidFill>
              <a:latin typeface="Arial"/>
            </a:endParaRPr>
          </a:p>
        </p:txBody>
      </p:sp>
      <p:pic>
        <p:nvPicPr>
          <p:cNvPr id="429" name="Copied Picture 405" descr="preencoded.png"/>
          <p:cNvPicPr/>
          <p:nvPr/>
        </p:nvPicPr>
        <p:blipFill>
          <a:blip r:embed="rId3"/>
          <a:stretch/>
        </p:blipFill>
        <p:spPr>
          <a:xfrm>
            <a:off x="825480" y="5727600"/>
            <a:ext cx="303480" cy="303480"/>
          </a:xfrm>
          <a:prstGeom prst="rect">
            <a:avLst/>
          </a:prstGeom>
          <a:ln w="0">
            <a:noFill/>
          </a:ln>
        </p:spPr>
      </p:pic>
    </p:spTree>
  </p:cSld>
  <p:clrMapOvr>
    <a:masterClrMapping/>
  </p:clrMapOvr>
  <p:transition spd="med">
    <p:fade/>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399"/>
                                        </p:tgtEl>
                                        <p:attrNameLst>
                                          <p:attrName>style.visibility</p:attrName>
                                        </p:attrNameLst>
                                      </p:cBhvr>
                                      <p:to>
                                        <p:strVal val="visible"/>
                                      </p:to>
                                    </p:set>
                                    <p:animEffect transition="in" filter="fade">
                                      <p:cBhvr additive="repl">
                                        <p:cTn id="7" dur="400"/>
                                        <p:tgtEl>
                                          <p:spTgt spid="399"/>
                                        </p:tgtEl>
                                      </p:cBhvr>
                                    </p:animEffect>
                                  </p:childTnLst>
                                </p:cTn>
                              </p:par>
                              <p:par>
                                <p:cTn id="8" presetID="10" presetClass="entr" fill="hold" nodeType="withEffect">
                                  <p:stCondLst>
                                    <p:cond delay="0"/>
                                  </p:stCondLst>
                                  <p:childTnLst>
                                    <p:set>
                                      <p:cBhvr>
                                        <p:cTn id="9" dur="1" fill="hold">
                                          <p:stCondLst>
                                            <p:cond delay="0"/>
                                          </p:stCondLst>
                                        </p:cTn>
                                        <p:tgtEl>
                                          <p:spTgt spid="398"/>
                                        </p:tgtEl>
                                        <p:attrNameLst>
                                          <p:attrName>style.visibility</p:attrName>
                                        </p:attrNameLst>
                                      </p:cBhvr>
                                      <p:to>
                                        <p:strVal val="visible"/>
                                      </p:to>
                                    </p:set>
                                    <p:animEffect transition="in" filter="fade">
                                      <p:cBhvr additive="repl">
                                        <p:cTn id="10" dur="400"/>
                                        <p:tgtEl>
                                          <p:spTgt spid="398"/>
                                        </p:tgtEl>
                                      </p:cBhvr>
                                    </p:animEffect>
                                  </p:childTnLst>
                                </p:cTn>
                              </p:par>
                              <p:par>
                                <p:cTn id="11" presetID="10" presetClass="entr" fill="hold" nodeType="withEffect">
                                  <p:stCondLst>
                                    <p:cond delay="0"/>
                                  </p:stCondLst>
                                  <p:childTnLst>
                                    <p:set>
                                      <p:cBhvr>
                                        <p:cTn id="12" dur="1" fill="hold">
                                          <p:stCondLst>
                                            <p:cond delay="0"/>
                                          </p:stCondLst>
                                        </p:cTn>
                                        <p:tgtEl>
                                          <p:spTgt spid="409"/>
                                        </p:tgtEl>
                                        <p:attrNameLst>
                                          <p:attrName>style.visibility</p:attrName>
                                        </p:attrNameLst>
                                      </p:cBhvr>
                                      <p:to>
                                        <p:strVal val="visible"/>
                                      </p:to>
                                    </p:set>
                                    <p:animEffect transition="in" filter="fade">
                                      <p:cBhvr additive="repl">
                                        <p:cTn id="13" dur="400"/>
                                        <p:tgtEl>
                                          <p:spTgt spid="409"/>
                                        </p:tgtEl>
                                      </p:cBhvr>
                                    </p:animEffect>
                                  </p:childTnLst>
                                </p:cTn>
                              </p:par>
                              <p:par>
                                <p:cTn id="14" presetID="10" presetClass="entr" fill="hold" nodeType="withEffect">
                                  <p:stCondLst>
                                    <p:cond delay="0"/>
                                  </p:stCondLst>
                                  <p:childTnLst>
                                    <p:set>
                                      <p:cBhvr>
                                        <p:cTn id="15" dur="1" fill="hold">
                                          <p:stCondLst>
                                            <p:cond delay="0"/>
                                          </p:stCondLst>
                                        </p:cTn>
                                        <p:tgtEl>
                                          <p:spTgt spid="410"/>
                                        </p:tgtEl>
                                        <p:attrNameLst>
                                          <p:attrName>style.visibility</p:attrName>
                                        </p:attrNameLst>
                                      </p:cBhvr>
                                      <p:to>
                                        <p:strVal val="visible"/>
                                      </p:to>
                                    </p:set>
                                    <p:animEffect transition="in" filter="fade">
                                      <p:cBhvr additive="repl">
                                        <p:cTn id="16" dur="400"/>
                                        <p:tgtEl>
                                          <p:spTgt spid="4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fill="hold" nodeType="clickEffect">
                                  <p:stCondLst>
                                    <p:cond delay="0"/>
                                  </p:stCondLst>
                                  <p:childTnLst>
                                    <p:set>
                                      <p:cBhvr>
                                        <p:cTn id="20" dur="1" fill="hold">
                                          <p:stCondLst>
                                            <p:cond delay="0"/>
                                          </p:stCondLst>
                                        </p:cTn>
                                        <p:tgtEl>
                                          <p:spTgt spid="412"/>
                                        </p:tgtEl>
                                        <p:attrNameLst>
                                          <p:attrName>style.visibility</p:attrName>
                                        </p:attrNameLst>
                                      </p:cBhvr>
                                      <p:to>
                                        <p:strVal val="visible"/>
                                      </p:to>
                                    </p:set>
                                    <p:animEffect transition="in" filter="fade">
                                      <p:cBhvr additive="repl">
                                        <p:cTn id="21" dur="400"/>
                                        <p:tgtEl>
                                          <p:spTgt spid="412"/>
                                        </p:tgtEl>
                                      </p:cBhvr>
                                    </p:animEffect>
                                  </p:childTnLst>
                                </p:cTn>
                              </p:par>
                              <p:par>
                                <p:cTn id="22" presetID="10" presetClass="entr" fill="hold" nodeType="withEffect">
                                  <p:stCondLst>
                                    <p:cond delay="0"/>
                                  </p:stCondLst>
                                  <p:childTnLst>
                                    <p:set>
                                      <p:cBhvr>
                                        <p:cTn id="23" dur="1" fill="hold">
                                          <p:stCondLst>
                                            <p:cond delay="0"/>
                                          </p:stCondLst>
                                        </p:cTn>
                                        <p:tgtEl>
                                          <p:spTgt spid="401"/>
                                        </p:tgtEl>
                                        <p:attrNameLst>
                                          <p:attrName>style.visibility</p:attrName>
                                        </p:attrNameLst>
                                      </p:cBhvr>
                                      <p:to>
                                        <p:strVal val="visible"/>
                                      </p:to>
                                    </p:set>
                                    <p:animEffect transition="in" filter="fade">
                                      <p:cBhvr additive="repl">
                                        <p:cTn id="24" dur="400"/>
                                        <p:tgtEl>
                                          <p:spTgt spid="401"/>
                                        </p:tgtEl>
                                      </p:cBhvr>
                                    </p:animEffect>
                                  </p:childTnLst>
                                </p:cTn>
                              </p:par>
                              <p:par>
                                <p:cTn id="25" presetID="10" presetClass="entr" fill="hold" nodeType="withEffect">
                                  <p:stCondLst>
                                    <p:cond delay="0"/>
                                  </p:stCondLst>
                                  <p:childTnLst>
                                    <p:set>
                                      <p:cBhvr>
                                        <p:cTn id="26" dur="1" fill="hold">
                                          <p:stCondLst>
                                            <p:cond delay="0"/>
                                          </p:stCondLst>
                                        </p:cTn>
                                        <p:tgtEl>
                                          <p:spTgt spid="400"/>
                                        </p:tgtEl>
                                        <p:attrNameLst>
                                          <p:attrName>style.visibility</p:attrName>
                                        </p:attrNameLst>
                                      </p:cBhvr>
                                      <p:to>
                                        <p:strVal val="visible"/>
                                      </p:to>
                                    </p:set>
                                    <p:animEffect transition="in" filter="fade">
                                      <p:cBhvr additive="repl">
                                        <p:cTn id="27" dur="400"/>
                                        <p:tgtEl>
                                          <p:spTgt spid="400"/>
                                        </p:tgtEl>
                                      </p:cBhvr>
                                    </p:animEffect>
                                  </p:childTnLst>
                                </p:cTn>
                              </p:par>
                              <p:par>
                                <p:cTn id="28" presetID="10" presetClass="entr" fill="hold" nodeType="withEffect">
                                  <p:stCondLst>
                                    <p:cond delay="0"/>
                                  </p:stCondLst>
                                  <p:childTnLst>
                                    <p:set>
                                      <p:cBhvr>
                                        <p:cTn id="29" dur="1" fill="hold">
                                          <p:stCondLst>
                                            <p:cond delay="0"/>
                                          </p:stCondLst>
                                        </p:cTn>
                                        <p:tgtEl>
                                          <p:spTgt spid="413"/>
                                        </p:tgtEl>
                                        <p:attrNameLst>
                                          <p:attrName>style.visibility</p:attrName>
                                        </p:attrNameLst>
                                      </p:cBhvr>
                                      <p:to>
                                        <p:strVal val="visible"/>
                                      </p:to>
                                    </p:set>
                                    <p:animEffect transition="in" filter="fade">
                                      <p:cBhvr additive="repl">
                                        <p:cTn id="30" dur="400"/>
                                        <p:tgtEl>
                                          <p:spTgt spid="4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fill="hold" nodeType="clickEffect">
                                  <p:stCondLst>
                                    <p:cond delay="0"/>
                                  </p:stCondLst>
                                  <p:childTnLst>
                                    <p:set>
                                      <p:cBhvr>
                                        <p:cTn id="34" dur="1" fill="hold">
                                          <p:stCondLst>
                                            <p:cond delay="0"/>
                                          </p:stCondLst>
                                        </p:cTn>
                                        <p:tgtEl>
                                          <p:spTgt spid="415"/>
                                        </p:tgtEl>
                                        <p:attrNameLst>
                                          <p:attrName>style.visibility</p:attrName>
                                        </p:attrNameLst>
                                      </p:cBhvr>
                                      <p:to>
                                        <p:strVal val="visible"/>
                                      </p:to>
                                    </p:set>
                                    <p:animEffect transition="in" filter="fade">
                                      <p:cBhvr additive="repl">
                                        <p:cTn id="35" dur="400"/>
                                        <p:tgtEl>
                                          <p:spTgt spid="415"/>
                                        </p:tgtEl>
                                      </p:cBhvr>
                                    </p:animEffect>
                                  </p:childTnLst>
                                </p:cTn>
                              </p:par>
                              <p:par>
                                <p:cTn id="36" presetID="10" presetClass="entr" fill="hold" nodeType="withEffect">
                                  <p:stCondLst>
                                    <p:cond delay="0"/>
                                  </p:stCondLst>
                                  <p:childTnLst>
                                    <p:set>
                                      <p:cBhvr>
                                        <p:cTn id="37" dur="1" fill="hold">
                                          <p:stCondLst>
                                            <p:cond delay="0"/>
                                          </p:stCondLst>
                                        </p:cTn>
                                        <p:tgtEl>
                                          <p:spTgt spid="403"/>
                                        </p:tgtEl>
                                        <p:attrNameLst>
                                          <p:attrName>style.visibility</p:attrName>
                                        </p:attrNameLst>
                                      </p:cBhvr>
                                      <p:to>
                                        <p:strVal val="visible"/>
                                      </p:to>
                                    </p:set>
                                    <p:animEffect transition="in" filter="fade">
                                      <p:cBhvr additive="repl">
                                        <p:cTn id="38" dur="400"/>
                                        <p:tgtEl>
                                          <p:spTgt spid="403"/>
                                        </p:tgtEl>
                                      </p:cBhvr>
                                    </p:animEffect>
                                  </p:childTnLst>
                                </p:cTn>
                              </p:par>
                              <p:par>
                                <p:cTn id="39" presetID="10" presetClass="entr" fill="hold" nodeType="withEffect">
                                  <p:stCondLst>
                                    <p:cond delay="0"/>
                                  </p:stCondLst>
                                  <p:childTnLst>
                                    <p:set>
                                      <p:cBhvr>
                                        <p:cTn id="40" dur="1" fill="hold">
                                          <p:stCondLst>
                                            <p:cond delay="0"/>
                                          </p:stCondLst>
                                        </p:cTn>
                                        <p:tgtEl>
                                          <p:spTgt spid="402"/>
                                        </p:tgtEl>
                                        <p:attrNameLst>
                                          <p:attrName>style.visibility</p:attrName>
                                        </p:attrNameLst>
                                      </p:cBhvr>
                                      <p:to>
                                        <p:strVal val="visible"/>
                                      </p:to>
                                    </p:set>
                                    <p:animEffect transition="in" filter="fade">
                                      <p:cBhvr additive="repl">
                                        <p:cTn id="41" dur="400"/>
                                        <p:tgtEl>
                                          <p:spTgt spid="402"/>
                                        </p:tgtEl>
                                      </p:cBhvr>
                                    </p:animEffect>
                                  </p:childTnLst>
                                </p:cTn>
                              </p:par>
                              <p:par>
                                <p:cTn id="42" presetID="10" presetClass="entr" fill="hold" nodeType="withEffect">
                                  <p:stCondLst>
                                    <p:cond delay="0"/>
                                  </p:stCondLst>
                                  <p:childTnLst>
                                    <p:set>
                                      <p:cBhvr>
                                        <p:cTn id="43" dur="1" fill="hold">
                                          <p:stCondLst>
                                            <p:cond delay="0"/>
                                          </p:stCondLst>
                                        </p:cTn>
                                        <p:tgtEl>
                                          <p:spTgt spid="416"/>
                                        </p:tgtEl>
                                        <p:attrNameLst>
                                          <p:attrName>style.visibility</p:attrName>
                                        </p:attrNameLst>
                                      </p:cBhvr>
                                      <p:to>
                                        <p:strVal val="visible"/>
                                      </p:to>
                                    </p:set>
                                    <p:animEffect transition="in" filter="fade">
                                      <p:cBhvr additive="repl">
                                        <p:cTn id="44" dur="400"/>
                                        <p:tgtEl>
                                          <p:spTgt spid="4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fill="hold" nodeType="clickEffect">
                                  <p:stCondLst>
                                    <p:cond delay="0"/>
                                  </p:stCondLst>
                                  <p:childTnLst>
                                    <p:set>
                                      <p:cBhvr>
                                        <p:cTn id="48" dur="1" fill="hold">
                                          <p:stCondLst>
                                            <p:cond delay="0"/>
                                          </p:stCondLst>
                                        </p:cTn>
                                        <p:tgtEl>
                                          <p:spTgt spid="418"/>
                                        </p:tgtEl>
                                        <p:attrNameLst>
                                          <p:attrName>style.visibility</p:attrName>
                                        </p:attrNameLst>
                                      </p:cBhvr>
                                      <p:to>
                                        <p:strVal val="visible"/>
                                      </p:to>
                                    </p:set>
                                    <p:animEffect transition="in" filter="fade">
                                      <p:cBhvr additive="repl">
                                        <p:cTn id="49" dur="400"/>
                                        <p:tgtEl>
                                          <p:spTgt spid="418"/>
                                        </p:tgtEl>
                                      </p:cBhvr>
                                    </p:animEffect>
                                  </p:childTnLst>
                                </p:cTn>
                              </p:par>
                              <p:par>
                                <p:cTn id="50" presetID="10" presetClass="entr" fill="hold" nodeType="withEffect">
                                  <p:stCondLst>
                                    <p:cond delay="0"/>
                                  </p:stCondLst>
                                  <p:childTnLst>
                                    <p:set>
                                      <p:cBhvr>
                                        <p:cTn id="51" dur="1" fill="hold">
                                          <p:stCondLst>
                                            <p:cond delay="0"/>
                                          </p:stCondLst>
                                        </p:cTn>
                                        <p:tgtEl>
                                          <p:spTgt spid="419"/>
                                        </p:tgtEl>
                                        <p:attrNameLst>
                                          <p:attrName>style.visibility</p:attrName>
                                        </p:attrNameLst>
                                      </p:cBhvr>
                                      <p:to>
                                        <p:strVal val="visible"/>
                                      </p:to>
                                    </p:set>
                                    <p:animEffect transition="in" filter="fade">
                                      <p:cBhvr additive="repl">
                                        <p:cTn id="52" dur="400"/>
                                        <p:tgtEl>
                                          <p:spTgt spid="419"/>
                                        </p:tgtEl>
                                      </p:cBhvr>
                                    </p:animEffect>
                                  </p:childTnLst>
                                </p:cTn>
                              </p:par>
                              <p:par>
                                <p:cTn id="53" presetID="10" presetClass="entr" fill="hold" nodeType="withEffect">
                                  <p:stCondLst>
                                    <p:cond delay="0"/>
                                  </p:stCondLst>
                                  <p:childTnLst>
                                    <p:set>
                                      <p:cBhvr>
                                        <p:cTn id="54" dur="1" fill="hold">
                                          <p:stCondLst>
                                            <p:cond delay="0"/>
                                          </p:stCondLst>
                                        </p:cTn>
                                        <p:tgtEl>
                                          <p:spTgt spid="405"/>
                                        </p:tgtEl>
                                        <p:attrNameLst>
                                          <p:attrName>style.visibility</p:attrName>
                                        </p:attrNameLst>
                                      </p:cBhvr>
                                      <p:to>
                                        <p:strVal val="visible"/>
                                      </p:to>
                                    </p:set>
                                    <p:animEffect transition="in" filter="fade">
                                      <p:cBhvr additive="repl">
                                        <p:cTn id="55" dur="400"/>
                                        <p:tgtEl>
                                          <p:spTgt spid="405"/>
                                        </p:tgtEl>
                                      </p:cBhvr>
                                    </p:animEffect>
                                  </p:childTnLst>
                                </p:cTn>
                              </p:par>
                              <p:par>
                                <p:cTn id="56" presetID="10" presetClass="entr" fill="hold" nodeType="withEffect">
                                  <p:stCondLst>
                                    <p:cond delay="0"/>
                                  </p:stCondLst>
                                  <p:childTnLst>
                                    <p:set>
                                      <p:cBhvr>
                                        <p:cTn id="57" dur="1" fill="hold">
                                          <p:stCondLst>
                                            <p:cond delay="0"/>
                                          </p:stCondLst>
                                        </p:cTn>
                                        <p:tgtEl>
                                          <p:spTgt spid="404"/>
                                        </p:tgtEl>
                                        <p:attrNameLst>
                                          <p:attrName>style.visibility</p:attrName>
                                        </p:attrNameLst>
                                      </p:cBhvr>
                                      <p:to>
                                        <p:strVal val="visible"/>
                                      </p:to>
                                    </p:set>
                                    <p:animEffect transition="in" filter="fade">
                                      <p:cBhvr additive="repl">
                                        <p:cTn id="58" dur="400"/>
                                        <p:tgtEl>
                                          <p:spTgt spid="40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fill="hold" nodeType="clickEffect">
                                  <p:stCondLst>
                                    <p:cond delay="0"/>
                                  </p:stCondLst>
                                  <p:childTnLst>
                                    <p:set>
                                      <p:cBhvr>
                                        <p:cTn id="62" dur="1" fill="hold">
                                          <p:stCondLst>
                                            <p:cond delay="0"/>
                                          </p:stCondLst>
                                        </p:cTn>
                                        <p:tgtEl>
                                          <p:spTgt spid="421"/>
                                        </p:tgtEl>
                                        <p:attrNameLst>
                                          <p:attrName>style.visibility</p:attrName>
                                        </p:attrNameLst>
                                      </p:cBhvr>
                                      <p:to>
                                        <p:strVal val="visible"/>
                                      </p:to>
                                    </p:set>
                                    <p:animEffect transition="in" filter="fade">
                                      <p:cBhvr additive="repl">
                                        <p:cTn id="63" dur="400"/>
                                        <p:tgtEl>
                                          <p:spTgt spid="421"/>
                                        </p:tgtEl>
                                      </p:cBhvr>
                                    </p:animEffect>
                                  </p:childTnLst>
                                </p:cTn>
                              </p:par>
                              <p:par>
                                <p:cTn id="64" presetID="10" presetClass="entr" fill="hold" nodeType="withEffect">
                                  <p:stCondLst>
                                    <p:cond delay="0"/>
                                  </p:stCondLst>
                                  <p:childTnLst>
                                    <p:set>
                                      <p:cBhvr>
                                        <p:cTn id="65" dur="1" fill="hold">
                                          <p:stCondLst>
                                            <p:cond delay="0"/>
                                          </p:stCondLst>
                                        </p:cTn>
                                        <p:tgtEl>
                                          <p:spTgt spid="422"/>
                                        </p:tgtEl>
                                        <p:attrNameLst>
                                          <p:attrName>style.visibility</p:attrName>
                                        </p:attrNameLst>
                                      </p:cBhvr>
                                      <p:to>
                                        <p:strVal val="visible"/>
                                      </p:to>
                                    </p:set>
                                    <p:animEffect transition="in" filter="fade">
                                      <p:cBhvr additive="repl">
                                        <p:cTn id="66" dur="400"/>
                                        <p:tgtEl>
                                          <p:spTgt spid="422"/>
                                        </p:tgtEl>
                                      </p:cBhvr>
                                    </p:animEffect>
                                  </p:childTnLst>
                                </p:cTn>
                              </p:par>
                              <p:par>
                                <p:cTn id="67" presetID="10" presetClass="entr" fill="hold" nodeType="withEffect">
                                  <p:stCondLst>
                                    <p:cond delay="0"/>
                                  </p:stCondLst>
                                  <p:childTnLst>
                                    <p:set>
                                      <p:cBhvr>
                                        <p:cTn id="68" dur="1" fill="hold">
                                          <p:stCondLst>
                                            <p:cond delay="0"/>
                                          </p:stCondLst>
                                        </p:cTn>
                                        <p:tgtEl>
                                          <p:spTgt spid="407"/>
                                        </p:tgtEl>
                                        <p:attrNameLst>
                                          <p:attrName>style.visibility</p:attrName>
                                        </p:attrNameLst>
                                      </p:cBhvr>
                                      <p:to>
                                        <p:strVal val="visible"/>
                                      </p:to>
                                    </p:set>
                                    <p:animEffect transition="in" filter="fade">
                                      <p:cBhvr additive="repl">
                                        <p:cTn id="69" dur="400"/>
                                        <p:tgtEl>
                                          <p:spTgt spid="407"/>
                                        </p:tgtEl>
                                      </p:cBhvr>
                                    </p:animEffect>
                                  </p:childTnLst>
                                </p:cTn>
                              </p:par>
                              <p:par>
                                <p:cTn id="70" presetID="10" presetClass="entr" fill="hold" nodeType="withEffect">
                                  <p:stCondLst>
                                    <p:cond delay="0"/>
                                  </p:stCondLst>
                                  <p:childTnLst>
                                    <p:set>
                                      <p:cBhvr>
                                        <p:cTn id="71" dur="1" fill="hold">
                                          <p:stCondLst>
                                            <p:cond delay="0"/>
                                          </p:stCondLst>
                                        </p:cTn>
                                        <p:tgtEl>
                                          <p:spTgt spid="406"/>
                                        </p:tgtEl>
                                        <p:attrNameLst>
                                          <p:attrName>style.visibility</p:attrName>
                                        </p:attrNameLst>
                                      </p:cBhvr>
                                      <p:to>
                                        <p:strVal val="visible"/>
                                      </p:to>
                                    </p:set>
                                    <p:animEffect transition="in" filter="fade">
                                      <p:cBhvr additive="repl">
                                        <p:cTn id="72" dur="400"/>
                                        <p:tgtEl>
                                          <p:spTgt spid="40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fill="hold" nodeType="clickEffect">
                                  <p:stCondLst>
                                    <p:cond delay="0"/>
                                  </p:stCondLst>
                                  <p:childTnLst>
                                    <p:set>
                                      <p:cBhvr>
                                        <p:cTn id="76" dur="1" fill="hold">
                                          <p:stCondLst>
                                            <p:cond delay="0"/>
                                          </p:stCondLst>
                                        </p:cTn>
                                        <p:tgtEl>
                                          <p:spTgt spid="424"/>
                                        </p:tgtEl>
                                        <p:attrNameLst>
                                          <p:attrName>style.visibility</p:attrName>
                                        </p:attrNameLst>
                                      </p:cBhvr>
                                      <p:to>
                                        <p:strVal val="visible"/>
                                      </p:to>
                                    </p:set>
                                    <p:animEffect transition="in" filter="fade">
                                      <p:cBhvr additive="repl">
                                        <p:cTn id="77" dur="400"/>
                                        <p:tgtEl>
                                          <p:spTgt spid="424"/>
                                        </p:tgtEl>
                                      </p:cBhvr>
                                    </p:animEffect>
                                  </p:childTnLst>
                                </p:cTn>
                              </p:par>
                              <p:par>
                                <p:cTn id="78" presetID="10" presetClass="entr" fill="hold" nodeType="withEffect">
                                  <p:stCondLst>
                                    <p:cond delay="0"/>
                                  </p:stCondLst>
                                  <p:childTnLst>
                                    <p:set>
                                      <p:cBhvr>
                                        <p:cTn id="79" dur="1" fill="hold">
                                          <p:stCondLst>
                                            <p:cond delay="0"/>
                                          </p:stCondLst>
                                        </p:cTn>
                                        <p:tgtEl>
                                          <p:spTgt spid="425"/>
                                        </p:tgtEl>
                                        <p:attrNameLst>
                                          <p:attrName>style.visibility</p:attrName>
                                        </p:attrNameLst>
                                      </p:cBhvr>
                                      <p:to>
                                        <p:strVal val="visible"/>
                                      </p:to>
                                    </p:set>
                                    <p:animEffect transition="in" filter="fade">
                                      <p:cBhvr additive="repl">
                                        <p:cTn id="80" dur="400"/>
                                        <p:tgtEl>
                                          <p:spTgt spid="425"/>
                                        </p:tgtEl>
                                      </p:cBhvr>
                                    </p:animEffect>
                                  </p:childTnLst>
                                </p:cTn>
                              </p:par>
                              <p:par>
                                <p:cTn id="81" presetID="10" presetClass="entr" fill="hold" nodeType="withEffect">
                                  <p:stCondLst>
                                    <p:cond delay="0"/>
                                  </p:stCondLst>
                                  <p:childTnLst>
                                    <p:set>
                                      <p:cBhvr>
                                        <p:cTn id="82" dur="1" fill="hold">
                                          <p:stCondLst>
                                            <p:cond delay="0"/>
                                          </p:stCondLst>
                                        </p:cTn>
                                        <p:tgtEl>
                                          <p:spTgt spid="408"/>
                                        </p:tgtEl>
                                        <p:attrNameLst>
                                          <p:attrName>style.visibility</p:attrName>
                                        </p:attrNameLst>
                                      </p:cBhvr>
                                      <p:to>
                                        <p:strVal val="visible"/>
                                      </p:to>
                                    </p:set>
                                    <p:animEffect transition="in" filter="fade">
                                      <p:cBhvr additive="repl">
                                        <p:cTn id="83" dur="400"/>
                                        <p:tgtEl>
                                          <p:spTgt spid="408"/>
                                        </p:tgtEl>
                                      </p:cBhvr>
                                    </p:animEffect>
                                  </p:childTnLst>
                                </p:cTn>
                              </p:par>
                              <p:par>
                                <p:cTn id="84" presetID="10" presetClass="entr" fill="hold" nodeType="withEffect">
                                  <p:stCondLst>
                                    <p:cond delay="0"/>
                                  </p:stCondLst>
                                  <p:childTnLst>
                                    <p:set>
                                      <p:cBhvr>
                                        <p:cTn id="85" dur="1" fill="hold">
                                          <p:stCondLst>
                                            <p:cond delay="0"/>
                                          </p:stCondLst>
                                        </p:cTn>
                                        <p:tgtEl>
                                          <p:spTgt spid="429"/>
                                        </p:tgtEl>
                                        <p:attrNameLst>
                                          <p:attrName>style.visibility</p:attrName>
                                        </p:attrNameLst>
                                      </p:cBhvr>
                                      <p:to>
                                        <p:strVal val="visible"/>
                                      </p:to>
                                    </p:set>
                                    <p:animEffect transition="in" filter="fade">
                                      <p:cBhvr additive="repl">
                                        <p:cTn id="86" dur="400"/>
                                        <p:tgtEl>
                                          <p:spTgt spid="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5E17B74-9BD2-4006-8075-776F7BCD0528}">
  <we:reference id="wa200010001" version="1.0.0.1" store="en-US" storeType="OMEX"/>
  <we:alternateReferences>
    <we:reference id="WA200010001" version="1.0.0.1" store="" storeType="OMEX"/>
  </we:alternateReferences>
  <we:properties>
    <we:property name="claude.fileId" value="&quot;2fdd2f5a-badf-43ba-a0c6-6c4ea4ee9b5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0</TotalTime>
  <Words>2394</Words>
  <Application>Microsoft Office PowerPoint</Application>
  <PresentationFormat>Widescreen</PresentationFormat>
  <Paragraphs>236</Paragraphs>
  <Slides>17</Slides>
  <Notes>17</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Calibri</vt:lpstr>
      <vt:lpstr>Cambria</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Mahmoud Abdelaziz</cp:lastModifiedBy>
  <cp:revision>1</cp:revision>
  <dcterms:modified xsi:type="dcterms:W3CDTF">2026-09-29T10:25:40Z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2026-08-28T17:32:46Z</dcterms:created>
  <dc:creator>PptxGenJS</dc:creator>
  <dc:description/>
  <dc:language>en-US</dc:language>
  <cp:lastModifiedBy>Mahmoud Abdelaziz</cp:lastModifiedBy>
  <dcterms:modified xsi:type="dcterms:W3CDTF">2026-08-30T09:31:27Z</dcterms:modified>
  <cp:revision>4</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17</vt:r8>
  </property>
  <property fmtid="{D5CDD505-2E9C-101B-9397-08002B2CF9AE}" pid="3" name="PresentationFormat">
    <vt:lpwstr>Widescreen</vt:lpwstr>
  </property>
  <property fmtid="{D5CDD505-2E9C-101B-9397-08002B2CF9AE}" pid="4" name="Slides">
    <vt:r8>17</vt:r8>
  </property>
</Properties>
</file>