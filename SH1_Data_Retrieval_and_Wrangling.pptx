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2" r:id="rId2"/>
    <p:sldId id="293" r:id="rId3"/>
    <p:sldId id="291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7" r:id="rId13"/>
    <p:sldId id="308" r:id="rId14"/>
    <p:sldId id="306" r:id="rId15"/>
    <p:sldId id="309" r:id="rId16"/>
    <p:sldId id="312" r:id="rId17"/>
    <p:sldId id="31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42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114800"/>
            <a:ext cx="5029200" cy="50292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7315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and Research Questions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Player Value and Injury Risk Project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72888" y="397764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Stakeholder Update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4988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3,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080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Mahmoud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884273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96012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80" y="12454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31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Business Question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463040" y="3063240"/>
            <a:ext cx="9265615" cy="1965960"/>
          </a:xfrm>
          <a:prstGeom prst="roundRect">
            <a:avLst>
              <a:gd name="adj" fmla="val 6512"/>
            </a:avLst>
          </a:prstGeom>
          <a:solidFill>
            <a:srgbClr val="16264D"/>
          </a:solidFill>
          <a:ln w="12700">
            <a:solidFill>
              <a:srgbClr val="2C3D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74520" y="3246120"/>
            <a:ext cx="8442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which football players are worth signing, based on how their market value might change and their risk of getting injured?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question our whole project is built around.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636226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Could Answer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needed to shape our questions, get the right data, and clean it. That is what today's update covers.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5871" y="2515870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70" y="2717800"/>
            <a:ext cx="437449" cy="4374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253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577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ask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205" y="279019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37612" y="2515870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511" y="2717800"/>
            <a:ext cx="437449" cy="4374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8356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440381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33680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into the project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946" y="279019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29353" y="2515870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253" y="2717800"/>
            <a:ext cx="437449" cy="4374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7586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332122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22910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into one dataset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279019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621094" y="2515870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994" y="2717800"/>
            <a:ext cx="437449" cy="43744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6689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6223864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12013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for problems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429" y="2790190"/>
            <a:ext cx="292608" cy="29260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512835" y="2515870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735" y="2717800"/>
            <a:ext cx="437449" cy="437449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75919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8115605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801243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problems we found</a:t>
            </a:r>
            <a:endParaRPr lang="en-US" sz="12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170" y="2790190"/>
            <a:ext cx="292608" cy="29260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404577" y="2515870"/>
            <a:ext cx="841248" cy="841248"/>
          </a:xfrm>
          <a:prstGeom prst="ellipse">
            <a:avLst/>
          </a:prstGeom>
          <a:solidFill>
            <a:srgbClr val="C7CEDE"/>
          </a:solidFill>
          <a:ln/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6476" y="2717800"/>
            <a:ext cx="437449" cy="437449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10651490" y="2134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10007346" y="3502660"/>
            <a:ext cx="163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9904730" y="386842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our question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640080" y="495300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914400" y="49530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</a:t>
            </a: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covering steps 1 to 5: how we shaped our questions, retrieved, combined, explored, and cleaned the data.</a:t>
            </a:r>
            <a:endParaRPr lang="en-US" sz="1300" dirty="0"/>
          </a:p>
        </p:txBody>
      </p:sp>
      <p:sp>
        <p:nvSpPr>
          <p:cNvPr id="41" name="Text 28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03401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Shaped Our Data Retrieval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downloaded anything, we had to decide what we needed and why.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674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176" y="244784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6628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want to know? For example, which players are more likely to get injured, and how does that affect their value.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090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134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1578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216" y="244784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9948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5668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shaped clear goals for the dataset: it had to let us compare value, injuries, and performance for the same players.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0994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038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6482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256" y="244784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8988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Datasets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04708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questions and goals in place, we could judge whether a dataset was actually useful, instead of collecting data at random.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5898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879397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Datasets We Chose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datasets matched the questions and goals we had just defined.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674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176" y="244784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Transfer Values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6628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player is valued in the transfer market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89508" y="4773168"/>
            <a:ext cx="251460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90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Transfermarkt, via Kaggle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134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1578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216" y="2447849"/>
            <a:ext cx="499262" cy="499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Injury Records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55668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history for each player over time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38548" y="4773168"/>
            <a:ext cx="251460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994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Transfermarkt, via Kaggle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0388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64828" y="22174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256" y="2447849"/>
            <a:ext cx="499262" cy="499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988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Performance Stats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04708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field performance, 2017 to 2024, top 5 leagues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87588" y="4773168"/>
            <a:ext cx="251460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5898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FBref, via Kaggle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773750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Retrieved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turned raw downloads into an organized, query ready dataset.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191246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51" y="1941271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Download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6628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downloaded ready to use datasets from Kaggle, a public website where people share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06628" y="429768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6628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0908" y="4636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raw CSV files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592" y="3278124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8134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16264D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150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91" y="1941271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9948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Organize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55668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placed the raw files inside our project, kept exactly as they were provided.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55668" y="429768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55668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09948" y="4636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in /data/raw, tracked in Git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632" y="3278124"/>
            <a:ext cx="347472" cy="3474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3038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</p:sp>
      <p:sp>
        <p:nvSpPr>
          <p:cNvPr id="23" name="Shape 17"/>
          <p:cNvSpPr/>
          <p:nvPr/>
        </p:nvSpPr>
        <p:spPr>
          <a:xfrm>
            <a:off x="941054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031" y="1941271"/>
            <a:ext cx="451714" cy="45171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58988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Load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404708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loaded everything into a local database, using tools that automate and check each step.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404708" y="429768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404708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358988" y="4636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with dbt into DuckDB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40080" y="54406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DuckDB?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fast, free database that runs right on a laptop, with no server to set up. dbt writes our cleaned tables into it, and we query it directly with plain SQL.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4283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Combined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datasets, linked together into one clean, ready to analyze 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211683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22528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Values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key: player_id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2400300"/>
            <a:ext cx="4572000" cy="93726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2004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06424" y="335127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487" y="348733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200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Records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key: player_id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V="1">
            <a:off x="3291840" y="3337560"/>
            <a:ext cx="4572000" cy="29718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4348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06424" y="458571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487" y="472177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34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key: normalized name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 flipV="1">
            <a:off x="3291840" y="3337560"/>
            <a:ext cx="4572000" cy="15316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863840" y="2263140"/>
            <a:ext cx="2926080" cy="2148840"/>
          </a:xfrm>
          <a:prstGeom prst="roundRect">
            <a:avLst>
              <a:gd name="adj" fmla="val 5957"/>
            </a:avLst>
          </a:prstGeom>
          <a:solidFill>
            <a:srgbClr val="0F1B3D"/>
          </a:solidFill>
          <a:ln/>
          <a:effectLst>
            <a:outerShdw blurRad="127000" dist="38100" dir="5400000" algn="bl" rotWithShape="0">
              <a:srgbClr val="22336A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0" y="2427732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685" y="260329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01000" y="32506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Combined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Dataset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321040" y="3890772"/>
            <a:ext cx="201168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001000" y="39822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dbt, stored in DuckDB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14400" y="55321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linked the datasets together using each player's ID number and player name, so all information about one player lives in a single row.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42574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Explored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combined, we looked closely at the dataset before trusting it for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55448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2468" y="168706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51" y="1895551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the Date Fields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628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closely at how dates were stored. This is what led us to find that some dates were saved as plain text.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06628" y="42519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6628" y="4343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0908" y="4590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try_strptime() date test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1348" y="155448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1508" y="168706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991" y="1895551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9948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How Many Players Matched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55668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how many players had a match across all three sources. This is what revealed a data gap.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55668" y="42519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55668" y="4343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09948" y="4590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Compared row counts per join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30388" y="155448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410548" y="168706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031" y="1895551"/>
            <a:ext cx="451714" cy="45171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58988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for Duplicate Records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04708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searched for repeated rows to make sure each player only appeared once per record.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404708" y="42519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04708" y="4343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58988" y="4590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 player_id for duplicates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53949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14400" y="53949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 first is what let us catch these problems early, before they could affect our analysis.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310348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We Faced, and How We Solved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 surfaced real problems. Here is what we found, and what we did about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78308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9608" y="210312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64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Tools Were Conflicting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628" y="37216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6628" y="39959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computer had two different data processing tools installed. The wrong one kept trying to run instead of the right one.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06628" y="49377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662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6628" y="5303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this by always calling the correct tool directly. The pipeline now runs cleanly, every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1348" y="178308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104" y="232257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994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Were Stored as Text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55668" y="37216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55668" y="39959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dates were saved as plain text instead of real calendar dates, which caused sorting mistakes.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55668" y="49377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5566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55668" y="5303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converted every date into a real calendar date. See the next slide for the result.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30388" y="178308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387688" y="210312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144" y="2322576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5898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Players Had No Match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8404708" y="37216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404708" y="39959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 thirds of players had no performance record after combining the datasets.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404708" y="493776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404708" y="5029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404708" y="5303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investigated, confirmed the gap was real, and disclosed it honestly. See the slide after next.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9169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Fixing Broken Dates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the second problem from the previous slide, and how well the fix worked.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7830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0C9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648" y="203454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85" y="22210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49628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89508" y="2971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dates were stored as plain text, not real calendar dates.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1588" y="17830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6E3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98768" y="2034540"/>
            <a:ext cx="777240" cy="77724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305" y="22210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1748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1628" y="2971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converted them into real calendar dates, so everything sorts in the correct order.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2775204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9468" y="4434840"/>
            <a:ext cx="10652760" cy="1280160"/>
          </a:xfrm>
          <a:prstGeom prst="roundRect">
            <a:avLst>
              <a:gd name="adj" fmla="val 8571"/>
            </a:avLst>
          </a:prstGeom>
          <a:solidFill>
            <a:srgbClr val="0F1B3D"/>
          </a:solidFill>
          <a:ln/>
        </p:spPr>
      </p:sp>
      <p:sp>
        <p:nvSpPr>
          <p:cNvPr id="16" name="Text 11"/>
          <p:cNvSpPr/>
          <p:nvPr/>
        </p:nvSpPr>
        <p:spPr>
          <a:xfrm>
            <a:off x="1135228" y="4434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4200" dirty="0"/>
          </a:p>
        </p:txBody>
      </p:sp>
      <p:sp>
        <p:nvSpPr>
          <p:cNvPr id="17" name="Text 12"/>
          <p:cNvSpPr/>
          <p:nvPr/>
        </p:nvSpPr>
        <p:spPr>
          <a:xfrm>
            <a:off x="3749040" y="4434840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injury date records were fixed successfully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107,951 out of 107,971 dates now read correctly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469506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A Missing Data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the third problem from the earlier slide, and how we made sure it was real.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3794760"/>
          </a:xfrm>
          <a:prstGeom prst="roundRect">
            <a:avLst>
              <a:gd name="adj" fmla="val 3590"/>
            </a:avLst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3454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529" y="22649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players had no matching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record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1,310 out of 1,959 players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146304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made sure it was handled properly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23460" y="2103120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22238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90195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carefully to make sure this was a real gap in the data, not a mistake in our own process. It was real.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0" y="306324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23460" y="3337560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34582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313639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whether the missing players were meaningfully different. On average, they had a much lower market value.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0" y="429768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23460" y="4572000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469270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437083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disclosing this limitation clearly in our findings, instead of hiding it.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79819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Final Dataset,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retrieval and wrangling: one organized, tested dataset ready for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3555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76272"/>
            <a:ext cx="25355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26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steps run successfully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2175" y="1920240"/>
            <a:ext cx="253555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2175" y="2176272"/>
            <a:ext cx="25355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9335" y="2971800"/>
            <a:ext cx="226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4270" y="1920240"/>
            <a:ext cx="253555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4270" y="2176272"/>
            <a:ext cx="25355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1430" y="2971800"/>
            <a:ext cx="226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combined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16365" y="1920240"/>
            <a:ext cx="253555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6365" y="2176272"/>
            <a:ext cx="25355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53525" y="2971800"/>
            <a:ext cx="226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the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that made this possible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243584" cy="502920"/>
          </a:xfrm>
          <a:prstGeom prst="roundRect">
            <a:avLst>
              <a:gd name="adj" fmla="val 50909"/>
            </a:avLst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12264" y="4526280"/>
            <a:ext cx="1243584" cy="502920"/>
          </a:xfrm>
          <a:prstGeom prst="roundRect">
            <a:avLst>
              <a:gd name="adj" fmla="val 50909"/>
            </a:avLst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2112264" y="452628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84448" y="4526280"/>
            <a:ext cx="873252" cy="502920"/>
          </a:xfrm>
          <a:prstGeom prst="roundRect">
            <a:avLst>
              <a:gd name="adj" fmla="val 50909"/>
            </a:avLst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448" y="4526280"/>
            <a:ext cx="8732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4526280"/>
            <a:ext cx="1243584" cy="502920"/>
          </a:xfrm>
          <a:prstGeom prst="roundRect">
            <a:avLst>
              <a:gd name="adj" fmla="val 50909"/>
            </a:avLst>
          </a:prstGeom>
          <a:solidFill>
            <a:srgbClr val="0F1B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86300" y="452628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92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runs automatically. If we add new data later, we can rebuild the whole dataset with a single command.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38524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Question Set: Four Research Angles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guide our analysis, each written for a different audience on the team.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5168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0928" y="20345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84" y="22539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63928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63928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Forecast Player Value?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63928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predict how a player's market value will move, is that forecast accurate enough to trust?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345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944" y="225399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87488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AND SCOUTING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87488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Injury Recency Affect Value?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87488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how recently a player was injured predict whether their market value is about to fall?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5168" y="38862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20928" y="45034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384" y="47228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63928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SPORTING DIRECTORS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163928" y="4434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Younger Players Offer a Better Tradeoff?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163928" y="5074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younger players combine rising value with lower injury risk, compared to older players?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78728" y="38862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44488" y="45034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44" y="472287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87488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PERFORMANCE STAFF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87488" y="4434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Position Predict Injury Risk?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87488" y="5074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player's position on the pitch predict how much injury or workload risk they carry?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49747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Dataset Answers Each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the dataset we built feeds directly into one or more of these questions.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6916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18781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History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248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51576" y="1691640"/>
            <a:ext cx="5525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value forecast question and the sporting directors tradeoff question.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5820" y="28803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306689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Records (dates, recency)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1135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51576" y="2880360"/>
            <a:ext cx="5525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recruitment and scouting recency question.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45820" y="40690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58" y="425561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74520" y="4069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Stats (per 90 workload)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30225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751576" y="4069080"/>
            <a:ext cx="5525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medical and performance position risk question, together with injury records.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45820" y="52578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358" y="5444338"/>
            <a:ext cx="404165" cy="40416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874520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(age, position)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490972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751576" y="5257800"/>
            <a:ext cx="5525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every question back to who the player actually is.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607955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286000"/>
            <a:ext cx="5943600" cy="59436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Retrieval, Wrangling and Research Framing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91640" y="342900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3758184"/>
            <a:ext cx="713232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36792" y="557784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654345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50292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clear questions and goals before collecting anything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36792" y="1179576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1276137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124712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three real world data sources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36792" y="1801368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1897929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1746504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them into one clean dataset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36792" y="242316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2519721"/>
            <a:ext cx="209215" cy="2092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2368296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data and solved every problem we found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336792" y="3044952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3141513"/>
            <a:ext cx="209215" cy="2092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2990088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errors in the injury dates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36792" y="3666744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3763305"/>
            <a:ext cx="209215" cy="20921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361188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and disclosed a data gap honestly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336792" y="4288536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4385097"/>
            <a:ext cx="209215" cy="20921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4233672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four clear research questions for analysis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116176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Our Project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 and wrangling is one phase in our full capstone timeline.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1154" y="2606040"/>
            <a:ext cx="914400" cy="91440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10" y="28254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85032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and Planning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23367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483" y="2916936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64901" y="2606040"/>
            <a:ext cx="914400" cy="91440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357" y="2825496"/>
            <a:ext cx="475488" cy="4754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22387" y="3685032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Retrieval and Wrangling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2822387" y="423367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230" y="2916936"/>
            <a:ext cx="292608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638648" y="26060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8104" y="2825496"/>
            <a:ext cx="475488" cy="4754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96134" y="3685032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and Key Findings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096134" y="423367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977" y="2916936"/>
            <a:ext cx="292608" cy="29260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912395" y="2606040"/>
            <a:ext cx="914400" cy="914400"/>
          </a:xfrm>
          <a:prstGeom prst="ellipse">
            <a:avLst/>
          </a:prstGeom>
          <a:solidFill>
            <a:srgbClr val="C7CEDE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1851" y="2825496"/>
            <a:ext cx="475488" cy="4754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69881" y="3685032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and Presentation</a:t>
            </a:r>
            <a:endParaRPr lang="en-US" sz="1250" dirty="0"/>
          </a:p>
        </p:txBody>
      </p:sp>
      <p:sp>
        <p:nvSpPr>
          <p:cNvPr id="22" name="Text 13"/>
          <p:cNvSpPr/>
          <p:nvPr/>
        </p:nvSpPr>
        <p:spPr>
          <a:xfrm>
            <a:off x="7369881" y="423367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724" y="2916936"/>
            <a:ext cx="292608" cy="29260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0186142" y="2606040"/>
            <a:ext cx="914400" cy="914400"/>
          </a:xfrm>
          <a:prstGeom prst="ellipse">
            <a:avLst/>
          </a:prstGeom>
          <a:solidFill>
            <a:srgbClr val="C7CEDE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5598" y="2825496"/>
            <a:ext cx="475488" cy="4754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643628" y="3685032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Presentation</a:t>
            </a:r>
            <a:endParaRPr lang="en-US" sz="1250" dirty="0"/>
          </a:p>
        </p:txBody>
      </p:sp>
      <p:sp>
        <p:nvSpPr>
          <p:cNvPr id="27" name="Text 16"/>
          <p:cNvSpPr/>
          <p:nvPr/>
        </p:nvSpPr>
        <p:spPr>
          <a:xfrm>
            <a:off x="9643628" y="423367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640080" y="5440680"/>
            <a:ext cx="10911535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where we are in our project roadmap, not an exact completion percentage.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20331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and 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72888" y="269748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8628" y="3086100"/>
            <a:ext cx="1234440" cy="12344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893" y="3382366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14400" y="52578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8204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94010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574550-924E-4140-BFED-2E4C005F481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d1423b1-0b4e-4850-bfda-234013392ad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1633</Words>
  <Application>Microsoft Office PowerPoint</Application>
  <PresentationFormat>Widescreen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Abdelaziz</cp:lastModifiedBy>
  <cp:revision>2</cp:revision>
  <dcterms:created xsi:type="dcterms:W3CDTF">2026-09-01T09:27:10Z</dcterms:created>
  <dcterms:modified xsi:type="dcterms:W3CDTF">2026-09-01T10:21:12Z</dcterms:modified>
</cp:coreProperties>
</file>