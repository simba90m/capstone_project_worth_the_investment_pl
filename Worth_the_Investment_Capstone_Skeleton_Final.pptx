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media/image10.svg" ContentType="image/svg+xml"/>
  <Override PartName="/ppt/media/image12.svg" ContentType="image/svg+xml"/>
  <Override PartName="/ppt/media/image2.svg" ContentType="image/svg+xml"/>
  <Override PartName="/ppt/media/image24.svg" ContentType="image/svg+xml"/>
  <Override PartName="/ppt/media/image29.svg" ContentType="image/svg+xml"/>
  <Override PartName="/ppt/media/image32.svg" ContentType="image/svg+xml"/>
  <Override PartName="/ppt/media/image4.svg" ContentType="image/svg+xml"/>
  <Override PartName="/ppt/media/image6.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312" r:id="rId2"/>
    <p:sldId id="329" r:id="rId3"/>
    <p:sldId id="284" r:id="rId4"/>
    <p:sldId id="325" r:id="rId5"/>
    <p:sldId id="286" r:id="rId6"/>
    <p:sldId id="327" r:id="rId7"/>
    <p:sldId id="319" r:id="rId8"/>
    <p:sldId id="320" r:id="rId9"/>
    <p:sldId id="264" r:id="rId10"/>
    <p:sldId id="330" r:id="rId11"/>
    <p:sldId id="266" r:id="rId12"/>
    <p:sldId id="267" r:id="rId13"/>
    <p:sldId id="331" r:id="rId15"/>
    <p:sldId id="332" r:id="rId16"/>
    <p:sldId id="333" r:id="rId1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75" d="100"/>
          <a:sy n="75" d="100"/>
        </p:scale>
        <p:origin x="62" y="21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Coverage</c:v>
                </c:pt>
              </c:strCache>
            </c:strRef>
          </c:tx>
          <c:spPr>
            <a:solidFill>
              <a:schemeClr val="accent1"/>
            </a:solidFill>
            <a:ln w="9525" cap="flat">
              <a:solidFill>
                <a:srgbClr val="F9F9F9"/>
              </a:solidFill>
              <a:prstDash val="solid"/>
              <a:round/>
            </a:ln>
            <a:effectLst/>
          </c:spPr>
          <c:dPt>
            <c:idx val="0"/>
            <c:bubble3D val="0"/>
            <c:spPr>
              <a:solidFill>
                <a:srgbClr val="E8A33D"/>
              </a:solidFill>
              <a:ln w="38100" cap="flat">
                <a:solidFill>
                  <a:srgbClr val="0F1B3D"/>
                </a:solidFill>
                <a:prstDash val="solid"/>
                <a:round/>
              </a:ln>
              <a:effectLst/>
            </c:spPr>
            <c:extLst>
              <c:ext xmlns:c16="http://schemas.microsoft.com/office/drawing/2014/chart" uri="{C3380CC4-5D6E-409C-BE32-E72D297353CC}">
                <c16:uniqueId val="{00000001-FE64-4844-B448-5E59CCB25927}"/>
              </c:ext>
            </c:extLst>
          </c:dPt>
          <c:dPt>
            <c:idx val="1"/>
            <c:bubble3D val="0"/>
            <c:spPr>
              <a:solidFill>
                <a:srgbClr val="8494C4"/>
              </a:solidFill>
              <a:ln w="38100" cap="flat">
                <a:solidFill>
                  <a:srgbClr val="0F1B3D"/>
                </a:solidFill>
                <a:prstDash val="solid"/>
                <a:round/>
              </a:ln>
              <a:effectLst/>
            </c:spPr>
            <c:extLst>
              <c:ext xmlns:c16="http://schemas.microsoft.com/office/drawing/2014/chart" uri="{C3380CC4-5D6E-409C-BE32-E72D297353CC}">
                <c16:uniqueId val="{00000003-FE64-4844-B448-5E59CCB25927}"/>
              </c:ext>
            </c:extLst>
          </c:dPt>
          <c:cat>
            <c:strRef>
              <c:f>Sheet1!$A$2:$A$3</c:f>
              <c:strCache>
                <c:ptCount val="2"/>
                <c:pt idx="0">
                  <c:v>Excluded (no data)</c:v>
                </c:pt>
                <c:pt idx="1">
                  <c:v>Included in analysis</c:v>
                </c:pt>
              </c:strCache>
            </c:strRef>
          </c:cat>
          <c:val>
            <c:numRef>
              <c:f>Sheet1!$B$2:$B$3</c:f>
              <c:numCache>
                <c:formatCode>General</c:formatCode>
                <c:ptCount val="2"/>
                <c:pt idx="0">
                  <c:v>67</c:v>
                </c:pt>
                <c:pt idx="1">
                  <c:v>33</c:v>
                </c:pt>
              </c:numCache>
            </c:numRef>
          </c:val>
          <c:extLst>
            <c:ext xmlns:c16="http://schemas.microsoft.com/office/drawing/2014/chart" uri="{C3380CC4-5D6E-409C-BE32-E72D297353CC}">
              <c16:uniqueId val="{00000004-FE64-4844-B448-5E59CCB25927}"/>
            </c:ext>
          </c:extLst>
        </c:ser>
        <c:dLbls>
          <c:showLegendKey val="0"/>
          <c:showVal val="0"/>
          <c:showCatName val="0"/>
          <c:showSerName val="0"/>
          <c:showPercent val="0"/>
          <c:showBubbleSize val="0"/>
          <c:showLeaderLines val="0"/>
        </c:dLbls>
        <c:firstSliceAng val="0"/>
        <c:holeSize val="68"/>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Injuries / 1,000 90s</c:v>
                </c:pt>
              </c:strCache>
            </c:strRef>
          </c:tx>
          <c:spPr>
            <a:ln w="34925">
              <a:solidFill>
                <a:srgbClr val="C0392B"/>
              </a:solidFill>
            </a:ln>
          </c:spPr>
          <c:marker>
            <c:symbol val="circle"/>
            <c:size val="9"/>
            <c:spPr>
              <a:solidFill>
                <a:srgbClr val="C0392B"/>
              </a:solidFill>
              <a:ln>
                <a:solidFill>
                  <a:srgbClr val="C0392B"/>
                </a:solidFill>
              </a:ln>
            </c:spPr>
          </c:marker>
          <c:cat>
            <c:strRef>
              <c:f>Sheet1!$A$2:$A$5</c:f>
              <c:strCache>
                <c:ptCount val="4"/>
                <c:pt idx="0">
                  <c:v>21–24
(emerging)</c:v>
                </c:pt>
                <c:pt idx="1">
                  <c:v>25–28
(prime)</c:v>
                </c:pt>
                <c:pt idx="2">
                  <c:v>29–32
(established)</c:v>
                </c:pt>
                <c:pt idx="3">
                  <c:v>33+
(veteran)</c:v>
                </c:pt>
              </c:strCache>
            </c:strRef>
          </c:cat>
          <c:val>
            <c:numRef>
              <c:f>Sheet1!$B$2:$B$5</c:f>
              <c:numCache>
                <c:formatCode>General</c:formatCode>
                <c:ptCount val="4"/>
                <c:pt idx="0">
                  <c:v>2.49</c:v>
                </c:pt>
                <c:pt idx="1">
                  <c:v>3.97</c:v>
                </c:pt>
                <c:pt idx="2">
                  <c:v>3.22</c:v>
                </c:pt>
                <c:pt idx="3">
                  <c:v>5.95</c:v>
                </c:pt>
              </c:numCache>
            </c:numRef>
          </c:val>
          <c:smooth val="0"/>
        </c:ser>
        <c:dLbls>
          <c:numFmt formatCode="0.00" sourceLinked="0"/>
          <c:txPr>
            <a:bodyPr/>
            <a:lstStyle/>
            <a:p>
              <a:pPr>
                <a:defRPr sz="1200" b="1">
                  <a:solidFill>
                    <a:srgbClr val="C0392B"/>
                  </a:solidFill>
                  <a:latin typeface="Calibri"/>
                </a:defRPr>
              </a:pPr>
            </a:p>
          </c:txPr>
          <c:dLblPos val="t"/>
          <c:showLegendKey val="0"/>
          <c:showVal val="1"/>
          <c:showCatName val="0"/>
          <c:showSerName val="0"/>
          <c:showPercent val="0"/>
          <c:showBubbleSize val="0"/>
          <c:showLeaderLines val="1"/>
        </c:dLbls>
        <c:marker val="1"/>
        <c:smooth val="0"/>
        <c:axId val="2118791784"/>
        <c:axId val="2140495176"/>
      </c:lineChart>
      <c:catAx>
        <c:axId val="2118791784"/>
        <c:scaling>
          <c:orientation val="minMax"/>
        </c:scaling>
        <c:delete val="0"/>
        <c:axPos val="b"/>
        <c:majorTickMark val="out"/>
        <c:minorTickMark val="none"/>
        <c:tickLblPos val="nextTo"/>
        <c:spPr>
          <a:ln>
            <a:solidFill>
              <a:srgbClr val="E3E6EC"/>
            </a:solidFill>
          </a:ln>
        </c:spPr>
        <c:txPr>
          <a:bodyPr/>
          <a:lstStyle/>
          <a:p>
            <a:pPr>
              <a:defRPr sz="1100">
                <a:solidFill>
                  <a:srgbClr val="44506B"/>
                </a:solidFill>
                <a:latin typeface="Calibri"/>
              </a:defRPr>
            </a:pPr>
          </a:p>
        </c:txPr>
        <c:crossAx val="2140495176"/>
        <c:crosses val="autoZero"/>
        <c:auto val="1"/>
        <c:lblAlgn val="ctr"/>
        <c:lblOffset val="100"/>
        <c:noMultiLvlLbl val="0"/>
      </c:catAx>
      <c:valAx>
        <c:axId val="2140495176"/>
        <c:scaling>
          <c:max val="7.0"/>
          <c:min val="0.0"/>
        </c:scaling>
        <c:delete val="0"/>
        <c:axPos val="l"/>
        <c:majorGridlines>
          <c:spPr>
            <a:ln w="6350">
              <a:solidFill>
                <a:srgbClr val="E3E6EC"/>
              </a:solidFill>
            </a:ln>
          </c:spPr>
        </c:majorGridlines>
        <c:majorTickMark val="out"/>
        <c:minorTickMark val="none"/>
        <c:tickLblPos val="nextTo"/>
        <c:spPr>
          <a:ln>
            <a:noFill/>
          </a:ln>
        </c:spPr>
        <c:txPr>
          <a:bodyPr/>
          <a:lstStyle/>
          <a:p>
            <a:pPr>
              <a:defRPr sz="1100">
                <a:solidFill>
                  <a:srgbClr val="44506B"/>
                </a:solidFill>
                <a:latin typeface="Calibri"/>
              </a:defRPr>
            </a:pPr>
          </a:p>
        </c:txPr>
        <c:crossAx val="2118791784"/>
        <c:crosses val="autoZero"/>
      </c:valAx>
    </c:plotArea>
    <c:plotVisOnly val="1"/>
    <c:dispBlanksAs val="gap"/>
    <c:showDLblsOverMax val="0"/>
  </c:chart>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Injuries / 1,000 90s</c:v>
                </c:pt>
              </c:strCache>
            </c:strRef>
          </c:tx>
          <c:spPr>
            <a:solidFill>
              <a:srgbClr val="B9C0CE"/>
            </a:solidFill>
            <a:ln>
              <a:noFill/>
            </a:ln>
          </c:spPr>
          <c:dPt>
            <c:idx val="3"/>
            <c:spPr>
              <a:solidFill>
                <a:srgbClr val="0F1B3D"/>
              </a:solidFill>
            </c:spPr>
          </c:dPt>
          <c:cat>
            <c:strRef>
              <c:f>Sheet1!$A$2:$A$5</c:f>
              <c:strCache>
                <c:ptCount val="4"/>
                <c:pt idx="0">
                  <c:v>Attack</c:v>
                </c:pt>
                <c:pt idx="1">
                  <c:v>Midfield</c:v>
                </c:pt>
                <c:pt idx="2">
                  <c:v>Defender</c:v>
                </c:pt>
                <c:pt idx="3">
                  <c:v>Goalkeeper</c:v>
                </c:pt>
              </c:strCache>
            </c:strRef>
          </c:cat>
          <c:val>
            <c:numRef>
              <c:f>Sheet1!$B$2:$B$5</c:f>
              <c:numCache>
                <c:formatCode>General</c:formatCode>
                <c:ptCount val="4"/>
                <c:pt idx="0">
                  <c:v>4.15</c:v>
                </c:pt>
                <c:pt idx="1">
                  <c:v>4.23</c:v>
                </c:pt>
                <c:pt idx="2">
                  <c:v>4.3</c:v>
                </c:pt>
                <c:pt idx="3">
                  <c:v>2.32</c:v>
                </c:pt>
              </c:numCache>
            </c:numRef>
          </c:val>
        </c:ser>
        <c:dLbls>
          <c:numFmt formatCode="0.00" sourceLinked="0"/>
          <c:txPr>
            <a:bodyPr/>
            <a:lstStyle/>
            <a:p>
              <a:pPr>
                <a:defRPr sz="1200" b="1">
                  <a:solidFill>
                    <a:srgbClr val="44506B"/>
                  </a:solidFill>
                  <a:latin typeface="Calibri"/>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solidFill>
              <a:srgbClr val="E3E6EC"/>
            </a:solidFill>
          </a:ln>
        </c:spPr>
        <c:txPr>
          <a:bodyPr/>
          <a:lstStyle/>
          <a:p>
            <a:pPr>
              <a:defRPr sz="1200">
                <a:solidFill>
                  <a:srgbClr val="44506B"/>
                </a:solidFill>
                <a:latin typeface="Calibri"/>
              </a:defRPr>
            </a:pPr>
          </a:p>
        </c:txPr>
        <c:crossAx val="-2113994440"/>
        <c:crosses val="autoZero"/>
        <c:auto val="1"/>
        <c:lblAlgn val="ctr"/>
        <c:lblOffset val="100"/>
        <c:noMultiLvlLbl val="0"/>
      </c:catAx>
      <c:valAx>
        <c:axId val="-2113994440"/>
        <c:scaling>
          <c:max val="5.5"/>
          <c:min val="0.0"/>
        </c:scaling>
        <c:delete val="0"/>
        <c:axPos val="b"/>
        <c:majorGridlines>
          <c:spPr>
            <a:ln w="6350">
              <a:solidFill>
                <a:srgbClr val="E3E6EC"/>
              </a:solidFill>
            </a:ln>
          </c:spPr>
        </c:majorGridlines>
        <c:majorTickMark val="out"/>
        <c:minorTickMark val="none"/>
        <c:tickLblPos val="nextTo"/>
        <c:spPr>
          <a:ln>
            <a:noFill/>
          </a:ln>
        </c:spPr>
        <c:txPr>
          <a:bodyPr/>
          <a:lstStyle/>
          <a:p>
            <a:pPr>
              <a:defRPr sz="1000">
                <a:solidFill>
                  <a:srgbClr val="44506B"/>
                </a:solidFill>
                <a:latin typeface="Calibri"/>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Accuracy (%)</c:v>
                </c:pt>
              </c:strCache>
            </c:strRef>
          </c:tx>
          <c:dPt>
            <c:idx val="1"/>
            <c:spPr>
              <a:solidFill>
                <a:srgbClr val="C0392B"/>
              </a:solidFill>
            </c:spPr>
          </c:dPt>
          <c:dPt>
            <c:idx val="0"/>
            <c:spPr>
              <a:noFill/>
              <a:ln w="22225">
                <a:solidFill>
                  <a:srgbClr val="44506B"/>
                </a:solidFill>
                <a:prstDash val="dash"/>
              </a:ln>
            </c:spPr>
          </c:dPt>
          <c:cat>
            <c:strRef>
              <c:f>Sheet1!$A$2:$A$3</c:f>
              <c:strCache>
                <c:ptCount val="2"/>
                <c:pt idx="0">
                  <c:v>Coin-flip
baseline</c:v>
                </c:pt>
                <c:pt idx="1">
                  <c:v>Model
(backtested)</c:v>
                </c:pt>
              </c:strCache>
            </c:strRef>
          </c:cat>
          <c:val>
            <c:numRef>
              <c:f>Sheet1!$B$2:$B$3</c:f>
              <c:numCache>
                <c:formatCode>General</c:formatCode>
                <c:ptCount val="2"/>
                <c:pt idx="0">
                  <c:v>50.0</c:v>
                </c:pt>
                <c:pt idx="1">
                  <c:v>22.7</c:v>
                </c:pt>
              </c:numCache>
            </c:numRef>
          </c:val>
        </c:ser>
        <c:dLbls>
          <c:numFmt formatCode="0.0&quot;%&quot;" sourceLinked="0"/>
          <c:txPr>
            <a:bodyPr/>
            <a:lstStyle/>
            <a:p>
              <a:pPr>
                <a:defRPr sz="1300" b="1">
                  <a:solidFill>
                    <a:srgbClr val="44506B"/>
                  </a:solidFill>
                  <a:latin typeface="Calibri"/>
                </a:defRPr>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l"/>
        <c:majorTickMark val="out"/>
        <c:minorTickMark val="none"/>
        <c:tickLblPos val="nextTo"/>
        <c:spPr>
          <a:ln>
            <a:solidFill>
              <a:srgbClr val="E3E6EC"/>
            </a:solidFill>
          </a:ln>
        </c:spPr>
        <c:txPr>
          <a:bodyPr/>
          <a:lstStyle/>
          <a:p>
            <a:pPr>
              <a:defRPr sz="1200">
                <a:solidFill>
                  <a:srgbClr val="44506B"/>
                </a:solidFill>
                <a:latin typeface="Calibri"/>
              </a:defRPr>
            </a:pPr>
          </a:p>
        </c:txPr>
        <c:crossAx val="-2113994440"/>
        <c:crosses val="autoZero"/>
        <c:auto val="1"/>
        <c:lblAlgn val="ctr"/>
        <c:lblOffset val="100"/>
        <c:noMultiLvlLbl val="0"/>
      </c:catAx>
      <c:valAx>
        <c:axId val="-2113994440"/>
        <c:scaling>
          <c:max val="60.0"/>
          <c:min val="0.0"/>
        </c:scaling>
        <c:delete val="0"/>
        <c:axPos val="b"/>
        <c:majorGridlines>
          <c:spPr>
            <a:ln w="6350">
              <a:solidFill>
                <a:srgbClr val="E3E6EC"/>
              </a:solidFill>
            </a:ln>
          </c:spPr>
        </c:majorGridlines>
        <c:majorTickMark val="out"/>
        <c:minorTickMark val="none"/>
        <c:tickLblPos val="nextTo"/>
        <c:spPr>
          <a:ln>
            <a:noFill/>
          </a:ln>
        </c:spPr>
        <c:txPr>
          <a:bodyPr/>
          <a:lstStyle/>
          <a:p>
            <a:pPr>
              <a:defRPr sz="1000">
                <a:solidFill>
                  <a:srgbClr val="44506B"/>
                </a:solidFill>
                <a:latin typeface="Calibri"/>
              </a:defRPr>
            </a:pPr>
          </a:p>
        </c:txPr>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721371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One-sided Mann-Whitney test is significant, p approx 0.0000, but at ~30,000 snapshots that can happen even when the typical case barely differs. Median value change rounds to 0% for all injured buckets alike. No-injury players show +11.11% raw, +4.35% after excluding low-starting-valuation snapshots that look like breakout-debut artifacts rather than real injury effects.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Kruskal-Wallis tests are significant: value growth H=95.27 p approx 0.0000, risk H=34.57 p approx 0.0000, n=582 players (one row per player, so significance carries real weight here). Median injury rate by bucket: 21-24 = 2.49, 25-28 = 3.97, 29-32 = 3.22, 33+ = 5.95 per 1,000 90s. Median value change is 0% in every bucket except 21-24 (+7.14%). Under-21 bucket (n=4) omitted, too small to trust.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Kruskal-Wallis across all 4 positions: p = 0.61, nowhere near significant. Reported as an honest null result, not hidden. Goalkeepers show a lower group-level median (2.32 vs 4.15-4.30 for outfield positions), consistent with real football knowledge (far less running and sprinting exposure), but only 52 goalkeepers had enough playing time to include, with highly spread individual rates. Underpowered to confirm, not disproven.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Prophet time-series model, fit in log-space on each player's valuation history, backtested by holding out the last 2 known snapshots per player across a random sample of 150 (of 1,518 eligible players with 6+ snapshots). Directional accuracy: 34/150 correct = 22.7%, versus a ~50% coin-flip baseline -- the model is systematically biased toward predicting 'rising' (91% of forecasts, 136/150) while the actual holdout outcomes were 80% falling (120/150), so the miss is a real, structural optimism bias, not random noise. Magnitude error: median 149.4% absolute error, 75th percentile 406.7%, worse for cheap/fringe players (under EUR1M: 184.1% median) than for players valued over EUR10M (125.1% median). This is the direct, honest answer to Q1: raw value-trend forecasting is not trustworthy on its own -- which is exactly why the project pairs it with the injury-risk score rather than reading a rising valuation as confirmed. The recruitment-signal quadrants downstream (Priority Target / Caution Flag) inherit this same 'rising' bias (93% of the combined signal table is flagged rising) and should be read as a directional flag, not a calibrated prediction.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injury-history finding as the headline result, not a footnote -- and connect it explicitly to the forecast-validation slide: because the raw value trend can't be trusted alone (22.7% directional accuracy), the injury signal is what actually earns its place in the recruitment decision. If asked 'so what should I actually do with this', point straight at the three recommendation-slide bullets next.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Click the button, or alt-tab, to switch to Tableau Desktop with the workbook already open. Start on the Cover, then walk through Value Trend, Risk Summary, Age &amp; Risk Profile, and Recency &amp; Position Risk Profile. Use the unified player/age/risk parameters to show cross-dashboard interactivity live. If the connection drops or the file won't open, the very next slide is a static fallback -- skip to it and keep talking through the same points from the screenshot.</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12</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3.png"/><Relationship Id="rId4" Type="http://schemas.openxmlformats.org/officeDocument/2006/relationships/image" Target="../media/image4.svg"/><Relationship Id="rId5" Type="http://schemas.openxmlformats.org/officeDocument/2006/relationships/image" Target="../media/image5.png"/><Relationship Id="rId6" Type="http://schemas.openxmlformats.org/officeDocument/2006/relationships/image" Target="../media/image6.svg"/><Relationship Id="rId7" Type="http://schemas.openxmlformats.org/officeDocument/2006/relationships/image" Target="../media/image7.png"/><Relationship Id="rId8" Type="http://schemas.openxmlformats.org/officeDocument/2006/relationships/image" Target="../media/image8.svg"/><Relationship Id="rId9" Type="http://schemas.openxmlformats.org/officeDocument/2006/relationships/image" Target="../media/image9.png"/><Relationship Id="rId10" Type="http://schemas.openxmlformats.org/officeDocument/2006/relationships/image" Target="../media/image10.svg"/><Relationship Id="rId11" Type="http://schemas.openxmlformats.org/officeDocument/2006/relationships/image" Target="../media/image11.png"/><Relationship Id="rId12" Type="http://schemas.openxmlformats.org/officeDocument/2006/relationships/image" Target="../media/image12.sv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0.png"/><Relationship Id="rId4" Type="http://schemas.openxmlformats.org/officeDocument/2006/relationships/image" Target="../media/image16.png"/><Relationship Id="rId5" Type="http://schemas.openxmlformats.org/officeDocument/2006/relationships/image" Target="../media/image1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1.png"/><Relationship Id="rId4" Type="http://schemas.openxmlformats.org/officeDocument/2006/relationships/image" Target="../media/image22.png"/><Relationship Id="rId6" Type="http://schemas.openxmlformats.org/officeDocument/2006/relationships/image" Target="../media/image23.png"/><Relationship Id="rId7" Type="http://schemas.openxmlformats.org/officeDocument/2006/relationships/image" Target="../media/image24.sv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1.png"/><Relationship Id="rId4" Type="http://schemas.openxmlformats.org/officeDocument/2006/relationships/image" Target="../media/image22.png"/><Relationship Id="rId6" Type="http://schemas.openxmlformats.org/officeDocument/2006/relationships/image" Target="../media/image3.png"/><Relationship Id="rId7" Type="http://schemas.openxmlformats.org/officeDocument/2006/relationships/image" Target="../media/image4.svg"/><Relationship Id="rId8" Type="http://schemas.openxmlformats.org/officeDocument/2006/relationships/chart" Target="../charts/char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5.png"/><Relationship Id="rId4" Type="http://schemas.openxmlformats.org/officeDocument/2006/relationships/image" Target="../media/image22.png"/><Relationship Id="rId6" Type="http://schemas.openxmlformats.org/officeDocument/2006/relationships/image" Target="../media/image7.png"/><Relationship Id="rId7" Type="http://schemas.openxmlformats.org/officeDocument/2006/relationships/image" Target="../media/image8.svg"/><Relationship Id="rId8" Type="http://schemas.openxmlformats.org/officeDocument/2006/relationships/chart" Target="../charts/char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25.png"/><Relationship Id="rId5" Type="http://schemas.openxmlformats.org/officeDocument/2006/relationships/image" Target="../media/image26.png"/><Relationship Id="rId7" Type="http://schemas.openxmlformats.org/officeDocument/2006/relationships/chart" Target="../charts/chart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chart" Target="../charts/chart5.xml"/><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29.sv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0.png"/><Relationship Id="rId4" Type="http://schemas.openxmlformats.org/officeDocument/2006/relationships/image" Target="../media/image16.png"/><Relationship Id="rId5" Type="http://schemas.openxmlformats.org/officeDocument/2006/relationships/image" Target="../media/image1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hyperlink" Target="Capstone%20project.%20Injury%20Risk%20in%20Premier%20League%20Recruitment.twbx"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31.png"/><Relationship Id="rId6" Type="http://schemas.openxmlformats.org/officeDocument/2006/relationships/image" Target="../media/image32.sv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33.png"/><Relationship Id="rId4" Type="http://schemas.openxmlformats.org/officeDocument/2006/relationships/hyperlink" Target="https://github.com/Simba90m/capstone_project_worth_the_investment_PL" TargetMode="External"/><Relationship Id="rId5" Type="http://schemas.openxmlformats.org/officeDocument/2006/relationships/image" Target="../media/image1.png"/><Relationship Id="rId6" Type="http://schemas.openxmlformats.org/officeDocument/2006/relationships/image" Target="../media/image2.sv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34.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B3D"/>
        </a:solidFill>
        <a:effectLst/>
      </p:bgPr>
    </p:bg>
    <p:spTree>
      <p:nvGrpSpPr>
        <p:cNvPr id="1" name=""/>
        <p:cNvGrpSpPr/>
        <p:nvPr/>
      </p:nvGrpSpPr>
      <p:grpSpPr>
        <a:xfrm>
          <a:off x="0" y="0"/>
          <a:ext cx="0" cy="0"/>
          <a:chOff x="0" y="0"/>
          <a:chExt cx="0" cy="0"/>
        </a:xfrm>
      </p:grpSpPr>
      <p:sp>
        <p:nvSpPr>
          <p:cNvPr id="900" name="Pitch 900"/>
          <p:cNvSpPr/>
          <p:nvPr/>
        </p:nvSpPr>
        <p:spPr>
          <a:xfrm>
            <a:off x="762000" y="762000"/>
            <a:ext cx="10668000" cy="5334000"/>
          </a:xfrm>
          <a:prstGeom prst="rect">
            <a:avLst/>
          </a:prstGeom>
          <a:noFill/>
          <a:ln w="15875">
            <a:solidFill>
              <a:srgbClr val="1A2A4E"/>
            </a:solidFill>
          </a:ln>
        </p:spPr>
        <p:txBody>
          <a:bodyPr/>
          <a:lstStyle/>
          <a:p>
            <a:endParaRPr/>
          </a:p>
        </p:txBody>
      </p:sp>
      <p:sp>
        <p:nvSpPr>
          <p:cNvPr id="901" name="Pitch 901"/>
          <p:cNvSpPr/>
          <p:nvPr/>
        </p:nvSpPr>
        <p:spPr>
          <a:xfrm>
            <a:off x="6096000" y="762000"/>
            <a:ext cx="0" cy="5334000"/>
          </a:xfrm>
          <a:prstGeom prst="line">
            <a:avLst/>
          </a:prstGeom>
          <a:noFill/>
          <a:ln w="15875">
            <a:solidFill>
              <a:srgbClr val="1A2A4E"/>
            </a:solidFill>
          </a:ln>
        </p:spPr>
        <p:txBody>
          <a:bodyPr/>
          <a:lstStyle/>
          <a:p>
            <a:endParaRPr/>
          </a:p>
        </p:txBody>
      </p:sp>
      <p:sp>
        <p:nvSpPr>
          <p:cNvPr id="902" name="Pitch 902"/>
          <p:cNvSpPr/>
          <p:nvPr/>
        </p:nvSpPr>
        <p:spPr>
          <a:xfrm>
            <a:off x="5207000" y="2540000"/>
            <a:ext cx="1778000" cy="1778000"/>
          </a:xfrm>
          <a:prstGeom prst="ellipse">
            <a:avLst/>
          </a:prstGeom>
          <a:noFill/>
          <a:ln w="15875">
            <a:solidFill>
              <a:srgbClr val="1A2A4E"/>
            </a:solidFill>
          </a:ln>
        </p:spPr>
        <p:txBody>
          <a:bodyPr/>
          <a:lstStyle/>
          <a:p>
            <a:endParaRPr/>
          </a:p>
        </p:txBody>
      </p:sp>
      <p:sp>
        <p:nvSpPr>
          <p:cNvPr id="903" name="Pitch 903"/>
          <p:cNvSpPr/>
          <p:nvPr/>
        </p:nvSpPr>
        <p:spPr>
          <a:xfrm>
            <a:off x="6045200" y="3378200"/>
            <a:ext cx="101600" cy="101600"/>
          </a:xfrm>
          <a:prstGeom prst="ellipse">
            <a:avLst/>
          </a:prstGeom>
          <a:solidFill>
            <a:srgbClr val="1E2E55"/>
          </a:solidFill>
          <a:ln w="12700">
            <a:solidFill>
              <a:srgbClr val="1A2A4E"/>
            </a:solidFill>
          </a:ln>
        </p:spPr>
        <p:txBody>
          <a:bodyPr/>
          <a:lstStyle/>
          <a:p>
            <a:endParaRPr/>
          </a:p>
        </p:txBody>
      </p:sp>
      <p:sp>
        <p:nvSpPr>
          <p:cNvPr id="904" name="Pitch 904"/>
          <p:cNvSpPr/>
          <p:nvPr/>
        </p:nvSpPr>
        <p:spPr>
          <a:xfrm>
            <a:off x="762000" y="1905000"/>
            <a:ext cx="1524000" cy="3048000"/>
          </a:xfrm>
          <a:prstGeom prst="rect">
            <a:avLst/>
          </a:prstGeom>
          <a:noFill/>
          <a:ln w="15875">
            <a:solidFill>
              <a:srgbClr val="1A2A4E"/>
            </a:solidFill>
          </a:ln>
        </p:spPr>
        <p:txBody>
          <a:bodyPr/>
          <a:lstStyle/>
          <a:p>
            <a:endParaRPr/>
          </a:p>
        </p:txBody>
      </p:sp>
      <p:sp>
        <p:nvSpPr>
          <p:cNvPr id="905" name="Pitch 905"/>
          <p:cNvSpPr/>
          <p:nvPr/>
        </p:nvSpPr>
        <p:spPr>
          <a:xfrm>
            <a:off x="762000" y="2667000"/>
            <a:ext cx="660400" cy="1524000"/>
          </a:xfrm>
          <a:prstGeom prst="rect">
            <a:avLst/>
          </a:prstGeom>
          <a:noFill/>
          <a:ln w="15875">
            <a:solidFill>
              <a:srgbClr val="1A2A4E"/>
            </a:solidFill>
          </a:ln>
        </p:spPr>
        <p:txBody>
          <a:bodyPr/>
          <a:lstStyle/>
          <a:p>
            <a:endParaRPr/>
          </a:p>
        </p:txBody>
      </p:sp>
      <p:sp>
        <p:nvSpPr>
          <p:cNvPr id="906" name="Pitch 906"/>
          <p:cNvSpPr/>
          <p:nvPr/>
        </p:nvSpPr>
        <p:spPr>
          <a:xfrm>
            <a:off x="9906000" y="1905000"/>
            <a:ext cx="1524000" cy="3048000"/>
          </a:xfrm>
          <a:prstGeom prst="rect">
            <a:avLst/>
          </a:prstGeom>
          <a:noFill/>
          <a:ln w="15875">
            <a:solidFill>
              <a:srgbClr val="1A2A4E"/>
            </a:solidFill>
          </a:ln>
        </p:spPr>
        <p:txBody>
          <a:bodyPr/>
          <a:lstStyle/>
          <a:p>
            <a:endParaRPr/>
          </a:p>
        </p:txBody>
      </p:sp>
      <p:sp>
        <p:nvSpPr>
          <p:cNvPr id="907" name="Pitch 907"/>
          <p:cNvSpPr/>
          <p:nvPr/>
        </p:nvSpPr>
        <p:spPr>
          <a:xfrm>
            <a:off x="10769600" y="2667000"/>
            <a:ext cx="660400" cy="1524000"/>
          </a:xfrm>
          <a:prstGeom prst="rect">
            <a:avLst/>
          </a:prstGeom>
          <a:noFill/>
          <a:ln w="15875">
            <a:solidFill>
              <a:srgbClr val="1A2A4E"/>
            </a:solidFill>
          </a:ln>
        </p:spPr>
        <p:txBody>
          <a:bodyPr/>
          <a:lstStyle/>
          <a:p>
            <a:endParaRPr/>
          </a:p>
        </p:txBody>
      </p:sp>
      <p:sp>
        <p:nvSpPr>
          <p:cNvPr id="2" name="Shape 0"/>
          <p:cNvSpPr/>
          <p:nvPr/>
        </p:nvSpPr>
        <p:spPr>
          <a:xfrm>
            <a:off x="-365760" y="-365760"/>
            <a:ext cx="731520" cy="731520"/>
          </a:xfrm>
          <a:prstGeom prst="ellipse">
            <a:avLst/>
          </a:prstGeom>
          <a:ln w="19050">
            <a:solidFill>
              <a:srgbClr val="1F7A4D">
                <a:alpha val="45000"/>
              </a:srgbClr>
            </a:solidFill>
            <a:prstDash val="solid"/>
          </a:ln>
        </p:spPr>
        <p:txBody>
          <a:bodyPr/>
          <a:lstStyle/>
          <a:p>
            <a:endParaRPr lang="en-US"/>
          </a:p>
        </p:txBody>
      </p:sp>
      <p:sp>
        <p:nvSpPr>
          <p:cNvPr id="3" name="Shape 1"/>
          <p:cNvSpPr/>
          <p:nvPr/>
        </p:nvSpPr>
        <p:spPr>
          <a:xfrm>
            <a:off x="11825935" y="-365760"/>
            <a:ext cx="731520" cy="731520"/>
          </a:xfrm>
          <a:prstGeom prst="ellipse">
            <a:avLst/>
          </a:prstGeom>
          <a:ln w="19050">
            <a:solidFill>
              <a:srgbClr val="1F7A4D">
                <a:alpha val="45000"/>
              </a:srgbClr>
            </a:solidFill>
            <a:prstDash val="solid"/>
          </a:ln>
        </p:spPr>
        <p:txBody>
          <a:bodyPr/>
          <a:lstStyle/>
          <a:p>
            <a:endParaRPr lang="en-US"/>
          </a:p>
        </p:txBody>
      </p:sp>
      <p:sp>
        <p:nvSpPr>
          <p:cNvPr id="4" name="Shape 2"/>
          <p:cNvSpPr/>
          <p:nvPr/>
        </p:nvSpPr>
        <p:spPr>
          <a:xfrm>
            <a:off x="-365760" y="6492240"/>
            <a:ext cx="731520" cy="731520"/>
          </a:xfrm>
          <a:prstGeom prst="ellipse">
            <a:avLst/>
          </a:prstGeom>
          <a:ln w="19050">
            <a:solidFill>
              <a:srgbClr val="1F7A4D">
                <a:alpha val="45000"/>
              </a:srgbClr>
            </a:solidFill>
            <a:prstDash val="solid"/>
          </a:ln>
        </p:spPr>
        <p:txBody>
          <a:bodyPr/>
          <a:lstStyle/>
          <a:p>
            <a:endParaRPr lang="en-US"/>
          </a:p>
        </p:txBody>
      </p:sp>
      <p:sp>
        <p:nvSpPr>
          <p:cNvPr id="5" name="Shape 3"/>
          <p:cNvSpPr/>
          <p:nvPr/>
        </p:nvSpPr>
        <p:spPr>
          <a:xfrm>
            <a:off x="11825935" y="6492240"/>
            <a:ext cx="731520" cy="731520"/>
          </a:xfrm>
          <a:prstGeom prst="ellipse">
            <a:avLst/>
          </a:prstGeom>
          <a:ln w="19050">
            <a:solidFill>
              <a:srgbClr val="1F7A4D">
                <a:alpha val="45000"/>
              </a:srgbClr>
            </a:solidFill>
            <a:prstDash val="solid"/>
          </a:ln>
        </p:spPr>
        <p:txBody>
          <a:bodyPr/>
          <a:lstStyle/>
          <a:p>
            <a:endParaRPr lang="en-US"/>
          </a:p>
        </p:txBody>
      </p:sp>
      <p:sp>
        <p:nvSpPr>
          <p:cNvPr id="6" name="Shape 4"/>
          <p:cNvSpPr/>
          <p:nvPr/>
        </p:nvSpPr>
        <p:spPr>
          <a:xfrm>
            <a:off x="7589520" y="-4297680"/>
            <a:ext cx="5852160" cy="5852160"/>
          </a:xfrm>
          <a:prstGeom prst="ellipse">
            <a:avLst/>
          </a:prstGeom>
          <a:solidFill>
            <a:srgbClr val="1F7A4D">
              <a:alpha val="5000"/>
            </a:srgbClr>
          </a:solidFill>
          <a:ln w="25400">
            <a:solidFill>
              <a:srgbClr val="1F7A4D">
                <a:alpha val="38000"/>
              </a:srgbClr>
            </a:solidFill>
            <a:prstDash val="solid"/>
          </a:ln>
        </p:spPr>
        <p:txBody>
          <a:bodyPr/>
          <a:lstStyle/>
          <a:p>
            <a:endParaRPr lang="en-US"/>
          </a:p>
        </p:txBody>
      </p:sp>
      <p:sp>
        <p:nvSpPr>
          <p:cNvPr id="7" name="Shape 5"/>
          <p:cNvSpPr/>
          <p:nvPr/>
        </p:nvSpPr>
        <p:spPr>
          <a:xfrm>
            <a:off x="10469880" y="-1417320"/>
            <a:ext cx="91440" cy="91440"/>
          </a:xfrm>
          <a:prstGeom prst="ellipse">
            <a:avLst/>
          </a:prstGeom>
          <a:solidFill>
            <a:srgbClr val="E8A33D">
              <a:alpha val="75000"/>
            </a:srgbClr>
          </a:solidFill>
          <a:ln/>
        </p:spPr>
        <p:txBody>
          <a:bodyPr/>
          <a:lstStyle/>
          <a:p>
            <a:endParaRPr lang="en-US"/>
          </a:p>
        </p:txBody>
      </p:sp>
      <p:sp>
        <p:nvSpPr>
          <p:cNvPr id="8" name="Text 6"/>
          <p:cNvSpPr/>
          <p:nvPr/>
        </p:nvSpPr>
        <p:spPr>
          <a:xfrm>
            <a:off x="822960" y="1691640"/>
            <a:ext cx="7315200" cy="320040"/>
          </a:xfrm>
          <a:prstGeom prst="rect">
            <a:avLst/>
          </a:prstGeom>
          <a:noFill/>
          <a:ln/>
        </p:spPr>
        <p:txBody>
          <a:bodyPr wrap="square" lIns="0" tIns="0" rIns="0" bIns="0" rtlCol="0" anchor="ctr"/>
          <a:lstStyle/>
          <a:p>
            <a:pPr marL="0" indent="0">
              <a:buNone/>
            </a:pPr>
            <a:r>
              <a:rPr lang="en-US" sz="1400" b="1" kern="0" spc="200" dirty="0">
                <a:solidFill>
                  <a:srgbClr val="E8A33D"/>
                </a:solidFill>
                <a:latin typeface="Calibri" pitchFamily="34" charset="0"/>
                <a:ea typeface="Calibri" pitchFamily="34" charset="-122"/>
                <a:cs typeface="Calibri" pitchFamily="34" charset="-120"/>
              </a:rPr>
              <a:t>DATA ANALYTICS CAPSTONE</a:t>
            </a:r>
            <a:endParaRPr lang="en-US" sz="1400" dirty="0"/>
          </a:p>
        </p:txBody>
      </p:sp>
      <p:sp>
        <p:nvSpPr>
          <p:cNvPr id="9" name="Text 7"/>
          <p:cNvSpPr/>
          <p:nvPr/>
        </p:nvSpPr>
        <p:spPr>
          <a:xfrm>
            <a:off x="777240" y="2057400"/>
            <a:ext cx="10058400" cy="1371600"/>
          </a:xfrm>
          <a:prstGeom prst="rect">
            <a:avLst/>
          </a:prstGeom>
          <a:noFill/>
          <a:ln/>
        </p:spPr>
        <p:txBody>
          <a:bodyPr wrap="square" lIns="0" tIns="0" rIns="0" bIns="0" rtlCol="0" anchor="ctr"/>
          <a:lstStyle/>
          <a:p>
            <a:pPr marL="0" indent="0">
              <a:buNone/>
            </a:pPr>
            <a:r>
              <a:rPr lang="en-US" sz="5000" b="1" dirty="0">
                <a:solidFill>
                  <a:srgbClr val="FFFFFF"/>
                </a:solidFill>
                <a:latin typeface="Cambria" pitchFamily="34" charset="0"/>
                <a:ea typeface="Cambria" pitchFamily="34" charset="-122"/>
                <a:cs typeface="Cambria" pitchFamily="34" charset="-120"/>
              </a:rPr>
              <a:t>Worth the Investment?</a:t>
            </a:r>
            <a:endParaRPr lang="en-US" sz="5000" dirty="0"/>
          </a:p>
        </p:txBody>
      </p:sp>
      <p:sp>
        <p:nvSpPr>
          <p:cNvPr id="10" name="Text 8"/>
          <p:cNvSpPr/>
          <p:nvPr/>
        </p:nvSpPr>
        <p:spPr>
          <a:xfrm>
            <a:off x="822960" y="3310128"/>
            <a:ext cx="8778240" cy="822960"/>
          </a:xfrm>
          <a:prstGeom prst="rect">
            <a:avLst/>
          </a:prstGeom>
          <a:noFill/>
          <a:ln/>
        </p:spPr>
        <p:txBody>
          <a:bodyPr wrap="square" lIns="0" tIns="0" rIns="0" bIns="0" rtlCol="0" anchor="ctr"/>
          <a:lstStyle/>
          <a:p>
            <a:pPr marL="0" indent="0">
              <a:buNone/>
            </a:pPr>
            <a:r>
              <a:rPr lang="en-US" sz="1900" dirty="0">
                <a:solidFill>
                  <a:srgbClr val="CADCFC"/>
                </a:solidFill>
                <a:latin typeface="Calibri" pitchFamily="34" charset="0"/>
                <a:ea typeface="Calibri" pitchFamily="34" charset="-122"/>
                <a:cs typeface="Calibri" pitchFamily="34" charset="-120"/>
              </a:rPr>
              <a:t>Forecasting Player Value Trend &amp; Injury Risk for Premier League Recruitment Decisions</a:t>
            </a:r>
            <a:endParaRPr lang="en-US" sz="1900" dirty="0"/>
          </a:p>
        </p:txBody>
      </p:sp>
      <p:sp>
        <p:nvSpPr>
          <p:cNvPr id="11" name="Shape 9"/>
          <p:cNvSpPr/>
          <p:nvPr/>
        </p:nvSpPr>
        <p:spPr>
          <a:xfrm>
            <a:off x="822960" y="4343400"/>
            <a:ext cx="82296" cy="548640"/>
          </a:xfrm>
          <a:prstGeom prst="roundRect">
            <a:avLst/>
          </a:prstGeom>
          <a:solidFill>
            <a:srgbClr val="E8A33D"/>
          </a:solidFill>
          <a:ln/>
        </p:spPr>
        <p:txBody>
          <a:bodyPr/>
          <a:lstStyle/>
          <a:p>
            <a:endParaRPr lang="en-US"/>
          </a:p>
        </p:txBody>
      </p:sp>
      <p:sp>
        <p:nvSpPr>
          <p:cNvPr id="12" name="Text 10"/>
          <p:cNvSpPr/>
          <p:nvPr/>
        </p:nvSpPr>
        <p:spPr>
          <a:xfrm>
            <a:off x="1051560" y="4343400"/>
            <a:ext cx="7315200" cy="548640"/>
          </a:xfrm>
          <a:prstGeom prst="rect">
            <a:avLst/>
          </a:prstGeom>
          <a:noFill/>
          <a:ln/>
        </p:spPr>
        <p:txBody>
          <a:bodyPr wrap="square" lIns="0" tIns="0" rIns="0" bIns="0" rtlCol="0" anchor="ctr"/>
          <a:lstStyle/>
          <a:p>
            <a:pPr marL="0" indent="0">
              <a:buNone/>
            </a:pPr>
            <a:r>
              <a:rPr lang="en-US" sz="1400" i="1" dirty="0">
                <a:solidFill>
                  <a:srgbClr val="AEB8D6"/>
                </a:solidFill>
                <a:latin typeface="Calibri" pitchFamily="34" charset="0"/>
                <a:ea typeface="Calibri" pitchFamily="34" charset="-122"/>
                <a:cs typeface="Calibri" pitchFamily="34" charset="-120"/>
              </a:rPr>
              <a:t>3 data sources  ·  3 stakeholders  ·  1 honest recruitment signal</a:t>
            </a:r>
            <a:endParaRPr lang="en-US" sz="1400" dirty="0"/>
          </a:p>
        </p:txBody>
      </p:sp>
      <p:sp>
        <p:nvSpPr>
          <p:cNvPr id="13" name="Text 11"/>
          <p:cNvSpPr/>
          <p:nvPr/>
        </p:nvSpPr>
        <p:spPr>
          <a:xfrm>
            <a:off x="822960" y="5989320"/>
            <a:ext cx="9601200" cy="365760"/>
          </a:xfrm>
          <a:prstGeom prst="rect">
            <a:avLst/>
          </a:prstGeom>
          <a:noFill/>
          <a:ln/>
        </p:spPr>
        <p:txBody>
          <a:bodyPr wrap="square" lIns="0" tIns="0" rIns="0" bIns="0" rtlCol="0" anchor="ctr"/>
          <a:lstStyle/>
          <a:p>
            <a:pPr marL="0" indent="0">
              <a:buNone/>
            </a:pPr>
            <a:r>
              <a:rPr lang="en-US" sz="1300" dirty="0">
                <a:solidFill>
                  <a:srgbClr val="8E9BC4"/>
                </a:solidFill>
                <a:latin typeface="Calibri" pitchFamily="34" charset="0"/>
                <a:ea typeface="Calibri" pitchFamily="34" charset="-122"/>
                <a:cs typeface="Calibri" pitchFamily="34" charset="-120"/>
              </a:rPr>
              <a:t>Mahmoud   ·   neue fische Data Analytics Bootcamp   ·   Capstone Event, Sep 29 2026</a:t>
            </a:r>
            <a:endParaRPr lang="en-US" sz="1300" dirty="0"/>
          </a:p>
        </p:txBody>
      </p:sp>
      <p:pic>
        <p:nvPicPr>
          <p:cNvPr id="908" name="Graphic 908" descr="Soccer ball on the penalty spot"/>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223500" y="3238500"/>
            <a:ext cx="381000" cy="381000"/>
          </a:xfrm>
          <a:prstGeom prst="rect">
            <a:avLst/>
          </a:prstGeom>
        </p:spPr>
      </p:pic>
    </p:spTree>
    <p:extLst>
      <p:ext uri="{BB962C8B-B14F-4D97-AF65-F5344CB8AC3E}">
        <p14:creationId xmlns:p14="http://schemas.microsoft.com/office/powerpoint/2010/main" val="527798653"/>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600"/>
                                        <p:tgtEl>
                                          <p:spTgt spid="10"/>
                                        </p:tgtEl>
                                      </p:cBhvr>
                                    </p:animEffect>
                                  </p:childTnLst>
                                </p:cTn>
                              </p:par>
                            </p:childTnLst>
                          </p:cTn>
                        </p:par>
                      </p:childTnLst>
                    </p:cTn>
                  </p:par>
                  <p:par>
                    <p:cTn id="8" fill="hold">
                      <p:stCondLst>
                        <p:cond delay="350"/>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fade">
                                      <p:cBhvr>
                                        <p:cTn id="12" dur="600"/>
                                        <p:tgtEl>
                                          <p:spTgt spid="11"/>
                                        </p:tgtEl>
                                      </p:cBhvr>
                                    </p:animEffect>
                                  </p:childTnLst>
                                </p:cTn>
                              </p:par>
                              <p:par>
                                <p:cTn id="13" presetID="10" presetClass="entr" presetSubtype="0" fill="hold" nodeType="withEffect">
                                  <p:stCondLst>
                                    <p:cond delay="0"/>
                                  </p:stCondLst>
                                  <p:childTnLst>
                                    <p:set>
                                      <p:cBhvr>
                                        <p:cTn id="14" dur="1" fill="hold">
                                          <p:stCondLst>
                                            <p:cond delay="0"/>
                                          </p:stCondLst>
                                        </p:cTn>
                                        <p:tgtEl>
                                          <p:spTgt spid="12"/>
                                        </p:tgtEl>
                                        <p:attrNameLst>
                                          <p:attrName>style.visibility</p:attrName>
                                        </p:attrNameLst>
                                      </p:cBhvr>
                                      <p:to>
                                        <p:strVal val="visible"/>
                                      </p:to>
                                    </p:set>
                                    <p:animEffect transition="in" filter="fade">
                                      <p:cBhvr>
                                        <p:cTn id="15" dur="600"/>
                                        <p:tgtEl>
                                          <p:spTgt spid="12"/>
                                        </p:tgtEl>
                                      </p:cBhvr>
                                    </p:animEffect>
                                  </p:childTnLst>
                                </p:cTn>
                              </p:par>
                            </p:childTnLst>
                          </p:cTn>
                        </p:par>
                      </p:childTnLst>
                    </p:cTn>
                  </p:par>
                  <p:par>
                    <p:cTn id="16" fill="hold">
                      <p:stCondLst>
                        <p:cond delay="350"/>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13"/>
                                        </p:tgtEl>
                                        <p:attrNameLst>
                                          <p:attrName>style.visibility</p:attrName>
                                        </p:attrNameLst>
                                      </p:cBhvr>
                                      <p:to>
                                        <p:strVal val="visible"/>
                                      </p:to>
                                    </p:set>
                                    <p:animEffect transition="in" filter="fade">
                                      <p:cBhvr>
                                        <p:cTn id="20" dur="6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8FA"/>
        </a:solidFill>
        <a:effectLst/>
      </p:bgPr>
    </p:bg>
    <p:spTree>
      <p:nvGrpSpPr>
        <p:cNvPr id="1" name=""/>
        <p:cNvGrpSpPr/>
        <p:nvPr/>
      </p:nvGrpSpPr>
      <p:grpSpPr>
        <a:xfrm>
          <a:off x="0" y="0"/>
          <a:ext cx="0" cy="0"/>
          <a:chOff x="0" y="0"/>
          <a:chExt cx="0" cy="0"/>
        </a:xfrm>
      </p:grpSpPr>
      <p:sp>
        <p:nvSpPr>
          <p:cNvPr id="4" name="Text 2"/>
          <p:cNvSpPr/>
          <p:nvPr/>
        </p:nvSpPr>
        <p:spPr>
          <a:xfrm>
            <a:off x="822960" y="594360"/>
            <a:ext cx="5486400" cy="320040"/>
          </a:xfrm>
          <a:prstGeom prst="rect">
            <a:avLst/>
          </a:prstGeom>
          <a:noFill/>
          <a:ln/>
        </p:spPr>
        <p:txBody>
          <a:bodyPr wrap="square" lIns="0" tIns="0" rIns="0" bIns="0" rtlCol="0" anchor="ctr"/>
          <a:lstStyle/>
          <a:p>
            <a:pPr marL="0" indent="0">
              <a:buNone/>
            </a:pPr>
            <a:r>
              <a:rPr lang="en-US" sz="1400" b="1" kern="0" spc="200" dirty="0">
                <a:solidFill>
                  <a:srgbClr val="1F7A4D"/>
                </a:solidFill>
                <a:latin typeface="Calibri" pitchFamily="34" charset="0"/>
                <a:ea typeface="Calibri" pitchFamily="34" charset="-122"/>
                <a:cs typeface="Calibri" pitchFamily="34" charset="-120"/>
              </a:rPr>
              <a:t>AGENDA</a:t>
            </a:r>
            <a:endParaRPr lang="en-US" sz="1400" dirty="0"/>
          </a:p>
        </p:txBody>
      </p:sp>
      <p:sp>
        <p:nvSpPr>
          <p:cNvPr id="5" name="Text 3"/>
          <p:cNvSpPr/>
          <p:nvPr/>
        </p:nvSpPr>
        <p:spPr>
          <a:xfrm>
            <a:off x="777240" y="896112"/>
            <a:ext cx="8229600" cy="731520"/>
          </a:xfrm>
          <a:prstGeom prst="rect">
            <a:avLst/>
          </a:prstGeom>
          <a:noFill/>
          <a:ln/>
        </p:spPr>
        <p:txBody>
          <a:bodyPr wrap="square" lIns="0" tIns="0" rIns="0" bIns="0" rtlCol="0" anchor="ctr"/>
          <a:lstStyle/>
          <a:p>
            <a:pPr marL="0" indent="0">
              <a:buNone/>
            </a:pPr>
            <a:r>
              <a:rPr lang="en-US" sz="3400" b="1" dirty="0">
                <a:solidFill>
                  <a:srgbClr val="1A1A1A"/>
                </a:solidFill>
                <a:latin typeface="Cambria" pitchFamily="34" charset="0"/>
                <a:ea typeface="Cambria" pitchFamily="34" charset="-122"/>
                <a:cs typeface="Cambria" pitchFamily="34" charset="-120"/>
              </a:rPr>
              <a:t>What we'll cover</a:t>
            </a:r>
            <a:endParaRPr lang="en-US" sz="3400" dirty="0"/>
          </a:p>
        </p:txBody>
      </p:sp>
      <p:sp>
        <p:nvSpPr>
          <p:cNvPr id="6" name="Shape 4"/>
          <p:cNvSpPr/>
          <p:nvPr/>
        </p:nvSpPr>
        <p:spPr>
          <a:xfrm>
            <a:off x="681228" y="1824228"/>
            <a:ext cx="850392" cy="850392"/>
          </a:xfrm>
          <a:prstGeom prst="ellipse">
            <a:avLst/>
          </a:prstGeom>
          <a:solidFill>
            <a:srgbClr val="0F1B3D">
              <a:alpha val="20000"/>
            </a:srgbClr>
          </a:solidFill>
          <a:ln/>
        </p:spPr>
        <p:txBody>
          <a:bodyPr/>
          <a:lstStyle/>
          <a:p>
            <a:endParaRPr lang="en-US"/>
          </a:p>
        </p:txBody>
      </p:sp>
      <p:sp>
        <p:nvSpPr>
          <p:cNvPr id="7" name="Shape 5"/>
          <p:cNvSpPr/>
          <p:nvPr/>
        </p:nvSpPr>
        <p:spPr>
          <a:xfrm>
            <a:off x="822960" y="1965960"/>
            <a:ext cx="566928" cy="566928"/>
          </a:xfrm>
          <a:prstGeom prst="ellipse">
            <a:avLst/>
          </a:prstGeom>
          <a:solidFill>
            <a:srgbClr val="1F7A4D"/>
          </a:solidFill>
          <a:ln/>
        </p:spPr>
        <p:txBody>
          <a:bodyPr/>
          <a:lstStyle/>
          <a:p>
            <a:endParaRPr lang="en-US"/>
          </a:p>
        </p:txBody>
      </p:sp>
      <p:sp>
        <p:nvSpPr>
          <p:cNvPr id="9" name="Text 6"/>
          <p:cNvSpPr/>
          <p:nvPr/>
        </p:nvSpPr>
        <p:spPr>
          <a:xfrm>
            <a:off x="1645920" y="1947672"/>
            <a:ext cx="7772400" cy="365760"/>
          </a:xfrm>
          <a:prstGeom prst="rect">
            <a:avLst/>
          </a:prstGeom>
          <a:noFill/>
          <a:ln/>
        </p:spPr>
        <p:txBody>
          <a:bodyPr wrap="square" lIns="0" tIns="0" rIns="0" bIns="0" rtlCol="0" anchor="ctr"/>
          <a:lstStyle/>
          <a:p>
            <a:pPr marL="0" indent="0">
              <a:buNone/>
            </a:pPr>
            <a:r>
              <a:rPr lang="en-US" sz="1800" b="1" dirty="0">
                <a:solidFill>
                  <a:srgbClr val="1A1A1A"/>
                </a:solidFill>
                <a:latin typeface="Calibri" pitchFamily="34" charset="0"/>
                <a:ea typeface="Calibri" pitchFamily="34" charset="-122"/>
                <a:cs typeface="Calibri" pitchFamily="34" charset="-120"/>
              </a:rPr>
              <a:t>The business question</a:t>
            </a:r>
            <a:endParaRPr lang="en-US" sz="1800" dirty="0"/>
          </a:p>
        </p:txBody>
      </p:sp>
      <p:sp>
        <p:nvSpPr>
          <p:cNvPr id="10" name="Text 7"/>
          <p:cNvSpPr/>
          <p:nvPr/>
        </p:nvSpPr>
        <p:spPr>
          <a:xfrm>
            <a:off x="1645920" y="2286000"/>
            <a:ext cx="8686800" cy="365760"/>
          </a:xfrm>
          <a:prstGeom prst="rect">
            <a:avLst/>
          </a:prstGeom>
          <a:noFill/>
          <a:ln/>
        </p:spPr>
        <p:txBody>
          <a:bodyPr wrap="square" lIns="0" tIns="0" rIns="0" bIns="0" rtlCol="0" anchor="ctr"/>
          <a:lstStyle/>
          <a:p>
            <a:pPr marL="0" indent="0">
              <a:buNone/>
            </a:pPr>
            <a:r>
              <a:rPr lang="en-US" sz="1400" dirty="0">
                <a:solidFill>
                  <a:srgbClr val="44506B"/>
                </a:solidFill>
                <a:latin typeface="Calibri" pitchFamily="34" charset="0"/>
                <a:ea typeface="Calibri" pitchFamily="34" charset="-122"/>
                <a:cs typeface="Calibri" pitchFamily="34" charset="-120"/>
              </a:rPr>
              <a:t>Why value trend alone can mislead a recruitment call</a:t>
            </a:r>
            <a:endParaRPr lang="en-US" sz="1400" dirty="0">
              <a:solidFill>
                <a:srgbClr val="44506B"/>
              </a:solidFill>
            </a:endParaRPr>
          </a:p>
        </p:txBody>
      </p:sp>
      <p:sp>
        <p:nvSpPr>
          <p:cNvPr id="11" name="Shape 8"/>
          <p:cNvSpPr/>
          <p:nvPr/>
        </p:nvSpPr>
        <p:spPr>
          <a:xfrm>
            <a:off x="681228" y="2720340"/>
            <a:ext cx="850392" cy="850392"/>
          </a:xfrm>
          <a:prstGeom prst="ellipse">
            <a:avLst/>
          </a:prstGeom>
          <a:solidFill>
            <a:srgbClr val="0F1B3D">
              <a:alpha val="20000"/>
            </a:srgbClr>
          </a:solidFill>
          <a:ln/>
        </p:spPr>
        <p:txBody>
          <a:bodyPr/>
          <a:lstStyle/>
          <a:p>
            <a:endParaRPr lang="en-US"/>
          </a:p>
        </p:txBody>
      </p:sp>
      <p:sp>
        <p:nvSpPr>
          <p:cNvPr id="12" name="Shape 9"/>
          <p:cNvSpPr/>
          <p:nvPr/>
        </p:nvSpPr>
        <p:spPr>
          <a:xfrm>
            <a:off x="822960" y="2862072"/>
            <a:ext cx="566928" cy="566928"/>
          </a:xfrm>
          <a:prstGeom prst="ellipse">
            <a:avLst/>
          </a:prstGeom>
          <a:solidFill>
            <a:srgbClr val="1F7A4D"/>
          </a:solidFill>
          <a:ln/>
        </p:spPr>
        <p:txBody>
          <a:bodyPr/>
          <a:lstStyle/>
          <a:p>
            <a:endParaRPr lang="en-US"/>
          </a:p>
        </p:txBody>
      </p:sp>
      <p:sp>
        <p:nvSpPr>
          <p:cNvPr id="14" name="Text 10"/>
          <p:cNvSpPr/>
          <p:nvPr/>
        </p:nvSpPr>
        <p:spPr>
          <a:xfrm>
            <a:off x="1645920" y="2843784"/>
            <a:ext cx="7772400" cy="365760"/>
          </a:xfrm>
          <a:prstGeom prst="rect">
            <a:avLst/>
          </a:prstGeom>
          <a:noFill/>
          <a:ln/>
        </p:spPr>
        <p:txBody>
          <a:bodyPr wrap="square" lIns="0" tIns="0" rIns="0" bIns="0" rtlCol="0" anchor="ctr"/>
          <a:lstStyle/>
          <a:p>
            <a:pPr marL="0" indent="0">
              <a:buNone/>
            </a:pPr>
            <a:r>
              <a:rPr lang="en-US" sz="1800" b="1" dirty="0">
                <a:solidFill>
                  <a:srgbClr val="1A1A1A"/>
                </a:solidFill>
                <a:latin typeface="Calibri" pitchFamily="34" charset="0"/>
                <a:ea typeface="Calibri" pitchFamily="34" charset="-122"/>
                <a:cs typeface="Calibri" pitchFamily="34" charset="-120"/>
              </a:rPr>
              <a:t>The data &amp; pipeline</a:t>
            </a:r>
            <a:endParaRPr lang="en-US" sz="1800" dirty="0"/>
          </a:p>
        </p:txBody>
      </p:sp>
      <p:sp>
        <p:nvSpPr>
          <p:cNvPr id="15" name="Text 11"/>
          <p:cNvSpPr/>
          <p:nvPr/>
        </p:nvSpPr>
        <p:spPr>
          <a:xfrm>
            <a:off x="1645920" y="3182112"/>
            <a:ext cx="8686800" cy="365760"/>
          </a:xfrm>
          <a:prstGeom prst="rect">
            <a:avLst/>
          </a:prstGeom>
          <a:noFill/>
          <a:ln/>
        </p:spPr>
        <p:txBody>
          <a:bodyPr wrap="square" lIns="0" tIns="0" rIns="0" bIns="0" rtlCol="0" anchor="ctr"/>
          <a:lstStyle/>
          <a:p>
            <a:pPr marL="0" indent="0">
              <a:buNone/>
            </a:pPr>
            <a:r>
              <a:rPr lang="en-US" sz="1400" dirty="0">
                <a:solidFill>
                  <a:srgbClr val="44506B"/>
                </a:solidFill>
                <a:latin typeface="Calibri" pitchFamily="34" charset="0"/>
                <a:ea typeface="Calibri" pitchFamily="34" charset="-122"/>
                <a:cs typeface="Calibri" pitchFamily="34" charset="-120"/>
              </a:rPr>
              <a:t>Three sources, joined and modeled through dbt + DuckDB</a:t>
            </a:r>
            <a:endParaRPr lang="en-US" sz="1400" dirty="0">
              <a:solidFill>
                <a:srgbClr val="44506B"/>
              </a:solidFill>
            </a:endParaRPr>
          </a:p>
        </p:txBody>
      </p:sp>
      <p:sp>
        <p:nvSpPr>
          <p:cNvPr id="16" name="Shape 12"/>
          <p:cNvSpPr/>
          <p:nvPr/>
        </p:nvSpPr>
        <p:spPr>
          <a:xfrm>
            <a:off x="681228" y="3616452"/>
            <a:ext cx="850392" cy="850392"/>
          </a:xfrm>
          <a:prstGeom prst="ellipse">
            <a:avLst/>
          </a:prstGeom>
          <a:solidFill>
            <a:srgbClr val="0F1B3D">
              <a:alpha val="20000"/>
            </a:srgbClr>
          </a:solidFill>
          <a:ln/>
        </p:spPr>
        <p:txBody>
          <a:bodyPr/>
          <a:lstStyle/>
          <a:p>
            <a:endParaRPr lang="en-US"/>
          </a:p>
        </p:txBody>
      </p:sp>
      <p:sp>
        <p:nvSpPr>
          <p:cNvPr id="17" name="Shape 13"/>
          <p:cNvSpPr/>
          <p:nvPr/>
        </p:nvSpPr>
        <p:spPr>
          <a:xfrm>
            <a:off x="822960" y="3758184"/>
            <a:ext cx="566928" cy="566928"/>
          </a:xfrm>
          <a:prstGeom prst="ellipse">
            <a:avLst/>
          </a:prstGeom>
          <a:solidFill>
            <a:srgbClr val="1F7A4D"/>
          </a:solidFill>
          <a:ln/>
        </p:spPr>
        <p:txBody>
          <a:bodyPr/>
          <a:lstStyle/>
          <a:p>
            <a:endParaRPr lang="en-US"/>
          </a:p>
        </p:txBody>
      </p:sp>
      <p:sp>
        <p:nvSpPr>
          <p:cNvPr id="19" name="Text 14"/>
          <p:cNvSpPr/>
          <p:nvPr/>
        </p:nvSpPr>
        <p:spPr>
          <a:xfrm>
            <a:off x="1645920" y="3739896"/>
            <a:ext cx="7772400" cy="365760"/>
          </a:xfrm>
          <a:prstGeom prst="rect">
            <a:avLst/>
          </a:prstGeom>
          <a:noFill/>
          <a:ln/>
        </p:spPr>
        <p:txBody>
          <a:bodyPr wrap="square" lIns="0" tIns="0" rIns="0" bIns="0" rtlCol="0" anchor="ctr"/>
          <a:lstStyle/>
          <a:p>
            <a:pPr marL="0" indent="0">
              <a:buNone/>
            </a:pPr>
            <a:r>
              <a:rPr lang="en-US" sz="1800" b="1" dirty="0">
                <a:solidFill>
                  <a:srgbClr val="1A1A1A"/>
                </a:solidFill>
                <a:latin typeface="Calibri" pitchFamily="34" charset="0"/>
                <a:ea typeface="Calibri" pitchFamily="34" charset="-122"/>
                <a:cs typeface="Calibri" pitchFamily="34" charset="-120"/>
              </a:rPr>
              <a:t>Three stakeholders, three hypotheses</a:t>
            </a:r>
            <a:endParaRPr lang="en-US" sz="1800" dirty="0"/>
          </a:p>
        </p:txBody>
      </p:sp>
      <p:sp>
        <p:nvSpPr>
          <p:cNvPr id="20" name="Text 15"/>
          <p:cNvSpPr/>
          <p:nvPr/>
        </p:nvSpPr>
        <p:spPr>
          <a:xfrm>
            <a:off x="1645920" y="4078224"/>
            <a:ext cx="8686800" cy="365760"/>
          </a:xfrm>
          <a:prstGeom prst="rect">
            <a:avLst/>
          </a:prstGeom>
          <a:noFill/>
          <a:ln/>
        </p:spPr>
        <p:txBody>
          <a:bodyPr wrap="square" lIns="0" tIns="0" rIns="0" bIns="0" rtlCol="0" anchor="ctr"/>
          <a:lstStyle/>
          <a:p>
            <a:pPr marL="0" indent="0">
              <a:buNone/>
            </a:pPr>
            <a:r>
              <a:rPr lang="en-US" sz="1400" dirty="0">
                <a:solidFill>
                  <a:srgbClr val="44506B"/>
                </a:solidFill>
                <a:latin typeface="Calibri" pitchFamily="34" charset="0"/>
                <a:ea typeface="Calibri" pitchFamily="34" charset="-122"/>
                <a:cs typeface="Calibri" pitchFamily="34" charset="-120"/>
              </a:rPr>
              <a:t>Scouting, Front Office, and Medical/Performance staff</a:t>
            </a:r>
            <a:endParaRPr lang="en-US" sz="1400" dirty="0">
              <a:solidFill>
                <a:srgbClr val="44506B"/>
              </a:solidFill>
            </a:endParaRPr>
          </a:p>
        </p:txBody>
      </p:sp>
      <p:sp>
        <p:nvSpPr>
          <p:cNvPr id="21" name="Shape 16"/>
          <p:cNvSpPr/>
          <p:nvPr/>
        </p:nvSpPr>
        <p:spPr>
          <a:xfrm>
            <a:off x="681228" y="4512564"/>
            <a:ext cx="850392" cy="850392"/>
          </a:xfrm>
          <a:prstGeom prst="ellipse">
            <a:avLst/>
          </a:prstGeom>
          <a:solidFill>
            <a:srgbClr val="0F1B3D">
              <a:alpha val="20000"/>
            </a:srgbClr>
          </a:solidFill>
          <a:ln/>
        </p:spPr>
        <p:txBody>
          <a:bodyPr/>
          <a:lstStyle/>
          <a:p>
            <a:endParaRPr lang="en-US"/>
          </a:p>
        </p:txBody>
      </p:sp>
      <p:sp>
        <p:nvSpPr>
          <p:cNvPr id="22" name="Shape 17"/>
          <p:cNvSpPr/>
          <p:nvPr/>
        </p:nvSpPr>
        <p:spPr>
          <a:xfrm>
            <a:off x="822960" y="4654296"/>
            <a:ext cx="566928" cy="566928"/>
          </a:xfrm>
          <a:prstGeom prst="ellipse">
            <a:avLst/>
          </a:prstGeom>
          <a:solidFill>
            <a:srgbClr val="1F7A4D"/>
          </a:solidFill>
          <a:ln/>
        </p:spPr>
        <p:txBody>
          <a:bodyPr/>
          <a:lstStyle/>
          <a:p>
            <a:endParaRPr lang="en-US"/>
          </a:p>
        </p:txBody>
      </p:sp>
      <p:sp>
        <p:nvSpPr>
          <p:cNvPr id="24" name="Text 18"/>
          <p:cNvSpPr/>
          <p:nvPr/>
        </p:nvSpPr>
        <p:spPr>
          <a:xfrm>
            <a:off x="1645920" y="4636008"/>
            <a:ext cx="7772400" cy="365760"/>
          </a:xfrm>
          <a:prstGeom prst="rect">
            <a:avLst/>
          </a:prstGeom>
          <a:noFill/>
          <a:ln/>
        </p:spPr>
        <p:txBody>
          <a:bodyPr wrap="square" lIns="0" tIns="0" rIns="0" bIns="0" rtlCol="0" anchor="ctr"/>
          <a:lstStyle/>
          <a:p>
            <a:pPr marL="0" indent="0">
              <a:buNone/>
            </a:pPr>
            <a:r>
              <a:rPr lang="en-US" sz="1800" b="1" dirty="0">
                <a:solidFill>
                  <a:srgbClr val="1A1A1A"/>
                </a:solidFill>
                <a:latin typeface="Calibri" pitchFamily="34" charset="0"/>
                <a:ea typeface="Calibri" pitchFamily="34" charset="-122"/>
                <a:cs typeface="Calibri" pitchFamily="34" charset="-120"/>
              </a:rPr>
              <a:t>What the results mean</a:t>
            </a:r>
            <a:endParaRPr lang="en-US" sz="1800" dirty="0"/>
          </a:p>
        </p:txBody>
      </p:sp>
      <p:sp>
        <p:nvSpPr>
          <p:cNvPr id="25" name="Text 19"/>
          <p:cNvSpPr/>
          <p:nvPr/>
        </p:nvSpPr>
        <p:spPr>
          <a:xfrm>
            <a:off x="1645920" y="4974336"/>
            <a:ext cx="8686800" cy="365760"/>
          </a:xfrm>
          <a:prstGeom prst="rect">
            <a:avLst/>
          </a:prstGeom>
          <a:noFill/>
          <a:ln/>
        </p:spPr>
        <p:txBody>
          <a:bodyPr wrap="square" lIns="0" tIns="0" rIns="0" bIns="0" rtlCol="0" anchor="ctr"/>
          <a:lstStyle/>
          <a:p>
            <a:pPr marL="0" indent="0">
              <a:buNone/>
            </a:pPr>
            <a:r>
              <a:rPr lang="en-US" sz="1400" dirty="0">
                <a:solidFill>
                  <a:srgbClr val="44506B"/>
                </a:solidFill>
                <a:latin typeface="Calibri" pitchFamily="34" charset="0"/>
                <a:ea typeface="Calibri" pitchFamily="34" charset="-122"/>
                <a:cs typeface="Calibri" pitchFamily="34" charset="-120"/>
              </a:rPr>
              <a:t>Honest findings, and the data's real limits</a:t>
            </a:r>
            <a:endParaRPr lang="en-US" sz="1400" dirty="0">
              <a:solidFill>
                <a:srgbClr val="44506B"/>
              </a:solidFill>
            </a:endParaRPr>
          </a:p>
        </p:txBody>
      </p:sp>
      <p:sp>
        <p:nvSpPr>
          <p:cNvPr id="26" name="Shape 20"/>
          <p:cNvSpPr/>
          <p:nvPr/>
        </p:nvSpPr>
        <p:spPr>
          <a:xfrm>
            <a:off x="681228" y="5408676"/>
            <a:ext cx="850392" cy="850392"/>
          </a:xfrm>
          <a:prstGeom prst="ellipse">
            <a:avLst/>
          </a:prstGeom>
          <a:solidFill>
            <a:srgbClr val="0F1B3D">
              <a:alpha val="20000"/>
            </a:srgbClr>
          </a:solidFill>
          <a:ln/>
        </p:spPr>
        <p:txBody>
          <a:bodyPr/>
          <a:lstStyle/>
          <a:p>
            <a:endParaRPr lang="en-US"/>
          </a:p>
        </p:txBody>
      </p:sp>
      <p:sp>
        <p:nvSpPr>
          <p:cNvPr id="27" name="Shape 21"/>
          <p:cNvSpPr/>
          <p:nvPr/>
        </p:nvSpPr>
        <p:spPr>
          <a:xfrm>
            <a:off x="822960" y="5550408"/>
            <a:ext cx="566928" cy="566928"/>
          </a:xfrm>
          <a:prstGeom prst="ellipse">
            <a:avLst/>
          </a:prstGeom>
          <a:solidFill>
            <a:srgbClr val="1F7A4D"/>
          </a:solidFill>
          <a:ln/>
        </p:spPr>
        <p:txBody>
          <a:bodyPr/>
          <a:lstStyle/>
          <a:p>
            <a:endParaRPr lang="en-US"/>
          </a:p>
        </p:txBody>
      </p:sp>
      <p:sp>
        <p:nvSpPr>
          <p:cNvPr id="29" name="Text 22"/>
          <p:cNvSpPr/>
          <p:nvPr/>
        </p:nvSpPr>
        <p:spPr>
          <a:xfrm>
            <a:off x="1645920" y="5532120"/>
            <a:ext cx="7772400" cy="365760"/>
          </a:xfrm>
          <a:prstGeom prst="rect">
            <a:avLst/>
          </a:prstGeom>
          <a:noFill/>
          <a:ln/>
        </p:spPr>
        <p:txBody>
          <a:bodyPr wrap="square" lIns="0" tIns="0" rIns="0" bIns="0" rtlCol="0" anchor="ctr"/>
          <a:lstStyle/>
          <a:p>
            <a:pPr marL="0" indent="0">
              <a:buNone/>
            </a:pPr>
            <a:r>
              <a:rPr lang="en-US" sz="1800" b="1" dirty="0">
                <a:solidFill>
                  <a:srgbClr val="1A1A1A"/>
                </a:solidFill>
                <a:latin typeface="Calibri" pitchFamily="34" charset="0"/>
                <a:ea typeface="Calibri" pitchFamily="34" charset="-122"/>
                <a:cs typeface="Calibri" pitchFamily="34" charset="-120"/>
              </a:rPr>
              <a:t>Live in Tableau</a:t>
            </a:r>
            <a:endParaRPr lang="en-US" sz="1800" dirty="0"/>
          </a:p>
        </p:txBody>
      </p:sp>
      <p:sp>
        <p:nvSpPr>
          <p:cNvPr id="30" name="Text 23"/>
          <p:cNvSpPr/>
          <p:nvPr/>
        </p:nvSpPr>
        <p:spPr>
          <a:xfrm>
            <a:off x="1645920" y="5870448"/>
            <a:ext cx="8686800" cy="365760"/>
          </a:xfrm>
          <a:prstGeom prst="rect">
            <a:avLst/>
          </a:prstGeom>
          <a:noFill/>
          <a:ln/>
        </p:spPr>
        <p:txBody>
          <a:bodyPr wrap="square" lIns="0" tIns="0" rIns="0" bIns="0" rtlCol="0" anchor="ctr"/>
          <a:lstStyle/>
          <a:p>
            <a:pPr marL="0" indent="0">
              <a:buNone/>
            </a:pPr>
            <a:r>
              <a:rPr lang="en-US" sz="1400" dirty="0">
                <a:solidFill>
                  <a:srgbClr val="44506B"/>
                </a:solidFill>
                <a:latin typeface="Calibri" pitchFamily="34" charset="0"/>
                <a:ea typeface="Calibri" pitchFamily="34" charset="-122"/>
                <a:cs typeface="Calibri" pitchFamily="34" charset="-120"/>
              </a:rPr>
              <a:t>Interactive dashboards for hands-on exploration</a:t>
            </a:r>
            <a:endParaRPr lang="en-US" sz="1400" dirty="0">
              <a:solidFill>
                <a:srgbClr val="44506B"/>
              </a:solidFill>
            </a:endParaRPr>
          </a:p>
        </p:txBody>
      </p:sp>
      <p:sp>
        <p:nvSpPr>
          <p:cNvPr id="31" name="Text 24"/>
          <p:cNvSpPr/>
          <p:nvPr/>
        </p:nvSpPr>
        <p:spPr>
          <a:xfrm>
            <a:off x="11368735" y="6400800"/>
            <a:ext cx="548640" cy="274320"/>
          </a:xfrm>
          <a:prstGeom prst="rect">
            <a:avLst/>
          </a:prstGeom>
          <a:noFill/>
          <a:ln/>
        </p:spPr>
        <p:txBody>
          <a:bodyPr wrap="square" lIns="0" tIns="0" rIns="0" bIns="0" rtlCol="0" anchor="ctr"/>
          <a:lstStyle/>
          <a:p>
            <a:pPr marL="0" indent="0" algn="r">
              <a:buNone/>
            </a:pPr>
            <a:r>
              <a:rPr lang="en-US" sz="1400" dirty="0">
                <a:solidFill>
                  <a:srgbClr val="5A6478"/>
                </a:solidFill>
                <a:latin typeface="Calibri" pitchFamily="34" charset="0"/>
                <a:ea typeface="Calibri" pitchFamily="34" charset="-122"/>
                <a:cs typeface="Calibri" pitchFamily="34" charset="-120"/>
              </a:rPr>
              <a:t>02</a:t>
            </a:r>
            <a:endParaRPr lang="en-US" sz="1400" dirty="0">
              <a:solidFill>
                <a:srgbClr val="5A6478"/>
              </a:solidFill>
            </a:endParaRPr>
          </a:p>
        </p:txBody>
      </p:sp>
      <p:sp>
        <p:nvSpPr>
          <p:cNvPr id="32" name="Oval 31">
            <a:extLst>
              <a:ext uri="{FF2B5EF4-FFF2-40B4-BE49-F238E27FC236}">
                <a16:creationId xmlns:a16="http://schemas.microsoft.com/office/drawing/2014/main" id="{F5A076CA-510D-4B5E-B6B8-7B738B02C131}"/>
              </a:ext>
            </a:extLst>
          </p:cNvPr>
          <p:cNvSpPr/>
          <p:nvPr/>
        </p:nvSpPr>
        <p:spPr>
          <a:xfrm>
            <a:off x="7848600" y="838200"/>
            <a:ext cx="3886200" cy="3886200"/>
          </a:xfrm>
          <a:prstGeom prst="ellipse">
            <a:avLst/>
          </a:prstGeom>
          <a:noFill/>
          <a:ln w="15875" cap="flat" cmpd="sng" algn="ctr">
            <a:solidFill>
              <a:srgbClr val="DBE3E9"/>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3" name="Oval 32">
            <a:extLst>
              <a:ext uri="{FF2B5EF4-FFF2-40B4-BE49-F238E27FC236}">
                <a16:creationId xmlns:a16="http://schemas.microsoft.com/office/drawing/2014/main" id="{457D5D88-83BC-43B2-9052-8146FEEC2F7E}"/>
              </a:ext>
            </a:extLst>
          </p:cNvPr>
          <p:cNvSpPr/>
          <p:nvPr/>
        </p:nvSpPr>
        <p:spPr>
          <a:xfrm>
            <a:off x="8890000" y="1879600"/>
            <a:ext cx="1803400" cy="1803400"/>
          </a:xfrm>
          <a:prstGeom prst="ellipse">
            <a:avLst/>
          </a:prstGeom>
          <a:noFill/>
          <a:ln w="12700" cap="flat" cmpd="sng" algn="ctr">
            <a:solidFill>
              <a:srgbClr val="E4EAEF"/>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4" name="Oval 33">
            <a:extLst>
              <a:ext uri="{FF2B5EF4-FFF2-40B4-BE49-F238E27FC236}">
                <a16:creationId xmlns:a16="http://schemas.microsoft.com/office/drawing/2014/main" id="{E533577B-8158-4A70-AB66-10A8BA222978}"/>
              </a:ext>
            </a:extLst>
          </p:cNvPr>
          <p:cNvSpPr/>
          <p:nvPr/>
        </p:nvSpPr>
        <p:spPr>
          <a:xfrm>
            <a:off x="9728200" y="2717800"/>
            <a:ext cx="127000" cy="127000"/>
          </a:xfrm>
          <a:prstGeom prst="ellipse">
            <a:avLst/>
          </a:prstGeom>
          <a:solidFill>
            <a:srgbClr val="E8A33D"/>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pic>
        <p:nvPicPr>
          <p:cNvPr id="35" name="Graphic 35" descr="Soccer ball icon"/>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39800" y="2082800"/>
            <a:ext cx="330200" cy="330200"/>
          </a:xfrm>
          <a:prstGeom prst="rect">
            <a:avLst/>
          </a:prstGeom>
        </p:spPr>
      </p:pic>
      <p:pic>
        <p:nvPicPr>
          <p:cNvPr id="36" name="Graphic 36" descr="Soccer player icon"/>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939800" y="2971800"/>
            <a:ext cx="330200" cy="330200"/>
          </a:xfrm>
          <a:prstGeom prst="rect">
            <a:avLst/>
          </a:prstGeom>
        </p:spPr>
      </p:pic>
      <p:pic>
        <p:nvPicPr>
          <p:cNvPr id="37" name="Graphic 37" descr="Soccer goal icon"/>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939800" y="3873500"/>
            <a:ext cx="330200" cy="330200"/>
          </a:xfrm>
          <a:prstGeom prst="rect">
            <a:avLst/>
          </a:prstGeom>
        </p:spPr>
      </p:pic>
      <p:pic>
        <p:nvPicPr>
          <p:cNvPr id="38" name="Graphic 38" descr="Whistle icon"/>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939800" y="4762500"/>
            <a:ext cx="330200" cy="330200"/>
          </a:xfrm>
          <a:prstGeom prst="rect">
            <a:avLst/>
          </a:prstGeom>
        </p:spPr>
      </p:pic>
      <p:pic>
        <p:nvPicPr>
          <p:cNvPr id="39" name="Graphic 39" descr="Trophy icon"/>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939800" y="5664200"/>
            <a:ext cx="330200" cy="330200"/>
          </a:xfrm>
          <a:prstGeom prst="rect">
            <a:avLst/>
          </a:prstGeom>
        </p:spPr>
      </p:pic>
    </p:spTree>
    <p:extLst>
      <p:ext uri="{BB962C8B-B14F-4D97-AF65-F5344CB8AC3E}">
        <p14:creationId xmlns:p14="http://schemas.microsoft.com/office/powerpoint/2010/main" val="3778726213"/>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par>
                                <p:cTn id="8" presetID="10" presetClass="entr" presetSubtype="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500"/>
                                        <p:tgtEl>
                                          <p:spTgt spid="7"/>
                                        </p:tgtEl>
                                      </p:cBhvr>
                                    </p:animEffect>
                                  </p:childTnLst>
                                </p:cTn>
                              </p:par>
                              <p:par>
                                <p:cTn id="11" presetID="10"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500"/>
                                        <p:tgtEl>
                                          <p:spTgt spid="9"/>
                                        </p:tgtEl>
                                      </p:cBhvr>
                                    </p:animEffect>
                                  </p:childTnLst>
                                </p:cTn>
                              </p:par>
                              <p:par>
                                <p:cTn id="14" presetID="10" presetClass="entr" presetSubtype="0" fill="hold"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00"/>
                                        <p:tgtEl>
                                          <p:spTgt spid="10"/>
                                        </p:tgtEl>
                                      </p:cBhvr>
                                    </p:animEffect>
                                  </p:childTnLst>
                                </p:cTn>
                              </p:par>
                            </p:childTnLst>
                          </p:cTn>
                        </p:par>
                      </p:childTnLst>
                    </p:cTn>
                  </p:par>
                  <p:par>
                    <p:cTn id="17" fill="hold">
                      <p:stCondLst>
                        <p:cond delay="250"/>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fade">
                                      <p:cBhvr>
                                        <p:cTn id="21" dur="500"/>
                                        <p:tgtEl>
                                          <p:spTgt spid="11"/>
                                        </p:tgtEl>
                                      </p:cBhvr>
                                    </p:animEffect>
                                  </p:childTnLst>
                                </p:cTn>
                              </p:par>
                              <p:par>
                                <p:cTn id="22" presetID="10" presetClass="entr" presetSubtype="0" fill="hold" nodeType="with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500"/>
                                        <p:tgtEl>
                                          <p:spTgt spid="12"/>
                                        </p:tgtEl>
                                      </p:cBhvr>
                                    </p:animEffect>
                                  </p:childTnLst>
                                </p:cTn>
                              </p:par>
                              <p:par>
                                <p:cTn id="25" presetID="10" presetClass="entr" presetSubtype="0" fill="hold" nodeType="withEffect">
                                  <p:stCondLst>
                                    <p:cond delay="0"/>
                                  </p:stCondLst>
                                  <p:childTnLst>
                                    <p:set>
                                      <p:cBhvr>
                                        <p:cTn id="26" dur="1" fill="hold">
                                          <p:stCondLst>
                                            <p:cond delay="0"/>
                                          </p:stCondLst>
                                        </p:cTn>
                                        <p:tgtEl>
                                          <p:spTgt spid="14"/>
                                        </p:tgtEl>
                                        <p:attrNameLst>
                                          <p:attrName>style.visibility</p:attrName>
                                        </p:attrNameLst>
                                      </p:cBhvr>
                                      <p:to>
                                        <p:strVal val="visible"/>
                                      </p:to>
                                    </p:set>
                                    <p:animEffect transition="in" filter="fade">
                                      <p:cBhvr>
                                        <p:cTn id="27" dur="500"/>
                                        <p:tgtEl>
                                          <p:spTgt spid="14"/>
                                        </p:tgtEl>
                                      </p:cBhvr>
                                    </p:animEffect>
                                  </p:childTnLst>
                                </p:cTn>
                              </p:par>
                              <p:par>
                                <p:cTn id="28" presetID="10" presetClass="entr" presetSubtype="0" fill="hold" nodeType="withEffect">
                                  <p:stCondLst>
                                    <p:cond delay="0"/>
                                  </p:stCondLst>
                                  <p:childTnLst>
                                    <p:set>
                                      <p:cBhvr>
                                        <p:cTn id="29" dur="1" fill="hold">
                                          <p:stCondLst>
                                            <p:cond delay="0"/>
                                          </p:stCondLst>
                                        </p:cTn>
                                        <p:tgtEl>
                                          <p:spTgt spid="15"/>
                                        </p:tgtEl>
                                        <p:attrNameLst>
                                          <p:attrName>style.visibility</p:attrName>
                                        </p:attrNameLst>
                                      </p:cBhvr>
                                      <p:to>
                                        <p:strVal val="visible"/>
                                      </p:to>
                                    </p:set>
                                    <p:animEffect transition="in" filter="fade">
                                      <p:cBhvr>
                                        <p:cTn id="30" dur="500"/>
                                        <p:tgtEl>
                                          <p:spTgt spid="15"/>
                                        </p:tgtEl>
                                      </p:cBhvr>
                                    </p:animEffect>
                                  </p:childTnLst>
                                </p:cTn>
                              </p:par>
                            </p:childTnLst>
                          </p:cTn>
                        </p:par>
                      </p:childTnLst>
                    </p:cTn>
                  </p:par>
                  <p:par>
                    <p:cTn id="31" fill="hold">
                      <p:stCondLst>
                        <p:cond delay="250"/>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500"/>
                                        <p:tgtEl>
                                          <p:spTgt spid="16"/>
                                        </p:tgtEl>
                                      </p:cBhvr>
                                    </p:animEffect>
                                  </p:childTnLst>
                                </p:cTn>
                              </p:par>
                              <p:par>
                                <p:cTn id="36" presetID="10" presetClass="entr" presetSubtype="0" fill="hold" nodeType="withEffect">
                                  <p:stCondLst>
                                    <p:cond delay="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500"/>
                                        <p:tgtEl>
                                          <p:spTgt spid="17"/>
                                        </p:tgtEl>
                                      </p:cBhvr>
                                    </p:animEffect>
                                  </p:childTnLst>
                                </p:cTn>
                              </p:par>
                              <p:par>
                                <p:cTn id="39" presetID="10" presetClass="entr" presetSubtype="0" fill="hold" nodeType="withEffect">
                                  <p:stCondLst>
                                    <p:cond delay="0"/>
                                  </p:stCondLst>
                                  <p:childTnLst>
                                    <p:set>
                                      <p:cBhvr>
                                        <p:cTn id="40" dur="1" fill="hold">
                                          <p:stCondLst>
                                            <p:cond delay="0"/>
                                          </p:stCondLst>
                                        </p:cTn>
                                        <p:tgtEl>
                                          <p:spTgt spid="19"/>
                                        </p:tgtEl>
                                        <p:attrNameLst>
                                          <p:attrName>style.visibility</p:attrName>
                                        </p:attrNameLst>
                                      </p:cBhvr>
                                      <p:to>
                                        <p:strVal val="visible"/>
                                      </p:to>
                                    </p:set>
                                    <p:animEffect transition="in" filter="fade">
                                      <p:cBhvr>
                                        <p:cTn id="41" dur="500"/>
                                        <p:tgtEl>
                                          <p:spTgt spid="19"/>
                                        </p:tgtEl>
                                      </p:cBhvr>
                                    </p:animEffect>
                                  </p:childTnLst>
                                </p:cTn>
                              </p:par>
                              <p:par>
                                <p:cTn id="42" presetID="10" presetClass="entr" presetSubtype="0" fill="hold" nodeType="with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500"/>
                                        <p:tgtEl>
                                          <p:spTgt spid="20"/>
                                        </p:tgtEl>
                                      </p:cBhvr>
                                    </p:animEffect>
                                  </p:childTnLst>
                                </p:cTn>
                              </p:par>
                            </p:childTnLst>
                          </p:cTn>
                        </p:par>
                      </p:childTnLst>
                    </p:cTn>
                  </p:par>
                  <p:par>
                    <p:cTn id="45" fill="hold">
                      <p:stCondLst>
                        <p:cond delay="250"/>
                      </p:stCondLst>
                      <p:childTnLst>
                        <p:par>
                          <p:cTn id="46" fill="hold">
                            <p:stCondLst>
                              <p:cond delay="0"/>
                            </p:stCondLst>
                            <p:childTnLst>
                              <p:par>
                                <p:cTn id="47" presetID="10" presetClass="entr" presetSubtype="0" fill="hold" nodeType="clickEffect">
                                  <p:stCondLst>
                                    <p:cond delay="0"/>
                                  </p:stCondLst>
                                  <p:childTnLst>
                                    <p:set>
                                      <p:cBhvr>
                                        <p:cTn id="48" dur="1" fill="hold">
                                          <p:stCondLst>
                                            <p:cond delay="0"/>
                                          </p:stCondLst>
                                        </p:cTn>
                                        <p:tgtEl>
                                          <p:spTgt spid="21"/>
                                        </p:tgtEl>
                                        <p:attrNameLst>
                                          <p:attrName>style.visibility</p:attrName>
                                        </p:attrNameLst>
                                      </p:cBhvr>
                                      <p:to>
                                        <p:strVal val="visible"/>
                                      </p:to>
                                    </p:set>
                                    <p:animEffect transition="in" filter="fade">
                                      <p:cBhvr>
                                        <p:cTn id="49" dur="500"/>
                                        <p:tgtEl>
                                          <p:spTgt spid="21"/>
                                        </p:tgtEl>
                                      </p:cBhvr>
                                    </p:animEffect>
                                  </p:childTnLst>
                                </p:cTn>
                              </p:par>
                              <p:par>
                                <p:cTn id="50" presetID="10" presetClass="entr" presetSubtype="0" fill="hold" nodeType="withEffect">
                                  <p:stCondLst>
                                    <p:cond delay="0"/>
                                  </p:stCondLst>
                                  <p:childTnLst>
                                    <p:set>
                                      <p:cBhvr>
                                        <p:cTn id="51" dur="1" fill="hold">
                                          <p:stCondLst>
                                            <p:cond delay="0"/>
                                          </p:stCondLst>
                                        </p:cTn>
                                        <p:tgtEl>
                                          <p:spTgt spid="22"/>
                                        </p:tgtEl>
                                        <p:attrNameLst>
                                          <p:attrName>style.visibility</p:attrName>
                                        </p:attrNameLst>
                                      </p:cBhvr>
                                      <p:to>
                                        <p:strVal val="visible"/>
                                      </p:to>
                                    </p:set>
                                    <p:animEffect transition="in" filter="fade">
                                      <p:cBhvr>
                                        <p:cTn id="52" dur="500"/>
                                        <p:tgtEl>
                                          <p:spTgt spid="22"/>
                                        </p:tgtEl>
                                      </p:cBhvr>
                                    </p:animEffect>
                                  </p:childTnLst>
                                </p:cTn>
                              </p:par>
                              <p:par>
                                <p:cTn id="53" presetID="10" presetClass="entr" presetSubtype="0" fill="hold" nodeType="withEffect">
                                  <p:stCondLst>
                                    <p:cond delay="0"/>
                                  </p:stCondLst>
                                  <p:childTnLst>
                                    <p:set>
                                      <p:cBhvr>
                                        <p:cTn id="54" dur="1" fill="hold">
                                          <p:stCondLst>
                                            <p:cond delay="0"/>
                                          </p:stCondLst>
                                        </p:cTn>
                                        <p:tgtEl>
                                          <p:spTgt spid="24"/>
                                        </p:tgtEl>
                                        <p:attrNameLst>
                                          <p:attrName>style.visibility</p:attrName>
                                        </p:attrNameLst>
                                      </p:cBhvr>
                                      <p:to>
                                        <p:strVal val="visible"/>
                                      </p:to>
                                    </p:set>
                                    <p:animEffect transition="in" filter="fade">
                                      <p:cBhvr>
                                        <p:cTn id="55" dur="500"/>
                                        <p:tgtEl>
                                          <p:spTgt spid="24"/>
                                        </p:tgtEl>
                                      </p:cBhvr>
                                    </p:animEffect>
                                  </p:childTnLst>
                                </p:cTn>
                              </p:par>
                              <p:par>
                                <p:cTn id="56" presetID="10" presetClass="entr" presetSubtype="0" fill="hold" nodeType="withEffect">
                                  <p:stCondLst>
                                    <p:cond delay="0"/>
                                  </p:stCondLst>
                                  <p:childTnLst>
                                    <p:set>
                                      <p:cBhvr>
                                        <p:cTn id="57" dur="1" fill="hold">
                                          <p:stCondLst>
                                            <p:cond delay="0"/>
                                          </p:stCondLst>
                                        </p:cTn>
                                        <p:tgtEl>
                                          <p:spTgt spid="25"/>
                                        </p:tgtEl>
                                        <p:attrNameLst>
                                          <p:attrName>style.visibility</p:attrName>
                                        </p:attrNameLst>
                                      </p:cBhvr>
                                      <p:to>
                                        <p:strVal val="visible"/>
                                      </p:to>
                                    </p:set>
                                    <p:animEffect transition="in" filter="fade">
                                      <p:cBhvr>
                                        <p:cTn id="58" dur="500"/>
                                        <p:tgtEl>
                                          <p:spTgt spid="25"/>
                                        </p:tgtEl>
                                      </p:cBhvr>
                                    </p:animEffect>
                                  </p:childTnLst>
                                </p:cTn>
                              </p:par>
                            </p:childTnLst>
                          </p:cTn>
                        </p:par>
                      </p:childTnLst>
                    </p:cTn>
                  </p:par>
                  <p:par>
                    <p:cTn id="59" fill="hold">
                      <p:stCondLst>
                        <p:cond delay="250"/>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26"/>
                                        </p:tgtEl>
                                        <p:attrNameLst>
                                          <p:attrName>style.visibility</p:attrName>
                                        </p:attrNameLst>
                                      </p:cBhvr>
                                      <p:to>
                                        <p:strVal val="visible"/>
                                      </p:to>
                                    </p:set>
                                    <p:animEffect transition="in" filter="fade">
                                      <p:cBhvr>
                                        <p:cTn id="63" dur="500"/>
                                        <p:tgtEl>
                                          <p:spTgt spid="26"/>
                                        </p:tgtEl>
                                      </p:cBhvr>
                                    </p:animEffect>
                                  </p:childTnLst>
                                </p:cTn>
                              </p:par>
                              <p:par>
                                <p:cTn id="64" presetID="10" presetClass="entr" presetSubtype="0" fill="hold" nodeType="withEffect">
                                  <p:stCondLst>
                                    <p:cond delay="0"/>
                                  </p:stCondLst>
                                  <p:childTnLst>
                                    <p:set>
                                      <p:cBhvr>
                                        <p:cTn id="65" dur="1" fill="hold">
                                          <p:stCondLst>
                                            <p:cond delay="0"/>
                                          </p:stCondLst>
                                        </p:cTn>
                                        <p:tgtEl>
                                          <p:spTgt spid="27"/>
                                        </p:tgtEl>
                                        <p:attrNameLst>
                                          <p:attrName>style.visibility</p:attrName>
                                        </p:attrNameLst>
                                      </p:cBhvr>
                                      <p:to>
                                        <p:strVal val="visible"/>
                                      </p:to>
                                    </p:set>
                                    <p:animEffect transition="in" filter="fade">
                                      <p:cBhvr>
                                        <p:cTn id="66" dur="500"/>
                                        <p:tgtEl>
                                          <p:spTgt spid="27"/>
                                        </p:tgtEl>
                                      </p:cBhvr>
                                    </p:animEffect>
                                  </p:childTnLst>
                                </p:cTn>
                              </p:par>
                              <p:par>
                                <p:cTn id="67" presetID="10" presetClass="entr" presetSubtype="0" fill="hold" nodeType="withEffect">
                                  <p:stCondLst>
                                    <p:cond delay="0"/>
                                  </p:stCondLst>
                                  <p:childTnLst>
                                    <p:set>
                                      <p:cBhvr>
                                        <p:cTn id="68" dur="1" fill="hold">
                                          <p:stCondLst>
                                            <p:cond delay="0"/>
                                          </p:stCondLst>
                                        </p:cTn>
                                        <p:tgtEl>
                                          <p:spTgt spid="29"/>
                                        </p:tgtEl>
                                        <p:attrNameLst>
                                          <p:attrName>style.visibility</p:attrName>
                                        </p:attrNameLst>
                                      </p:cBhvr>
                                      <p:to>
                                        <p:strVal val="visible"/>
                                      </p:to>
                                    </p:set>
                                    <p:animEffect transition="in" filter="fade">
                                      <p:cBhvr>
                                        <p:cTn id="69" dur="500"/>
                                        <p:tgtEl>
                                          <p:spTgt spid="29"/>
                                        </p:tgtEl>
                                      </p:cBhvr>
                                    </p:animEffect>
                                  </p:childTnLst>
                                </p:cTn>
                              </p:par>
                              <p:par>
                                <p:cTn id="70" presetID="10" presetClass="entr" presetSubtype="0" fill="hold" nodeType="withEffect">
                                  <p:stCondLst>
                                    <p:cond delay="0"/>
                                  </p:stCondLst>
                                  <p:childTnLst>
                                    <p:set>
                                      <p:cBhvr>
                                        <p:cTn id="71" dur="1" fill="hold">
                                          <p:stCondLst>
                                            <p:cond delay="0"/>
                                          </p:stCondLst>
                                        </p:cTn>
                                        <p:tgtEl>
                                          <p:spTgt spid="30"/>
                                        </p:tgtEl>
                                        <p:attrNameLst>
                                          <p:attrName>style.visibility</p:attrName>
                                        </p:attrNameLst>
                                      </p:cBhvr>
                                      <p:to>
                                        <p:strVal val="visible"/>
                                      </p:to>
                                    </p:set>
                                    <p:animEffect transition="in" filter="fade">
                                      <p:cBhvr>
                                        <p:cTn id="72" dur="5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1B3D"/>
        </a:solidFill>
        <a:effectLst/>
      </p:bgPr>
    </p:bg>
    <p:spTree>
      <p:nvGrpSpPr>
        <p:cNvPr id="1" name=""/>
        <p:cNvGrpSpPr/>
        <p:nvPr/>
      </p:nvGrpSpPr>
      <p:grpSpPr>
        <a:xfrm>
          <a:off x="0" y="0"/>
          <a:ext cx="0" cy="0"/>
          <a:chOff x="0" y="0"/>
          <a:chExt cx="0" cy="0"/>
        </a:xfrm>
      </p:grpSpPr>
      <p:sp>
        <p:nvSpPr>
          <p:cNvPr id="2" name="Shape 0"/>
          <p:cNvSpPr/>
          <p:nvPr/>
        </p:nvSpPr>
        <p:spPr>
          <a:xfrm>
            <a:off x="-365760" y="-365760"/>
            <a:ext cx="731520" cy="731520"/>
          </a:xfrm>
          <a:prstGeom prst="ellipse">
            <a:avLst/>
          </a:prstGeom>
          <a:ln w="19050">
            <a:solidFill>
              <a:srgbClr val="1F7A4D">
                <a:alpha val="45000"/>
              </a:srgbClr>
            </a:solidFill>
            <a:prstDash val="solid"/>
          </a:ln>
        </p:spPr>
        <p:txBody>
          <a:bodyPr/>
          <a:lstStyle/>
          <a:p>
            <a:endParaRPr lang="en-US"/>
          </a:p>
        </p:txBody>
      </p:sp>
      <p:sp>
        <p:nvSpPr>
          <p:cNvPr id="3" name="Shape 1"/>
          <p:cNvSpPr/>
          <p:nvPr/>
        </p:nvSpPr>
        <p:spPr>
          <a:xfrm>
            <a:off x="11825935" y="-365760"/>
            <a:ext cx="731520" cy="731520"/>
          </a:xfrm>
          <a:prstGeom prst="ellipse">
            <a:avLst/>
          </a:prstGeom>
          <a:ln w="19050">
            <a:solidFill>
              <a:srgbClr val="1F7A4D">
                <a:alpha val="45000"/>
              </a:srgbClr>
            </a:solidFill>
            <a:prstDash val="solid"/>
          </a:ln>
        </p:spPr>
        <p:txBody>
          <a:bodyPr/>
          <a:lstStyle/>
          <a:p>
            <a:endParaRPr lang="en-US"/>
          </a:p>
        </p:txBody>
      </p:sp>
      <p:sp>
        <p:nvSpPr>
          <p:cNvPr id="4" name="Shape 2"/>
          <p:cNvSpPr/>
          <p:nvPr/>
        </p:nvSpPr>
        <p:spPr>
          <a:xfrm>
            <a:off x="-365760" y="6492240"/>
            <a:ext cx="731520" cy="731520"/>
          </a:xfrm>
          <a:prstGeom prst="ellipse">
            <a:avLst/>
          </a:prstGeom>
          <a:ln w="19050">
            <a:solidFill>
              <a:srgbClr val="1F7A4D">
                <a:alpha val="45000"/>
              </a:srgbClr>
            </a:solidFill>
            <a:prstDash val="solid"/>
          </a:ln>
        </p:spPr>
        <p:txBody>
          <a:bodyPr/>
          <a:lstStyle/>
          <a:p>
            <a:endParaRPr lang="en-US"/>
          </a:p>
        </p:txBody>
      </p:sp>
      <p:sp>
        <p:nvSpPr>
          <p:cNvPr id="5" name="Shape 3"/>
          <p:cNvSpPr/>
          <p:nvPr/>
        </p:nvSpPr>
        <p:spPr>
          <a:xfrm>
            <a:off x="11825935" y="6492240"/>
            <a:ext cx="731520" cy="731520"/>
          </a:xfrm>
          <a:prstGeom prst="ellipse">
            <a:avLst/>
          </a:prstGeom>
          <a:ln w="19050">
            <a:solidFill>
              <a:srgbClr val="1F7A4D">
                <a:alpha val="45000"/>
              </a:srgbClr>
            </a:solidFill>
            <a:prstDash val="solid"/>
          </a:ln>
        </p:spPr>
        <p:txBody>
          <a:bodyPr/>
          <a:lstStyle/>
          <a:p>
            <a:endParaRPr lang="en-US"/>
          </a:p>
        </p:txBody>
      </p:sp>
      <p:sp>
        <p:nvSpPr>
          <p:cNvPr id="6" name="Shape 4"/>
          <p:cNvSpPr/>
          <p:nvPr/>
        </p:nvSpPr>
        <p:spPr>
          <a:xfrm>
            <a:off x="-1371600" y="5486400"/>
            <a:ext cx="5486400" cy="5486400"/>
          </a:xfrm>
          <a:prstGeom prst="ellipse">
            <a:avLst/>
          </a:prstGeom>
          <a:solidFill>
            <a:srgbClr val="1F7A4D">
              <a:alpha val="5000"/>
            </a:srgbClr>
          </a:solidFill>
          <a:ln w="25400">
            <a:solidFill>
              <a:srgbClr val="1F7A4D">
                <a:alpha val="38000"/>
              </a:srgbClr>
            </a:solidFill>
            <a:prstDash val="solid"/>
          </a:ln>
        </p:spPr>
        <p:txBody>
          <a:bodyPr/>
          <a:lstStyle/>
          <a:p>
            <a:endParaRPr lang="en-US"/>
          </a:p>
        </p:txBody>
      </p:sp>
      <p:sp>
        <p:nvSpPr>
          <p:cNvPr id="7" name="Shape 5"/>
          <p:cNvSpPr/>
          <p:nvPr/>
        </p:nvSpPr>
        <p:spPr>
          <a:xfrm>
            <a:off x="1325880" y="8183880"/>
            <a:ext cx="91440" cy="91440"/>
          </a:xfrm>
          <a:prstGeom prst="ellipse">
            <a:avLst/>
          </a:prstGeom>
          <a:solidFill>
            <a:srgbClr val="E8A33D">
              <a:alpha val="75000"/>
            </a:srgbClr>
          </a:solidFill>
          <a:ln/>
        </p:spPr>
        <p:txBody>
          <a:bodyPr/>
          <a:lstStyle/>
          <a:p>
            <a:endParaRPr lang="en-US"/>
          </a:p>
        </p:txBody>
      </p:sp>
      <p:sp>
        <p:nvSpPr>
          <p:cNvPr id="8" name="Text 6"/>
          <p:cNvSpPr/>
          <p:nvPr/>
        </p:nvSpPr>
        <p:spPr>
          <a:xfrm>
            <a:off x="822960" y="685800"/>
            <a:ext cx="7315200" cy="320040"/>
          </a:xfrm>
          <a:prstGeom prst="rect">
            <a:avLst/>
          </a:prstGeom>
          <a:noFill/>
          <a:ln/>
        </p:spPr>
        <p:txBody>
          <a:bodyPr wrap="square" lIns="0" tIns="0" rIns="0" bIns="0" rtlCol="0" anchor="ctr"/>
          <a:lstStyle/>
          <a:p>
            <a:pPr marL="0" indent="0">
              <a:buNone/>
            </a:pPr>
            <a:r>
              <a:rPr lang="en-US" sz="1400" b="1" kern="0" spc="200" dirty="0">
                <a:solidFill>
                  <a:srgbClr val="E8A33D"/>
                </a:solidFill>
                <a:latin typeface="Calibri" pitchFamily="34" charset="0"/>
                <a:ea typeface="Calibri" pitchFamily="34" charset="-122"/>
                <a:cs typeface="Calibri" pitchFamily="34" charset="-120"/>
              </a:rPr>
              <a:t>THE BUSINESS QUESTION</a:t>
            </a:r>
            <a:endParaRPr lang="en-US" sz="1400" dirty="0"/>
          </a:p>
        </p:txBody>
      </p:sp>
      <p:sp>
        <p:nvSpPr>
          <p:cNvPr id="9" name="Text 7"/>
          <p:cNvSpPr/>
          <p:nvPr/>
        </p:nvSpPr>
        <p:spPr>
          <a:xfrm>
            <a:off x="822960" y="1188720"/>
            <a:ext cx="10332720" cy="1828800"/>
          </a:xfrm>
          <a:prstGeom prst="rect">
            <a:avLst/>
          </a:prstGeom>
          <a:noFill/>
          <a:ln/>
        </p:spPr>
        <p:txBody>
          <a:bodyPr wrap="square" lIns="0" tIns="0" rIns="0" bIns="0" rtlCol="0" anchor="ctr"/>
          <a:lstStyle/>
          <a:p>
            <a:pPr marL="0" indent="0">
              <a:lnSpc>
                <a:spcPct val="125000"/>
              </a:lnSpc>
              <a:buNone/>
            </a:pPr>
            <a:r>
              <a:rPr lang="en-US" sz="2700" b="1" dirty="0">
                <a:solidFill>
                  <a:srgbClr val="FFFFFF"/>
                </a:solidFill>
                <a:latin typeface="Cambria" pitchFamily="34" charset="0"/>
                <a:ea typeface="Cambria" pitchFamily="34" charset="-122"/>
                <a:cs typeface="Cambria" pitchFamily="34" charset="-120"/>
              </a:rPr>
              <a:t>Market value trend alone overstates a player's recruitment worth. </a:t>
            </a:r>
            <a:r>
              <a:rPr lang="en-US" sz="2700" dirty="0">
                <a:solidFill>
                  <a:srgbClr val="CADCFC"/>
                </a:solidFill>
                <a:latin typeface="Cambria" pitchFamily="34" charset="0"/>
                <a:ea typeface="Cambria" pitchFamily="34" charset="-122"/>
                <a:cs typeface="Cambria" pitchFamily="34" charset="-120"/>
              </a:rPr>
              <a:t>Players with rising value </a:t>
            </a:r>
            <a:r>
              <a:rPr lang="en-US" sz="2700" i="1" dirty="0">
                <a:solidFill>
                  <a:srgbClr val="E8A33D"/>
                </a:solidFill>
                <a:latin typeface="Cambria" pitchFamily="34" charset="0"/>
                <a:ea typeface="Cambria" pitchFamily="34" charset="-122"/>
                <a:cs typeface="Cambria" pitchFamily="34" charset="-120"/>
              </a:rPr>
              <a:t>and</a:t>
            </a:r>
            <a:r>
              <a:rPr lang="en-US" sz="2700" dirty="0">
                <a:solidFill>
                  <a:srgbClr val="CADCFC"/>
                </a:solidFill>
                <a:latin typeface="Cambria" pitchFamily="34" charset="0"/>
                <a:ea typeface="Cambria" pitchFamily="34" charset="-122"/>
                <a:cs typeface="Cambria" pitchFamily="34" charset="-120"/>
              </a:rPr>
              <a:t> high injury risk are systematically </a:t>
            </a:r>
            <a:r>
              <a:rPr lang="en-US" sz="2700" b="1" dirty="0">
                <a:solidFill>
                  <a:srgbClr val="E8A33D"/>
                </a:solidFill>
                <a:latin typeface="Cambria" pitchFamily="34" charset="0"/>
                <a:ea typeface="Cambria" pitchFamily="34" charset="-122"/>
                <a:cs typeface="Cambria" pitchFamily="34" charset="-120"/>
              </a:rPr>
              <a:t>over-valued</a:t>
            </a:r>
            <a:r>
              <a:rPr lang="en-US" sz="2700" dirty="0">
                <a:solidFill>
                  <a:srgbClr val="CADCFC"/>
                </a:solidFill>
                <a:latin typeface="Cambria" pitchFamily="34" charset="0"/>
                <a:ea typeface="Cambria" pitchFamily="34" charset="-122"/>
                <a:cs typeface="Cambria" pitchFamily="34" charset="-120"/>
              </a:rPr>
              <a:t> relative to their realistic future output.</a:t>
            </a:r>
            <a:endParaRPr lang="en-US" sz="2700" dirty="0"/>
          </a:p>
        </p:txBody>
      </p:sp>
      <p:sp>
        <p:nvSpPr>
          <p:cNvPr id="10" name="Shape 8"/>
          <p:cNvSpPr/>
          <p:nvPr/>
        </p:nvSpPr>
        <p:spPr>
          <a:xfrm>
            <a:off x="822960" y="3657600"/>
            <a:ext cx="3383280" cy="2331720"/>
          </a:xfrm>
          <a:prstGeom prst="roundRect">
            <a:avLst>
              <a:gd name="adj" fmla="val 3529"/>
            </a:avLst>
          </a:prstGeom>
          <a:solidFill>
            <a:srgbClr val="16264D"/>
          </a:solidFill>
          <a:ln/>
        </p:spPr>
        <p:txBody>
          <a:bodyPr/>
          <a:lstStyle/>
          <a:p>
            <a:endParaRPr lang="en-US"/>
          </a:p>
        </p:txBody>
      </p:sp>
      <p:sp>
        <p:nvSpPr>
          <p:cNvPr id="11" name="Shape 9"/>
          <p:cNvSpPr/>
          <p:nvPr/>
        </p:nvSpPr>
        <p:spPr>
          <a:xfrm>
            <a:off x="964692" y="3762756"/>
            <a:ext cx="685800" cy="685800"/>
          </a:xfrm>
          <a:prstGeom prst="ellipse">
            <a:avLst/>
          </a:prstGeom>
          <a:solidFill>
            <a:srgbClr val="E8A33D">
              <a:alpha val="20000"/>
            </a:srgbClr>
          </a:solidFill>
          <a:ln/>
        </p:spPr>
        <p:txBody>
          <a:bodyPr/>
          <a:lstStyle/>
          <a:p>
            <a:endParaRPr lang="en-US"/>
          </a:p>
        </p:txBody>
      </p:sp>
      <p:sp>
        <p:nvSpPr>
          <p:cNvPr id="12" name="Shape 10"/>
          <p:cNvSpPr/>
          <p:nvPr/>
        </p:nvSpPr>
        <p:spPr>
          <a:xfrm>
            <a:off x="1078992" y="3877056"/>
            <a:ext cx="457200" cy="457200"/>
          </a:xfrm>
          <a:prstGeom prst="ellipse">
            <a:avLst/>
          </a:prstGeom>
          <a:solidFill>
            <a:srgbClr val="E8A33D"/>
          </a:solidFill>
          <a:ln/>
        </p:spPr>
        <p:txBody>
          <a:bodyPr/>
          <a:lstStyle/>
          <a:p>
            <a:endParaRPr lang="en-US"/>
          </a:p>
        </p:txBody>
      </p:sp>
      <p:pic>
        <p:nvPicPr>
          <p:cNvPr id="13" name="Image 0" descr="preencoded.png"/>
          <p:cNvPicPr>
            <a:picLocks noChangeAspect="1"/>
          </p:cNvPicPr>
          <p:nvPr/>
        </p:nvPicPr>
        <p:blipFill>
          <a:blip r:embed="rId3"/>
          <a:stretch>
            <a:fillRect/>
          </a:stretch>
        </p:blipFill>
        <p:spPr>
          <a:xfrm>
            <a:off x="1225296" y="4023360"/>
            <a:ext cx="164592" cy="164592"/>
          </a:xfrm>
          <a:prstGeom prst="rect">
            <a:avLst/>
          </a:prstGeom>
        </p:spPr>
      </p:pic>
      <p:sp>
        <p:nvSpPr>
          <p:cNvPr id="14" name="Text 11"/>
          <p:cNvSpPr/>
          <p:nvPr/>
        </p:nvSpPr>
        <p:spPr>
          <a:xfrm>
            <a:off x="1645920" y="3913632"/>
            <a:ext cx="914400" cy="384048"/>
          </a:xfrm>
          <a:prstGeom prst="rect">
            <a:avLst/>
          </a:prstGeom>
          <a:noFill/>
          <a:ln/>
        </p:spPr>
        <p:txBody>
          <a:bodyPr wrap="square" lIns="0" tIns="0" rIns="0" bIns="0" rtlCol="0" anchor="ctr"/>
          <a:lstStyle/>
          <a:p>
            <a:pPr marL="0" indent="0">
              <a:buNone/>
            </a:pPr>
            <a:r>
              <a:rPr lang="en-US" sz="2000" b="1" dirty="0">
                <a:solidFill>
                  <a:srgbClr val="E8A33D"/>
                </a:solidFill>
                <a:latin typeface="Cambria" pitchFamily="34" charset="0"/>
                <a:ea typeface="Cambria" pitchFamily="34" charset="-122"/>
                <a:cs typeface="Cambria" pitchFamily="34" charset="-120"/>
              </a:rPr>
              <a:t>Q1</a:t>
            </a:r>
            <a:endParaRPr lang="en-US" sz="2000" dirty="0"/>
          </a:p>
        </p:txBody>
      </p:sp>
      <p:sp>
        <p:nvSpPr>
          <p:cNvPr id="15" name="Text 12"/>
          <p:cNvSpPr/>
          <p:nvPr/>
        </p:nvSpPr>
        <p:spPr>
          <a:xfrm>
            <a:off x="1078992" y="4521200"/>
            <a:ext cx="2871216" cy="1270000"/>
          </a:xfrm>
          <a:prstGeom prst="rect">
            <a:avLst/>
          </a:prstGeom>
          <a:noFill/>
          <a:ln/>
        </p:spPr>
        <p:txBody>
          <a:bodyPr wrap="square" lIns="0" tIns="0" rIns="0" bIns="0" rtlCol="0" anchor="t" anchorCtr="0"/>
          <a:lstStyle/>
          <a:p>
            <a:pPr marL="0" indent="0">
              <a:buNone/>
            </a:pPr>
            <a:r>
              <a:rPr lang="en-US" sz="1600" dirty="0">
                <a:solidFill>
                  <a:srgbClr val="D8DFF0"/>
                </a:solidFill>
                <a:latin typeface="Calibri" pitchFamily="34" charset="0"/>
                <a:ea typeface="Calibri" pitchFamily="34" charset="-122"/>
                <a:cs typeface="Calibri" pitchFamily="34" charset="-120"/>
              </a:rPr>
              <a:t>Can we forecast a player's market value trend from age, performance, and appearance data?</a:t>
            </a:r>
            <a:endParaRPr lang="en-US" sz="1600" dirty="0">
              <a:solidFill>
                <a:srgbClr val="D8DFF0"/>
              </a:solidFill>
            </a:endParaRPr>
          </a:p>
        </p:txBody>
      </p:sp>
      <p:sp>
        <p:nvSpPr>
          <p:cNvPr id="16" name="Shape 13"/>
          <p:cNvSpPr/>
          <p:nvPr/>
        </p:nvSpPr>
        <p:spPr>
          <a:xfrm>
            <a:off x="4434840" y="3657600"/>
            <a:ext cx="3383280" cy="2331720"/>
          </a:xfrm>
          <a:prstGeom prst="roundRect">
            <a:avLst>
              <a:gd name="adj" fmla="val 3529"/>
            </a:avLst>
          </a:prstGeom>
          <a:solidFill>
            <a:srgbClr val="16264D"/>
          </a:solidFill>
          <a:ln/>
        </p:spPr>
        <p:txBody>
          <a:bodyPr/>
          <a:lstStyle/>
          <a:p>
            <a:endParaRPr lang="en-US"/>
          </a:p>
        </p:txBody>
      </p:sp>
      <p:sp>
        <p:nvSpPr>
          <p:cNvPr id="17" name="Shape 14"/>
          <p:cNvSpPr/>
          <p:nvPr/>
        </p:nvSpPr>
        <p:spPr>
          <a:xfrm>
            <a:off x="4576572" y="3762756"/>
            <a:ext cx="685800" cy="685800"/>
          </a:xfrm>
          <a:prstGeom prst="ellipse">
            <a:avLst/>
          </a:prstGeom>
          <a:solidFill>
            <a:srgbClr val="E8A33D">
              <a:alpha val="20000"/>
            </a:srgbClr>
          </a:solidFill>
          <a:ln/>
        </p:spPr>
        <p:txBody>
          <a:bodyPr/>
          <a:lstStyle/>
          <a:p>
            <a:endParaRPr lang="en-US"/>
          </a:p>
        </p:txBody>
      </p:sp>
      <p:sp>
        <p:nvSpPr>
          <p:cNvPr id="18" name="Shape 15"/>
          <p:cNvSpPr/>
          <p:nvPr/>
        </p:nvSpPr>
        <p:spPr>
          <a:xfrm>
            <a:off x="4690872" y="3877056"/>
            <a:ext cx="457200" cy="457200"/>
          </a:xfrm>
          <a:prstGeom prst="ellipse">
            <a:avLst/>
          </a:prstGeom>
          <a:solidFill>
            <a:srgbClr val="E8A33D"/>
          </a:solidFill>
          <a:ln/>
        </p:spPr>
        <p:txBody>
          <a:bodyPr/>
          <a:lstStyle/>
          <a:p>
            <a:endParaRPr lang="en-US"/>
          </a:p>
        </p:txBody>
      </p:sp>
      <p:pic>
        <p:nvPicPr>
          <p:cNvPr id="19" name="Image 1" descr="preencoded.png"/>
          <p:cNvPicPr>
            <a:picLocks noChangeAspect="1"/>
          </p:cNvPicPr>
          <p:nvPr/>
        </p:nvPicPr>
        <p:blipFill>
          <a:blip r:embed="rId4"/>
          <a:stretch>
            <a:fillRect/>
          </a:stretch>
        </p:blipFill>
        <p:spPr>
          <a:xfrm>
            <a:off x="4837176" y="4023360"/>
            <a:ext cx="164592" cy="164592"/>
          </a:xfrm>
          <a:prstGeom prst="rect">
            <a:avLst/>
          </a:prstGeom>
        </p:spPr>
      </p:pic>
      <p:sp>
        <p:nvSpPr>
          <p:cNvPr id="20" name="Text 16"/>
          <p:cNvSpPr/>
          <p:nvPr/>
        </p:nvSpPr>
        <p:spPr>
          <a:xfrm>
            <a:off x="5257800" y="3913632"/>
            <a:ext cx="914400" cy="384048"/>
          </a:xfrm>
          <a:prstGeom prst="rect">
            <a:avLst/>
          </a:prstGeom>
          <a:noFill/>
          <a:ln/>
        </p:spPr>
        <p:txBody>
          <a:bodyPr wrap="square" lIns="0" tIns="0" rIns="0" bIns="0" rtlCol="0" anchor="ctr"/>
          <a:lstStyle/>
          <a:p>
            <a:pPr marL="0" indent="0">
              <a:buNone/>
            </a:pPr>
            <a:r>
              <a:rPr lang="en-US" sz="2000" b="1" dirty="0">
                <a:solidFill>
                  <a:srgbClr val="E8A33D"/>
                </a:solidFill>
                <a:latin typeface="Cambria" pitchFamily="34" charset="0"/>
                <a:ea typeface="Cambria" pitchFamily="34" charset="-122"/>
                <a:cs typeface="Cambria" pitchFamily="34" charset="-120"/>
              </a:rPr>
              <a:t>Q2</a:t>
            </a:r>
            <a:endParaRPr lang="en-US" sz="2000" dirty="0"/>
          </a:p>
        </p:txBody>
      </p:sp>
      <p:sp>
        <p:nvSpPr>
          <p:cNvPr id="21" name="Text 17"/>
          <p:cNvSpPr/>
          <p:nvPr/>
        </p:nvSpPr>
        <p:spPr>
          <a:xfrm>
            <a:off x="4690872" y="4521200"/>
            <a:ext cx="2871216" cy="1270000"/>
          </a:xfrm>
          <a:prstGeom prst="rect">
            <a:avLst/>
          </a:prstGeom>
          <a:noFill/>
          <a:ln/>
        </p:spPr>
        <p:txBody>
          <a:bodyPr wrap="square" lIns="0" tIns="0" rIns="0" bIns="0" rtlCol="0" anchor="t" anchorCtr="0"/>
          <a:lstStyle/>
          <a:p>
            <a:pPr marL="0" indent="0">
              <a:buNone/>
            </a:pPr>
            <a:r>
              <a:rPr lang="en-US" sz="1600" dirty="0">
                <a:solidFill>
                  <a:srgbClr val="D8DFF0"/>
                </a:solidFill>
                <a:latin typeface="Calibri" pitchFamily="34" charset="0"/>
                <a:ea typeface="Calibri" pitchFamily="34" charset="-122"/>
                <a:cs typeface="Calibri" pitchFamily="34" charset="-120"/>
              </a:rPr>
              <a:t>Does injury history predict future injury risk well enough to flag “high risk” players?</a:t>
            </a:r>
            <a:endParaRPr lang="en-US" sz="1600" dirty="0">
              <a:solidFill>
                <a:srgbClr val="D8DFF0"/>
              </a:solidFill>
            </a:endParaRPr>
          </a:p>
        </p:txBody>
      </p:sp>
      <p:sp>
        <p:nvSpPr>
          <p:cNvPr id="22" name="Shape 18"/>
          <p:cNvSpPr/>
          <p:nvPr/>
        </p:nvSpPr>
        <p:spPr>
          <a:xfrm>
            <a:off x="8046720" y="3657600"/>
            <a:ext cx="3383280" cy="2331720"/>
          </a:xfrm>
          <a:prstGeom prst="roundRect">
            <a:avLst>
              <a:gd name="adj" fmla="val 3529"/>
            </a:avLst>
          </a:prstGeom>
          <a:solidFill>
            <a:srgbClr val="16264D"/>
          </a:solidFill>
          <a:ln/>
        </p:spPr>
        <p:txBody>
          <a:bodyPr/>
          <a:lstStyle/>
          <a:p>
            <a:endParaRPr lang="en-US"/>
          </a:p>
        </p:txBody>
      </p:sp>
      <p:sp>
        <p:nvSpPr>
          <p:cNvPr id="23" name="Shape 19"/>
          <p:cNvSpPr/>
          <p:nvPr/>
        </p:nvSpPr>
        <p:spPr>
          <a:xfrm>
            <a:off x="8188452" y="3762756"/>
            <a:ext cx="685800" cy="685800"/>
          </a:xfrm>
          <a:prstGeom prst="ellipse">
            <a:avLst/>
          </a:prstGeom>
          <a:solidFill>
            <a:srgbClr val="E8A33D">
              <a:alpha val="20000"/>
            </a:srgbClr>
          </a:solidFill>
          <a:ln/>
        </p:spPr>
        <p:txBody>
          <a:bodyPr/>
          <a:lstStyle/>
          <a:p>
            <a:endParaRPr lang="en-US"/>
          </a:p>
        </p:txBody>
      </p:sp>
      <p:sp>
        <p:nvSpPr>
          <p:cNvPr id="24" name="Shape 20"/>
          <p:cNvSpPr/>
          <p:nvPr/>
        </p:nvSpPr>
        <p:spPr>
          <a:xfrm>
            <a:off x="8302752" y="3877056"/>
            <a:ext cx="457200" cy="457200"/>
          </a:xfrm>
          <a:prstGeom prst="ellipse">
            <a:avLst/>
          </a:prstGeom>
          <a:solidFill>
            <a:srgbClr val="E8A33D"/>
          </a:solidFill>
          <a:ln/>
        </p:spPr>
        <p:txBody>
          <a:bodyPr/>
          <a:lstStyle/>
          <a:p>
            <a:endParaRPr lang="en-US"/>
          </a:p>
        </p:txBody>
      </p:sp>
      <p:pic>
        <p:nvPicPr>
          <p:cNvPr id="25" name="Image 2" descr="preencoded.png"/>
          <p:cNvPicPr>
            <a:picLocks noChangeAspect="1"/>
          </p:cNvPicPr>
          <p:nvPr/>
        </p:nvPicPr>
        <p:blipFill>
          <a:blip r:embed="rId5"/>
          <a:stretch>
            <a:fillRect/>
          </a:stretch>
        </p:blipFill>
        <p:spPr>
          <a:xfrm>
            <a:off x="8449056" y="4023360"/>
            <a:ext cx="164592" cy="164592"/>
          </a:xfrm>
          <a:prstGeom prst="rect">
            <a:avLst/>
          </a:prstGeom>
        </p:spPr>
      </p:pic>
      <p:sp>
        <p:nvSpPr>
          <p:cNvPr id="26" name="Text 21"/>
          <p:cNvSpPr/>
          <p:nvPr/>
        </p:nvSpPr>
        <p:spPr>
          <a:xfrm>
            <a:off x="8869680" y="3913632"/>
            <a:ext cx="914400" cy="384048"/>
          </a:xfrm>
          <a:prstGeom prst="rect">
            <a:avLst/>
          </a:prstGeom>
          <a:noFill/>
          <a:ln/>
        </p:spPr>
        <p:txBody>
          <a:bodyPr wrap="square" lIns="0" tIns="0" rIns="0" bIns="0" rtlCol="0" anchor="ctr"/>
          <a:lstStyle/>
          <a:p>
            <a:pPr marL="0" indent="0">
              <a:buNone/>
            </a:pPr>
            <a:r>
              <a:rPr lang="en-US" sz="2000" b="1" dirty="0">
                <a:solidFill>
                  <a:srgbClr val="E8A33D"/>
                </a:solidFill>
                <a:latin typeface="Cambria" pitchFamily="34" charset="0"/>
                <a:ea typeface="Cambria" pitchFamily="34" charset="-122"/>
                <a:cs typeface="Cambria" pitchFamily="34" charset="-120"/>
              </a:rPr>
              <a:t>Q3</a:t>
            </a:r>
            <a:endParaRPr lang="en-US" sz="2000" dirty="0"/>
          </a:p>
        </p:txBody>
      </p:sp>
      <p:sp>
        <p:nvSpPr>
          <p:cNvPr id="27" name="Text 22"/>
          <p:cNvSpPr/>
          <p:nvPr/>
        </p:nvSpPr>
        <p:spPr>
          <a:xfrm>
            <a:off x="8302752" y="4521200"/>
            <a:ext cx="2871216" cy="1270000"/>
          </a:xfrm>
          <a:prstGeom prst="rect">
            <a:avLst/>
          </a:prstGeom>
          <a:noFill/>
          <a:ln/>
        </p:spPr>
        <p:txBody>
          <a:bodyPr wrap="square" lIns="0" tIns="0" rIns="0" bIns="0" rtlCol="0" anchor="t" anchorCtr="0"/>
          <a:lstStyle/>
          <a:p>
            <a:pPr marL="0" indent="0">
              <a:buNone/>
            </a:pPr>
            <a:r>
              <a:rPr lang="en-US" sz="1600" dirty="0">
                <a:solidFill>
                  <a:srgbClr val="D8DFF0"/>
                </a:solidFill>
                <a:latin typeface="Calibri" pitchFamily="34" charset="0"/>
                <a:ea typeface="Calibri" pitchFamily="34" charset="-122"/>
                <a:cs typeface="Calibri" pitchFamily="34" charset="-120"/>
              </a:rPr>
              <a:t>Combined, do value forecast and injury risk together beat value alone as a recruitment signal?</a:t>
            </a:r>
            <a:endParaRPr lang="en-US" sz="1600" dirty="0">
              <a:solidFill>
                <a:srgbClr val="D8DFF0"/>
              </a:solidFill>
            </a:endParaRPr>
          </a:p>
        </p:txBody>
      </p:sp>
      <p:sp>
        <p:nvSpPr>
          <p:cNvPr id="28" name="Text 23"/>
          <p:cNvSpPr/>
          <p:nvPr/>
        </p:nvSpPr>
        <p:spPr>
          <a:xfrm>
            <a:off x="11368735" y="6400800"/>
            <a:ext cx="548640" cy="274320"/>
          </a:xfrm>
          <a:prstGeom prst="rect">
            <a:avLst/>
          </a:prstGeom>
          <a:noFill/>
          <a:ln/>
        </p:spPr>
        <p:txBody>
          <a:bodyPr wrap="square" lIns="0" tIns="0" rIns="0" bIns="0" rtlCol="0" anchor="ctr"/>
          <a:lstStyle/>
          <a:p>
            <a:pPr marL="0" indent="0" algn="r">
              <a:buNone/>
            </a:pPr>
            <a:r>
              <a:rPr lang="en-US" sz="1200" dirty="0">
                <a:solidFill>
                  <a:srgbClr val="A8B4D0"/>
                </a:solidFill>
                <a:latin typeface="Calibri" pitchFamily="34" charset="0"/>
                <a:ea typeface="Calibri" pitchFamily="34" charset="-122"/>
                <a:cs typeface="Calibri" pitchFamily="34" charset="-120"/>
              </a:rPr>
              <a:t>03</a:t>
            </a:r>
            <a:endParaRPr lang="en-US" sz="1200" dirty="0">
              <a:solidFill>
                <a:srgbClr val="A8B4D0"/>
              </a:solidFill>
            </a:endParaRPr>
          </a:p>
        </p:txBody>
      </p:sp>
    </p:spTree>
    <p:extLst>
      <p:ext uri="{BB962C8B-B14F-4D97-AF65-F5344CB8AC3E}">
        <p14:creationId xmlns:p14="http://schemas.microsoft.com/office/powerpoint/2010/main" val="128745510"/>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450"/>
                                        <p:tgtEl>
                                          <p:spTgt spid="10"/>
                                        </p:tgtEl>
                                      </p:cBhvr>
                                    </p:animEffect>
                                  </p:childTnLst>
                                </p:cTn>
                              </p:par>
                              <p:par>
                                <p:cTn id="8" presetID="10" presetClass="entr" presetSubtype="0" fill="hold" nodeType="withEffect">
                                  <p:stCondLst>
                                    <p:cond delay="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450"/>
                                        <p:tgtEl>
                                          <p:spTgt spid="16"/>
                                        </p:tgtEl>
                                      </p:cBhvr>
                                    </p:animEffect>
                                  </p:childTnLst>
                                </p:cTn>
                              </p:par>
                              <p:par>
                                <p:cTn id="11" presetID="10" presetClass="entr" presetSubtype="0"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450"/>
                                        <p:tgtEl>
                                          <p:spTgt spid="22"/>
                                        </p:tgtEl>
                                      </p:cBhvr>
                                    </p:animEffect>
                                  </p:childTnLst>
                                </p:cTn>
                              </p:par>
                              <p:par>
                                <p:cTn id="14" presetID="10" presetClass="entr" presetSubtype="0" fill="hold"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450"/>
                                        <p:tgtEl>
                                          <p:spTgt spid="11"/>
                                        </p:tgtEl>
                                      </p:cBhvr>
                                    </p:animEffect>
                                  </p:childTnLst>
                                </p:cTn>
                              </p:par>
                              <p:par>
                                <p:cTn id="17" presetID="10" presetClass="entr" presetSubtype="0" fill="hold" nodeType="withEffect">
                                  <p:stCondLst>
                                    <p:cond delay="0"/>
                                  </p:stCondLst>
                                  <p:childTnLst>
                                    <p:set>
                                      <p:cBhvr>
                                        <p:cTn id="18" dur="1" fill="hold">
                                          <p:stCondLst>
                                            <p:cond delay="0"/>
                                          </p:stCondLst>
                                        </p:cTn>
                                        <p:tgtEl>
                                          <p:spTgt spid="17"/>
                                        </p:tgtEl>
                                        <p:attrNameLst>
                                          <p:attrName>style.visibility</p:attrName>
                                        </p:attrNameLst>
                                      </p:cBhvr>
                                      <p:to>
                                        <p:strVal val="visible"/>
                                      </p:to>
                                    </p:set>
                                    <p:animEffect transition="in" filter="fade">
                                      <p:cBhvr>
                                        <p:cTn id="19" dur="450"/>
                                        <p:tgtEl>
                                          <p:spTgt spid="17"/>
                                        </p:tgtEl>
                                      </p:cBhvr>
                                    </p:animEffect>
                                  </p:childTnLst>
                                </p:cTn>
                              </p:par>
                              <p:par>
                                <p:cTn id="20" presetID="10" presetClass="entr" presetSubtype="0" fill="hold" nodeType="with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50"/>
                                        <p:tgtEl>
                                          <p:spTgt spid="23"/>
                                        </p:tgtEl>
                                      </p:cBhvr>
                                    </p:animEffect>
                                  </p:childTnLst>
                                </p:cTn>
                              </p:par>
                              <p:par>
                                <p:cTn id="23" presetID="10" presetClass="entr" presetSubtype="0" fill="hold"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450"/>
                                        <p:tgtEl>
                                          <p:spTgt spid="12"/>
                                        </p:tgtEl>
                                      </p:cBhvr>
                                    </p:animEffect>
                                  </p:childTnLst>
                                </p:cTn>
                              </p:par>
                              <p:par>
                                <p:cTn id="26" presetID="10" presetClass="entr" presetSubtype="0" fill="hold" nodeType="withEffect">
                                  <p:stCondLst>
                                    <p:cond delay="0"/>
                                  </p:stCondLst>
                                  <p:childTnLst>
                                    <p:set>
                                      <p:cBhvr>
                                        <p:cTn id="27" dur="1" fill="hold">
                                          <p:stCondLst>
                                            <p:cond delay="0"/>
                                          </p:stCondLst>
                                        </p:cTn>
                                        <p:tgtEl>
                                          <p:spTgt spid="18"/>
                                        </p:tgtEl>
                                        <p:attrNameLst>
                                          <p:attrName>style.visibility</p:attrName>
                                        </p:attrNameLst>
                                      </p:cBhvr>
                                      <p:to>
                                        <p:strVal val="visible"/>
                                      </p:to>
                                    </p:set>
                                    <p:animEffect transition="in" filter="fade">
                                      <p:cBhvr>
                                        <p:cTn id="28" dur="450"/>
                                        <p:tgtEl>
                                          <p:spTgt spid="18"/>
                                        </p:tgtEl>
                                      </p:cBhvr>
                                    </p:animEffect>
                                  </p:childTnLst>
                                </p:cTn>
                              </p:par>
                              <p:par>
                                <p:cTn id="29" presetID="10" presetClass="entr" presetSubtype="0" fill="hold" nodeType="with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50"/>
                                        <p:tgtEl>
                                          <p:spTgt spid="24"/>
                                        </p:tgtEl>
                                      </p:cBhvr>
                                    </p:animEffect>
                                  </p:childTnLst>
                                </p:cTn>
                              </p:par>
                              <p:par>
                                <p:cTn id="32" presetID="10" presetClass="entr" presetSubtype="0" fill="hold" nodeType="with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50"/>
                                        <p:tgtEl>
                                          <p:spTgt spid="14"/>
                                        </p:tgtEl>
                                      </p:cBhvr>
                                    </p:animEffect>
                                  </p:childTnLst>
                                </p:cTn>
                              </p:par>
                              <p:par>
                                <p:cTn id="35" presetID="10" presetClass="entr" presetSubtype="0" fill="hold" nodeType="withEffect">
                                  <p:stCondLst>
                                    <p:cond delay="0"/>
                                  </p:stCondLst>
                                  <p:childTnLst>
                                    <p:set>
                                      <p:cBhvr>
                                        <p:cTn id="36" dur="1" fill="hold">
                                          <p:stCondLst>
                                            <p:cond delay="0"/>
                                          </p:stCondLst>
                                        </p:cTn>
                                        <p:tgtEl>
                                          <p:spTgt spid="20"/>
                                        </p:tgtEl>
                                        <p:attrNameLst>
                                          <p:attrName>style.visibility</p:attrName>
                                        </p:attrNameLst>
                                      </p:cBhvr>
                                      <p:to>
                                        <p:strVal val="visible"/>
                                      </p:to>
                                    </p:set>
                                    <p:animEffect transition="in" filter="fade">
                                      <p:cBhvr>
                                        <p:cTn id="37" dur="450"/>
                                        <p:tgtEl>
                                          <p:spTgt spid="20"/>
                                        </p:tgtEl>
                                      </p:cBhvr>
                                    </p:animEffect>
                                  </p:childTnLst>
                                </p:cTn>
                              </p:par>
                              <p:par>
                                <p:cTn id="38" presetID="10" presetClass="entr" presetSubtype="0" fill="hold" nodeType="withEffect">
                                  <p:stCondLst>
                                    <p:cond delay="0"/>
                                  </p:stCondLst>
                                  <p:childTnLst>
                                    <p:set>
                                      <p:cBhvr>
                                        <p:cTn id="39" dur="1" fill="hold">
                                          <p:stCondLst>
                                            <p:cond delay="0"/>
                                          </p:stCondLst>
                                        </p:cTn>
                                        <p:tgtEl>
                                          <p:spTgt spid="26"/>
                                        </p:tgtEl>
                                        <p:attrNameLst>
                                          <p:attrName>style.visibility</p:attrName>
                                        </p:attrNameLst>
                                      </p:cBhvr>
                                      <p:to>
                                        <p:strVal val="visible"/>
                                      </p:to>
                                    </p:set>
                                    <p:animEffect transition="in" filter="fade">
                                      <p:cBhvr>
                                        <p:cTn id="40" dur="450"/>
                                        <p:tgtEl>
                                          <p:spTgt spid="26"/>
                                        </p:tgtEl>
                                      </p:cBhvr>
                                    </p:animEffect>
                                  </p:childTnLst>
                                </p:cTn>
                              </p:par>
                            </p:childTnLst>
                          </p:cTn>
                        </p:par>
                      </p:childTnLst>
                    </p:cTn>
                  </p:par>
                  <p:par>
                    <p:cTn id="41" fill="hold">
                      <p:stCondLst>
                        <p:cond delay="250"/>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15"/>
                                        </p:tgtEl>
                                        <p:attrNameLst>
                                          <p:attrName>style.visibility</p:attrName>
                                        </p:attrNameLst>
                                      </p:cBhvr>
                                      <p:to>
                                        <p:strVal val="visible"/>
                                      </p:to>
                                    </p:set>
                                    <p:animEffect transition="in" filter="fade">
                                      <p:cBhvr>
                                        <p:cTn id="45" dur="450"/>
                                        <p:tgtEl>
                                          <p:spTgt spid="15"/>
                                        </p:tgtEl>
                                      </p:cBhvr>
                                    </p:animEffect>
                                  </p:childTnLst>
                                </p:cTn>
                              </p:par>
                              <p:par>
                                <p:cTn id="46" presetID="10" presetClass="entr" presetSubtype="0" fill="hold" nodeType="withEffect">
                                  <p:stCondLst>
                                    <p:cond delay="0"/>
                                  </p:stCondLst>
                                  <p:childTnLst>
                                    <p:set>
                                      <p:cBhvr>
                                        <p:cTn id="47" dur="1" fill="hold">
                                          <p:stCondLst>
                                            <p:cond delay="0"/>
                                          </p:stCondLst>
                                        </p:cTn>
                                        <p:tgtEl>
                                          <p:spTgt spid="21"/>
                                        </p:tgtEl>
                                        <p:attrNameLst>
                                          <p:attrName>style.visibility</p:attrName>
                                        </p:attrNameLst>
                                      </p:cBhvr>
                                      <p:to>
                                        <p:strVal val="visible"/>
                                      </p:to>
                                    </p:set>
                                    <p:animEffect transition="in" filter="fade">
                                      <p:cBhvr>
                                        <p:cTn id="48" dur="450"/>
                                        <p:tgtEl>
                                          <p:spTgt spid="21"/>
                                        </p:tgtEl>
                                      </p:cBhvr>
                                    </p:animEffect>
                                  </p:childTnLst>
                                </p:cTn>
                              </p:par>
                              <p:par>
                                <p:cTn id="49" presetID="10" presetClass="entr" presetSubtype="0" fill="hold" nodeType="withEffect">
                                  <p:stCondLst>
                                    <p:cond delay="0"/>
                                  </p:stCondLst>
                                  <p:childTnLst>
                                    <p:set>
                                      <p:cBhvr>
                                        <p:cTn id="50" dur="1" fill="hold">
                                          <p:stCondLst>
                                            <p:cond delay="0"/>
                                          </p:stCondLst>
                                        </p:cTn>
                                        <p:tgtEl>
                                          <p:spTgt spid="27"/>
                                        </p:tgtEl>
                                        <p:attrNameLst>
                                          <p:attrName>style.visibility</p:attrName>
                                        </p:attrNameLst>
                                      </p:cBhvr>
                                      <p:to>
                                        <p:strVal val="visible"/>
                                      </p:to>
                                    </p:set>
                                    <p:animEffect transition="in" filter="fade">
                                      <p:cBhvr>
                                        <p:cTn id="51" dur="45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8FA"/>
        </a:solidFill>
        <a:effectLst/>
      </p:bgPr>
    </p:bg>
    <p:spTree>
      <p:nvGrpSpPr>
        <p:cNvPr id="1" name=""/>
        <p:cNvGrpSpPr/>
        <p:nvPr/>
      </p:nvGrpSpPr>
      <p:grpSpPr>
        <a:xfrm>
          <a:off x="0" y="0"/>
          <a:ext cx="0" cy="0"/>
          <a:chOff x="0" y="0"/>
          <a:chExt cx="0" cy="0"/>
        </a:xfrm>
      </p:grpSpPr>
      <p:sp>
        <p:nvSpPr>
          <p:cNvPr id="2" name="Text 0"/>
          <p:cNvSpPr/>
          <p:nvPr/>
        </p:nvSpPr>
        <p:spPr>
          <a:xfrm>
            <a:off x="822960" y="594360"/>
            <a:ext cx="5486400" cy="320040"/>
          </a:xfrm>
          <a:prstGeom prst="rect">
            <a:avLst/>
          </a:prstGeom>
          <a:noFill/>
          <a:ln/>
        </p:spPr>
        <p:txBody>
          <a:bodyPr wrap="square" lIns="0" tIns="0" rIns="0" bIns="0" rtlCol="0" anchor="ctr"/>
          <a:lstStyle/>
          <a:p>
            <a:pPr marL="0" indent="0">
              <a:buNone/>
            </a:pPr>
            <a:r>
              <a:rPr lang="en-US" sz="1400" b="1" kern="0" spc="200" dirty="0">
                <a:solidFill>
                  <a:srgbClr val="1F7A4D"/>
                </a:solidFill>
                <a:latin typeface="Calibri" pitchFamily="34" charset="0"/>
                <a:ea typeface="Calibri" pitchFamily="34" charset="-122"/>
                <a:cs typeface="Calibri" pitchFamily="34" charset="-120"/>
              </a:rPr>
              <a:t>THE DATA</a:t>
            </a:r>
            <a:endParaRPr lang="en-US" sz="1400" dirty="0"/>
          </a:p>
        </p:txBody>
      </p:sp>
      <p:sp>
        <p:nvSpPr>
          <p:cNvPr id="3" name="Text 1"/>
          <p:cNvSpPr/>
          <p:nvPr/>
        </p:nvSpPr>
        <p:spPr>
          <a:xfrm>
            <a:off x="777240" y="896112"/>
            <a:ext cx="9144000" cy="731520"/>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Three sources, one recruitment signal</a:t>
            </a:r>
            <a:endParaRPr lang="en-US" sz="3200" dirty="0"/>
          </a:p>
        </p:txBody>
      </p:sp>
      <p:sp>
        <p:nvSpPr>
          <p:cNvPr id="4" name="Shape 2"/>
          <p:cNvSpPr/>
          <p:nvPr/>
        </p:nvSpPr>
        <p:spPr>
          <a:xfrm>
            <a:off x="822960" y="1965960"/>
            <a:ext cx="3429000" cy="2235200"/>
          </a:xfrm>
          <a:prstGeom prst="roundRect">
            <a:avLst>
              <a:gd name="adj" fmla="val 4091"/>
            </a:avLst>
          </a:prstGeom>
          <a:solidFill>
            <a:srgbClr val="FFFFFF"/>
          </a:solidFill>
          <a:ln/>
          <a:effectLst>
            <a:outerShdw blurRad="101600" dist="38100" dir="5400000" algn="bl" rotWithShape="0">
              <a:srgbClr val="8C93A6">
                <a:alpha val="25000"/>
              </a:srgbClr>
            </a:outerShdw>
          </a:effectLst>
        </p:spPr>
        <p:txBody>
          <a:bodyPr/>
          <a:lstStyle/>
          <a:p>
            <a:endParaRPr lang="en-US"/>
          </a:p>
        </p:txBody>
      </p:sp>
      <p:sp>
        <p:nvSpPr>
          <p:cNvPr id="5" name="Shape 3"/>
          <p:cNvSpPr/>
          <p:nvPr/>
        </p:nvSpPr>
        <p:spPr>
          <a:xfrm>
            <a:off x="950976" y="2084832"/>
            <a:ext cx="768096" cy="768096"/>
          </a:xfrm>
          <a:prstGeom prst="ellipse">
            <a:avLst/>
          </a:prstGeom>
          <a:solidFill>
            <a:srgbClr val="0F1B3D">
              <a:alpha val="20000"/>
            </a:srgbClr>
          </a:solidFill>
          <a:ln/>
        </p:spPr>
        <p:txBody>
          <a:bodyPr/>
          <a:lstStyle/>
          <a:p>
            <a:endParaRPr lang="en-US"/>
          </a:p>
        </p:txBody>
      </p:sp>
      <p:sp>
        <p:nvSpPr>
          <p:cNvPr id="6" name="Shape 4"/>
          <p:cNvSpPr/>
          <p:nvPr/>
        </p:nvSpPr>
        <p:spPr>
          <a:xfrm>
            <a:off x="1078992" y="2212848"/>
            <a:ext cx="512064" cy="512064"/>
          </a:xfrm>
          <a:prstGeom prst="ellipse">
            <a:avLst/>
          </a:prstGeom>
          <a:solidFill>
            <a:srgbClr val="0F1B3D"/>
          </a:solidFill>
          <a:ln/>
        </p:spPr>
        <p:txBody>
          <a:bodyPr/>
          <a:lstStyle/>
          <a:p>
            <a:endParaRPr lang="en-US"/>
          </a:p>
        </p:txBody>
      </p:sp>
      <p:pic>
        <p:nvPicPr>
          <p:cNvPr id="7" name="Image 0" descr="preencoded.png"/>
          <p:cNvPicPr>
            <a:picLocks noChangeAspect="1"/>
          </p:cNvPicPr>
          <p:nvPr/>
        </p:nvPicPr>
        <p:blipFill>
          <a:blip r:embed="rId3"/>
          <a:stretch>
            <a:fillRect/>
          </a:stretch>
        </p:blipFill>
        <p:spPr>
          <a:xfrm>
            <a:off x="1225296" y="2359152"/>
            <a:ext cx="219456" cy="219456"/>
          </a:xfrm>
          <a:prstGeom prst="rect">
            <a:avLst/>
          </a:prstGeom>
        </p:spPr>
      </p:pic>
      <p:sp>
        <p:nvSpPr>
          <p:cNvPr id="8" name="Text 5"/>
          <p:cNvSpPr/>
          <p:nvPr/>
        </p:nvSpPr>
        <p:spPr>
          <a:xfrm>
            <a:off x="1078992" y="2871216"/>
            <a:ext cx="2916936" cy="548640"/>
          </a:xfrm>
          <a:prstGeom prst="rect">
            <a:avLst/>
          </a:prstGeom>
          <a:noFill/>
          <a:ln/>
        </p:spPr>
        <p:txBody>
          <a:bodyPr wrap="square" lIns="0" tIns="0" rIns="0" bIns="0" rtlCol="0" anchor="ctr"/>
          <a:lstStyle/>
          <a:p>
            <a:pPr marL="0" indent="0">
              <a:buNone/>
            </a:pPr>
            <a:r>
              <a:rPr lang="en-US" sz="1450" b="1" dirty="0">
                <a:solidFill>
                  <a:srgbClr val="1A1A1A"/>
                </a:solidFill>
                <a:latin typeface="Calibri" pitchFamily="34" charset="0"/>
                <a:ea typeface="Calibri" pitchFamily="34" charset="-122"/>
                <a:cs typeface="Calibri" pitchFamily="34" charset="-120"/>
              </a:rPr>
              <a:t>Transfermarkt: Player Values</a:t>
            </a:r>
            <a:endParaRPr lang="en-US" sz="1450" dirty="0"/>
          </a:p>
        </p:txBody>
      </p:sp>
      <p:sp>
        <p:nvSpPr>
          <p:cNvPr id="9" name="Text 6"/>
          <p:cNvSpPr/>
          <p:nvPr/>
        </p:nvSpPr>
        <p:spPr>
          <a:xfrm>
            <a:off x="1078992" y="3429000"/>
            <a:ext cx="2916936" cy="533400"/>
          </a:xfrm>
          <a:prstGeom prst="rect">
            <a:avLst/>
          </a:prstGeom>
          <a:noFill/>
          <a:ln/>
        </p:spPr>
        <p:txBody>
          <a:bodyPr wrap="square" lIns="0" tIns="0" rIns="0" bIns="0" rtlCol="0" anchor="ctr"/>
          <a:lstStyle/>
          <a:p>
            <a:pPr marL="0" indent="0">
              <a:buNone/>
            </a:pPr>
            <a:r>
              <a:rPr lang="en-US" sz="1400" dirty="0">
                <a:solidFill>
                  <a:srgbClr val="44506B"/>
                </a:solidFill>
                <a:latin typeface="Calibri" pitchFamily="34" charset="0"/>
                <a:ea typeface="Calibri" pitchFamily="34" charset="-122"/>
                <a:cs typeface="Calibri" pitchFamily="34" charset="-120"/>
              </a:rPr>
              <a:t>Market value history &amp; appearances across seasons</a:t>
            </a:r>
            <a:endParaRPr lang="en-US" sz="1400" dirty="0">
              <a:solidFill>
                <a:srgbClr val="44506B"/>
              </a:solidFill>
            </a:endParaRPr>
          </a:p>
        </p:txBody>
      </p:sp>
      <p:sp>
        <p:nvSpPr>
          <p:cNvPr id="10" name="Shape 7"/>
          <p:cNvSpPr/>
          <p:nvPr/>
        </p:nvSpPr>
        <p:spPr>
          <a:xfrm>
            <a:off x="4507992" y="1965960"/>
            <a:ext cx="3429000" cy="2235200"/>
          </a:xfrm>
          <a:prstGeom prst="roundRect">
            <a:avLst>
              <a:gd name="adj" fmla="val 4091"/>
            </a:avLst>
          </a:prstGeom>
          <a:solidFill>
            <a:srgbClr val="FFFFFF"/>
          </a:solidFill>
          <a:ln/>
          <a:effectLst>
            <a:outerShdw blurRad="101600" dist="38100" dir="5400000" algn="bl" rotWithShape="0">
              <a:srgbClr val="8C93A6">
                <a:alpha val="25000"/>
              </a:srgbClr>
            </a:outerShdw>
          </a:effectLst>
        </p:spPr>
        <p:txBody>
          <a:bodyPr/>
          <a:lstStyle/>
          <a:p>
            <a:endParaRPr lang="en-US"/>
          </a:p>
        </p:txBody>
      </p:sp>
      <p:sp>
        <p:nvSpPr>
          <p:cNvPr id="11" name="Shape 8"/>
          <p:cNvSpPr/>
          <p:nvPr/>
        </p:nvSpPr>
        <p:spPr>
          <a:xfrm>
            <a:off x="4636008" y="2084832"/>
            <a:ext cx="768096" cy="768096"/>
          </a:xfrm>
          <a:prstGeom prst="ellipse">
            <a:avLst/>
          </a:prstGeom>
          <a:solidFill>
            <a:srgbClr val="C0392B">
              <a:alpha val="20000"/>
            </a:srgbClr>
          </a:solidFill>
          <a:ln/>
        </p:spPr>
        <p:txBody>
          <a:bodyPr/>
          <a:lstStyle/>
          <a:p>
            <a:endParaRPr lang="en-US"/>
          </a:p>
        </p:txBody>
      </p:sp>
      <p:sp>
        <p:nvSpPr>
          <p:cNvPr id="12" name="Shape 9"/>
          <p:cNvSpPr/>
          <p:nvPr/>
        </p:nvSpPr>
        <p:spPr>
          <a:xfrm>
            <a:off x="4764024" y="2212848"/>
            <a:ext cx="512064" cy="512064"/>
          </a:xfrm>
          <a:prstGeom prst="ellipse">
            <a:avLst/>
          </a:prstGeom>
          <a:solidFill>
            <a:srgbClr val="C0392B"/>
          </a:solidFill>
          <a:ln/>
        </p:spPr>
        <p:txBody>
          <a:bodyPr/>
          <a:lstStyle/>
          <a:p>
            <a:endParaRPr lang="en-US"/>
          </a:p>
        </p:txBody>
      </p:sp>
      <p:pic>
        <p:nvPicPr>
          <p:cNvPr id="13" name="Image 1" descr="preencoded.png"/>
          <p:cNvPicPr>
            <a:picLocks noChangeAspect="1"/>
          </p:cNvPicPr>
          <p:nvPr/>
        </p:nvPicPr>
        <p:blipFill>
          <a:blip r:embed="rId4"/>
          <a:stretch>
            <a:fillRect/>
          </a:stretch>
        </p:blipFill>
        <p:spPr>
          <a:xfrm>
            <a:off x="4910328" y="2359152"/>
            <a:ext cx="219456" cy="219456"/>
          </a:xfrm>
          <a:prstGeom prst="rect">
            <a:avLst/>
          </a:prstGeom>
        </p:spPr>
      </p:pic>
      <p:sp>
        <p:nvSpPr>
          <p:cNvPr id="14" name="Text 10"/>
          <p:cNvSpPr/>
          <p:nvPr/>
        </p:nvSpPr>
        <p:spPr>
          <a:xfrm>
            <a:off x="4764024" y="2871216"/>
            <a:ext cx="2916936" cy="548640"/>
          </a:xfrm>
          <a:prstGeom prst="rect">
            <a:avLst/>
          </a:prstGeom>
          <a:noFill/>
          <a:ln/>
        </p:spPr>
        <p:txBody>
          <a:bodyPr wrap="square" lIns="0" tIns="0" rIns="0" bIns="0" rtlCol="0" anchor="ctr"/>
          <a:lstStyle/>
          <a:p>
            <a:pPr marL="0" indent="0">
              <a:buNone/>
            </a:pPr>
            <a:r>
              <a:rPr lang="en-US" sz="1450" b="1" dirty="0">
                <a:solidFill>
                  <a:srgbClr val="1A1A1A"/>
                </a:solidFill>
                <a:latin typeface="Calibri" pitchFamily="34" charset="0"/>
                <a:ea typeface="Calibri" pitchFamily="34" charset="-122"/>
                <a:cs typeface="Calibri" pitchFamily="34" charset="-120"/>
              </a:rPr>
              <a:t>Transfermarkt: Injuries</a:t>
            </a:r>
            <a:endParaRPr lang="en-US" sz="1450" dirty="0"/>
          </a:p>
        </p:txBody>
      </p:sp>
      <p:sp>
        <p:nvSpPr>
          <p:cNvPr id="15" name="Text 11"/>
          <p:cNvSpPr/>
          <p:nvPr/>
        </p:nvSpPr>
        <p:spPr>
          <a:xfrm>
            <a:off x="4764024" y="3429000"/>
            <a:ext cx="2916936" cy="533400"/>
          </a:xfrm>
          <a:prstGeom prst="rect">
            <a:avLst/>
          </a:prstGeom>
          <a:noFill/>
          <a:ln/>
        </p:spPr>
        <p:txBody>
          <a:bodyPr wrap="square" lIns="0" tIns="0" rIns="0" bIns="0" rtlCol="0" anchor="ctr"/>
          <a:lstStyle/>
          <a:p>
            <a:pPr marL="0" indent="0">
              <a:buNone/>
            </a:pPr>
            <a:r>
              <a:rPr lang="en-US" sz="1400" dirty="0">
                <a:solidFill>
                  <a:srgbClr val="44506B"/>
                </a:solidFill>
                <a:latin typeface="Calibri" pitchFamily="34" charset="0"/>
                <a:ea typeface="Calibri" pitchFamily="34" charset="-122"/>
                <a:cs typeface="Calibri" pitchFamily="34" charset="-120"/>
              </a:rPr>
              <a:t>Injury type, dates, and duration per player</a:t>
            </a:r>
            <a:endParaRPr lang="en-US" sz="1400" dirty="0">
              <a:solidFill>
                <a:srgbClr val="44506B"/>
              </a:solidFill>
            </a:endParaRPr>
          </a:p>
        </p:txBody>
      </p:sp>
      <p:sp>
        <p:nvSpPr>
          <p:cNvPr id="16" name="Shape 12"/>
          <p:cNvSpPr/>
          <p:nvPr/>
        </p:nvSpPr>
        <p:spPr>
          <a:xfrm>
            <a:off x="8193024" y="1965960"/>
            <a:ext cx="3429000" cy="2235200"/>
          </a:xfrm>
          <a:prstGeom prst="roundRect">
            <a:avLst>
              <a:gd name="adj" fmla="val 4091"/>
            </a:avLst>
          </a:prstGeom>
          <a:solidFill>
            <a:srgbClr val="FFFFFF"/>
          </a:solidFill>
          <a:ln/>
          <a:effectLst>
            <a:outerShdw blurRad="101600" dist="38100" dir="5400000" algn="bl" rotWithShape="0">
              <a:srgbClr val="8C93A6">
                <a:alpha val="25000"/>
              </a:srgbClr>
            </a:outerShdw>
          </a:effectLst>
        </p:spPr>
        <p:txBody>
          <a:bodyPr/>
          <a:lstStyle/>
          <a:p>
            <a:endParaRPr lang="en-US"/>
          </a:p>
        </p:txBody>
      </p:sp>
      <p:sp>
        <p:nvSpPr>
          <p:cNvPr id="17" name="Shape 13"/>
          <p:cNvSpPr/>
          <p:nvPr/>
        </p:nvSpPr>
        <p:spPr>
          <a:xfrm>
            <a:off x="8321040" y="2084832"/>
            <a:ext cx="768096" cy="768096"/>
          </a:xfrm>
          <a:prstGeom prst="ellipse">
            <a:avLst/>
          </a:prstGeom>
          <a:solidFill>
            <a:srgbClr val="1F7A4D">
              <a:alpha val="20000"/>
            </a:srgbClr>
          </a:solidFill>
          <a:ln/>
        </p:spPr>
        <p:txBody>
          <a:bodyPr/>
          <a:lstStyle/>
          <a:p>
            <a:endParaRPr lang="en-US"/>
          </a:p>
        </p:txBody>
      </p:sp>
      <p:sp>
        <p:nvSpPr>
          <p:cNvPr id="18" name="Shape 14"/>
          <p:cNvSpPr/>
          <p:nvPr/>
        </p:nvSpPr>
        <p:spPr>
          <a:xfrm>
            <a:off x="8449056" y="2212848"/>
            <a:ext cx="512064" cy="512064"/>
          </a:xfrm>
          <a:prstGeom prst="ellipse">
            <a:avLst/>
          </a:prstGeom>
          <a:solidFill>
            <a:srgbClr val="1F7A4D"/>
          </a:solidFill>
          <a:ln/>
        </p:spPr>
        <p:txBody>
          <a:bodyPr/>
          <a:lstStyle/>
          <a:p>
            <a:endParaRPr lang="en-US"/>
          </a:p>
        </p:txBody>
      </p:sp>
      <p:pic>
        <p:nvPicPr>
          <p:cNvPr id="19" name="Image 2" descr="preencoded.png"/>
          <p:cNvPicPr>
            <a:picLocks noChangeAspect="1"/>
          </p:cNvPicPr>
          <p:nvPr/>
        </p:nvPicPr>
        <p:blipFill>
          <a:blip r:embed="rId5"/>
          <a:stretch>
            <a:fillRect/>
          </a:stretch>
        </p:blipFill>
        <p:spPr>
          <a:xfrm>
            <a:off x="8595360" y="2359152"/>
            <a:ext cx="219456" cy="219456"/>
          </a:xfrm>
          <a:prstGeom prst="rect">
            <a:avLst/>
          </a:prstGeom>
        </p:spPr>
      </p:pic>
      <p:sp>
        <p:nvSpPr>
          <p:cNvPr id="20" name="Text 15"/>
          <p:cNvSpPr/>
          <p:nvPr/>
        </p:nvSpPr>
        <p:spPr>
          <a:xfrm>
            <a:off x="8449056" y="2871216"/>
            <a:ext cx="2916936" cy="548640"/>
          </a:xfrm>
          <a:prstGeom prst="rect">
            <a:avLst/>
          </a:prstGeom>
          <a:noFill/>
          <a:ln/>
        </p:spPr>
        <p:txBody>
          <a:bodyPr wrap="square" lIns="0" tIns="0" rIns="0" bIns="0" rtlCol="0" anchor="ctr"/>
          <a:lstStyle/>
          <a:p>
            <a:pPr marL="0" indent="0">
              <a:buNone/>
            </a:pPr>
            <a:r>
              <a:rPr lang="en-US" sz="1450" b="1" dirty="0">
                <a:solidFill>
                  <a:srgbClr val="1A1A1A"/>
                </a:solidFill>
                <a:latin typeface="Calibri" pitchFamily="34" charset="0"/>
                <a:ea typeface="Calibri" pitchFamily="34" charset="-122"/>
                <a:cs typeface="Calibri" pitchFamily="34" charset="-120"/>
              </a:rPr>
              <a:t>FBref: Match Performance</a:t>
            </a:r>
            <a:endParaRPr lang="en-US" sz="1450" dirty="0"/>
          </a:p>
        </p:txBody>
      </p:sp>
      <p:sp>
        <p:nvSpPr>
          <p:cNvPr id="21" name="Text 16"/>
          <p:cNvSpPr/>
          <p:nvPr/>
        </p:nvSpPr>
        <p:spPr>
          <a:xfrm>
            <a:off x="8449056" y="3429000"/>
            <a:ext cx="2916936" cy="533400"/>
          </a:xfrm>
          <a:prstGeom prst="rect">
            <a:avLst/>
          </a:prstGeom>
          <a:noFill/>
          <a:ln/>
        </p:spPr>
        <p:txBody>
          <a:bodyPr wrap="square" lIns="0" tIns="0" rIns="0" bIns="0" rtlCol="0" anchor="ctr"/>
          <a:lstStyle/>
          <a:p>
            <a:pPr marL="0" indent="0">
              <a:buNone/>
            </a:pPr>
            <a:r>
              <a:rPr lang="en-US" sz="1400" dirty="0">
                <a:solidFill>
                  <a:srgbClr val="44506B"/>
                </a:solidFill>
                <a:latin typeface="Calibri" pitchFamily="34" charset="0"/>
                <a:ea typeface="Calibri" pitchFamily="34" charset="-122"/>
                <a:cs typeface="Calibri" pitchFamily="34" charset="-120"/>
              </a:rPr>
              <a:t>Minutes &amp; match stats, 2017–2024, top-5 leagues</a:t>
            </a:r>
            <a:endParaRPr lang="en-US" sz="1400" dirty="0">
              <a:solidFill>
                <a:srgbClr val="44506B"/>
              </a:solidFill>
            </a:endParaRPr>
          </a:p>
        </p:txBody>
      </p:sp>
      <p:sp>
        <p:nvSpPr>
          <p:cNvPr id="22" name="Shape 17"/>
          <p:cNvSpPr/>
          <p:nvPr/>
        </p:nvSpPr>
        <p:spPr>
          <a:xfrm>
            <a:off x="822960" y="4617720"/>
            <a:ext cx="2011680" cy="548640"/>
          </a:xfrm>
          <a:prstGeom prst="roundRect">
            <a:avLst>
              <a:gd name="adj" fmla="val 50000"/>
            </a:avLst>
          </a:prstGeom>
          <a:solidFill>
            <a:srgbClr val="0F1B3D"/>
          </a:solidFill>
          <a:ln/>
        </p:spPr>
        <p:txBody>
          <a:bodyPr/>
          <a:lstStyle/>
          <a:p>
            <a:endParaRPr lang="en-US"/>
          </a:p>
        </p:txBody>
      </p:sp>
      <p:sp>
        <p:nvSpPr>
          <p:cNvPr id="23" name="Text 18"/>
          <p:cNvSpPr/>
          <p:nvPr/>
        </p:nvSpPr>
        <p:spPr>
          <a:xfrm>
            <a:off x="822960" y="4617720"/>
            <a:ext cx="2011680" cy="548640"/>
          </a:xfrm>
          <a:prstGeom prst="rect">
            <a:avLst/>
          </a:prstGeom>
          <a:noFill/>
          <a:ln/>
        </p:spPr>
        <p:txBody>
          <a:bodyPr wrap="square" lIns="0" tIns="0" rIns="0" bIns="0"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Raw sources</a:t>
            </a:r>
            <a:endParaRPr lang="en-US" sz="1250" dirty="0"/>
          </a:p>
        </p:txBody>
      </p:sp>
      <p:pic>
        <p:nvPicPr>
          <p:cNvPr id="24" name="Image 3" descr="preencoded.png"/>
          <p:cNvPicPr>
            <a:picLocks noChangeAspect="1"/>
          </p:cNvPicPr>
          <p:nvPr/>
        </p:nvPicPr>
        <p:blipFill>
          <a:blip r:embed="rId6"/>
          <a:stretch>
            <a:fillRect/>
          </a:stretch>
        </p:blipFill>
        <p:spPr>
          <a:xfrm>
            <a:off x="2852928" y="4800600"/>
            <a:ext cx="182880" cy="182880"/>
          </a:xfrm>
          <a:prstGeom prst="rect">
            <a:avLst/>
          </a:prstGeom>
        </p:spPr>
      </p:pic>
      <p:sp>
        <p:nvSpPr>
          <p:cNvPr id="25" name="Shape 19"/>
          <p:cNvSpPr/>
          <p:nvPr/>
        </p:nvSpPr>
        <p:spPr>
          <a:xfrm>
            <a:off x="3072384" y="4617720"/>
            <a:ext cx="2011680" cy="548640"/>
          </a:xfrm>
          <a:prstGeom prst="roundRect">
            <a:avLst>
              <a:gd name="adj" fmla="val 50000"/>
            </a:avLst>
          </a:prstGeom>
          <a:solidFill>
            <a:srgbClr val="0F1B3D"/>
          </a:solidFill>
          <a:ln/>
        </p:spPr>
        <p:txBody>
          <a:bodyPr/>
          <a:lstStyle/>
          <a:p>
            <a:endParaRPr lang="en-US"/>
          </a:p>
        </p:txBody>
      </p:sp>
      <p:sp>
        <p:nvSpPr>
          <p:cNvPr id="26" name="Text 20"/>
          <p:cNvSpPr/>
          <p:nvPr/>
        </p:nvSpPr>
        <p:spPr>
          <a:xfrm>
            <a:off x="3072384" y="4617720"/>
            <a:ext cx="2011680" cy="548640"/>
          </a:xfrm>
          <a:prstGeom prst="rect">
            <a:avLst/>
          </a:prstGeom>
          <a:noFill/>
          <a:ln/>
        </p:spPr>
        <p:txBody>
          <a:bodyPr wrap="square" lIns="0" tIns="0" rIns="0" bIns="0"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dbt staging</a:t>
            </a:r>
            <a:endParaRPr lang="en-US" sz="1250" dirty="0"/>
          </a:p>
        </p:txBody>
      </p:sp>
      <p:pic>
        <p:nvPicPr>
          <p:cNvPr id="27" name="Image 4" descr="preencoded.png"/>
          <p:cNvPicPr>
            <a:picLocks noChangeAspect="1"/>
          </p:cNvPicPr>
          <p:nvPr/>
        </p:nvPicPr>
        <p:blipFill>
          <a:blip r:embed="rId6"/>
          <a:stretch>
            <a:fillRect/>
          </a:stretch>
        </p:blipFill>
        <p:spPr>
          <a:xfrm>
            <a:off x="5102352" y="4800600"/>
            <a:ext cx="182880" cy="182880"/>
          </a:xfrm>
          <a:prstGeom prst="rect">
            <a:avLst/>
          </a:prstGeom>
        </p:spPr>
      </p:pic>
      <p:sp>
        <p:nvSpPr>
          <p:cNvPr id="28" name="Shape 21"/>
          <p:cNvSpPr/>
          <p:nvPr/>
        </p:nvSpPr>
        <p:spPr>
          <a:xfrm>
            <a:off x="5321808" y="4617720"/>
            <a:ext cx="2011680" cy="548640"/>
          </a:xfrm>
          <a:prstGeom prst="roundRect">
            <a:avLst>
              <a:gd name="adj" fmla="val 50000"/>
            </a:avLst>
          </a:prstGeom>
          <a:solidFill>
            <a:srgbClr val="0F1B3D"/>
          </a:solidFill>
          <a:ln/>
        </p:spPr>
        <p:txBody>
          <a:bodyPr/>
          <a:lstStyle/>
          <a:p>
            <a:endParaRPr lang="en-US"/>
          </a:p>
        </p:txBody>
      </p:sp>
      <p:sp>
        <p:nvSpPr>
          <p:cNvPr id="29" name="Text 22"/>
          <p:cNvSpPr/>
          <p:nvPr/>
        </p:nvSpPr>
        <p:spPr>
          <a:xfrm>
            <a:off x="5321808" y="4617720"/>
            <a:ext cx="2011680" cy="548640"/>
          </a:xfrm>
          <a:prstGeom prst="rect">
            <a:avLst/>
          </a:prstGeom>
          <a:noFill/>
          <a:ln/>
        </p:spPr>
        <p:txBody>
          <a:bodyPr wrap="square" lIns="0" tIns="0" rIns="0" bIns="0"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dbt prep (player match)</a:t>
            </a:r>
            <a:endParaRPr lang="en-US" sz="1250" dirty="0"/>
          </a:p>
        </p:txBody>
      </p:sp>
      <p:pic>
        <p:nvPicPr>
          <p:cNvPr id="30" name="Image 5" descr="preencoded.png"/>
          <p:cNvPicPr>
            <a:picLocks noChangeAspect="1"/>
          </p:cNvPicPr>
          <p:nvPr/>
        </p:nvPicPr>
        <p:blipFill>
          <a:blip r:embed="rId6"/>
          <a:stretch>
            <a:fillRect/>
          </a:stretch>
        </p:blipFill>
        <p:spPr>
          <a:xfrm>
            <a:off x="7351776" y="4800600"/>
            <a:ext cx="182880" cy="182880"/>
          </a:xfrm>
          <a:prstGeom prst="rect">
            <a:avLst/>
          </a:prstGeom>
        </p:spPr>
      </p:pic>
      <p:sp>
        <p:nvSpPr>
          <p:cNvPr id="31" name="Shape 23"/>
          <p:cNvSpPr/>
          <p:nvPr/>
        </p:nvSpPr>
        <p:spPr>
          <a:xfrm>
            <a:off x="7571232" y="4617720"/>
            <a:ext cx="2011680" cy="548640"/>
          </a:xfrm>
          <a:prstGeom prst="roundRect">
            <a:avLst>
              <a:gd name="adj" fmla="val 50000"/>
            </a:avLst>
          </a:prstGeom>
          <a:solidFill>
            <a:srgbClr val="0F1B3D"/>
          </a:solidFill>
          <a:ln/>
        </p:spPr>
        <p:txBody>
          <a:bodyPr/>
          <a:lstStyle/>
          <a:p>
            <a:endParaRPr lang="en-US"/>
          </a:p>
        </p:txBody>
      </p:sp>
      <p:sp>
        <p:nvSpPr>
          <p:cNvPr id="32" name="Text 24"/>
          <p:cNvSpPr/>
          <p:nvPr/>
        </p:nvSpPr>
        <p:spPr>
          <a:xfrm>
            <a:off x="7571232" y="4617720"/>
            <a:ext cx="2011680" cy="548640"/>
          </a:xfrm>
          <a:prstGeom prst="rect">
            <a:avLst/>
          </a:prstGeom>
          <a:noFill/>
          <a:ln/>
        </p:spPr>
        <p:txBody>
          <a:bodyPr wrap="square" lIns="0" tIns="0" rIns="0" bIns="0"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dbt marts</a:t>
            </a:r>
            <a:endParaRPr lang="en-US" sz="1250" dirty="0"/>
          </a:p>
        </p:txBody>
      </p:sp>
      <p:pic>
        <p:nvPicPr>
          <p:cNvPr id="33" name="Image 6" descr="preencoded.png"/>
          <p:cNvPicPr>
            <a:picLocks noChangeAspect="1"/>
          </p:cNvPicPr>
          <p:nvPr/>
        </p:nvPicPr>
        <p:blipFill>
          <a:blip r:embed="rId6"/>
          <a:stretch>
            <a:fillRect/>
          </a:stretch>
        </p:blipFill>
        <p:spPr>
          <a:xfrm>
            <a:off x="9601200" y="4800600"/>
            <a:ext cx="182880" cy="182880"/>
          </a:xfrm>
          <a:prstGeom prst="rect">
            <a:avLst/>
          </a:prstGeom>
        </p:spPr>
      </p:pic>
      <p:sp>
        <p:nvSpPr>
          <p:cNvPr id="34" name="Shape 25"/>
          <p:cNvSpPr/>
          <p:nvPr/>
        </p:nvSpPr>
        <p:spPr>
          <a:xfrm>
            <a:off x="9820656" y="4617720"/>
            <a:ext cx="2011680" cy="548640"/>
          </a:xfrm>
          <a:prstGeom prst="roundRect">
            <a:avLst>
              <a:gd name="adj" fmla="val 50000"/>
            </a:avLst>
          </a:prstGeom>
          <a:solidFill>
            <a:srgbClr val="1F7A4D"/>
          </a:solidFill>
          <a:ln/>
        </p:spPr>
        <p:txBody>
          <a:bodyPr/>
          <a:lstStyle/>
          <a:p>
            <a:endParaRPr lang="en-US"/>
          </a:p>
        </p:txBody>
      </p:sp>
      <p:sp>
        <p:nvSpPr>
          <p:cNvPr id="35" name="Text 26"/>
          <p:cNvSpPr/>
          <p:nvPr/>
        </p:nvSpPr>
        <p:spPr>
          <a:xfrm>
            <a:off x="9820656" y="4617720"/>
            <a:ext cx="2011680" cy="548640"/>
          </a:xfrm>
          <a:prstGeom prst="rect">
            <a:avLst/>
          </a:prstGeom>
          <a:noFill/>
          <a:ln/>
        </p:spPr>
        <p:txBody>
          <a:bodyPr wrap="square" lIns="0" tIns="0" rIns="0" bIns="0"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DuckDB warehouse</a:t>
            </a:r>
            <a:endParaRPr lang="en-US" sz="1250" dirty="0"/>
          </a:p>
        </p:txBody>
      </p:sp>
      <p:sp>
        <p:nvSpPr>
          <p:cNvPr id="36" name="Text 27"/>
          <p:cNvSpPr/>
          <p:nvPr/>
        </p:nvSpPr>
        <p:spPr>
          <a:xfrm>
            <a:off x="822960" y="5623560"/>
            <a:ext cx="10332720" cy="548640"/>
          </a:xfrm>
          <a:prstGeom prst="rect">
            <a:avLst/>
          </a:prstGeom>
          <a:noFill/>
          <a:ln/>
        </p:spPr>
        <p:txBody>
          <a:bodyPr wrap="square" lIns="0" tIns="0" rIns="0" bIns="0" rtlCol="0" anchor="ctr"/>
          <a:lstStyle/>
          <a:p>
            <a:pPr marL="0" indent="0">
              <a:buNone/>
            </a:pPr>
            <a:r>
              <a:rPr lang="en-US" sz="2800" b="1" dirty="0">
                <a:solidFill>
                  <a:srgbClr val="0F1B3D"/>
                </a:solidFill>
                <a:latin typeface="Cambria" pitchFamily="34" charset="0"/>
                <a:ea typeface="Cambria" pitchFamily="34" charset="-122"/>
                <a:cs typeface="Cambria" pitchFamily="34" charset="-120"/>
              </a:rPr>
              <a:t>6 / 6  </a:t>
            </a:r>
            <a:r>
              <a:rPr lang="en-US" sz="1400" dirty="0">
                <a:solidFill>
                  <a:srgbClr val="44506B"/>
                </a:solidFill>
                <a:latin typeface="Calibri" pitchFamily="34" charset="0"/>
                <a:ea typeface="Calibri" pitchFamily="34" charset="-122"/>
                <a:cs typeface="Calibri" pitchFamily="34" charset="-120"/>
              </a:rPr>
              <a:t>dbt models running end to end</a:t>
            </a:r>
            <a:r>
              <a:rPr lang="en-US" sz="1800" dirty="0">
                <a:solidFill>
                  <a:srgbClr val="C4CBD6"/>
                </a:solidFill>
                <a:latin typeface="Calibri" pitchFamily="34" charset="0"/>
                <a:ea typeface="Calibri" pitchFamily="34" charset="-122"/>
                <a:cs typeface="Calibri" pitchFamily="34" charset="-120"/>
              </a:rPr>
              <a:t>      |      </a:t>
            </a:r>
            <a:r>
              <a:rPr lang="en-US" sz="2800" b="1" dirty="0">
                <a:solidFill>
                  <a:srgbClr val="0F1B3D"/>
                </a:solidFill>
                <a:latin typeface="Cambria" pitchFamily="34" charset="0"/>
                <a:ea typeface="Cambria" pitchFamily="34" charset="-122"/>
                <a:cs typeface="Cambria" pitchFamily="34" charset="-120"/>
              </a:rPr>
              <a:t>1,959  </a:t>
            </a:r>
            <a:r>
              <a:rPr lang="en-US" sz="1400" dirty="0">
                <a:solidFill>
                  <a:srgbClr val="44506B"/>
                </a:solidFill>
                <a:latin typeface="Calibri" pitchFamily="34" charset="0"/>
                <a:ea typeface="Calibri" pitchFamily="34" charset="-122"/>
                <a:cs typeface="Calibri" pitchFamily="34" charset="-120"/>
              </a:rPr>
              <a:t>players matched across all 3 sources</a:t>
            </a:r>
            <a:endParaRPr lang="en-US" sz="1400" dirty="0">
              <a:solidFill>
                <a:srgbClr val="44506B"/>
              </a:solidFill>
            </a:endParaRPr>
          </a:p>
        </p:txBody>
      </p:sp>
      <p:sp>
        <p:nvSpPr>
          <p:cNvPr id="37" name="Text 28"/>
          <p:cNvSpPr/>
          <p:nvPr/>
        </p:nvSpPr>
        <p:spPr>
          <a:xfrm>
            <a:off x="11368735" y="6400800"/>
            <a:ext cx="548640" cy="274320"/>
          </a:xfrm>
          <a:prstGeom prst="rect">
            <a:avLst/>
          </a:prstGeom>
          <a:noFill/>
          <a:ln/>
        </p:spPr>
        <p:txBody>
          <a:bodyPr wrap="square" lIns="0" tIns="0" rIns="0" bIns="0" rtlCol="0" anchor="ctr"/>
          <a:lstStyle/>
          <a:p>
            <a:pPr marL="0" indent="0" algn="r">
              <a:buNone/>
            </a:pPr>
            <a:r>
              <a:rPr lang="en-US" sz="1200" dirty="0">
                <a:solidFill>
                  <a:srgbClr val="5A6478"/>
                </a:solidFill>
                <a:latin typeface="Calibri" pitchFamily="34" charset="0"/>
                <a:ea typeface="Calibri" pitchFamily="34" charset="-122"/>
                <a:cs typeface="Calibri" pitchFamily="34" charset="-120"/>
              </a:rPr>
              <a:t>04</a:t>
            </a:r>
            <a:endParaRPr lang="en-US" sz="1200" dirty="0">
              <a:solidFill>
                <a:srgbClr val="5A6478"/>
              </a:solidFill>
            </a:endParaRPr>
          </a:p>
        </p:txBody>
      </p:sp>
    </p:spTree>
    <p:extLst>
      <p:ext uri="{BB962C8B-B14F-4D97-AF65-F5344CB8AC3E}">
        <p14:creationId xmlns:p14="http://schemas.microsoft.com/office/powerpoint/2010/main" val="1271768360"/>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50"/>
                                        <p:tgtEl>
                                          <p:spTgt spid="4"/>
                                        </p:tgtEl>
                                      </p:cBhvr>
                                    </p:animEffect>
                                  </p:childTnLst>
                                </p:cTn>
                              </p:par>
                              <p:par>
                                <p:cTn id="8" presetID="10" presetClass="entr" presetSubtype="0" fill="hold"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50"/>
                                        <p:tgtEl>
                                          <p:spTgt spid="10"/>
                                        </p:tgtEl>
                                      </p:cBhvr>
                                    </p:animEffect>
                                  </p:childTnLst>
                                </p:cTn>
                              </p:par>
                              <p:par>
                                <p:cTn id="11" presetID="10" presetClass="entr" presetSubtype="0" fill="hold" nodeType="withEffect">
                                  <p:stCondLst>
                                    <p:cond delay="0"/>
                                  </p:stCondLst>
                                  <p:childTnLst>
                                    <p:set>
                                      <p:cBhvr>
                                        <p:cTn id="12" dur="1" fill="hold">
                                          <p:stCondLst>
                                            <p:cond delay="0"/>
                                          </p:stCondLst>
                                        </p:cTn>
                                        <p:tgtEl>
                                          <p:spTgt spid="16"/>
                                        </p:tgtEl>
                                        <p:attrNameLst>
                                          <p:attrName>style.visibility</p:attrName>
                                        </p:attrNameLst>
                                      </p:cBhvr>
                                      <p:to>
                                        <p:strVal val="visible"/>
                                      </p:to>
                                    </p:set>
                                    <p:animEffect transition="in" filter="fade">
                                      <p:cBhvr>
                                        <p:cTn id="13" dur="450"/>
                                        <p:tgtEl>
                                          <p:spTgt spid="16"/>
                                        </p:tgtEl>
                                      </p:cBhvr>
                                    </p:animEffect>
                                  </p:childTnLst>
                                </p:cTn>
                              </p:par>
                              <p:par>
                                <p:cTn id="14" presetID="10" presetClass="entr" presetSubtype="0" fill="hold" nodeType="with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450"/>
                                        <p:tgtEl>
                                          <p:spTgt spid="5"/>
                                        </p:tgtEl>
                                      </p:cBhvr>
                                    </p:animEffect>
                                  </p:childTnLst>
                                </p:cTn>
                              </p:par>
                              <p:par>
                                <p:cTn id="17" presetID="10" presetClass="entr" presetSubtype="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50"/>
                                        <p:tgtEl>
                                          <p:spTgt spid="11"/>
                                        </p:tgtEl>
                                      </p:cBhvr>
                                    </p:animEffect>
                                  </p:childTnLst>
                                </p:cTn>
                              </p:par>
                              <p:par>
                                <p:cTn id="20" presetID="10" presetClass="entr" presetSubtype="0" fill="hold" nodeType="with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fade">
                                      <p:cBhvr>
                                        <p:cTn id="22" dur="450"/>
                                        <p:tgtEl>
                                          <p:spTgt spid="17"/>
                                        </p:tgtEl>
                                      </p:cBhvr>
                                    </p:animEffect>
                                  </p:childTnLst>
                                </p:cTn>
                              </p:par>
                              <p:par>
                                <p:cTn id="23" presetID="10" presetClass="entr" presetSubtype="0" fill="hold" nodeType="withEffect">
                                  <p:stCondLst>
                                    <p:cond delay="0"/>
                                  </p:stCondLst>
                                  <p:childTnLst>
                                    <p:set>
                                      <p:cBhvr>
                                        <p:cTn id="24" dur="1" fill="hold">
                                          <p:stCondLst>
                                            <p:cond delay="0"/>
                                          </p:stCondLst>
                                        </p:cTn>
                                        <p:tgtEl>
                                          <p:spTgt spid="6"/>
                                        </p:tgtEl>
                                        <p:attrNameLst>
                                          <p:attrName>style.visibility</p:attrName>
                                        </p:attrNameLst>
                                      </p:cBhvr>
                                      <p:to>
                                        <p:strVal val="visible"/>
                                      </p:to>
                                    </p:set>
                                    <p:animEffect transition="in" filter="fade">
                                      <p:cBhvr>
                                        <p:cTn id="25" dur="450"/>
                                        <p:tgtEl>
                                          <p:spTgt spid="6"/>
                                        </p:tgtEl>
                                      </p:cBhvr>
                                    </p:animEffect>
                                  </p:childTnLst>
                                </p:cTn>
                              </p:par>
                              <p:par>
                                <p:cTn id="26" presetID="10" presetClass="entr" presetSubtype="0" fill="hold" nodeType="with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450"/>
                                        <p:tgtEl>
                                          <p:spTgt spid="12"/>
                                        </p:tgtEl>
                                      </p:cBhvr>
                                    </p:animEffect>
                                  </p:childTnLst>
                                </p:cTn>
                              </p:par>
                              <p:par>
                                <p:cTn id="29" presetID="10" presetClass="entr" presetSubtype="0" fill="hold" nodeType="withEffect">
                                  <p:stCondLst>
                                    <p:cond delay="0"/>
                                  </p:stCondLst>
                                  <p:childTnLst>
                                    <p:set>
                                      <p:cBhvr>
                                        <p:cTn id="30" dur="1" fill="hold">
                                          <p:stCondLst>
                                            <p:cond delay="0"/>
                                          </p:stCondLst>
                                        </p:cTn>
                                        <p:tgtEl>
                                          <p:spTgt spid="18"/>
                                        </p:tgtEl>
                                        <p:attrNameLst>
                                          <p:attrName>style.visibility</p:attrName>
                                        </p:attrNameLst>
                                      </p:cBhvr>
                                      <p:to>
                                        <p:strVal val="visible"/>
                                      </p:to>
                                    </p:set>
                                    <p:animEffect transition="in" filter="fade">
                                      <p:cBhvr>
                                        <p:cTn id="31" dur="450"/>
                                        <p:tgtEl>
                                          <p:spTgt spid="18"/>
                                        </p:tgtEl>
                                      </p:cBhvr>
                                    </p:animEffect>
                                  </p:childTnLst>
                                </p:cTn>
                              </p:par>
                            </p:childTnLst>
                          </p:cTn>
                        </p:par>
                      </p:childTnLst>
                    </p:cTn>
                  </p:par>
                  <p:par>
                    <p:cTn id="32" fill="hold">
                      <p:stCondLst>
                        <p:cond delay="250"/>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8"/>
                                        </p:tgtEl>
                                        <p:attrNameLst>
                                          <p:attrName>style.visibility</p:attrName>
                                        </p:attrNameLst>
                                      </p:cBhvr>
                                      <p:to>
                                        <p:strVal val="visible"/>
                                      </p:to>
                                    </p:set>
                                    <p:animEffect transition="in" filter="fade">
                                      <p:cBhvr>
                                        <p:cTn id="36" dur="450"/>
                                        <p:tgtEl>
                                          <p:spTgt spid="8"/>
                                        </p:tgtEl>
                                      </p:cBhvr>
                                    </p:animEffect>
                                  </p:childTnLst>
                                </p:cTn>
                              </p:par>
                              <p:par>
                                <p:cTn id="37" presetID="10" presetClass="entr" presetSubtype="0" fill="hold" nodeType="with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450"/>
                                        <p:tgtEl>
                                          <p:spTgt spid="14"/>
                                        </p:tgtEl>
                                      </p:cBhvr>
                                    </p:animEffect>
                                  </p:childTnLst>
                                </p:cTn>
                              </p:par>
                              <p:par>
                                <p:cTn id="40" presetID="10" presetClass="entr" presetSubtype="0" fill="hold" nodeType="withEffect">
                                  <p:stCondLst>
                                    <p:cond delay="0"/>
                                  </p:stCondLst>
                                  <p:childTnLst>
                                    <p:set>
                                      <p:cBhvr>
                                        <p:cTn id="41" dur="1" fill="hold">
                                          <p:stCondLst>
                                            <p:cond delay="0"/>
                                          </p:stCondLst>
                                        </p:cTn>
                                        <p:tgtEl>
                                          <p:spTgt spid="20"/>
                                        </p:tgtEl>
                                        <p:attrNameLst>
                                          <p:attrName>style.visibility</p:attrName>
                                        </p:attrNameLst>
                                      </p:cBhvr>
                                      <p:to>
                                        <p:strVal val="visible"/>
                                      </p:to>
                                    </p:set>
                                    <p:animEffect transition="in" filter="fade">
                                      <p:cBhvr>
                                        <p:cTn id="42" dur="450"/>
                                        <p:tgtEl>
                                          <p:spTgt spid="20"/>
                                        </p:tgtEl>
                                      </p:cBhvr>
                                    </p:animEffect>
                                  </p:childTnLst>
                                </p:cTn>
                              </p:par>
                              <p:par>
                                <p:cTn id="43" presetID="10" presetClass="entr" presetSubtype="0" fill="hold" nodeType="withEffect">
                                  <p:stCondLst>
                                    <p:cond delay="0"/>
                                  </p:stCondLst>
                                  <p:childTnLst>
                                    <p:set>
                                      <p:cBhvr>
                                        <p:cTn id="44" dur="1" fill="hold">
                                          <p:stCondLst>
                                            <p:cond delay="0"/>
                                          </p:stCondLst>
                                        </p:cTn>
                                        <p:tgtEl>
                                          <p:spTgt spid="9"/>
                                        </p:tgtEl>
                                        <p:attrNameLst>
                                          <p:attrName>style.visibility</p:attrName>
                                        </p:attrNameLst>
                                      </p:cBhvr>
                                      <p:to>
                                        <p:strVal val="visible"/>
                                      </p:to>
                                    </p:set>
                                    <p:animEffect transition="in" filter="fade">
                                      <p:cBhvr>
                                        <p:cTn id="45" dur="450"/>
                                        <p:tgtEl>
                                          <p:spTgt spid="9"/>
                                        </p:tgtEl>
                                      </p:cBhvr>
                                    </p:animEffect>
                                  </p:childTnLst>
                                </p:cTn>
                              </p:par>
                              <p:par>
                                <p:cTn id="46" presetID="10" presetClass="entr" presetSubtype="0" fill="hold" nodeType="withEffect">
                                  <p:stCondLst>
                                    <p:cond delay="0"/>
                                  </p:stCondLst>
                                  <p:childTnLst>
                                    <p:set>
                                      <p:cBhvr>
                                        <p:cTn id="47" dur="1" fill="hold">
                                          <p:stCondLst>
                                            <p:cond delay="0"/>
                                          </p:stCondLst>
                                        </p:cTn>
                                        <p:tgtEl>
                                          <p:spTgt spid="15"/>
                                        </p:tgtEl>
                                        <p:attrNameLst>
                                          <p:attrName>style.visibility</p:attrName>
                                        </p:attrNameLst>
                                      </p:cBhvr>
                                      <p:to>
                                        <p:strVal val="visible"/>
                                      </p:to>
                                    </p:set>
                                    <p:animEffect transition="in" filter="fade">
                                      <p:cBhvr>
                                        <p:cTn id="48" dur="450"/>
                                        <p:tgtEl>
                                          <p:spTgt spid="15"/>
                                        </p:tgtEl>
                                      </p:cBhvr>
                                    </p:animEffect>
                                  </p:childTnLst>
                                </p:cTn>
                              </p:par>
                              <p:par>
                                <p:cTn id="49" presetID="10" presetClass="entr" presetSubtype="0" fill="hold" nodeType="withEffect">
                                  <p:stCondLst>
                                    <p:cond delay="0"/>
                                  </p:stCondLst>
                                  <p:childTnLst>
                                    <p:set>
                                      <p:cBhvr>
                                        <p:cTn id="50" dur="1" fill="hold">
                                          <p:stCondLst>
                                            <p:cond delay="0"/>
                                          </p:stCondLst>
                                        </p:cTn>
                                        <p:tgtEl>
                                          <p:spTgt spid="21"/>
                                        </p:tgtEl>
                                        <p:attrNameLst>
                                          <p:attrName>style.visibility</p:attrName>
                                        </p:attrNameLst>
                                      </p:cBhvr>
                                      <p:to>
                                        <p:strVal val="visible"/>
                                      </p:to>
                                    </p:set>
                                    <p:animEffect transition="in" filter="fade">
                                      <p:cBhvr>
                                        <p:cTn id="51" dur="450"/>
                                        <p:tgtEl>
                                          <p:spTgt spid="21"/>
                                        </p:tgtEl>
                                      </p:cBhvr>
                                    </p:animEffect>
                                  </p:childTnLst>
                                </p:cTn>
                              </p:par>
                            </p:childTnLst>
                          </p:cTn>
                        </p:par>
                      </p:childTnLst>
                    </p:cTn>
                  </p:par>
                  <p:par>
                    <p:cTn id="52" fill="hold">
                      <p:stCondLst>
                        <p:cond delay="250"/>
                      </p:stCondLst>
                      <p:childTnLst>
                        <p:par>
                          <p:cTn id="53" fill="hold">
                            <p:stCondLst>
                              <p:cond delay="0"/>
                            </p:stCondLst>
                            <p:childTnLst>
                              <p:par>
                                <p:cTn id="54" presetID="10" presetClass="entr" presetSubtype="0" fill="hold" nodeType="clickEffect">
                                  <p:stCondLst>
                                    <p:cond delay="0"/>
                                  </p:stCondLst>
                                  <p:childTnLst>
                                    <p:set>
                                      <p:cBhvr>
                                        <p:cTn id="55" dur="1" fill="hold">
                                          <p:stCondLst>
                                            <p:cond delay="0"/>
                                          </p:stCondLst>
                                        </p:cTn>
                                        <p:tgtEl>
                                          <p:spTgt spid="22"/>
                                        </p:tgtEl>
                                        <p:attrNameLst>
                                          <p:attrName>style.visibility</p:attrName>
                                        </p:attrNameLst>
                                      </p:cBhvr>
                                      <p:to>
                                        <p:strVal val="visible"/>
                                      </p:to>
                                    </p:set>
                                    <p:animEffect transition="in" filter="fade">
                                      <p:cBhvr>
                                        <p:cTn id="56" dur="450"/>
                                        <p:tgtEl>
                                          <p:spTgt spid="22"/>
                                        </p:tgtEl>
                                      </p:cBhvr>
                                    </p:animEffect>
                                  </p:childTnLst>
                                </p:cTn>
                              </p:par>
                              <p:par>
                                <p:cTn id="57" presetID="10" presetClass="entr" presetSubtype="0" fill="hold" nodeType="withEffect">
                                  <p:stCondLst>
                                    <p:cond delay="0"/>
                                  </p:stCondLst>
                                  <p:childTnLst>
                                    <p:set>
                                      <p:cBhvr>
                                        <p:cTn id="58" dur="1" fill="hold">
                                          <p:stCondLst>
                                            <p:cond delay="0"/>
                                          </p:stCondLst>
                                        </p:cTn>
                                        <p:tgtEl>
                                          <p:spTgt spid="23"/>
                                        </p:tgtEl>
                                        <p:attrNameLst>
                                          <p:attrName>style.visibility</p:attrName>
                                        </p:attrNameLst>
                                      </p:cBhvr>
                                      <p:to>
                                        <p:strVal val="visible"/>
                                      </p:to>
                                    </p:set>
                                    <p:animEffect transition="in" filter="fade">
                                      <p:cBhvr>
                                        <p:cTn id="59" dur="450"/>
                                        <p:tgtEl>
                                          <p:spTgt spid="23"/>
                                        </p:tgtEl>
                                      </p:cBhvr>
                                    </p:animEffect>
                                  </p:childTnLst>
                                </p:cTn>
                              </p:par>
                              <p:par>
                                <p:cTn id="60" presetID="10" presetClass="entr" presetSubtype="0" fill="hold" nodeType="withEffect">
                                  <p:stCondLst>
                                    <p:cond delay="0"/>
                                  </p:stCondLst>
                                  <p:childTnLst>
                                    <p:set>
                                      <p:cBhvr>
                                        <p:cTn id="61" dur="1" fill="hold">
                                          <p:stCondLst>
                                            <p:cond delay="0"/>
                                          </p:stCondLst>
                                        </p:cTn>
                                        <p:tgtEl>
                                          <p:spTgt spid="25"/>
                                        </p:tgtEl>
                                        <p:attrNameLst>
                                          <p:attrName>style.visibility</p:attrName>
                                        </p:attrNameLst>
                                      </p:cBhvr>
                                      <p:to>
                                        <p:strVal val="visible"/>
                                      </p:to>
                                    </p:set>
                                    <p:animEffect transition="in" filter="fade">
                                      <p:cBhvr>
                                        <p:cTn id="62" dur="450"/>
                                        <p:tgtEl>
                                          <p:spTgt spid="25"/>
                                        </p:tgtEl>
                                      </p:cBhvr>
                                    </p:animEffect>
                                  </p:childTnLst>
                                </p:cTn>
                              </p:par>
                              <p:par>
                                <p:cTn id="63" presetID="10" presetClass="entr" presetSubtype="0" fill="hold" nodeType="withEffect">
                                  <p:stCondLst>
                                    <p:cond delay="0"/>
                                  </p:stCondLst>
                                  <p:childTnLst>
                                    <p:set>
                                      <p:cBhvr>
                                        <p:cTn id="64" dur="1" fill="hold">
                                          <p:stCondLst>
                                            <p:cond delay="0"/>
                                          </p:stCondLst>
                                        </p:cTn>
                                        <p:tgtEl>
                                          <p:spTgt spid="26"/>
                                        </p:tgtEl>
                                        <p:attrNameLst>
                                          <p:attrName>style.visibility</p:attrName>
                                        </p:attrNameLst>
                                      </p:cBhvr>
                                      <p:to>
                                        <p:strVal val="visible"/>
                                      </p:to>
                                    </p:set>
                                    <p:animEffect transition="in" filter="fade">
                                      <p:cBhvr>
                                        <p:cTn id="65" dur="450"/>
                                        <p:tgtEl>
                                          <p:spTgt spid="26"/>
                                        </p:tgtEl>
                                      </p:cBhvr>
                                    </p:animEffect>
                                  </p:childTnLst>
                                </p:cTn>
                              </p:par>
                              <p:par>
                                <p:cTn id="66" presetID="10" presetClass="entr" presetSubtype="0" fill="hold" nodeType="withEffect">
                                  <p:stCondLst>
                                    <p:cond delay="0"/>
                                  </p:stCondLst>
                                  <p:childTnLst>
                                    <p:set>
                                      <p:cBhvr>
                                        <p:cTn id="67" dur="1" fill="hold">
                                          <p:stCondLst>
                                            <p:cond delay="0"/>
                                          </p:stCondLst>
                                        </p:cTn>
                                        <p:tgtEl>
                                          <p:spTgt spid="28"/>
                                        </p:tgtEl>
                                        <p:attrNameLst>
                                          <p:attrName>style.visibility</p:attrName>
                                        </p:attrNameLst>
                                      </p:cBhvr>
                                      <p:to>
                                        <p:strVal val="visible"/>
                                      </p:to>
                                    </p:set>
                                    <p:animEffect transition="in" filter="fade">
                                      <p:cBhvr>
                                        <p:cTn id="68" dur="450"/>
                                        <p:tgtEl>
                                          <p:spTgt spid="28"/>
                                        </p:tgtEl>
                                      </p:cBhvr>
                                    </p:animEffect>
                                  </p:childTnLst>
                                </p:cTn>
                              </p:par>
                              <p:par>
                                <p:cTn id="69" presetID="10" presetClass="entr" presetSubtype="0" fill="hold" nodeType="withEffect">
                                  <p:stCondLst>
                                    <p:cond delay="0"/>
                                  </p:stCondLst>
                                  <p:childTnLst>
                                    <p:set>
                                      <p:cBhvr>
                                        <p:cTn id="70" dur="1" fill="hold">
                                          <p:stCondLst>
                                            <p:cond delay="0"/>
                                          </p:stCondLst>
                                        </p:cTn>
                                        <p:tgtEl>
                                          <p:spTgt spid="29"/>
                                        </p:tgtEl>
                                        <p:attrNameLst>
                                          <p:attrName>style.visibility</p:attrName>
                                        </p:attrNameLst>
                                      </p:cBhvr>
                                      <p:to>
                                        <p:strVal val="visible"/>
                                      </p:to>
                                    </p:set>
                                    <p:animEffect transition="in" filter="fade">
                                      <p:cBhvr>
                                        <p:cTn id="71" dur="450"/>
                                        <p:tgtEl>
                                          <p:spTgt spid="29"/>
                                        </p:tgtEl>
                                      </p:cBhvr>
                                    </p:animEffect>
                                  </p:childTnLst>
                                </p:cTn>
                              </p:par>
                              <p:par>
                                <p:cTn id="72" presetID="10" presetClass="entr" presetSubtype="0" fill="hold" nodeType="withEffect">
                                  <p:stCondLst>
                                    <p:cond delay="0"/>
                                  </p:stCondLst>
                                  <p:childTnLst>
                                    <p:set>
                                      <p:cBhvr>
                                        <p:cTn id="73" dur="1" fill="hold">
                                          <p:stCondLst>
                                            <p:cond delay="0"/>
                                          </p:stCondLst>
                                        </p:cTn>
                                        <p:tgtEl>
                                          <p:spTgt spid="31"/>
                                        </p:tgtEl>
                                        <p:attrNameLst>
                                          <p:attrName>style.visibility</p:attrName>
                                        </p:attrNameLst>
                                      </p:cBhvr>
                                      <p:to>
                                        <p:strVal val="visible"/>
                                      </p:to>
                                    </p:set>
                                    <p:animEffect transition="in" filter="fade">
                                      <p:cBhvr>
                                        <p:cTn id="74" dur="450"/>
                                        <p:tgtEl>
                                          <p:spTgt spid="31"/>
                                        </p:tgtEl>
                                      </p:cBhvr>
                                    </p:animEffect>
                                  </p:childTnLst>
                                </p:cTn>
                              </p:par>
                              <p:par>
                                <p:cTn id="75" presetID="10" presetClass="entr" presetSubtype="0" fill="hold" nodeType="withEffect">
                                  <p:stCondLst>
                                    <p:cond delay="0"/>
                                  </p:stCondLst>
                                  <p:childTnLst>
                                    <p:set>
                                      <p:cBhvr>
                                        <p:cTn id="76" dur="1" fill="hold">
                                          <p:stCondLst>
                                            <p:cond delay="0"/>
                                          </p:stCondLst>
                                        </p:cTn>
                                        <p:tgtEl>
                                          <p:spTgt spid="32"/>
                                        </p:tgtEl>
                                        <p:attrNameLst>
                                          <p:attrName>style.visibility</p:attrName>
                                        </p:attrNameLst>
                                      </p:cBhvr>
                                      <p:to>
                                        <p:strVal val="visible"/>
                                      </p:to>
                                    </p:set>
                                    <p:animEffect transition="in" filter="fade">
                                      <p:cBhvr>
                                        <p:cTn id="77" dur="450"/>
                                        <p:tgtEl>
                                          <p:spTgt spid="32"/>
                                        </p:tgtEl>
                                      </p:cBhvr>
                                    </p:animEffect>
                                  </p:childTnLst>
                                </p:cTn>
                              </p:par>
                              <p:par>
                                <p:cTn id="78" presetID="10" presetClass="entr" presetSubtype="0" fill="hold" nodeType="withEffect">
                                  <p:stCondLst>
                                    <p:cond delay="0"/>
                                  </p:stCondLst>
                                  <p:childTnLst>
                                    <p:set>
                                      <p:cBhvr>
                                        <p:cTn id="79" dur="1" fill="hold">
                                          <p:stCondLst>
                                            <p:cond delay="0"/>
                                          </p:stCondLst>
                                        </p:cTn>
                                        <p:tgtEl>
                                          <p:spTgt spid="34"/>
                                        </p:tgtEl>
                                        <p:attrNameLst>
                                          <p:attrName>style.visibility</p:attrName>
                                        </p:attrNameLst>
                                      </p:cBhvr>
                                      <p:to>
                                        <p:strVal val="visible"/>
                                      </p:to>
                                    </p:set>
                                    <p:animEffect transition="in" filter="fade">
                                      <p:cBhvr>
                                        <p:cTn id="80" dur="450"/>
                                        <p:tgtEl>
                                          <p:spTgt spid="34"/>
                                        </p:tgtEl>
                                      </p:cBhvr>
                                    </p:animEffect>
                                  </p:childTnLst>
                                </p:cTn>
                              </p:par>
                              <p:par>
                                <p:cTn id="81" presetID="10" presetClass="entr" presetSubtype="0" fill="hold" nodeType="withEffect">
                                  <p:stCondLst>
                                    <p:cond delay="0"/>
                                  </p:stCondLst>
                                  <p:childTnLst>
                                    <p:set>
                                      <p:cBhvr>
                                        <p:cTn id="82" dur="1" fill="hold">
                                          <p:stCondLst>
                                            <p:cond delay="0"/>
                                          </p:stCondLst>
                                        </p:cTn>
                                        <p:tgtEl>
                                          <p:spTgt spid="35"/>
                                        </p:tgtEl>
                                        <p:attrNameLst>
                                          <p:attrName>style.visibility</p:attrName>
                                        </p:attrNameLst>
                                      </p:cBhvr>
                                      <p:to>
                                        <p:strVal val="visible"/>
                                      </p:to>
                                    </p:set>
                                    <p:animEffect transition="in" filter="fade">
                                      <p:cBhvr>
                                        <p:cTn id="83" dur="450"/>
                                        <p:tgtEl>
                                          <p:spTgt spid="35"/>
                                        </p:tgtEl>
                                      </p:cBhvr>
                                    </p:animEffect>
                                  </p:childTnLst>
                                </p:cTn>
                              </p:par>
                            </p:childTnLst>
                          </p:cTn>
                        </p:par>
                      </p:childTnLst>
                    </p:cTn>
                  </p:par>
                  <p:par>
                    <p:cTn id="84" fill="hold">
                      <p:stCondLst>
                        <p:cond delay="250"/>
                      </p:stCondLst>
                      <p:childTnLst>
                        <p:par>
                          <p:cTn id="85" fill="hold">
                            <p:stCondLst>
                              <p:cond delay="0"/>
                            </p:stCondLst>
                            <p:childTnLst>
                              <p:par>
                                <p:cTn id="86" presetID="10" presetClass="entr" presetSubtype="0" fill="hold" nodeType="clickEffect">
                                  <p:stCondLst>
                                    <p:cond delay="0"/>
                                  </p:stCondLst>
                                  <p:childTnLst>
                                    <p:set>
                                      <p:cBhvr>
                                        <p:cTn id="87" dur="1" fill="hold">
                                          <p:stCondLst>
                                            <p:cond delay="0"/>
                                          </p:stCondLst>
                                        </p:cTn>
                                        <p:tgtEl>
                                          <p:spTgt spid="36"/>
                                        </p:tgtEl>
                                        <p:attrNameLst>
                                          <p:attrName>style.visibility</p:attrName>
                                        </p:attrNameLst>
                                      </p:cBhvr>
                                      <p:to>
                                        <p:strVal val="visible"/>
                                      </p:to>
                                    </p:set>
                                    <p:animEffect transition="in" filter="fade">
                                      <p:cBhvr>
                                        <p:cTn id="88" dur="45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B3D"/>
        </a:solidFill>
        <a:effectLst/>
      </p:bgPr>
    </p:bg>
    <p:spTree>
      <p:nvGrpSpPr>
        <p:cNvPr id="1" name=""/>
        <p:cNvGrpSpPr/>
        <p:nvPr/>
      </p:nvGrpSpPr>
      <p:grpSpPr>
        <a:xfrm>
          <a:off x="0" y="0"/>
          <a:ext cx="0" cy="0"/>
          <a:chOff x="0" y="0"/>
          <a:chExt cx="0" cy="0"/>
        </a:xfrm>
      </p:grpSpPr>
      <p:sp>
        <p:nvSpPr>
          <p:cNvPr id="2" name="Shape 0"/>
          <p:cNvSpPr/>
          <p:nvPr/>
        </p:nvSpPr>
        <p:spPr>
          <a:xfrm>
            <a:off x="-365760" y="-365760"/>
            <a:ext cx="731520" cy="731520"/>
          </a:xfrm>
          <a:prstGeom prst="ellipse">
            <a:avLst/>
          </a:prstGeom>
          <a:ln w="19050">
            <a:solidFill>
              <a:srgbClr val="1F7A4D">
                <a:alpha val="45000"/>
              </a:srgbClr>
            </a:solidFill>
            <a:prstDash val="solid"/>
          </a:ln>
        </p:spPr>
        <p:txBody>
          <a:bodyPr/>
          <a:lstStyle/>
          <a:p>
            <a:endParaRPr lang="en-US"/>
          </a:p>
        </p:txBody>
      </p:sp>
      <p:sp>
        <p:nvSpPr>
          <p:cNvPr id="3" name="Shape 1"/>
          <p:cNvSpPr/>
          <p:nvPr/>
        </p:nvSpPr>
        <p:spPr>
          <a:xfrm>
            <a:off x="11825935" y="-365760"/>
            <a:ext cx="731520" cy="731520"/>
          </a:xfrm>
          <a:prstGeom prst="ellipse">
            <a:avLst/>
          </a:prstGeom>
          <a:ln w="19050">
            <a:solidFill>
              <a:srgbClr val="1F7A4D">
                <a:alpha val="45000"/>
              </a:srgbClr>
            </a:solidFill>
            <a:prstDash val="solid"/>
          </a:ln>
        </p:spPr>
        <p:txBody>
          <a:bodyPr/>
          <a:lstStyle/>
          <a:p>
            <a:endParaRPr lang="en-US"/>
          </a:p>
        </p:txBody>
      </p:sp>
      <p:sp>
        <p:nvSpPr>
          <p:cNvPr id="4" name="Shape 2"/>
          <p:cNvSpPr/>
          <p:nvPr/>
        </p:nvSpPr>
        <p:spPr>
          <a:xfrm>
            <a:off x="-365760" y="6492240"/>
            <a:ext cx="731520" cy="731520"/>
          </a:xfrm>
          <a:prstGeom prst="ellipse">
            <a:avLst/>
          </a:prstGeom>
          <a:ln w="19050">
            <a:solidFill>
              <a:srgbClr val="1F7A4D">
                <a:alpha val="45000"/>
              </a:srgbClr>
            </a:solidFill>
            <a:prstDash val="solid"/>
          </a:ln>
        </p:spPr>
        <p:txBody>
          <a:bodyPr/>
          <a:lstStyle/>
          <a:p>
            <a:endParaRPr lang="en-US"/>
          </a:p>
        </p:txBody>
      </p:sp>
      <p:sp>
        <p:nvSpPr>
          <p:cNvPr id="5" name="Shape 3"/>
          <p:cNvSpPr/>
          <p:nvPr/>
        </p:nvSpPr>
        <p:spPr>
          <a:xfrm>
            <a:off x="11825935" y="6492240"/>
            <a:ext cx="731520" cy="731520"/>
          </a:xfrm>
          <a:prstGeom prst="ellipse">
            <a:avLst/>
          </a:prstGeom>
          <a:ln w="19050">
            <a:solidFill>
              <a:srgbClr val="1F7A4D">
                <a:alpha val="45000"/>
              </a:srgbClr>
            </a:solidFill>
            <a:prstDash val="solid"/>
          </a:ln>
        </p:spPr>
        <p:txBody>
          <a:bodyPr/>
          <a:lstStyle/>
          <a:p>
            <a:endParaRPr lang="en-US"/>
          </a:p>
        </p:txBody>
      </p:sp>
      <p:sp>
        <p:nvSpPr>
          <p:cNvPr id="6" name="Shape 4"/>
          <p:cNvSpPr/>
          <p:nvPr/>
        </p:nvSpPr>
        <p:spPr>
          <a:xfrm>
            <a:off x="2926080" y="-4846320"/>
            <a:ext cx="6035040" cy="6035040"/>
          </a:xfrm>
          <a:prstGeom prst="ellipse">
            <a:avLst/>
          </a:prstGeom>
          <a:solidFill>
            <a:srgbClr val="1F7A4D">
              <a:alpha val="5000"/>
            </a:srgbClr>
          </a:solidFill>
          <a:ln w="25400">
            <a:solidFill>
              <a:srgbClr val="1F7A4D">
                <a:alpha val="38000"/>
              </a:srgbClr>
            </a:solidFill>
            <a:prstDash val="solid"/>
          </a:ln>
        </p:spPr>
        <p:txBody>
          <a:bodyPr/>
          <a:lstStyle/>
          <a:p>
            <a:endParaRPr lang="en-US"/>
          </a:p>
        </p:txBody>
      </p:sp>
      <p:sp>
        <p:nvSpPr>
          <p:cNvPr id="7" name="Shape 5"/>
          <p:cNvSpPr/>
          <p:nvPr/>
        </p:nvSpPr>
        <p:spPr>
          <a:xfrm>
            <a:off x="5897880" y="-1874520"/>
            <a:ext cx="91440" cy="91440"/>
          </a:xfrm>
          <a:prstGeom prst="ellipse">
            <a:avLst/>
          </a:prstGeom>
          <a:solidFill>
            <a:srgbClr val="E8A33D">
              <a:alpha val="75000"/>
            </a:srgbClr>
          </a:solidFill>
          <a:ln/>
        </p:spPr>
        <p:txBody>
          <a:bodyPr/>
          <a:lstStyle/>
          <a:p>
            <a:endParaRPr lang="en-US"/>
          </a:p>
        </p:txBody>
      </p:sp>
      <p:sp>
        <p:nvSpPr>
          <p:cNvPr id="8" name="Text 6"/>
          <p:cNvSpPr/>
          <p:nvPr/>
        </p:nvSpPr>
        <p:spPr>
          <a:xfrm>
            <a:off x="822960" y="1234440"/>
            <a:ext cx="5486400" cy="320040"/>
          </a:xfrm>
          <a:prstGeom prst="rect">
            <a:avLst/>
          </a:prstGeom>
          <a:noFill/>
          <a:ln/>
        </p:spPr>
        <p:txBody>
          <a:bodyPr wrap="square" lIns="0" tIns="0" rIns="0" bIns="0" rtlCol="0" anchor="ctr"/>
          <a:lstStyle/>
          <a:p>
            <a:pPr marL="0" indent="0">
              <a:buNone/>
            </a:pPr>
            <a:r>
              <a:rPr lang="en-US" sz="1400" b="1" kern="0" spc="200" dirty="0">
                <a:solidFill>
                  <a:srgbClr val="E8A33D"/>
                </a:solidFill>
                <a:latin typeface="Calibri" pitchFamily="34" charset="0"/>
                <a:ea typeface="Calibri" pitchFamily="34" charset="-122"/>
                <a:cs typeface="Calibri" pitchFamily="34" charset="-120"/>
              </a:rPr>
              <a:t>SECTION</a:t>
            </a:r>
            <a:endParaRPr lang="en-US" sz="1400" dirty="0"/>
          </a:p>
        </p:txBody>
      </p:sp>
      <p:sp>
        <p:nvSpPr>
          <p:cNvPr id="9" name="Text 7"/>
          <p:cNvSpPr/>
          <p:nvPr/>
        </p:nvSpPr>
        <p:spPr>
          <a:xfrm>
            <a:off x="777240" y="1554480"/>
            <a:ext cx="9601200" cy="1737360"/>
          </a:xfrm>
          <a:prstGeom prst="rect">
            <a:avLst/>
          </a:prstGeom>
          <a:noFill/>
          <a:ln/>
        </p:spPr>
        <p:txBody>
          <a:bodyPr wrap="square" lIns="0" tIns="0" rIns="0" bIns="0" rtlCol="0" anchor="ctr"/>
          <a:lstStyle/>
          <a:p>
            <a:pPr marL="0" indent="0">
              <a:lnSpc>
                <a:spcPct val="108000"/>
              </a:lnSpc>
              <a:buNone/>
            </a:pPr>
            <a:r>
              <a:rPr lang="en-US" sz="4000" b="1" dirty="0">
                <a:solidFill>
                  <a:srgbClr val="FFFFFF"/>
                </a:solidFill>
                <a:latin typeface="Cambria" pitchFamily="34" charset="0"/>
                <a:ea typeface="Cambria" pitchFamily="34" charset="-122"/>
                <a:cs typeface="Cambria" pitchFamily="34" charset="-120"/>
              </a:rPr>
              <a:t>Three Stakeholders.</a:t>
            </a:r>
            <a:endParaRPr lang="en-US" sz="4000" dirty="0"/>
          </a:p>
          <a:p>
            <a:pPr marL="0" indent="0">
              <a:lnSpc>
                <a:spcPct val="108000"/>
              </a:lnSpc>
              <a:buNone/>
            </a:pPr>
            <a:r>
              <a:rPr lang="en-US" sz="4000" b="1" dirty="0">
                <a:solidFill>
                  <a:srgbClr val="FFFFFF"/>
                </a:solidFill>
                <a:latin typeface="Cambria" pitchFamily="34" charset="0"/>
                <a:ea typeface="Cambria" pitchFamily="34" charset="-122"/>
                <a:cs typeface="Cambria" pitchFamily="34" charset="-120"/>
              </a:rPr>
              <a:t>Three Hypotheses.</a:t>
            </a:r>
            <a:endParaRPr lang="en-US" sz="4000" dirty="0"/>
          </a:p>
        </p:txBody>
      </p:sp>
      <p:sp>
        <p:nvSpPr>
          <p:cNvPr id="10" name="Shape 8"/>
          <p:cNvSpPr/>
          <p:nvPr/>
        </p:nvSpPr>
        <p:spPr>
          <a:xfrm>
            <a:off x="822960" y="3611880"/>
            <a:ext cx="3383280" cy="2331720"/>
          </a:xfrm>
          <a:prstGeom prst="roundRect">
            <a:avLst>
              <a:gd name="adj" fmla="val 3529"/>
            </a:avLst>
          </a:prstGeom>
          <a:solidFill>
            <a:srgbClr val="16264D"/>
          </a:solidFill>
          <a:ln/>
        </p:spPr>
        <p:txBody>
          <a:bodyPr/>
          <a:lstStyle/>
          <a:p>
            <a:endParaRPr lang="en-US"/>
          </a:p>
        </p:txBody>
      </p:sp>
      <p:sp>
        <p:nvSpPr>
          <p:cNvPr id="11" name="Shape 9"/>
          <p:cNvSpPr/>
          <p:nvPr/>
        </p:nvSpPr>
        <p:spPr>
          <a:xfrm>
            <a:off x="1965960" y="3703320"/>
            <a:ext cx="1097280" cy="1097280"/>
          </a:xfrm>
          <a:prstGeom prst="ellipse">
            <a:avLst/>
          </a:prstGeom>
          <a:solidFill>
            <a:srgbClr val="E8A33D">
              <a:alpha val="20000"/>
            </a:srgbClr>
          </a:solidFill>
          <a:ln/>
        </p:spPr>
        <p:txBody>
          <a:bodyPr/>
          <a:lstStyle/>
          <a:p>
            <a:endParaRPr lang="en-US"/>
          </a:p>
        </p:txBody>
      </p:sp>
      <p:sp>
        <p:nvSpPr>
          <p:cNvPr id="12" name="Shape 10"/>
          <p:cNvSpPr/>
          <p:nvPr/>
        </p:nvSpPr>
        <p:spPr>
          <a:xfrm>
            <a:off x="2148840" y="3886200"/>
            <a:ext cx="731520" cy="731520"/>
          </a:xfrm>
          <a:prstGeom prst="ellipse">
            <a:avLst/>
          </a:prstGeom>
          <a:solidFill>
            <a:srgbClr val="E8A33D"/>
          </a:solidFill>
          <a:ln/>
        </p:spPr>
        <p:txBody>
          <a:bodyPr/>
          <a:lstStyle/>
          <a:p>
            <a:endParaRPr lang="en-US"/>
          </a:p>
        </p:txBody>
      </p:sp>
      <p:pic>
        <p:nvPicPr>
          <p:cNvPr id="13" name="Image 0" descr="preencoded.png"/>
          <p:cNvPicPr>
            <a:picLocks noChangeAspect="1"/>
          </p:cNvPicPr>
          <p:nvPr/>
        </p:nvPicPr>
        <p:blipFill>
          <a:blip r:embed="rId3"/>
          <a:stretch>
            <a:fillRect/>
          </a:stretch>
        </p:blipFill>
        <p:spPr>
          <a:xfrm>
            <a:off x="2331720" y="4069080"/>
            <a:ext cx="365760" cy="365760"/>
          </a:xfrm>
          <a:prstGeom prst="rect">
            <a:avLst/>
          </a:prstGeom>
        </p:spPr>
      </p:pic>
      <p:sp>
        <p:nvSpPr>
          <p:cNvPr id="14" name="Text 11"/>
          <p:cNvSpPr/>
          <p:nvPr/>
        </p:nvSpPr>
        <p:spPr>
          <a:xfrm>
            <a:off x="822960" y="4648200"/>
            <a:ext cx="3383280" cy="66040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Recruitment /</a:t>
            </a:r>
            <a:endParaRPr lang="en-US" sz="1600" dirty="0"/>
          </a:p>
          <a:p>
            <a:pPr marL="0" indent="0" algn="ctr">
              <a:buNone/>
            </a:pPr>
            <a:r>
              <a:rPr lang="en-US" sz="1600" b="1" dirty="0">
                <a:solidFill>
                  <a:srgbClr val="FFFFFF"/>
                </a:solidFill>
                <a:latin typeface="Calibri" pitchFamily="34" charset="0"/>
                <a:ea typeface="Calibri" pitchFamily="34" charset="-122"/>
                <a:cs typeface="Calibri" pitchFamily="34" charset="-120"/>
              </a:rPr>
              <a:t>Scouting</a:t>
            </a:r>
            <a:endParaRPr lang="en-US" sz="1600" dirty="0"/>
          </a:p>
        </p:txBody>
      </p:sp>
      <p:sp>
        <p:nvSpPr>
          <p:cNvPr id="15" name="Text 12"/>
          <p:cNvSpPr/>
          <p:nvPr/>
        </p:nvSpPr>
        <p:spPr>
          <a:xfrm>
            <a:off x="1005840" y="5308600"/>
            <a:ext cx="3017520" cy="508000"/>
          </a:xfrm>
          <a:prstGeom prst="rect">
            <a:avLst/>
          </a:prstGeom>
          <a:noFill/>
          <a:ln/>
        </p:spPr>
        <p:txBody>
          <a:bodyPr wrap="square" lIns="0" tIns="0" rIns="0" bIns="0" rtlCol="0" anchor="ctr"/>
          <a:lstStyle/>
          <a:p>
            <a:pPr marL="0" indent="0" algn="ctr">
              <a:buNone/>
            </a:pPr>
            <a:r>
              <a:rPr lang="en-US" sz="1400" i="1" dirty="0">
                <a:solidFill>
                  <a:srgbClr val="B8C4E0"/>
                </a:solidFill>
                <a:latin typeface="Calibri" pitchFamily="34" charset="0"/>
                <a:ea typeface="Calibri" pitchFamily="34" charset="-122"/>
                <a:cs typeface="Calibri" pitchFamily="34" charset="-120"/>
              </a:rPr>
              <a:t>Does injury recency predict value decline?</a:t>
            </a:r>
            <a:endParaRPr lang="en-US" sz="1400" dirty="0">
              <a:solidFill>
                <a:srgbClr val="B8C4E0"/>
              </a:solidFill>
            </a:endParaRPr>
          </a:p>
        </p:txBody>
      </p:sp>
      <p:sp>
        <p:nvSpPr>
          <p:cNvPr id="16" name="Shape 13"/>
          <p:cNvSpPr/>
          <p:nvPr/>
        </p:nvSpPr>
        <p:spPr>
          <a:xfrm>
            <a:off x="4434840" y="3611880"/>
            <a:ext cx="3383280" cy="2331720"/>
          </a:xfrm>
          <a:prstGeom prst="roundRect">
            <a:avLst>
              <a:gd name="adj" fmla="val 3529"/>
            </a:avLst>
          </a:prstGeom>
          <a:solidFill>
            <a:srgbClr val="16264D"/>
          </a:solidFill>
          <a:ln/>
        </p:spPr>
        <p:txBody>
          <a:bodyPr/>
          <a:lstStyle/>
          <a:p>
            <a:endParaRPr lang="en-US"/>
          </a:p>
        </p:txBody>
      </p:sp>
      <p:sp>
        <p:nvSpPr>
          <p:cNvPr id="17" name="Shape 14"/>
          <p:cNvSpPr/>
          <p:nvPr/>
        </p:nvSpPr>
        <p:spPr>
          <a:xfrm>
            <a:off x="5577840" y="3703320"/>
            <a:ext cx="1097280" cy="1097280"/>
          </a:xfrm>
          <a:prstGeom prst="ellipse">
            <a:avLst/>
          </a:prstGeom>
          <a:solidFill>
            <a:srgbClr val="1F7A4D">
              <a:alpha val="20000"/>
            </a:srgbClr>
          </a:solidFill>
          <a:ln/>
        </p:spPr>
        <p:txBody>
          <a:bodyPr/>
          <a:lstStyle/>
          <a:p>
            <a:endParaRPr lang="en-US"/>
          </a:p>
        </p:txBody>
      </p:sp>
      <p:sp>
        <p:nvSpPr>
          <p:cNvPr id="18" name="Shape 15"/>
          <p:cNvSpPr/>
          <p:nvPr/>
        </p:nvSpPr>
        <p:spPr>
          <a:xfrm>
            <a:off x="5760720" y="3886200"/>
            <a:ext cx="731520" cy="731520"/>
          </a:xfrm>
          <a:prstGeom prst="ellipse">
            <a:avLst/>
          </a:prstGeom>
          <a:solidFill>
            <a:srgbClr val="1F7A4D"/>
          </a:solidFill>
          <a:ln/>
        </p:spPr>
        <p:txBody>
          <a:bodyPr/>
          <a:lstStyle/>
          <a:p>
            <a:endParaRPr lang="en-US"/>
          </a:p>
        </p:txBody>
      </p:sp>
      <p:pic>
        <p:nvPicPr>
          <p:cNvPr id="19" name="Image 1" descr="preencoded.png"/>
          <p:cNvPicPr>
            <a:picLocks noChangeAspect="1"/>
          </p:cNvPicPr>
          <p:nvPr/>
        </p:nvPicPr>
        <p:blipFill>
          <a:blip r:embed="rId4"/>
          <a:stretch>
            <a:fillRect/>
          </a:stretch>
        </p:blipFill>
        <p:spPr>
          <a:xfrm>
            <a:off x="5943600" y="4069080"/>
            <a:ext cx="365760" cy="365760"/>
          </a:xfrm>
          <a:prstGeom prst="rect">
            <a:avLst/>
          </a:prstGeom>
        </p:spPr>
      </p:pic>
      <p:sp>
        <p:nvSpPr>
          <p:cNvPr id="20" name="Text 16"/>
          <p:cNvSpPr/>
          <p:nvPr/>
        </p:nvSpPr>
        <p:spPr>
          <a:xfrm>
            <a:off x="4434840" y="4648200"/>
            <a:ext cx="3383280" cy="66040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Sporting Directors /</a:t>
            </a:r>
            <a:endParaRPr lang="en-US" sz="1600" dirty="0"/>
          </a:p>
          <a:p>
            <a:pPr marL="0" indent="0" algn="ctr">
              <a:buNone/>
            </a:pPr>
            <a:r>
              <a:rPr lang="en-US" sz="1600" b="1" dirty="0">
                <a:solidFill>
                  <a:srgbClr val="FFFFFF"/>
                </a:solidFill>
                <a:latin typeface="Calibri" pitchFamily="34" charset="0"/>
                <a:ea typeface="Calibri" pitchFamily="34" charset="-122"/>
                <a:cs typeface="Calibri" pitchFamily="34" charset="-120"/>
              </a:rPr>
              <a:t>Front Office</a:t>
            </a:r>
            <a:endParaRPr lang="en-US" sz="1600" dirty="0"/>
          </a:p>
        </p:txBody>
      </p:sp>
      <p:sp>
        <p:nvSpPr>
          <p:cNvPr id="21" name="Text 17"/>
          <p:cNvSpPr/>
          <p:nvPr/>
        </p:nvSpPr>
        <p:spPr>
          <a:xfrm>
            <a:off x="4617720" y="5308600"/>
            <a:ext cx="3017520" cy="508000"/>
          </a:xfrm>
          <a:prstGeom prst="rect">
            <a:avLst/>
          </a:prstGeom>
          <a:noFill/>
          <a:ln/>
        </p:spPr>
        <p:txBody>
          <a:bodyPr wrap="square" lIns="0" tIns="0" rIns="0" bIns="0" rtlCol="0" anchor="ctr"/>
          <a:lstStyle/>
          <a:p>
            <a:pPr marL="0" indent="0" algn="ctr">
              <a:buNone/>
            </a:pPr>
            <a:r>
              <a:rPr lang="en-US" sz="1400" i="1" dirty="0">
                <a:solidFill>
                  <a:srgbClr val="B8C4E0"/>
                </a:solidFill>
                <a:latin typeface="Calibri" pitchFamily="34" charset="0"/>
                <a:ea typeface="Calibri" pitchFamily="34" charset="-122"/>
                <a:cs typeface="Calibri" pitchFamily="34" charset="-120"/>
              </a:rPr>
              <a:t>Do younger players carry less risk?</a:t>
            </a:r>
            <a:endParaRPr lang="en-US" sz="1400" dirty="0">
              <a:solidFill>
                <a:srgbClr val="B8C4E0"/>
              </a:solidFill>
            </a:endParaRPr>
          </a:p>
        </p:txBody>
      </p:sp>
      <p:sp>
        <p:nvSpPr>
          <p:cNvPr id="22" name="Shape 18"/>
          <p:cNvSpPr/>
          <p:nvPr/>
        </p:nvSpPr>
        <p:spPr>
          <a:xfrm>
            <a:off x="8046720" y="3611880"/>
            <a:ext cx="3383280" cy="2331720"/>
          </a:xfrm>
          <a:prstGeom prst="roundRect">
            <a:avLst>
              <a:gd name="adj" fmla="val 3529"/>
            </a:avLst>
          </a:prstGeom>
          <a:solidFill>
            <a:srgbClr val="16264D"/>
          </a:solidFill>
          <a:ln/>
        </p:spPr>
        <p:txBody>
          <a:bodyPr/>
          <a:lstStyle/>
          <a:p>
            <a:endParaRPr lang="en-US"/>
          </a:p>
        </p:txBody>
      </p:sp>
      <p:sp>
        <p:nvSpPr>
          <p:cNvPr id="23" name="Shape 19"/>
          <p:cNvSpPr/>
          <p:nvPr/>
        </p:nvSpPr>
        <p:spPr>
          <a:xfrm>
            <a:off x="9189720" y="3703320"/>
            <a:ext cx="1097280" cy="1097280"/>
          </a:xfrm>
          <a:prstGeom prst="ellipse">
            <a:avLst/>
          </a:prstGeom>
          <a:solidFill>
            <a:srgbClr val="C0392B">
              <a:alpha val="20000"/>
            </a:srgbClr>
          </a:solidFill>
          <a:ln/>
        </p:spPr>
        <p:txBody>
          <a:bodyPr/>
          <a:lstStyle/>
          <a:p>
            <a:endParaRPr lang="en-US"/>
          </a:p>
        </p:txBody>
      </p:sp>
      <p:sp>
        <p:nvSpPr>
          <p:cNvPr id="24" name="Shape 20"/>
          <p:cNvSpPr/>
          <p:nvPr/>
        </p:nvSpPr>
        <p:spPr>
          <a:xfrm>
            <a:off x="9372600" y="3886200"/>
            <a:ext cx="731520" cy="731520"/>
          </a:xfrm>
          <a:prstGeom prst="ellipse">
            <a:avLst/>
          </a:prstGeom>
          <a:solidFill>
            <a:srgbClr val="C0392B"/>
          </a:solidFill>
          <a:ln/>
        </p:spPr>
        <p:txBody>
          <a:bodyPr/>
          <a:lstStyle/>
          <a:p>
            <a:endParaRPr lang="en-US"/>
          </a:p>
        </p:txBody>
      </p:sp>
      <p:pic>
        <p:nvPicPr>
          <p:cNvPr id="25" name="Image 2" descr="preencoded.png"/>
          <p:cNvPicPr>
            <a:picLocks noChangeAspect="1"/>
          </p:cNvPicPr>
          <p:nvPr/>
        </p:nvPicPr>
        <p:blipFill>
          <a:blip r:embed="rId5"/>
          <a:stretch>
            <a:fillRect/>
          </a:stretch>
        </p:blipFill>
        <p:spPr>
          <a:xfrm>
            <a:off x="9555480" y="4069080"/>
            <a:ext cx="365760" cy="365760"/>
          </a:xfrm>
          <a:prstGeom prst="rect">
            <a:avLst/>
          </a:prstGeom>
        </p:spPr>
      </p:pic>
      <p:sp>
        <p:nvSpPr>
          <p:cNvPr id="26" name="Text 21"/>
          <p:cNvSpPr/>
          <p:nvPr/>
        </p:nvSpPr>
        <p:spPr>
          <a:xfrm>
            <a:off x="8046720" y="4648200"/>
            <a:ext cx="3383280" cy="66040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Medical /</a:t>
            </a:r>
            <a:endParaRPr lang="en-US" sz="1600" dirty="0"/>
          </a:p>
          <a:p>
            <a:pPr marL="0" indent="0" algn="ctr">
              <a:buNone/>
            </a:pPr>
            <a:r>
              <a:rPr lang="en-US" sz="1600" b="1" dirty="0">
                <a:solidFill>
                  <a:srgbClr val="FFFFFF"/>
                </a:solidFill>
                <a:latin typeface="Calibri" pitchFamily="34" charset="0"/>
                <a:ea typeface="Calibri" pitchFamily="34" charset="-122"/>
                <a:cs typeface="Calibri" pitchFamily="34" charset="-120"/>
              </a:rPr>
              <a:t>Performance Staff</a:t>
            </a:r>
            <a:endParaRPr lang="en-US" sz="1600" dirty="0"/>
          </a:p>
        </p:txBody>
      </p:sp>
      <p:sp>
        <p:nvSpPr>
          <p:cNvPr id="27" name="Text 22"/>
          <p:cNvSpPr/>
          <p:nvPr/>
        </p:nvSpPr>
        <p:spPr>
          <a:xfrm>
            <a:off x="8229600" y="5308600"/>
            <a:ext cx="3017520" cy="508000"/>
          </a:xfrm>
          <a:prstGeom prst="rect">
            <a:avLst/>
          </a:prstGeom>
          <a:noFill/>
          <a:ln/>
        </p:spPr>
        <p:txBody>
          <a:bodyPr wrap="square" lIns="0" tIns="0" rIns="0" bIns="0" rtlCol="0" anchor="ctr"/>
          <a:lstStyle/>
          <a:p>
            <a:pPr marL="0" indent="0" algn="ctr">
              <a:buNone/>
            </a:pPr>
            <a:r>
              <a:rPr lang="en-US" sz="1400" i="1" dirty="0">
                <a:solidFill>
                  <a:srgbClr val="B8C4E0"/>
                </a:solidFill>
                <a:latin typeface="Calibri" pitchFamily="34" charset="0"/>
                <a:ea typeface="Calibri" pitchFamily="34" charset="-122"/>
                <a:cs typeface="Calibri" pitchFamily="34" charset="-120"/>
              </a:rPr>
              <a:t>Does position predict injury risk?</a:t>
            </a:r>
            <a:endParaRPr lang="en-US" sz="1400" dirty="0">
              <a:solidFill>
                <a:srgbClr val="B8C4E0"/>
              </a:solidFill>
            </a:endParaRPr>
          </a:p>
        </p:txBody>
      </p:sp>
      <p:sp>
        <p:nvSpPr>
          <p:cNvPr id="28" name="Text 23"/>
          <p:cNvSpPr/>
          <p:nvPr/>
        </p:nvSpPr>
        <p:spPr>
          <a:xfrm>
            <a:off x="11368735" y="6400800"/>
            <a:ext cx="548640" cy="274320"/>
          </a:xfrm>
          <a:prstGeom prst="rect">
            <a:avLst/>
          </a:prstGeom>
          <a:noFill/>
          <a:ln/>
        </p:spPr>
        <p:txBody>
          <a:bodyPr wrap="square" lIns="0" tIns="0" rIns="0" bIns="0" rtlCol="0" anchor="ctr"/>
          <a:lstStyle/>
          <a:p>
            <a:pPr marL="0" indent="0" algn="r">
              <a:buNone/>
            </a:pPr>
            <a:r>
              <a:rPr lang="en-US" sz="1200" dirty="0">
                <a:solidFill>
                  <a:srgbClr val="A8B4D0"/>
                </a:solidFill>
                <a:latin typeface="Calibri" pitchFamily="34" charset="0"/>
                <a:ea typeface="Calibri" pitchFamily="34" charset="-122"/>
                <a:cs typeface="Calibri" pitchFamily="34" charset="-120"/>
              </a:rPr>
              <a:t>05</a:t>
            </a:r>
            <a:endParaRPr lang="en-US" sz="1200" dirty="0">
              <a:solidFill>
                <a:srgbClr val="A8B4D0"/>
              </a:solidFill>
            </a:endParaRPr>
          </a:p>
        </p:txBody>
      </p:sp>
    </p:spTree>
    <p:extLst>
      <p:ext uri="{BB962C8B-B14F-4D97-AF65-F5344CB8AC3E}">
        <p14:creationId xmlns:p14="http://schemas.microsoft.com/office/powerpoint/2010/main" val="1158794366"/>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450"/>
                                        <p:tgtEl>
                                          <p:spTgt spid="10"/>
                                        </p:tgtEl>
                                      </p:cBhvr>
                                    </p:animEffect>
                                  </p:childTnLst>
                                </p:cTn>
                              </p:par>
                              <p:par>
                                <p:cTn id="8" presetID="10" presetClass="entr" presetSubtype="0" fill="hold" nodeType="withEffect">
                                  <p:stCondLst>
                                    <p:cond delay="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450"/>
                                        <p:tgtEl>
                                          <p:spTgt spid="16"/>
                                        </p:tgtEl>
                                      </p:cBhvr>
                                    </p:animEffect>
                                  </p:childTnLst>
                                </p:cTn>
                              </p:par>
                              <p:par>
                                <p:cTn id="11" presetID="10" presetClass="entr" presetSubtype="0"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450"/>
                                        <p:tgtEl>
                                          <p:spTgt spid="22"/>
                                        </p:tgtEl>
                                      </p:cBhvr>
                                    </p:animEffect>
                                  </p:childTnLst>
                                </p:cTn>
                              </p:par>
                              <p:par>
                                <p:cTn id="14" presetID="10" presetClass="entr" presetSubtype="0" fill="hold"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450"/>
                                        <p:tgtEl>
                                          <p:spTgt spid="11"/>
                                        </p:tgtEl>
                                      </p:cBhvr>
                                    </p:animEffect>
                                  </p:childTnLst>
                                </p:cTn>
                              </p:par>
                              <p:par>
                                <p:cTn id="17" presetID="10" presetClass="entr" presetSubtype="0" fill="hold" nodeType="withEffect">
                                  <p:stCondLst>
                                    <p:cond delay="0"/>
                                  </p:stCondLst>
                                  <p:childTnLst>
                                    <p:set>
                                      <p:cBhvr>
                                        <p:cTn id="18" dur="1" fill="hold">
                                          <p:stCondLst>
                                            <p:cond delay="0"/>
                                          </p:stCondLst>
                                        </p:cTn>
                                        <p:tgtEl>
                                          <p:spTgt spid="17"/>
                                        </p:tgtEl>
                                        <p:attrNameLst>
                                          <p:attrName>style.visibility</p:attrName>
                                        </p:attrNameLst>
                                      </p:cBhvr>
                                      <p:to>
                                        <p:strVal val="visible"/>
                                      </p:to>
                                    </p:set>
                                    <p:animEffect transition="in" filter="fade">
                                      <p:cBhvr>
                                        <p:cTn id="19" dur="450"/>
                                        <p:tgtEl>
                                          <p:spTgt spid="17"/>
                                        </p:tgtEl>
                                      </p:cBhvr>
                                    </p:animEffect>
                                  </p:childTnLst>
                                </p:cTn>
                              </p:par>
                              <p:par>
                                <p:cTn id="20" presetID="10" presetClass="entr" presetSubtype="0" fill="hold" nodeType="with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50"/>
                                        <p:tgtEl>
                                          <p:spTgt spid="23"/>
                                        </p:tgtEl>
                                      </p:cBhvr>
                                    </p:animEffect>
                                  </p:childTnLst>
                                </p:cTn>
                              </p:par>
                              <p:par>
                                <p:cTn id="23" presetID="10" presetClass="entr" presetSubtype="0" fill="hold"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450"/>
                                        <p:tgtEl>
                                          <p:spTgt spid="12"/>
                                        </p:tgtEl>
                                      </p:cBhvr>
                                    </p:animEffect>
                                  </p:childTnLst>
                                </p:cTn>
                              </p:par>
                              <p:par>
                                <p:cTn id="26" presetID="10" presetClass="entr" presetSubtype="0" fill="hold" nodeType="withEffect">
                                  <p:stCondLst>
                                    <p:cond delay="0"/>
                                  </p:stCondLst>
                                  <p:childTnLst>
                                    <p:set>
                                      <p:cBhvr>
                                        <p:cTn id="27" dur="1" fill="hold">
                                          <p:stCondLst>
                                            <p:cond delay="0"/>
                                          </p:stCondLst>
                                        </p:cTn>
                                        <p:tgtEl>
                                          <p:spTgt spid="18"/>
                                        </p:tgtEl>
                                        <p:attrNameLst>
                                          <p:attrName>style.visibility</p:attrName>
                                        </p:attrNameLst>
                                      </p:cBhvr>
                                      <p:to>
                                        <p:strVal val="visible"/>
                                      </p:to>
                                    </p:set>
                                    <p:animEffect transition="in" filter="fade">
                                      <p:cBhvr>
                                        <p:cTn id="28" dur="450"/>
                                        <p:tgtEl>
                                          <p:spTgt spid="18"/>
                                        </p:tgtEl>
                                      </p:cBhvr>
                                    </p:animEffect>
                                  </p:childTnLst>
                                </p:cTn>
                              </p:par>
                              <p:par>
                                <p:cTn id="29" presetID="10" presetClass="entr" presetSubtype="0" fill="hold" nodeType="with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50"/>
                                        <p:tgtEl>
                                          <p:spTgt spid="24"/>
                                        </p:tgtEl>
                                      </p:cBhvr>
                                    </p:animEffect>
                                  </p:childTnLst>
                                </p:cTn>
                              </p:par>
                              <p:par>
                                <p:cTn id="32" presetID="10" presetClass="entr" presetSubtype="0" fill="hold" nodeType="with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450"/>
                                        <p:tgtEl>
                                          <p:spTgt spid="13"/>
                                        </p:tgtEl>
                                      </p:cBhvr>
                                    </p:animEffect>
                                  </p:childTnLst>
                                </p:cTn>
                              </p:par>
                              <p:par>
                                <p:cTn id="35" presetID="10" presetClass="entr" presetSubtype="0" fill="hold" nodeType="withEffect">
                                  <p:stCondLst>
                                    <p:cond delay="0"/>
                                  </p:stCondLst>
                                  <p:childTnLst>
                                    <p:set>
                                      <p:cBhvr>
                                        <p:cTn id="36" dur="1" fill="hold">
                                          <p:stCondLst>
                                            <p:cond delay="0"/>
                                          </p:stCondLst>
                                        </p:cTn>
                                        <p:tgtEl>
                                          <p:spTgt spid="19"/>
                                        </p:tgtEl>
                                        <p:attrNameLst>
                                          <p:attrName>style.visibility</p:attrName>
                                        </p:attrNameLst>
                                      </p:cBhvr>
                                      <p:to>
                                        <p:strVal val="visible"/>
                                      </p:to>
                                    </p:set>
                                    <p:animEffect transition="in" filter="fade">
                                      <p:cBhvr>
                                        <p:cTn id="37" dur="450"/>
                                        <p:tgtEl>
                                          <p:spTgt spid="19"/>
                                        </p:tgtEl>
                                      </p:cBhvr>
                                    </p:animEffect>
                                  </p:childTnLst>
                                </p:cTn>
                              </p:par>
                              <p:par>
                                <p:cTn id="38" presetID="10" presetClass="entr" presetSubtype="0" fill="hold" nodeType="withEffect">
                                  <p:stCondLst>
                                    <p:cond delay="0"/>
                                  </p:stCondLst>
                                  <p:childTnLst>
                                    <p:set>
                                      <p:cBhvr>
                                        <p:cTn id="39" dur="1" fill="hold">
                                          <p:stCondLst>
                                            <p:cond delay="0"/>
                                          </p:stCondLst>
                                        </p:cTn>
                                        <p:tgtEl>
                                          <p:spTgt spid="25"/>
                                        </p:tgtEl>
                                        <p:attrNameLst>
                                          <p:attrName>style.visibility</p:attrName>
                                        </p:attrNameLst>
                                      </p:cBhvr>
                                      <p:to>
                                        <p:strVal val="visible"/>
                                      </p:to>
                                    </p:set>
                                    <p:animEffect transition="in" filter="fade">
                                      <p:cBhvr>
                                        <p:cTn id="40" dur="450"/>
                                        <p:tgtEl>
                                          <p:spTgt spid="25"/>
                                        </p:tgtEl>
                                      </p:cBhvr>
                                    </p:animEffect>
                                  </p:childTnLst>
                                </p:cTn>
                              </p:par>
                            </p:childTnLst>
                          </p:cTn>
                        </p:par>
                      </p:childTnLst>
                    </p:cTn>
                  </p:par>
                  <p:par>
                    <p:cTn id="41" fill="hold">
                      <p:stCondLst>
                        <p:cond delay="250"/>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14"/>
                                        </p:tgtEl>
                                        <p:attrNameLst>
                                          <p:attrName>style.visibility</p:attrName>
                                        </p:attrNameLst>
                                      </p:cBhvr>
                                      <p:to>
                                        <p:strVal val="visible"/>
                                      </p:to>
                                    </p:set>
                                    <p:animEffect transition="in" filter="fade">
                                      <p:cBhvr>
                                        <p:cTn id="45" dur="450"/>
                                        <p:tgtEl>
                                          <p:spTgt spid="14"/>
                                        </p:tgtEl>
                                      </p:cBhvr>
                                    </p:animEffect>
                                  </p:childTnLst>
                                </p:cTn>
                              </p:par>
                              <p:par>
                                <p:cTn id="46" presetID="10" presetClass="entr" presetSubtype="0" fill="hold" nodeType="withEffect">
                                  <p:stCondLst>
                                    <p:cond delay="0"/>
                                  </p:stCondLst>
                                  <p:childTnLst>
                                    <p:set>
                                      <p:cBhvr>
                                        <p:cTn id="47" dur="1" fill="hold">
                                          <p:stCondLst>
                                            <p:cond delay="0"/>
                                          </p:stCondLst>
                                        </p:cTn>
                                        <p:tgtEl>
                                          <p:spTgt spid="20"/>
                                        </p:tgtEl>
                                        <p:attrNameLst>
                                          <p:attrName>style.visibility</p:attrName>
                                        </p:attrNameLst>
                                      </p:cBhvr>
                                      <p:to>
                                        <p:strVal val="visible"/>
                                      </p:to>
                                    </p:set>
                                    <p:animEffect transition="in" filter="fade">
                                      <p:cBhvr>
                                        <p:cTn id="48" dur="450"/>
                                        <p:tgtEl>
                                          <p:spTgt spid="20"/>
                                        </p:tgtEl>
                                      </p:cBhvr>
                                    </p:animEffect>
                                  </p:childTnLst>
                                </p:cTn>
                              </p:par>
                              <p:par>
                                <p:cTn id="49" presetID="10" presetClass="entr" presetSubtype="0" fill="hold" nodeType="withEffect">
                                  <p:stCondLst>
                                    <p:cond delay="0"/>
                                  </p:stCondLst>
                                  <p:childTnLst>
                                    <p:set>
                                      <p:cBhvr>
                                        <p:cTn id="50" dur="1" fill="hold">
                                          <p:stCondLst>
                                            <p:cond delay="0"/>
                                          </p:stCondLst>
                                        </p:cTn>
                                        <p:tgtEl>
                                          <p:spTgt spid="26"/>
                                        </p:tgtEl>
                                        <p:attrNameLst>
                                          <p:attrName>style.visibility</p:attrName>
                                        </p:attrNameLst>
                                      </p:cBhvr>
                                      <p:to>
                                        <p:strVal val="visible"/>
                                      </p:to>
                                    </p:set>
                                    <p:animEffect transition="in" filter="fade">
                                      <p:cBhvr>
                                        <p:cTn id="51" dur="450"/>
                                        <p:tgtEl>
                                          <p:spTgt spid="26"/>
                                        </p:tgtEl>
                                      </p:cBhvr>
                                    </p:animEffect>
                                  </p:childTnLst>
                                </p:cTn>
                              </p:par>
                              <p:par>
                                <p:cTn id="52" presetID="10" presetClass="entr" presetSubtype="0" fill="hold" nodeType="with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450"/>
                                        <p:tgtEl>
                                          <p:spTgt spid="15"/>
                                        </p:tgtEl>
                                      </p:cBhvr>
                                    </p:animEffect>
                                  </p:childTnLst>
                                </p:cTn>
                              </p:par>
                              <p:par>
                                <p:cTn id="55" presetID="10" presetClass="entr" presetSubtype="0" fill="hold" nodeType="withEffect">
                                  <p:stCondLst>
                                    <p:cond delay="0"/>
                                  </p:stCondLst>
                                  <p:childTnLst>
                                    <p:set>
                                      <p:cBhvr>
                                        <p:cTn id="56" dur="1" fill="hold">
                                          <p:stCondLst>
                                            <p:cond delay="0"/>
                                          </p:stCondLst>
                                        </p:cTn>
                                        <p:tgtEl>
                                          <p:spTgt spid="21"/>
                                        </p:tgtEl>
                                        <p:attrNameLst>
                                          <p:attrName>style.visibility</p:attrName>
                                        </p:attrNameLst>
                                      </p:cBhvr>
                                      <p:to>
                                        <p:strVal val="visible"/>
                                      </p:to>
                                    </p:set>
                                    <p:animEffect transition="in" filter="fade">
                                      <p:cBhvr>
                                        <p:cTn id="57" dur="450"/>
                                        <p:tgtEl>
                                          <p:spTgt spid="21"/>
                                        </p:tgtEl>
                                      </p:cBhvr>
                                    </p:animEffect>
                                  </p:childTnLst>
                                </p:cTn>
                              </p:par>
                              <p:par>
                                <p:cTn id="58" presetID="10" presetClass="entr" presetSubtype="0" fill="hold" nodeType="withEffect">
                                  <p:stCondLst>
                                    <p:cond delay="0"/>
                                  </p:stCondLst>
                                  <p:childTnLst>
                                    <p:set>
                                      <p:cBhvr>
                                        <p:cTn id="59" dur="1" fill="hold">
                                          <p:stCondLst>
                                            <p:cond delay="0"/>
                                          </p:stCondLst>
                                        </p:cTn>
                                        <p:tgtEl>
                                          <p:spTgt spid="27"/>
                                        </p:tgtEl>
                                        <p:attrNameLst>
                                          <p:attrName>style.visibility</p:attrName>
                                        </p:attrNameLst>
                                      </p:cBhvr>
                                      <p:to>
                                        <p:strVal val="visible"/>
                                      </p:to>
                                    </p:set>
                                    <p:animEffect transition="in" filter="fade">
                                      <p:cBhvr>
                                        <p:cTn id="60" dur="45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8FA"/>
        </a:solidFill>
        <a:effectLst/>
      </p:bgPr>
    </p:bg>
    <p:spTree>
      <p:nvGrpSpPr>
        <p:cNvPr id="1" name=""/>
        <p:cNvGrpSpPr/>
        <p:nvPr/>
      </p:nvGrpSpPr>
      <p:grpSpPr>
        <a:xfrm>
          <a:off x="0" y="0"/>
          <a:ext cx="0" cy="0"/>
          <a:chOff x="0" y="0"/>
          <a:chExt cx="0" cy="0"/>
        </a:xfrm>
      </p:grpSpPr>
      <p:sp>
        <p:nvSpPr>
          <p:cNvPr id="2" name="Shape 0"/>
          <p:cNvSpPr/>
          <p:nvPr/>
        </p:nvSpPr>
        <p:spPr>
          <a:xfrm>
            <a:off x="697230" y="468630"/>
            <a:ext cx="754380" cy="754380"/>
          </a:xfrm>
          <a:prstGeom prst="ellipse">
            <a:avLst/>
          </a:prstGeom>
          <a:solidFill>
            <a:srgbClr val="E8A33D">
              <a:alpha val="20000"/>
            </a:srgbClr>
          </a:solidFill>
          <a:ln/>
        </p:spPr>
        <p:txBody>
          <a:bodyPr/>
          <a:lstStyle/>
          <a:p>
            <a:endParaRPr lang="en-US"/>
          </a:p>
        </p:txBody>
      </p:sp>
      <p:sp>
        <p:nvSpPr>
          <p:cNvPr id="3" name="Shape 1"/>
          <p:cNvSpPr/>
          <p:nvPr/>
        </p:nvSpPr>
        <p:spPr>
          <a:xfrm>
            <a:off x="822960" y="594360"/>
            <a:ext cx="502920" cy="502920"/>
          </a:xfrm>
          <a:prstGeom prst="ellipse">
            <a:avLst/>
          </a:prstGeom>
          <a:solidFill>
            <a:srgbClr val="E8A33D"/>
          </a:solidFill>
          <a:ln/>
        </p:spPr>
        <p:txBody>
          <a:bodyPr/>
          <a:lstStyle/>
          <a:p>
            <a:endParaRPr lang="en-US"/>
          </a:p>
        </p:txBody>
      </p:sp>
      <p:sp>
        <p:nvSpPr>
          <p:cNvPr id="5" name="Text 2"/>
          <p:cNvSpPr/>
          <p:nvPr/>
        </p:nvSpPr>
        <p:spPr>
          <a:xfrm>
            <a:off x="1481328" y="713232"/>
            <a:ext cx="4279392" cy="274320"/>
          </a:xfrm>
          <a:prstGeom prst="rect">
            <a:avLst/>
          </a:prstGeom>
          <a:noFill/>
          <a:ln/>
        </p:spPr>
        <p:txBody>
          <a:bodyPr wrap="square" lIns="0" tIns="0" rIns="0" bIns="0" rtlCol="0" anchor="ctr"/>
          <a:lstStyle/>
          <a:p>
            <a:pPr marL="0" indent="0">
              <a:buNone/>
            </a:pPr>
            <a:r>
              <a:rPr lang="en-US" sz="1400" b="1" kern="0" spc="200" dirty="0">
                <a:solidFill>
                  <a:srgbClr val="B8790C"/>
                </a:solidFill>
                <a:latin typeface="Calibri" pitchFamily="34" charset="0"/>
                <a:ea typeface="Calibri" pitchFamily="34" charset="-122"/>
                <a:cs typeface="Calibri" pitchFamily="34" charset="-120"/>
              </a:rPr>
              <a:t>RECRUITMENT / SCOUTING</a:t>
            </a:r>
            <a:endParaRPr lang="en-US" sz="1400" dirty="0"/>
          </a:p>
        </p:txBody>
      </p:sp>
      <p:sp>
        <p:nvSpPr>
          <p:cNvPr id="6" name="Text 3"/>
          <p:cNvSpPr/>
          <p:nvPr/>
        </p:nvSpPr>
        <p:spPr>
          <a:xfrm>
            <a:off x="822960" y="1188720"/>
            <a:ext cx="4937760" cy="777240"/>
          </a:xfrm>
          <a:prstGeom prst="rect">
            <a:avLst/>
          </a:prstGeom>
          <a:noFill/>
          <a:ln/>
        </p:spPr>
        <p:txBody>
          <a:bodyPr wrap="square" lIns="0" tIns="0" rIns="0" bIns="0" rtlCol="0" anchor="ctr"/>
          <a:lstStyle/>
          <a:p>
            <a:pPr marL="0" indent="0">
              <a:buNone/>
            </a:pPr>
            <a:r>
              <a:rPr lang="en-US" sz="1800" b="1" dirty="0">
                <a:solidFill>
                  <a:srgbClr val="1A1A1A"/>
                </a:solidFill>
                <a:latin typeface="Cambria" pitchFamily="34" charset="0"/>
                <a:ea typeface="Cambria" pitchFamily="34" charset="-122"/>
                <a:cs typeface="Cambria" pitchFamily="34" charset="-120"/>
              </a:rPr>
              <a:t>Which rising-value targets carry hidden injury risk?</a:t>
            </a:r>
            <a:endParaRPr lang="en-US" sz="1800" dirty="0"/>
          </a:p>
        </p:txBody>
      </p:sp>
      <p:sp>
        <p:nvSpPr>
          <p:cNvPr id="7" name="Shape 4"/>
          <p:cNvSpPr/>
          <p:nvPr/>
        </p:nvSpPr>
        <p:spPr>
          <a:xfrm>
            <a:off x="822960" y="2057400"/>
            <a:ext cx="4937760" cy="896112"/>
          </a:xfrm>
          <a:prstGeom prst="roundRect">
            <a:avLst>
              <a:gd name="adj" fmla="val 7143"/>
            </a:avLst>
          </a:prstGeom>
          <a:solidFill>
            <a:srgbClr val="16264D"/>
          </a:solidFill>
          <a:ln/>
        </p:spPr>
        <p:txBody>
          <a:bodyPr/>
          <a:lstStyle/>
          <a:p>
            <a:endParaRPr lang="en-US"/>
          </a:p>
        </p:txBody>
      </p:sp>
      <p:sp>
        <p:nvSpPr>
          <p:cNvPr id="8" name="Text 5"/>
          <p:cNvSpPr/>
          <p:nvPr/>
        </p:nvSpPr>
        <p:spPr>
          <a:xfrm>
            <a:off x="1024128" y="2148840"/>
            <a:ext cx="4535424" cy="228600"/>
          </a:xfrm>
          <a:prstGeom prst="rect">
            <a:avLst/>
          </a:prstGeom>
          <a:noFill/>
          <a:ln/>
        </p:spPr>
        <p:txBody>
          <a:bodyPr wrap="square" lIns="0" tIns="0" rIns="0" bIns="0" rtlCol="0" anchor="ctr"/>
          <a:lstStyle/>
          <a:p>
            <a:pPr marL="0" indent="0">
              <a:buNone/>
            </a:pPr>
            <a:r>
              <a:rPr lang="en-US" sz="1200" b="1" kern="0" spc="100" dirty="0">
                <a:solidFill>
                  <a:srgbClr val="E8A33D"/>
                </a:solidFill>
                <a:latin typeface="Calibri" pitchFamily="34" charset="0"/>
                <a:ea typeface="Calibri" pitchFamily="34" charset="-122"/>
                <a:cs typeface="Calibri" pitchFamily="34" charset="-120"/>
              </a:rPr>
              <a:t>HYPOTHESIS</a:t>
            </a:r>
            <a:endParaRPr lang="en-US" sz="1200" dirty="0"/>
          </a:p>
        </p:txBody>
      </p:sp>
      <p:sp>
        <p:nvSpPr>
          <p:cNvPr id="9" name="Text 6"/>
          <p:cNvSpPr/>
          <p:nvPr/>
        </p:nvSpPr>
        <p:spPr>
          <a:xfrm>
            <a:off x="1024128" y="2377440"/>
            <a:ext cx="4535424" cy="530352"/>
          </a:xfrm>
          <a:prstGeom prst="rect">
            <a:avLst/>
          </a:prstGeom>
          <a:noFill/>
          <a:ln/>
        </p:spPr>
        <p:txBody>
          <a:bodyPr wrap="square" lIns="0" tIns="0" rIns="0" bIns="0" rtlCol="0" anchor="ctr"/>
          <a:lstStyle/>
          <a:p>
            <a:pPr marL="0" indent="0">
              <a:buNone/>
            </a:pPr>
            <a:r>
              <a:rPr lang="en-US" sz="1400" i="1" dirty="0">
                <a:solidFill>
                  <a:srgbClr val="FFFFFF"/>
                </a:solidFill>
                <a:latin typeface="Calibri" pitchFamily="34" charset="0"/>
                <a:ea typeface="Calibri" pitchFamily="34" charset="-122"/>
                <a:cs typeface="Calibri" pitchFamily="34" charset="-120"/>
              </a:rPr>
              <a:t>Injury recency predicts near-term value decline.</a:t>
            </a:r>
            <a:endParaRPr lang="en-US" sz="1400" dirty="0"/>
          </a:p>
        </p:txBody>
      </p:sp>
      <p:sp>
        <p:nvSpPr>
          <p:cNvPr id="10" name="Shape 7"/>
          <p:cNvSpPr/>
          <p:nvPr/>
        </p:nvSpPr>
        <p:spPr>
          <a:xfrm>
            <a:off x="822960" y="3154680"/>
            <a:ext cx="4937760" cy="420624"/>
          </a:xfrm>
          <a:prstGeom prst="roundRect">
            <a:avLst>
              <a:gd name="adj" fmla="val 50000"/>
            </a:avLst>
          </a:prstGeom>
          <a:solidFill>
            <a:srgbClr val="B8790C"/>
          </a:solidFill>
          <a:ln/>
        </p:spPr>
        <p:txBody>
          <a:bodyPr/>
          <a:lstStyle/>
          <a:p>
            <a:endParaRPr lang="en-US"/>
          </a:p>
        </p:txBody>
      </p:sp>
      <p:pic>
        <p:nvPicPr>
          <p:cNvPr id="11" name="Image 1" descr="preencoded.png"/>
          <p:cNvPicPr>
            <a:picLocks noChangeAspect="1"/>
          </p:cNvPicPr>
          <p:nvPr/>
        </p:nvPicPr>
        <p:blipFill>
          <a:blip r:embed="rId3"/>
          <a:stretch>
            <a:fillRect/>
          </a:stretch>
        </p:blipFill>
        <p:spPr>
          <a:xfrm>
            <a:off x="939800" y="3225800"/>
            <a:ext cx="254000" cy="254000"/>
          </a:xfrm>
          <a:prstGeom prst="rect">
            <a:avLst/>
          </a:prstGeom>
        </p:spPr>
      </p:pic>
      <p:sp>
        <p:nvSpPr>
          <p:cNvPr id="12" name="Text 8"/>
          <p:cNvSpPr/>
          <p:nvPr/>
        </p:nvSpPr>
        <p:spPr>
          <a:xfrm>
            <a:off x="1280160" y="3154680"/>
            <a:ext cx="4389120" cy="420624"/>
          </a:xfrm>
          <a:prstGeom prst="rect">
            <a:avLst/>
          </a:prstGeom>
          <a:noFill/>
          <a:ln/>
        </p:spPr>
        <p:txBody>
          <a:bodyPr wrap="square" lIns="0" tIns="0" rIns="0" bIns="0" rtlCol="0" anchor="ctr"/>
          <a:lstStyle/>
          <a:p>
            <a:pPr marL="0" indent="0" algn="l">
              <a:buNone/>
            </a:pPr>
            <a:r>
              <a:rPr lang="en-US" sz="1350" b="1" dirty="0">
                <a:solidFill>
                  <a:srgbClr val="FFFFFF"/>
                </a:solidFill>
                <a:latin typeface="Calibri" pitchFamily="34" charset="0"/>
                <a:ea typeface="Calibri" pitchFamily="34" charset="-122"/>
                <a:cs typeface="Calibri" pitchFamily="34" charset="-120"/>
              </a:rPr>
              <a:t>MIXED: injury history matters more than recency</a:t>
            </a:r>
            <a:endParaRPr lang="en-US" sz="1350" dirty="0"/>
          </a:p>
        </p:txBody>
      </p:sp>
      <p:pic>
        <p:nvPicPr>
          <p:cNvPr id="13" name="Image 2" descr="preencoded.png"/>
          <p:cNvPicPr>
            <a:picLocks noChangeAspect="1"/>
          </p:cNvPicPr>
          <p:nvPr/>
        </p:nvPicPr>
        <p:blipFill>
          <a:blip r:embed="rId4"/>
          <a:stretch>
            <a:fillRect/>
          </a:stretch>
        </p:blipFill>
        <p:spPr>
          <a:xfrm>
            <a:off x="800100" y="4013200"/>
            <a:ext cx="254000" cy="254000"/>
          </a:xfrm>
          <a:prstGeom prst="rect">
            <a:avLst/>
          </a:prstGeom>
        </p:spPr>
      </p:pic>
      <p:sp>
        <p:nvSpPr>
          <p:cNvPr id="14" name="Text 9"/>
          <p:cNvSpPr/>
          <p:nvPr/>
        </p:nvSpPr>
        <p:spPr>
          <a:xfrm>
            <a:off x="1152144" y="3962400"/>
            <a:ext cx="4608576" cy="530352"/>
          </a:xfrm>
          <a:prstGeom prst="rect">
            <a:avLst/>
          </a:prstGeom>
          <a:noFill/>
          <a:ln/>
        </p:spPr>
        <p:txBody>
          <a:bodyPr wrap="square" lIns="0" tIns="0" rIns="0" bIns="0" rtlCol="0" anchor="t"/>
          <a:lstStyle/>
          <a:p>
            <a:pPr marL="0" indent="0">
              <a:buNone/>
            </a:pPr>
            <a:r>
              <a:rPr lang="en-US" sz="1400" dirty="0">
                <a:solidFill>
                  <a:srgbClr val="1A1A1A"/>
                </a:solidFill>
                <a:latin typeface="Calibri" pitchFamily="34" charset="0"/>
                <a:ea typeface="Calibri" pitchFamily="34" charset="-122"/>
                <a:cs typeface="Calibri" pitchFamily="34" charset="-120"/>
              </a:rPr>
              <a:t>Recent, moderate, and distant injuries all show flat value growth.</a:t>
            </a:r>
            <a:endParaRPr lang="en-US" sz="1400" dirty="0"/>
          </a:p>
        </p:txBody>
      </p:sp>
      <p:pic>
        <p:nvPicPr>
          <p:cNvPr id="15" name="Image 3" descr="preencoded.png"/>
          <p:cNvPicPr>
            <a:picLocks noChangeAspect="1"/>
          </p:cNvPicPr>
          <p:nvPr/>
        </p:nvPicPr>
        <p:blipFill>
          <a:blip r:embed="rId4"/>
          <a:stretch>
            <a:fillRect/>
          </a:stretch>
        </p:blipFill>
        <p:spPr>
          <a:xfrm>
            <a:off x="800100" y="4851400"/>
            <a:ext cx="254000" cy="254000"/>
          </a:xfrm>
          <a:prstGeom prst="rect">
            <a:avLst/>
          </a:prstGeom>
        </p:spPr>
      </p:pic>
      <p:sp>
        <p:nvSpPr>
          <p:cNvPr id="16" name="Text 10"/>
          <p:cNvSpPr/>
          <p:nvPr/>
        </p:nvSpPr>
        <p:spPr>
          <a:xfrm>
            <a:off x="1152144" y="4800600"/>
            <a:ext cx="4608576" cy="530352"/>
          </a:xfrm>
          <a:prstGeom prst="rect">
            <a:avLst/>
          </a:prstGeom>
          <a:noFill/>
          <a:ln/>
        </p:spPr>
        <p:txBody>
          <a:bodyPr wrap="square" lIns="0" tIns="0" rIns="0" bIns="0" rtlCol="0" anchor="t"/>
          <a:lstStyle/>
          <a:p>
            <a:pPr marL="0" indent="0">
              <a:buNone/>
            </a:pPr>
            <a:r>
              <a:rPr lang="en-US" sz="1400" dirty="0">
                <a:solidFill>
                  <a:srgbClr val="1A1A1A"/>
                </a:solidFill>
                <a:latin typeface="Calibri" pitchFamily="34" charset="0"/>
                <a:ea typeface="Calibri" pitchFamily="34" charset="-122"/>
                <a:cs typeface="Calibri" pitchFamily="34" charset="-120"/>
              </a:rPr>
              <a:t>Players with no injury history grow +4.35% in value, on average.</a:t>
            </a:r>
            <a:endParaRPr lang="en-US" sz="1400" dirty="0"/>
          </a:p>
        </p:txBody>
      </p:sp>
      <p:pic>
        <p:nvPicPr>
          <p:cNvPr id="17" name="Image 4" descr="preencoded.png"/>
          <p:cNvPicPr>
            <a:picLocks noChangeAspect="1"/>
          </p:cNvPicPr>
          <p:nvPr/>
        </p:nvPicPr>
        <p:blipFill>
          <a:blip r:embed="rId4"/>
          <a:stretch>
            <a:fillRect/>
          </a:stretch>
        </p:blipFill>
        <p:spPr>
          <a:xfrm>
            <a:off x="800100" y="5689600"/>
            <a:ext cx="254000" cy="254000"/>
          </a:xfrm>
          <a:prstGeom prst="rect">
            <a:avLst/>
          </a:prstGeom>
        </p:spPr>
      </p:pic>
      <p:sp>
        <p:nvSpPr>
          <p:cNvPr id="18" name="Text 11"/>
          <p:cNvSpPr/>
          <p:nvPr/>
        </p:nvSpPr>
        <p:spPr>
          <a:xfrm>
            <a:off x="1152144" y="5638800"/>
            <a:ext cx="4608576" cy="530352"/>
          </a:xfrm>
          <a:prstGeom prst="rect">
            <a:avLst/>
          </a:prstGeom>
          <a:noFill/>
          <a:ln/>
        </p:spPr>
        <p:txBody>
          <a:bodyPr wrap="square" lIns="0" tIns="0" rIns="0" bIns="0" rtlCol="0" anchor="t"/>
          <a:lstStyle/>
          <a:p>
            <a:pPr marL="0" indent="0">
              <a:buNone/>
            </a:pPr>
            <a:r>
              <a:rPr lang="en-US" sz="1400" dirty="0">
                <a:solidFill>
                  <a:srgbClr val="1A1A1A"/>
                </a:solidFill>
                <a:latin typeface="Calibri" pitchFamily="34" charset="0"/>
                <a:ea typeface="Calibri" pitchFamily="34" charset="-122"/>
                <a:cs typeface="Calibri" pitchFamily="34" charset="-120"/>
              </a:rPr>
              <a:t>The real signal is having any injury history, not how recent it is.</a:t>
            </a:r>
            <a:endParaRPr lang="en-US" sz="1400" dirty="0"/>
          </a:p>
        </p:txBody>
      </p:sp>
      <p:sp>
        <p:nvSpPr>
          <p:cNvPr id="19" name="Shape 12"/>
          <p:cNvSpPr/>
          <p:nvPr/>
        </p:nvSpPr>
        <p:spPr>
          <a:xfrm>
            <a:off x="6217920" y="594360"/>
            <a:ext cx="5148072" cy="5623560"/>
          </a:xfrm>
          <a:prstGeom prst="roundRect">
            <a:avLst>
              <a:gd name="adj" fmla="val 1599"/>
            </a:avLst>
          </a:prstGeom>
          <a:solidFill>
            <a:srgbClr val="FFFFFF"/>
          </a:solidFill>
          <a:ln/>
          <a:effectLst>
            <a:outerShdw blurRad="101600" dist="38100" dir="5400000" algn="bl" rotWithShape="0">
              <a:srgbClr val="8C93A6">
                <a:alpha val="22000"/>
              </a:srgbClr>
            </a:outerShdw>
          </a:effectLst>
        </p:spPr>
        <p:txBody>
          <a:bodyPr/>
          <a:lstStyle/>
          <a:p>
            <a:endParaRPr lang="en-US"/>
          </a:p>
        </p:txBody>
      </p:sp>
      <p:sp>
        <p:nvSpPr>
          <p:cNvPr id="20" name="Text 13"/>
          <p:cNvSpPr/>
          <p:nvPr/>
        </p:nvSpPr>
        <p:spPr>
          <a:xfrm>
            <a:off x="6537960" y="822960"/>
            <a:ext cx="4507992" cy="365760"/>
          </a:xfrm>
          <a:prstGeom prst="rect">
            <a:avLst/>
          </a:prstGeom>
          <a:noFill/>
          <a:ln/>
        </p:spPr>
        <p:txBody>
          <a:bodyPr wrap="square" lIns="0" tIns="0" rIns="0" bIns="0" rtlCol="0" anchor="ctr"/>
          <a:lstStyle/>
          <a:p>
            <a:pPr marL="0" indent="0">
              <a:buNone/>
            </a:pPr>
            <a:r>
              <a:rPr lang="en-US" sz="1350" b="1" dirty="0">
                <a:solidFill>
                  <a:srgbClr val="1A1A1A"/>
                </a:solidFill>
                <a:latin typeface="Calibri" pitchFamily="34" charset="0"/>
                <a:ea typeface="Calibri" pitchFamily="34" charset="-122"/>
                <a:cs typeface="Calibri" pitchFamily="34" charset="-120"/>
              </a:rPr>
              <a:t>Median value change, by injury history (%)</a:t>
            </a:r>
            <a:endParaRPr lang="en-US" sz="1350" dirty="0"/>
          </a:p>
        </p:txBody>
      </p:sp>
      <p:sp>
        <p:nvSpPr>
          <p:cNvPr id="22" name="Text 14"/>
          <p:cNvSpPr/>
          <p:nvPr/>
        </p:nvSpPr>
        <p:spPr>
          <a:xfrm>
            <a:off x="6537960" y="5029200"/>
            <a:ext cx="4507992" cy="960120"/>
          </a:xfrm>
          <a:prstGeom prst="rect">
            <a:avLst/>
          </a:prstGeom>
          <a:noFill/>
          <a:ln/>
        </p:spPr>
        <p:txBody>
          <a:bodyPr wrap="square" lIns="0" tIns="0" rIns="0" bIns="0" rtlCol="0" anchor="t"/>
          <a:lstStyle/>
          <a:p>
            <a:pPr marL="0" indent="0">
              <a:buNone/>
            </a:pPr>
            <a:r>
              <a:rPr lang="en-US" sz="1300" i="1" dirty="0">
                <a:solidFill>
                  <a:srgbClr val="44506B"/>
                </a:solidFill>
                <a:latin typeface="Calibri" pitchFamily="34" charset="0"/>
                <a:ea typeface="Calibri" pitchFamily="34" charset="-122"/>
                <a:cs typeface="Calibri" pitchFamily="34" charset="-120"/>
              </a:rPr>
              <a:t>n = 29,324 player-valuation snapshots (10,478 no-injury vs. 18,846 with any injury history, pooled across recency bands). “No prior injury” figure excludes low-starting-valuation snapshots to remove a breakout-debut artifact.</a:t>
            </a:r>
            <a:endParaRPr lang="en-US" sz="1300" dirty="0">
              <a:solidFill>
                <a:srgbClr val="44506B"/>
              </a:solidFill>
            </a:endParaRPr>
          </a:p>
        </p:txBody>
      </p:sp>
      <p:sp>
        <p:nvSpPr>
          <p:cNvPr id="24" name="Text 15"/>
          <p:cNvSpPr/>
          <p:nvPr/>
        </p:nvSpPr>
        <p:spPr>
          <a:xfrm>
            <a:off x="11368735" y="6400800"/>
            <a:ext cx="548640" cy="274320"/>
          </a:xfrm>
          <a:prstGeom prst="rect">
            <a:avLst/>
          </a:prstGeom>
          <a:noFill/>
          <a:ln/>
        </p:spPr>
        <p:txBody>
          <a:bodyPr wrap="square" lIns="0" tIns="0" rIns="0" bIns="0" rtlCol="0" anchor="ctr"/>
          <a:lstStyle/>
          <a:p>
            <a:pPr marL="0" indent="0" algn="r">
              <a:buNone/>
            </a:pPr>
            <a:r>
              <a:rPr lang="en-US" sz="1200" dirty="0">
                <a:solidFill>
                  <a:srgbClr val="5A6478"/>
                </a:solidFill>
                <a:latin typeface="Calibri" pitchFamily="34" charset="0"/>
                <a:ea typeface="Calibri" pitchFamily="34" charset="-122"/>
                <a:cs typeface="Calibri" pitchFamily="34" charset="-120"/>
              </a:rPr>
              <a:t>06</a:t>
            </a:r>
            <a:endParaRPr lang="en-US" sz="1200" dirty="0">
              <a:solidFill>
                <a:srgbClr val="5A6478"/>
              </a:solidFill>
            </a:endParaRPr>
          </a:p>
        </p:txBody>
      </p:sp>
      <p:pic>
        <p:nvPicPr>
          <p:cNvPr id="25" name="Graphic 25" descr="Whistle icon"/>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96620" y="668020"/>
            <a:ext cx="355600" cy="355600"/>
          </a:xfrm>
          <a:prstGeom prst="rect">
            <a:avLst/>
          </a:prstGeom>
        </p:spPr>
      </p:pic>
      <p:cxnSp>
        <p:nvCxnSpPr>
          <p:cNvPr id="63" name="Connector 62"/>
          <p:cNvCxnSpPr/>
          <p:nvPr/>
        </p:nvCxnSpPr>
        <p:spPr>
          <a:xfrm>
            <a:off x="8791956" y="1508760"/>
            <a:ext cx="0" cy="3108960"/>
          </a:xfrm>
          <a:prstGeom prst="line">
            <a:avLst/>
          </a:prstGeom>
          <a:ln w="12700">
            <a:solidFill>
              <a:srgbClr val="E3E6EC"/>
            </a:solidFill>
          </a:ln>
        </p:spPr>
        <p:style>
          <a:lnRef idx="2">
            <a:schemeClr val="accent1"/>
          </a:lnRef>
          <a:fillRef idx="0">
            <a:schemeClr val="accent1"/>
          </a:fillRef>
          <a:effectRef idx="1">
            <a:schemeClr val="accent1"/>
          </a:effectRef>
          <a:fontRef idx="minor">
            <a:schemeClr val="tx1"/>
          </a:fontRef>
        </p:style>
      </p:cxnSp>
      <p:sp>
        <p:nvSpPr>
          <p:cNvPr id="64" name="Isosceles Triangle 63"/>
          <p:cNvSpPr/>
          <p:nvPr/>
        </p:nvSpPr>
        <p:spPr>
          <a:xfrm>
            <a:off x="7550658" y="1430160"/>
            <a:ext cx="228600" cy="228600"/>
          </a:xfrm>
          <a:prstGeom prst="triangle">
            <a:avLst/>
          </a:prstGeom>
          <a:solidFill>
            <a:srgbClr val="E8A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537960" y="1840160"/>
            <a:ext cx="2253996" cy="900000"/>
          </a:xfrm>
          <a:prstGeom prst="rect">
            <a:avLst/>
          </a:prstGeom>
          <a:noFill/>
        </p:spPr>
        <p:txBody>
          <a:bodyPr wrap="square" lIns="0" rIns="0" tIns="0" bIns="0">
            <a:spAutoFit/>
          </a:bodyPr>
          <a:lstStyle/>
          <a:p>
            <a:pPr algn="ctr"/>
            <a:r>
              <a:rPr sz="5000" b="1">
                <a:solidFill>
                  <a:srgbClr val="E8A33D"/>
                </a:solidFill>
                <a:latin typeface="Calibri"/>
              </a:rPr>
              <a:t>+4.35%</a:t>
            </a:r>
          </a:p>
        </p:txBody>
      </p:sp>
      <p:sp>
        <p:nvSpPr>
          <p:cNvPr id="66" name="TextBox 65"/>
          <p:cNvSpPr txBox="1"/>
          <p:nvPr/>
        </p:nvSpPr>
        <p:spPr>
          <a:xfrm>
            <a:off x="6537960" y="2780160"/>
            <a:ext cx="2253996" cy="450000"/>
          </a:xfrm>
          <a:prstGeom prst="rect">
            <a:avLst/>
          </a:prstGeom>
          <a:noFill/>
        </p:spPr>
        <p:txBody>
          <a:bodyPr wrap="square" lIns="80000" rIns="80000" tIns="0" bIns="0">
            <a:spAutoFit/>
          </a:bodyPr>
          <a:lstStyle/>
          <a:p>
            <a:pPr algn="ctr"/>
            <a:r>
              <a:rPr sz="1400" b="1">
                <a:solidFill>
                  <a:srgbClr val="1A1A1A"/>
                </a:solidFill>
                <a:latin typeface="Calibri"/>
              </a:rPr>
              <a:t>No injury history</a:t>
            </a:r>
          </a:p>
        </p:txBody>
      </p:sp>
      <p:sp>
        <p:nvSpPr>
          <p:cNvPr id="67" name="TextBox 66"/>
          <p:cNvSpPr txBox="1"/>
          <p:nvPr/>
        </p:nvSpPr>
        <p:spPr>
          <a:xfrm>
            <a:off x="6537960" y="3230160"/>
            <a:ext cx="2253996" cy="350000"/>
          </a:xfrm>
          <a:prstGeom prst="rect">
            <a:avLst/>
          </a:prstGeom>
          <a:noFill/>
        </p:spPr>
        <p:txBody>
          <a:bodyPr wrap="square" lIns="0" rIns="0" tIns="0" bIns="0">
            <a:spAutoFit/>
          </a:bodyPr>
          <a:lstStyle/>
          <a:p>
            <a:pPr algn="ctr"/>
            <a:r>
              <a:rPr sz="1100" i="1">
                <a:solidFill>
                  <a:srgbClr val="44506B"/>
                </a:solidFill>
                <a:latin typeface="Calibri"/>
              </a:rPr>
              <a:t>n = 10,478</a:t>
            </a:r>
          </a:p>
        </p:txBody>
      </p:sp>
      <p:sp>
        <p:nvSpPr>
          <p:cNvPr id="68" name="Rounded Rectangle 67"/>
          <p:cNvSpPr/>
          <p:nvPr/>
        </p:nvSpPr>
        <p:spPr>
          <a:xfrm>
            <a:off x="9768954" y="1508760"/>
            <a:ext cx="300000" cy="75000"/>
          </a:xfrm>
          <a:prstGeom prst="roundRect">
            <a:avLst>
              <a:gd name="adj" fmla="val 50000"/>
            </a:avLst>
          </a:prstGeom>
          <a:solidFill>
            <a:srgbClr val="5A64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8791956" y="1840160"/>
            <a:ext cx="2253996" cy="900000"/>
          </a:xfrm>
          <a:prstGeom prst="rect">
            <a:avLst/>
          </a:prstGeom>
          <a:noFill/>
        </p:spPr>
        <p:txBody>
          <a:bodyPr wrap="square" lIns="0" rIns="0" tIns="0" bIns="0">
            <a:spAutoFit/>
          </a:bodyPr>
          <a:lstStyle/>
          <a:p>
            <a:pPr algn="ctr"/>
            <a:r>
              <a:rPr sz="5000" b="1">
                <a:solidFill>
                  <a:srgbClr val="5A6478"/>
                </a:solidFill>
                <a:latin typeface="Calibri"/>
              </a:rPr>
              <a:t>0.0%</a:t>
            </a:r>
          </a:p>
        </p:txBody>
      </p:sp>
      <p:sp>
        <p:nvSpPr>
          <p:cNvPr id="70" name="TextBox 69"/>
          <p:cNvSpPr txBox="1"/>
          <p:nvPr/>
        </p:nvSpPr>
        <p:spPr>
          <a:xfrm>
            <a:off x="8791956" y="2780160"/>
            <a:ext cx="2253996" cy="450000"/>
          </a:xfrm>
          <a:prstGeom prst="rect">
            <a:avLst/>
          </a:prstGeom>
          <a:noFill/>
        </p:spPr>
        <p:txBody>
          <a:bodyPr wrap="square" lIns="80000" rIns="80000" tIns="0" bIns="0">
            <a:spAutoFit/>
          </a:bodyPr>
          <a:lstStyle/>
          <a:p>
            <a:pPr algn="ctr"/>
            <a:r>
              <a:rPr sz="1400" b="1">
                <a:solidFill>
                  <a:srgbClr val="1A1A1A"/>
                </a:solidFill>
                <a:latin typeface="Calibri"/>
              </a:rPr>
              <a:t>Any injury history</a:t>
            </a:r>
          </a:p>
        </p:txBody>
      </p:sp>
      <p:sp>
        <p:nvSpPr>
          <p:cNvPr id="71" name="TextBox 70"/>
          <p:cNvSpPr txBox="1"/>
          <p:nvPr/>
        </p:nvSpPr>
        <p:spPr>
          <a:xfrm>
            <a:off x="8791956" y="3230160"/>
            <a:ext cx="2253996" cy="350000"/>
          </a:xfrm>
          <a:prstGeom prst="rect">
            <a:avLst/>
          </a:prstGeom>
          <a:noFill/>
        </p:spPr>
        <p:txBody>
          <a:bodyPr wrap="square" lIns="0" rIns="0" tIns="0" bIns="0">
            <a:spAutoFit/>
          </a:bodyPr>
          <a:lstStyle/>
          <a:p>
            <a:pPr algn="ctr"/>
            <a:r>
              <a:rPr sz="1100" i="1">
                <a:solidFill>
                  <a:srgbClr val="44506B"/>
                </a:solidFill>
                <a:latin typeface="Calibri"/>
              </a:rPr>
              <a:t>n = 18,846</a:t>
            </a:r>
          </a:p>
        </p:txBody>
      </p:sp>
    </p:spTree>
    <p:extLst>
      <p:ext uri="{BB962C8B-B14F-4D97-AF65-F5344CB8AC3E}">
        <p14:creationId xmlns:p14="http://schemas.microsoft.com/office/powerpoint/2010/main" val="3120996632"/>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par>
                                <p:cTn id="8" presetID="10" presetClass="entr" presetSubtype="0" fill="hold"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50"/>
                                        <p:tgtEl>
                                          <p:spTgt spid="8"/>
                                        </p:tgtEl>
                                      </p:cBhvr>
                                    </p:animEffect>
                                  </p:childTnLst>
                                </p:cTn>
                              </p:par>
                              <p:par>
                                <p:cTn id="11" presetID="10"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50"/>
                                        <p:tgtEl>
                                          <p:spTgt spid="9"/>
                                        </p:tgtEl>
                                      </p:cBhvr>
                                    </p:animEffect>
                                  </p:childTnLst>
                                </p:cTn>
                              </p:par>
                            </p:childTnLst>
                          </p:cTn>
                        </p:par>
                      </p:childTnLst>
                    </p:cTn>
                  </p:par>
                  <p:par>
                    <p:cTn id="14" fill="hold">
                      <p:stCondLst>
                        <p:cond delay="250"/>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450"/>
                                        <p:tgtEl>
                                          <p:spTgt spid="10"/>
                                        </p:tgtEl>
                                      </p:cBhvr>
                                    </p:animEffect>
                                  </p:childTnLst>
                                </p:cTn>
                              </p:par>
                              <p:par>
                                <p:cTn id="19" presetID="10" presetClass="entr" presetSubtype="0" fill="hold" nodeType="with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fade">
                                      <p:cBhvr>
                                        <p:cTn id="21" dur="450"/>
                                        <p:tgtEl>
                                          <p:spTgt spid="11"/>
                                        </p:tgtEl>
                                      </p:cBhvr>
                                    </p:animEffect>
                                  </p:childTnLst>
                                </p:cTn>
                              </p:par>
                              <p:par>
                                <p:cTn id="22" presetID="10" presetClass="entr" presetSubtype="0" fill="hold" nodeType="with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50"/>
                                        <p:tgtEl>
                                          <p:spTgt spid="12"/>
                                        </p:tgtEl>
                                      </p:cBhvr>
                                    </p:animEffect>
                                  </p:childTnLst>
                                </p:cTn>
                              </p:par>
                            </p:childTnLst>
                          </p:cTn>
                        </p:par>
                      </p:childTnLst>
                    </p:cTn>
                  </p:par>
                  <p:par>
                    <p:cTn id="25" fill="hold">
                      <p:stCondLst>
                        <p:cond delay="250"/>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3"/>
                                        </p:tgtEl>
                                        <p:attrNameLst>
                                          <p:attrName>style.visibility</p:attrName>
                                        </p:attrNameLst>
                                      </p:cBhvr>
                                      <p:to>
                                        <p:strVal val="visible"/>
                                      </p:to>
                                    </p:set>
                                    <p:animEffect transition="in" filter="fade">
                                      <p:cBhvr>
                                        <p:cTn id="29" dur="450"/>
                                        <p:tgtEl>
                                          <p:spTgt spid="13"/>
                                        </p:tgtEl>
                                      </p:cBhvr>
                                    </p:animEffect>
                                  </p:childTnLst>
                                </p:cTn>
                              </p:par>
                              <p:par>
                                <p:cTn id="30" presetID="10" presetClass="entr" presetSubtype="0" fill="hold" nodeType="withEffect">
                                  <p:stCondLst>
                                    <p:cond delay="0"/>
                                  </p:stCondLst>
                                  <p:childTnLst>
                                    <p:set>
                                      <p:cBhvr>
                                        <p:cTn id="31" dur="1" fill="hold">
                                          <p:stCondLst>
                                            <p:cond delay="0"/>
                                          </p:stCondLst>
                                        </p:cTn>
                                        <p:tgtEl>
                                          <p:spTgt spid="14"/>
                                        </p:tgtEl>
                                        <p:attrNameLst>
                                          <p:attrName>style.visibility</p:attrName>
                                        </p:attrNameLst>
                                      </p:cBhvr>
                                      <p:to>
                                        <p:strVal val="visible"/>
                                      </p:to>
                                    </p:set>
                                    <p:animEffect transition="in" filter="fade">
                                      <p:cBhvr>
                                        <p:cTn id="32" dur="450"/>
                                        <p:tgtEl>
                                          <p:spTgt spid="14"/>
                                        </p:tgtEl>
                                      </p:cBhvr>
                                    </p:animEffect>
                                  </p:childTnLst>
                                </p:cTn>
                              </p:par>
                            </p:childTnLst>
                          </p:cTn>
                        </p:par>
                      </p:childTnLst>
                    </p:cTn>
                  </p:par>
                  <p:par>
                    <p:cTn id="33" fill="hold">
                      <p:stCondLst>
                        <p:cond delay="250"/>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5"/>
                                        </p:tgtEl>
                                        <p:attrNameLst>
                                          <p:attrName>style.visibility</p:attrName>
                                        </p:attrNameLst>
                                      </p:cBhvr>
                                      <p:to>
                                        <p:strVal val="visible"/>
                                      </p:to>
                                    </p:set>
                                    <p:animEffect transition="in" filter="fade">
                                      <p:cBhvr>
                                        <p:cTn id="37" dur="450"/>
                                        <p:tgtEl>
                                          <p:spTgt spid="15"/>
                                        </p:tgtEl>
                                      </p:cBhvr>
                                    </p:animEffect>
                                  </p:childTnLst>
                                </p:cTn>
                              </p:par>
                              <p:par>
                                <p:cTn id="38" presetID="10" presetClass="entr" presetSubtype="0" fill="hold" nodeType="withEffect">
                                  <p:stCondLst>
                                    <p:cond delay="0"/>
                                  </p:stCondLst>
                                  <p:childTnLst>
                                    <p:set>
                                      <p:cBhvr>
                                        <p:cTn id="39" dur="1" fill="hold">
                                          <p:stCondLst>
                                            <p:cond delay="0"/>
                                          </p:stCondLst>
                                        </p:cTn>
                                        <p:tgtEl>
                                          <p:spTgt spid="16"/>
                                        </p:tgtEl>
                                        <p:attrNameLst>
                                          <p:attrName>style.visibility</p:attrName>
                                        </p:attrNameLst>
                                      </p:cBhvr>
                                      <p:to>
                                        <p:strVal val="visible"/>
                                      </p:to>
                                    </p:set>
                                    <p:animEffect transition="in" filter="fade">
                                      <p:cBhvr>
                                        <p:cTn id="40" dur="450"/>
                                        <p:tgtEl>
                                          <p:spTgt spid="16"/>
                                        </p:tgtEl>
                                      </p:cBhvr>
                                    </p:animEffect>
                                  </p:childTnLst>
                                </p:cTn>
                              </p:par>
                            </p:childTnLst>
                          </p:cTn>
                        </p:par>
                      </p:childTnLst>
                    </p:cTn>
                  </p:par>
                  <p:par>
                    <p:cTn id="41" fill="hold">
                      <p:stCondLst>
                        <p:cond delay="250"/>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17"/>
                                        </p:tgtEl>
                                        <p:attrNameLst>
                                          <p:attrName>style.visibility</p:attrName>
                                        </p:attrNameLst>
                                      </p:cBhvr>
                                      <p:to>
                                        <p:strVal val="visible"/>
                                      </p:to>
                                    </p:set>
                                    <p:animEffect transition="in" filter="fade">
                                      <p:cBhvr>
                                        <p:cTn id="45" dur="450"/>
                                        <p:tgtEl>
                                          <p:spTgt spid="17"/>
                                        </p:tgtEl>
                                      </p:cBhvr>
                                    </p:animEffect>
                                  </p:childTnLst>
                                </p:cTn>
                              </p:par>
                              <p:par>
                                <p:cTn id="46" presetID="10" presetClass="entr" presetSubtype="0" fill="hold" nodeType="withEffect">
                                  <p:stCondLst>
                                    <p:cond delay="0"/>
                                  </p:stCondLst>
                                  <p:childTnLst>
                                    <p:set>
                                      <p:cBhvr>
                                        <p:cTn id="47" dur="1" fill="hold">
                                          <p:stCondLst>
                                            <p:cond delay="0"/>
                                          </p:stCondLst>
                                        </p:cTn>
                                        <p:tgtEl>
                                          <p:spTgt spid="18"/>
                                        </p:tgtEl>
                                        <p:attrNameLst>
                                          <p:attrName>style.visibility</p:attrName>
                                        </p:attrNameLst>
                                      </p:cBhvr>
                                      <p:to>
                                        <p:strVal val="visible"/>
                                      </p:to>
                                    </p:set>
                                    <p:animEffect transition="in" filter="fade">
                                      <p:cBhvr>
                                        <p:cTn id="48" dur="450"/>
                                        <p:tgtEl>
                                          <p:spTgt spid="18"/>
                                        </p:tgtEl>
                                      </p:cBhvr>
                                    </p:animEffect>
                                  </p:childTnLst>
                                </p:cTn>
                              </p:par>
                            </p:childTnLst>
                          </p:cTn>
                        </p:par>
                      </p:childTnLst>
                    </p:cTn>
                  </p:par>
                  <p:par>
                    <p:cTn id="49" fill="hold">
                      <p:stCondLst>
                        <p:cond delay="250"/>
                      </p:stCondLst>
                      <p:childTnLst>
                        <p:par>
                          <p:cTn id="50" fill="hold">
                            <p:stCondLst>
                              <p:cond delay="0"/>
                            </p:stCondLst>
                            <p:childTnLst>
                              <p:par>
                                <p:cTn id="51" presetID="10" presetClass="entr" presetSubtype="0" fill="hold" nodeType="click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50"/>
                                        <p:tgtEl>
                                          <p:spTgt spid="19"/>
                                        </p:tgtEl>
                                      </p:cBhvr>
                                    </p:animEffect>
                                  </p:childTnLst>
                                </p:cTn>
                              </p:par>
                              <p:par>
                                <p:cTn id="54" presetID="10" presetClass="entr" presetSubtype="0" fill="hold" nodeType="withEffect">
                                  <p:stCondLst>
                                    <p:cond delay="0"/>
                                  </p:stCondLst>
                                  <p:childTnLst>
                                    <p:set>
                                      <p:cBhvr>
                                        <p:cTn id="55" dur="1" fill="hold">
                                          <p:stCondLst>
                                            <p:cond delay="0"/>
                                          </p:stCondLst>
                                        </p:cTn>
                                        <p:tgtEl>
                                          <p:spTgt spid="20"/>
                                        </p:tgtEl>
                                        <p:attrNameLst>
                                          <p:attrName>style.visibility</p:attrName>
                                        </p:attrNameLst>
                                      </p:cBhvr>
                                      <p:to>
                                        <p:strVal val="visible"/>
                                      </p:to>
                                    </p:set>
                                    <p:animEffect transition="in" filter="fade">
                                      <p:cBhvr>
                                        <p:cTn id="56" dur="450"/>
                                        <p:tgtEl>
                                          <p:spTgt spid="20"/>
                                        </p:tgtEl>
                                      </p:cBhvr>
                                    </p:animEffect>
                                  </p:childTnLst>
                                </p:cTn>
                              </p:par>
                              <p:par>
                                <p:cTn id="57" presetID="10" presetClass="entr" presetSubtype="0" fill="hold" nodeType="withEffect">
                                  <p:stCondLst>
                                    <p:cond delay="0"/>
                                  </p:stCondLst>
                                  <p:childTnLst>
                                    <p:set>
                                      <p:cBhvr>
                                        <p:cTn id="58" dur="1" fill="hold">
                                          <p:stCondLst>
                                            <p:cond delay="0"/>
                                          </p:stCondLst>
                                        </p:cTn>
                                        <p:tgtEl>
                                          <p:spTgt spid="22"/>
                                        </p:tgtEl>
                                        <p:attrNameLst>
                                          <p:attrName>style.visibility</p:attrName>
                                        </p:attrNameLst>
                                      </p:cBhvr>
                                      <p:to>
                                        <p:strVal val="visible"/>
                                      </p:to>
                                    </p:set>
                                    <p:animEffect transition="in" filter="fade">
                                      <p:cBhvr>
                                        <p:cTn id="59" dur="450"/>
                                        <p:tgtEl>
                                          <p:spTgt spid="22"/>
                                        </p:tgtEl>
                                      </p:cBhvr>
                                    </p:animEffect>
                                  </p:childTnLst>
                                </p:cTn>
                              </p:par>
                              <p:par>
                                <p:cTn id="60" presetID="22" presetClass="entr" presetSubtype="10" fill="hold" nodeType="withEffect">
                                  <p:stCondLst>
                                    <p:cond delay="0"/>
                                  </p:stCondLst>
                                  <p:childTnLst>
                                    <p:set>
                                      <p:cBhvr>
                                        <p:cTn id="61" dur="1" fill="hold">
                                          <p:stCondLst>
                                            <p:cond delay="0"/>
                                          </p:stCondLst>
                                        </p:cTn>
                                        <p:tgtEl>
                                          <p:spTgt spid="21"/>
                                        </p:tgtEl>
                                        <p:attrNameLst>
                                          <p:attrName>style.visibility</p:attrName>
                                        </p:attrNameLst>
                                      </p:cBhvr>
                                      <p:to>
                                        <p:strVal val="visible"/>
                                      </p:to>
                                    </p:set>
                                    <p:animEffect transition="in" filter="wipe(left)">
                                      <p:cBhvr>
                                        <p:cTn id="62" dur="9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8FA"/>
        </a:solidFill>
        <a:effectLst/>
      </p:bgPr>
    </p:bg>
    <p:spTree>
      <p:nvGrpSpPr>
        <p:cNvPr id="1" name=""/>
        <p:cNvGrpSpPr/>
        <p:nvPr/>
      </p:nvGrpSpPr>
      <p:grpSpPr>
        <a:xfrm>
          <a:off x="0" y="0"/>
          <a:ext cx="0" cy="0"/>
          <a:chOff x="0" y="0"/>
          <a:chExt cx="0" cy="0"/>
        </a:xfrm>
      </p:grpSpPr>
      <p:sp>
        <p:nvSpPr>
          <p:cNvPr id="2" name="Shape 0"/>
          <p:cNvSpPr/>
          <p:nvPr/>
        </p:nvSpPr>
        <p:spPr>
          <a:xfrm>
            <a:off x="6302502" y="468630"/>
            <a:ext cx="754380" cy="754380"/>
          </a:xfrm>
          <a:prstGeom prst="ellipse">
            <a:avLst/>
          </a:prstGeom>
          <a:solidFill>
            <a:srgbClr val="1F7A4D">
              <a:alpha val="20000"/>
            </a:srgbClr>
          </a:solidFill>
          <a:ln/>
        </p:spPr>
        <p:txBody>
          <a:bodyPr/>
          <a:lstStyle/>
          <a:p>
            <a:endParaRPr lang="en-US"/>
          </a:p>
        </p:txBody>
      </p:sp>
      <p:sp>
        <p:nvSpPr>
          <p:cNvPr id="3" name="Shape 1"/>
          <p:cNvSpPr/>
          <p:nvPr/>
        </p:nvSpPr>
        <p:spPr>
          <a:xfrm>
            <a:off x="6428232" y="594360"/>
            <a:ext cx="502920" cy="502920"/>
          </a:xfrm>
          <a:prstGeom prst="ellipse">
            <a:avLst/>
          </a:prstGeom>
          <a:solidFill>
            <a:srgbClr val="1F7A4D"/>
          </a:solidFill>
          <a:ln/>
        </p:spPr>
        <p:txBody>
          <a:bodyPr/>
          <a:lstStyle/>
          <a:p>
            <a:endParaRPr lang="en-US"/>
          </a:p>
        </p:txBody>
      </p:sp>
      <p:sp>
        <p:nvSpPr>
          <p:cNvPr id="5" name="Text 2"/>
          <p:cNvSpPr/>
          <p:nvPr/>
        </p:nvSpPr>
        <p:spPr>
          <a:xfrm>
            <a:off x="7086600" y="713232"/>
            <a:ext cx="4279392" cy="274320"/>
          </a:xfrm>
          <a:prstGeom prst="rect">
            <a:avLst/>
          </a:prstGeom>
          <a:noFill/>
          <a:ln/>
        </p:spPr>
        <p:txBody>
          <a:bodyPr wrap="square" lIns="0" tIns="0" rIns="0" bIns="0" rtlCol="0" anchor="ctr"/>
          <a:lstStyle/>
          <a:p>
            <a:pPr marL="0" indent="0">
              <a:buNone/>
            </a:pPr>
            <a:r>
              <a:rPr lang="en-US" sz="1350" b="1" kern="0" spc="200" dirty="0">
                <a:solidFill>
                  <a:srgbClr val="1F7A4D"/>
                </a:solidFill>
                <a:latin typeface="Calibri" pitchFamily="34" charset="0"/>
                <a:ea typeface="Calibri" pitchFamily="34" charset="-122"/>
                <a:cs typeface="Calibri" pitchFamily="34" charset="-120"/>
              </a:rPr>
              <a:t>SPORTING DIRECTORS / FRONT OFFICE</a:t>
            </a:r>
            <a:endParaRPr lang="en-US" sz="1350" dirty="0"/>
          </a:p>
        </p:txBody>
      </p:sp>
      <p:sp>
        <p:nvSpPr>
          <p:cNvPr id="6" name="Text 3"/>
          <p:cNvSpPr/>
          <p:nvPr/>
        </p:nvSpPr>
        <p:spPr>
          <a:xfrm>
            <a:off x="6428232" y="1188720"/>
            <a:ext cx="4937760" cy="777240"/>
          </a:xfrm>
          <a:prstGeom prst="rect">
            <a:avLst/>
          </a:prstGeom>
          <a:noFill/>
          <a:ln/>
        </p:spPr>
        <p:txBody>
          <a:bodyPr wrap="square" lIns="0" tIns="0" rIns="0" bIns="0" rtlCol="0" anchor="ctr"/>
          <a:lstStyle/>
          <a:p>
            <a:pPr marL="0" indent="0">
              <a:buNone/>
            </a:pPr>
            <a:r>
              <a:rPr lang="en-US" sz="1800" b="1" dirty="0">
                <a:solidFill>
                  <a:srgbClr val="1A1A1A"/>
                </a:solidFill>
                <a:latin typeface="Cambria" pitchFamily="34" charset="0"/>
                <a:ea typeface="Cambria" pitchFamily="34" charset="-122"/>
                <a:cs typeface="Cambria" pitchFamily="34" charset="-120"/>
              </a:rPr>
              <a:t>How does injury risk change the investment case for a transfer?</a:t>
            </a:r>
            <a:endParaRPr lang="en-US" sz="1800" dirty="0"/>
          </a:p>
        </p:txBody>
      </p:sp>
      <p:sp>
        <p:nvSpPr>
          <p:cNvPr id="7" name="Shape 4"/>
          <p:cNvSpPr/>
          <p:nvPr/>
        </p:nvSpPr>
        <p:spPr>
          <a:xfrm>
            <a:off x="6428232" y="2057400"/>
            <a:ext cx="4937760" cy="896112"/>
          </a:xfrm>
          <a:prstGeom prst="roundRect">
            <a:avLst>
              <a:gd name="adj" fmla="val 7143"/>
            </a:avLst>
          </a:prstGeom>
          <a:solidFill>
            <a:srgbClr val="16264D"/>
          </a:solidFill>
          <a:ln/>
        </p:spPr>
        <p:txBody>
          <a:bodyPr/>
          <a:lstStyle/>
          <a:p>
            <a:endParaRPr lang="en-US"/>
          </a:p>
        </p:txBody>
      </p:sp>
      <p:sp>
        <p:nvSpPr>
          <p:cNvPr id="8" name="Text 5"/>
          <p:cNvSpPr/>
          <p:nvPr/>
        </p:nvSpPr>
        <p:spPr>
          <a:xfrm>
            <a:off x="6629400" y="2148840"/>
            <a:ext cx="4535424" cy="228600"/>
          </a:xfrm>
          <a:prstGeom prst="rect">
            <a:avLst/>
          </a:prstGeom>
          <a:noFill/>
          <a:ln/>
        </p:spPr>
        <p:txBody>
          <a:bodyPr wrap="square" lIns="0" tIns="0" rIns="0" bIns="0" rtlCol="0" anchor="ctr"/>
          <a:lstStyle/>
          <a:p>
            <a:pPr marL="0" indent="0">
              <a:buNone/>
            </a:pPr>
            <a:r>
              <a:rPr lang="en-US" sz="1200" b="1" kern="0" spc="100" dirty="0">
                <a:solidFill>
                  <a:srgbClr val="E8A33D"/>
                </a:solidFill>
                <a:latin typeface="Calibri" pitchFamily="34" charset="0"/>
                <a:ea typeface="Calibri" pitchFamily="34" charset="-122"/>
                <a:cs typeface="Calibri" pitchFamily="34" charset="-120"/>
              </a:rPr>
              <a:t>HYPOTHESIS</a:t>
            </a:r>
            <a:endParaRPr lang="en-US" sz="1200" dirty="0"/>
          </a:p>
        </p:txBody>
      </p:sp>
      <p:sp>
        <p:nvSpPr>
          <p:cNvPr id="9" name="Text 6"/>
          <p:cNvSpPr/>
          <p:nvPr/>
        </p:nvSpPr>
        <p:spPr>
          <a:xfrm>
            <a:off x="6629400" y="2377440"/>
            <a:ext cx="4535424" cy="530352"/>
          </a:xfrm>
          <a:prstGeom prst="rect">
            <a:avLst/>
          </a:prstGeom>
          <a:noFill/>
          <a:ln/>
        </p:spPr>
        <p:txBody>
          <a:bodyPr wrap="square" lIns="0" tIns="0" rIns="0" bIns="0" rtlCol="0" anchor="ctr"/>
          <a:lstStyle/>
          <a:p>
            <a:pPr marL="0" indent="0">
              <a:buNone/>
            </a:pPr>
            <a:r>
              <a:rPr lang="en-US" sz="1400" i="1" dirty="0">
                <a:solidFill>
                  <a:srgbClr val="FFFFFF"/>
                </a:solidFill>
                <a:latin typeface="Calibri" pitchFamily="34" charset="0"/>
                <a:ea typeface="Calibri" pitchFamily="34" charset="-122"/>
                <a:cs typeface="Calibri" pitchFamily="34" charset="-120"/>
              </a:rPr>
              <a:t>Younger players show a better value-risk tradeoff than veterans.</a:t>
            </a:r>
            <a:endParaRPr lang="en-US" sz="1400" dirty="0"/>
          </a:p>
        </p:txBody>
      </p:sp>
      <p:sp>
        <p:nvSpPr>
          <p:cNvPr id="10" name="Shape 7"/>
          <p:cNvSpPr/>
          <p:nvPr/>
        </p:nvSpPr>
        <p:spPr>
          <a:xfrm>
            <a:off x="6428232" y="3154680"/>
            <a:ext cx="4937760" cy="420624"/>
          </a:xfrm>
          <a:prstGeom prst="roundRect">
            <a:avLst>
              <a:gd name="adj" fmla="val 50000"/>
            </a:avLst>
          </a:prstGeom>
          <a:solidFill>
            <a:srgbClr val="1F7A4D"/>
          </a:solidFill>
          <a:ln/>
        </p:spPr>
        <p:txBody>
          <a:bodyPr/>
          <a:lstStyle/>
          <a:p>
            <a:endParaRPr lang="en-US"/>
          </a:p>
        </p:txBody>
      </p:sp>
      <p:pic>
        <p:nvPicPr>
          <p:cNvPr id="11" name="Image 1" descr="preencoded.png"/>
          <p:cNvPicPr>
            <a:picLocks noChangeAspect="1"/>
          </p:cNvPicPr>
          <p:nvPr/>
        </p:nvPicPr>
        <p:blipFill>
          <a:blip r:embed="rId3"/>
          <a:stretch>
            <a:fillRect/>
          </a:stretch>
        </p:blipFill>
        <p:spPr>
          <a:xfrm>
            <a:off x="6553200" y="3225800"/>
            <a:ext cx="254000" cy="254000"/>
          </a:xfrm>
          <a:prstGeom prst="rect">
            <a:avLst/>
          </a:prstGeom>
        </p:spPr>
      </p:pic>
      <p:sp>
        <p:nvSpPr>
          <p:cNvPr id="12" name="Text 8"/>
          <p:cNvSpPr/>
          <p:nvPr/>
        </p:nvSpPr>
        <p:spPr>
          <a:xfrm>
            <a:off x="6885432" y="3154680"/>
            <a:ext cx="4389120" cy="420624"/>
          </a:xfrm>
          <a:prstGeom prst="rect">
            <a:avLst/>
          </a:prstGeom>
          <a:noFill/>
          <a:ln/>
        </p:spPr>
        <p:txBody>
          <a:bodyPr wrap="square" lIns="0" tIns="0" rIns="0" bIns="0" rtlCol="0" anchor="ctr"/>
          <a:lstStyle/>
          <a:p>
            <a:pPr marL="0" indent="0" algn="l">
              <a:buNone/>
            </a:pPr>
            <a:r>
              <a:rPr lang="en-US" sz="1350" b="1" dirty="0">
                <a:solidFill>
                  <a:srgbClr val="FFFFFF"/>
                </a:solidFill>
                <a:latin typeface="Calibri" pitchFamily="34" charset="0"/>
                <a:ea typeface="Calibri" pitchFamily="34" charset="-122"/>
                <a:cs typeface="Calibri" pitchFamily="34" charset="-120"/>
              </a:rPr>
              <a:t>SPLIT: risk confirmed, value tells a different story</a:t>
            </a:r>
            <a:endParaRPr lang="en-US" sz="1350" dirty="0"/>
          </a:p>
        </p:txBody>
      </p:sp>
      <p:pic>
        <p:nvPicPr>
          <p:cNvPr id="13" name="Image 2" descr="preencoded.png"/>
          <p:cNvPicPr>
            <a:picLocks noChangeAspect="1"/>
          </p:cNvPicPr>
          <p:nvPr/>
        </p:nvPicPr>
        <p:blipFill>
          <a:blip r:embed="rId4"/>
          <a:stretch>
            <a:fillRect/>
          </a:stretch>
        </p:blipFill>
        <p:spPr>
          <a:xfrm>
            <a:off x="6400800" y="4013200"/>
            <a:ext cx="254000" cy="254000"/>
          </a:xfrm>
          <a:prstGeom prst="rect">
            <a:avLst/>
          </a:prstGeom>
        </p:spPr>
      </p:pic>
      <p:sp>
        <p:nvSpPr>
          <p:cNvPr id="14" name="Text 9"/>
          <p:cNvSpPr/>
          <p:nvPr/>
        </p:nvSpPr>
        <p:spPr>
          <a:xfrm>
            <a:off x="6757416" y="3962400"/>
            <a:ext cx="4608576" cy="530352"/>
          </a:xfrm>
          <a:prstGeom prst="rect">
            <a:avLst/>
          </a:prstGeom>
          <a:noFill/>
          <a:ln/>
        </p:spPr>
        <p:txBody>
          <a:bodyPr wrap="square" lIns="0" tIns="0" rIns="0" bIns="0" rtlCol="0" anchor="t"/>
          <a:lstStyle/>
          <a:p>
            <a:pPr marL="0" indent="0">
              <a:buNone/>
            </a:pPr>
            <a:r>
              <a:rPr lang="en-US" sz="1400" dirty="0">
                <a:solidFill>
                  <a:srgbClr val="1A1A1A"/>
                </a:solidFill>
                <a:latin typeface="Calibri" pitchFamily="34" charset="0"/>
                <a:ea typeface="Calibri" pitchFamily="34" charset="-122"/>
                <a:cs typeface="Calibri" pitchFamily="34" charset="-120"/>
              </a:rPr>
              <a:t>Injury rate climbs steadily with age: 2.5 up to 6.0 per 1,000 90s.</a:t>
            </a:r>
            <a:endParaRPr lang="en-US" sz="1400" dirty="0"/>
          </a:p>
        </p:txBody>
      </p:sp>
      <p:pic>
        <p:nvPicPr>
          <p:cNvPr id="15" name="Image 3" descr="preencoded.png"/>
          <p:cNvPicPr>
            <a:picLocks noChangeAspect="1"/>
          </p:cNvPicPr>
          <p:nvPr/>
        </p:nvPicPr>
        <p:blipFill>
          <a:blip r:embed="rId4"/>
          <a:stretch>
            <a:fillRect/>
          </a:stretch>
        </p:blipFill>
        <p:spPr>
          <a:xfrm>
            <a:off x="6400800" y="4851400"/>
            <a:ext cx="254000" cy="254000"/>
          </a:xfrm>
          <a:prstGeom prst="rect">
            <a:avLst/>
          </a:prstGeom>
        </p:spPr>
      </p:pic>
      <p:sp>
        <p:nvSpPr>
          <p:cNvPr id="16" name="Text 10"/>
          <p:cNvSpPr/>
          <p:nvPr/>
        </p:nvSpPr>
        <p:spPr>
          <a:xfrm>
            <a:off x="6757416" y="4800600"/>
            <a:ext cx="4608576" cy="530352"/>
          </a:xfrm>
          <a:prstGeom prst="rect">
            <a:avLst/>
          </a:prstGeom>
          <a:noFill/>
          <a:ln/>
        </p:spPr>
        <p:txBody>
          <a:bodyPr wrap="square" lIns="0" tIns="0" rIns="0" bIns="0" rtlCol="0" anchor="t"/>
          <a:lstStyle/>
          <a:p>
            <a:pPr marL="0" indent="0">
              <a:buNone/>
            </a:pPr>
            <a:r>
              <a:rPr lang="en-US" sz="1400" dirty="0">
                <a:solidFill>
                  <a:srgbClr val="1A1A1A"/>
                </a:solidFill>
                <a:latin typeface="Calibri" pitchFamily="34" charset="0"/>
                <a:ea typeface="Calibri" pitchFamily="34" charset="-122"/>
                <a:cs typeface="Calibri" pitchFamily="34" charset="-120"/>
              </a:rPr>
              <a:t>Only the 21–24 emerging band shows real value growth: +7.1%.</a:t>
            </a:r>
            <a:endParaRPr lang="en-US" sz="1400" dirty="0"/>
          </a:p>
        </p:txBody>
      </p:sp>
      <p:pic>
        <p:nvPicPr>
          <p:cNvPr id="17" name="Image 4" descr="preencoded.png"/>
          <p:cNvPicPr>
            <a:picLocks noChangeAspect="1"/>
          </p:cNvPicPr>
          <p:nvPr/>
        </p:nvPicPr>
        <p:blipFill>
          <a:blip r:embed="rId4"/>
          <a:stretch>
            <a:fillRect/>
          </a:stretch>
        </p:blipFill>
        <p:spPr>
          <a:xfrm>
            <a:off x="6400800" y="5689600"/>
            <a:ext cx="254000" cy="254000"/>
          </a:xfrm>
          <a:prstGeom prst="rect">
            <a:avLst/>
          </a:prstGeom>
        </p:spPr>
      </p:pic>
      <p:sp>
        <p:nvSpPr>
          <p:cNvPr id="18" name="Text 11"/>
          <p:cNvSpPr/>
          <p:nvPr/>
        </p:nvSpPr>
        <p:spPr>
          <a:xfrm>
            <a:off x="6757416" y="5638800"/>
            <a:ext cx="4608576" cy="530352"/>
          </a:xfrm>
          <a:prstGeom prst="rect">
            <a:avLst/>
          </a:prstGeom>
          <a:noFill/>
          <a:ln/>
        </p:spPr>
        <p:txBody>
          <a:bodyPr wrap="square" lIns="0" tIns="0" rIns="0" bIns="0" rtlCol="0" anchor="t"/>
          <a:lstStyle/>
          <a:p>
            <a:pPr marL="0" indent="0">
              <a:buNone/>
            </a:pPr>
            <a:r>
              <a:rPr lang="en-US" sz="1400" dirty="0">
                <a:solidFill>
                  <a:srgbClr val="1A1A1A"/>
                </a:solidFill>
                <a:latin typeface="Calibri" pitchFamily="34" charset="0"/>
                <a:ea typeface="Calibri" pitchFamily="34" charset="-122"/>
                <a:cs typeface="Calibri" pitchFamily="34" charset="-120"/>
              </a:rPr>
              <a:t>That band uniquely pairs strong growth with the lowest risk.</a:t>
            </a:r>
            <a:endParaRPr lang="en-US" sz="1400" dirty="0"/>
          </a:p>
        </p:txBody>
      </p:sp>
      <p:sp>
        <p:nvSpPr>
          <p:cNvPr id="19" name="Shape 12"/>
          <p:cNvSpPr/>
          <p:nvPr/>
        </p:nvSpPr>
        <p:spPr>
          <a:xfrm>
            <a:off x="822960" y="594360"/>
            <a:ext cx="5148072" cy="5623560"/>
          </a:xfrm>
          <a:prstGeom prst="roundRect">
            <a:avLst>
              <a:gd name="adj" fmla="val 1599"/>
            </a:avLst>
          </a:prstGeom>
          <a:solidFill>
            <a:srgbClr val="FFFFFF"/>
          </a:solidFill>
          <a:ln/>
          <a:effectLst>
            <a:outerShdw blurRad="101600" dist="38100" dir="5400000" algn="bl" rotWithShape="0">
              <a:srgbClr val="8C93A6">
                <a:alpha val="22000"/>
              </a:srgbClr>
            </a:outerShdw>
          </a:effectLst>
        </p:spPr>
        <p:txBody>
          <a:bodyPr/>
          <a:lstStyle/>
          <a:p>
            <a:endParaRPr lang="en-US"/>
          </a:p>
        </p:txBody>
      </p:sp>
      <p:sp>
        <p:nvSpPr>
          <p:cNvPr id="20" name="Text 13"/>
          <p:cNvSpPr/>
          <p:nvPr/>
        </p:nvSpPr>
        <p:spPr>
          <a:xfrm>
            <a:off x="1143000" y="822960"/>
            <a:ext cx="4507992" cy="365760"/>
          </a:xfrm>
          <a:prstGeom prst="rect">
            <a:avLst/>
          </a:prstGeom>
          <a:noFill/>
          <a:ln/>
        </p:spPr>
        <p:txBody>
          <a:bodyPr wrap="square" lIns="0" tIns="0" rIns="0" bIns="0" rtlCol="0" anchor="ctr"/>
          <a:lstStyle/>
          <a:p>
            <a:pPr marL="0" indent="0">
              <a:buNone/>
            </a:pPr>
            <a:r>
              <a:rPr lang="en-US" sz="1350" b="1" dirty="0">
                <a:solidFill>
                  <a:srgbClr val="1A1A1A"/>
                </a:solidFill>
                <a:latin typeface="Calibri" pitchFamily="34" charset="0"/>
                <a:ea typeface="Calibri" pitchFamily="34" charset="-122"/>
                <a:cs typeface="Calibri" pitchFamily="34" charset="-120"/>
              </a:rPr>
              <a:t>Median injury rate by age bracket (per 1,000 90s)</a:t>
            </a:r>
            <a:endParaRPr lang="en-US" sz="1350" dirty="0"/>
          </a:p>
        </p:txBody>
      </p:sp>
      <p:sp>
        <p:nvSpPr>
          <p:cNvPr id="22" name="Text 14"/>
          <p:cNvSpPr/>
          <p:nvPr/>
        </p:nvSpPr>
        <p:spPr>
          <a:xfrm>
            <a:off x="1143000" y="5029200"/>
            <a:ext cx="4507992" cy="960120"/>
          </a:xfrm>
          <a:prstGeom prst="rect">
            <a:avLst/>
          </a:prstGeom>
          <a:noFill/>
          <a:ln/>
        </p:spPr>
        <p:txBody>
          <a:bodyPr wrap="square" lIns="0" tIns="0" rIns="0" bIns="0" rtlCol="0" anchor="t"/>
          <a:lstStyle/>
          <a:p>
            <a:pPr marL="0" indent="0">
              <a:buNone/>
            </a:pPr>
            <a:r>
              <a:rPr lang="en-US" sz="1300" i="1" dirty="0">
                <a:solidFill>
                  <a:srgbClr val="44506B"/>
                </a:solidFill>
                <a:latin typeface="Calibri" pitchFamily="34" charset="0"/>
                <a:ea typeface="Calibri" pitchFamily="34" charset="-122"/>
                <a:cs typeface="Calibri" pitchFamily="34" charset="-120"/>
              </a:rPr>
              <a:t>n = 582 players with usable playing-time data. Under-21 bucket (n=4) omitted, too small to plot reliably.</a:t>
            </a:r>
            <a:endParaRPr lang="en-US" sz="1300" dirty="0">
              <a:solidFill>
                <a:srgbClr val="44506B"/>
              </a:solidFill>
            </a:endParaRPr>
          </a:p>
        </p:txBody>
      </p:sp>
      <p:sp>
        <p:nvSpPr>
          <p:cNvPr id="24" name="Text 15"/>
          <p:cNvSpPr/>
          <p:nvPr/>
        </p:nvSpPr>
        <p:spPr>
          <a:xfrm>
            <a:off x="11368735" y="6400800"/>
            <a:ext cx="548640" cy="274320"/>
          </a:xfrm>
          <a:prstGeom prst="rect">
            <a:avLst/>
          </a:prstGeom>
          <a:noFill/>
          <a:ln/>
        </p:spPr>
        <p:txBody>
          <a:bodyPr wrap="square" lIns="0" tIns="0" rIns="0" bIns="0" rtlCol="0" anchor="ctr"/>
          <a:lstStyle/>
          <a:p>
            <a:pPr marL="0" indent="0" algn="r">
              <a:buNone/>
            </a:pPr>
            <a:r>
              <a:rPr lang="en-US" sz="1200" dirty="0">
                <a:solidFill>
                  <a:srgbClr val="5A6478"/>
                </a:solidFill>
                <a:latin typeface="Calibri" pitchFamily="34" charset="0"/>
                <a:ea typeface="Calibri" pitchFamily="34" charset="-122"/>
                <a:cs typeface="Calibri" pitchFamily="34" charset="-120"/>
              </a:rPr>
              <a:t>07</a:t>
            </a:r>
            <a:endParaRPr lang="en-US" sz="1200" dirty="0">
              <a:solidFill>
                <a:srgbClr val="5A6478"/>
              </a:solidFill>
            </a:endParaRPr>
          </a:p>
        </p:txBody>
      </p:sp>
      <p:pic>
        <p:nvPicPr>
          <p:cNvPr id="25" name="Graphic 25" descr="Soccer ball icon"/>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502400" y="660400"/>
            <a:ext cx="355600" cy="355600"/>
          </a:xfrm>
          <a:prstGeom prst="rect">
            <a:avLst/>
          </a:prstGeom>
        </p:spPr>
      </p:pic>
      <p:graphicFrame>
        <p:nvGraphicFramePr>
          <p:cNvPr id="63" name="Chart 62"/>
          <p:cNvGraphicFramePr>
            <a:graphicFrameLocks noGrp="1"/>
          </p:cNvGraphicFramePr>
          <p:nvPr/>
        </p:nvGraphicFramePr>
        <p:xfrm>
          <a:off x="1143000" y="1280160"/>
          <a:ext cx="4507992" cy="3566160"/>
        </p:xfrm>
        <a:graphic>
          <a:graphicData uri="http://schemas.openxmlformats.org/drawingml/2006/chart">
            <c:chart xmlns:c="http://schemas.openxmlformats.org/drawingml/2006/chart" r:id="rId8"/>
          </a:graphicData>
        </a:graphic>
      </p:graphicFrame>
    </p:spTree>
    <p:extLst>
      <p:ext uri="{BB962C8B-B14F-4D97-AF65-F5344CB8AC3E}">
        <p14:creationId xmlns:p14="http://schemas.microsoft.com/office/powerpoint/2010/main" val="3017794287"/>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par>
                                <p:cTn id="8" presetID="10" presetClass="entr" presetSubtype="0" fill="hold"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50"/>
                                        <p:tgtEl>
                                          <p:spTgt spid="8"/>
                                        </p:tgtEl>
                                      </p:cBhvr>
                                    </p:animEffect>
                                  </p:childTnLst>
                                </p:cTn>
                              </p:par>
                              <p:par>
                                <p:cTn id="11" presetID="10"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50"/>
                                        <p:tgtEl>
                                          <p:spTgt spid="9"/>
                                        </p:tgtEl>
                                      </p:cBhvr>
                                    </p:animEffect>
                                  </p:childTnLst>
                                </p:cTn>
                              </p:par>
                            </p:childTnLst>
                          </p:cTn>
                        </p:par>
                      </p:childTnLst>
                    </p:cTn>
                  </p:par>
                  <p:par>
                    <p:cTn id="14" fill="hold">
                      <p:stCondLst>
                        <p:cond delay="250"/>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450"/>
                                        <p:tgtEl>
                                          <p:spTgt spid="10"/>
                                        </p:tgtEl>
                                      </p:cBhvr>
                                    </p:animEffect>
                                  </p:childTnLst>
                                </p:cTn>
                              </p:par>
                              <p:par>
                                <p:cTn id="19" presetID="10" presetClass="entr" presetSubtype="0" fill="hold" nodeType="with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fade">
                                      <p:cBhvr>
                                        <p:cTn id="21" dur="450"/>
                                        <p:tgtEl>
                                          <p:spTgt spid="11"/>
                                        </p:tgtEl>
                                      </p:cBhvr>
                                    </p:animEffect>
                                  </p:childTnLst>
                                </p:cTn>
                              </p:par>
                              <p:par>
                                <p:cTn id="22" presetID="10" presetClass="entr" presetSubtype="0" fill="hold" nodeType="with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50"/>
                                        <p:tgtEl>
                                          <p:spTgt spid="12"/>
                                        </p:tgtEl>
                                      </p:cBhvr>
                                    </p:animEffect>
                                  </p:childTnLst>
                                </p:cTn>
                              </p:par>
                            </p:childTnLst>
                          </p:cTn>
                        </p:par>
                      </p:childTnLst>
                    </p:cTn>
                  </p:par>
                  <p:par>
                    <p:cTn id="25" fill="hold">
                      <p:stCondLst>
                        <p:cond delay="250"/>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3"/>
                                        </p:tgtEl>
                                        <p:attrNameLst>
                                          <p:attrName>style.visibility</p:attrName>
                                        </p:attrNameLst>
                                      </p:cBhvr>
                                      <p:to>
                                        <p:strVal val="visible"/>
                                      </p:to>
                                    </p:set>
                                    <p:animEffect transition="in" filter="fade">
                                      <p:cBhvr>
                                        <p:cTn id="29" dur="450"/>
                                        <p:tgtEl>
                                          <p:spTgt spid="13"/>
                                        </p:tgtEl>
                                      </p:cBhvr>
                                    </p:animEffect>
                                  </p:childTnLst>
                                </p:cTn>
                              </p:par>
                              <p:par>
                                <p:cTn id="30" presetID="10" presetClass="entr" presetSubtype="0" fill="hold" nodeType="withEffect">
                                  <p:stCondLst>
                                    <p:cond delay="0"/>
                                  </p:stCondLst>
                                  <p:childTnLst>
                                    <p:set>
                                      <p:cBhvr>
                                        <p:cTn id="31" dur="1" fill="hold">
                                          <p:stCondLst>
                                            <p:cond delay="0"/>
                                          </p:stCondLst>
                                        </p:cTn>
                                        <p:tgtEl>
                                          <p:spTgt spid="14"/>
                                        </p:tgtEl>
                                        <p:attrNameLst>
                                          <p:attrName>style.visibility</p:attrName>
                                        </p:attrNameLst>
                                      </p:cBhvr>
                                      <p:to>
                                        <p:strVal val="visible"/>
                                      </p:to>
                                    </p:set>
                                    <p:animEffect transition="in" filter="fade">
                                      <p:cBhvr>
                                        <p:cTn id="32" dur="450"/>
                                        <p:tgtEl>
                                          <p:spTgt spid="14"/>
                                        </p:tgtEl>
                                      </p:cBhvr>
                                    </p:animEffect>
                                  </p:childTnLst>
                                </p:cTn>
                              </p:par>
                            </p:childTnLst>
                          </p:cTn>
                        </p:par>
                      </p:childTnLst>
                    </p:cTn>
                  </p:par>
                  <p:par>
                    <p:cTn id="33" fill="hold">
                      <p:stCondLst>
                        <p:cond delay="250"/>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5"/>
                                        </p:tgtEl>
                                        <p:attrNameLst>
                                          <p:attrName>style.visibility</p:attrName>
                                        </p:attrNameLst>
                                      </p:cBhvr>
                                      <p:to>
                                        <p:strVal val="visible"/>
                                      </p:to>
                                    </p:set>
                                    <p:animEffect transition="in" filter="fade">
                                      <p:cBhvr>
                                        <p:cTn id="37" dur="450"/>
                                        <p:tgtEl>
                                          <p:spTgt spid="15"/>
                                        </p:tgtEl>
                                      </p:cBhvr>
                                    </p:animEffect>
                                  </p:childTnLst>
                                </p:cTn>
                              </p:par>
                              <p:par>
                                <p:cTn id="38" presetID="10" presetClass="entr" presetSubtype="0" fill="hold" nodeType="withEffect">
                                  <p:stCondLst>
                                    <p:cond delay="0"/>
                                  </p:stCondLst>
                                  <p:childTnLst>
                                    <p:set>
                                      <p:cBhvr>
                                        <p:cTn id="39" dur="1" fill="hold">
                                          <p:stCondLst>
                                            <p:cond delay="0"/>
                                          </p:stCondLst>
                                        </p:cTn>
                                        <p:tgtEl>
                                          <p:spTgt spid="16"/>
                                        </p:tgtEl>
                                        <p:attrNameLst>
                                          <p:attrName>style.visibility</p:attrName>
                                        </p:attrNameLst>
                                      </p:cBhvr>
                                      <p:to>
                                        <p:strVal val="visible"/>
                                      </p:to>
                                    </p:set>
                                    <p:animEffect transition="in" filter="fade">
                                      <p:cBhvr>
                                        <p:cTn id="40" dur="450"/>
                                        <p:tgtEl>
                                          <p:spTgt spid="16"/>
                                        </p:tgtEl>
                                      </p:cBhvr>
                                    </p:animEffect>
                                  </p:childTnLst>
                                </p:cTn>
                              </p:par>
                            </p:childTnLst>
                          </p:cTn>
                        </p:par>
                      </p:childTnLst>
                    </p:cTn>
                  </p:par>
                  <p:par>
                    <p:cTn id="41" fill="hold">
                      <p:stCondLst>
                        <p:cond delay="250"/>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17"/>
                                        </p:tgtEl>
                                        <p:attrNameLst>
                                          <p:attrName>style.visibility</p:attrName>
                                        </p:attrNameLst>
                                      </p:cBhvr>
                                      <p:to>
                                        <p:strVal val="visible"/>
                                      </p:to>
                                    </p:set>
                                    <p:animEffect transition="in" filter="fade">
                                      <p:cBhvr>
                                        <p:cTn id="45" dur="450"/>
                                        <p:tgtEl>
                                          <p:spTgt spid="17"/>
                                        </p:tgtEl>
                                      </p:cBhvr>
                                    </p:animEffect>
                                  </p:childTnLst>
                                </p:cTn>
                              </p:par>
                              <p:par>
                                <p:cTn id="46" presetID="10" presetClass="entr" presetSubtype="0" fill="hold" nodeType="withEffect">
                                  <p:stCondLst>
                                    <p:cond delay="0"/>
                                  </p:stCondLst>
                                  <p:childTnLst>
                                    <p:set>
                                      <p:cBhvr>
                                        <p:cTn id="47" dur="1" fill="hold">
                                          <p:stCondLst>
                                            <p:cond delay="0"/>
                                          </p:stCondLst>
                                        </p:cTn>
                                        <p:tgtEl>
                                          <p:spTgt spid="18"/>
                                        </p:tgtEl>
                                        <p:attrNameLst>
                                          <p:attrName>style.visibility</p:attrName>
                                        </p:attrNameLst>
                                      </p:cBhvr>
                                      <p:to>
                                        <p:strVal val="visible"/>
                                      </p:to>
                                    </p:set>
                                    <p:animEffect transition="in" filter="fade">
                                      <p:cBhvr>
                                        <p:cTn id="48" dur="450"/>
                                        <p:tgtEl>
                                          <p:spTgt spid="18"/>
                                        </p:tgtEl>
                                      </p:cBhvr>
                                    </p:animEffect>
                                  </p:childTnLst>
                                </p:cTn>
                              </p:par>
                            </p:childTnLst>
                          </p:cTn>
                        </p:par>
                      </p:childTnLst>
                    </p:cTn>
                  </p:par>
                  <p:par>
                    <p:cTn id="49" fill="hold">
                      <p:stCondLst>
                        <p:cond delay="250"/>
                      </p:stCondLst>
                      <p:childTnLst>
                        <p:par>
                          <p:cTn id="50" fill="hold">
                            <p:stCondLst>
                              <p:cond delay="0"/>
                            </p:stCondLst>
                            <p:childTnLst>
                              <p:par>
                                <p:cTn id="51" presetID="10" presetClass="entr" presetSubtype="0" fill="hold" nodeType="click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50"/>
                                        <p:tgtEl>
                                          <p:spTgt spid="19"/>
                                        </p:tgtEl>
                                      </p:cBhvr>
                                    </p:animEffect>
                                  </p:childTnLst>
                                </p:cTn>
                              </p:par>
                              <p:par>
                                <p:cTn id="54" presetID="10" presetClass="entr" presetSubtype="0" fill="hold" nodeType="withEffect">
                                  <p:stCondLst>
                                    <p:cond delay="0"/>
                                  </p:stCondLst>
                                  <p:childTnLst>
                                    <p:set>
                                      <p:cBhvr>
                                        <p:cTn id="55" dur="1" fill="hold">
                                          <p:stCondLst>
                                            <p:cond delay="0"/>
                                          </p:stCondLst>
                                        </p:cTn>
                                        <p:tgtEl>
                                          <p:spTgt spid="20"/>
                                        </p:tgtEl>
                                        <p:attrNameLst>
                                          <p:attrName>style.visibility</p:attrName>
                                        </p:attrNameLst>
                                      </p:cBhvr>
                                      <p:to>
                                        <p:strVal val="visible"/>
                                      </p:to>
                                    </p:set>
                                    <p:animEffect transition="in" filter="fade">
                                      <p:cBhvr>
                                        <p:cTn id="56" dur="450"/>
                                        <p:tgtEl>
                                          <p:spTgt spid="20"/>
                                        </p:tgtEl>
                                      </p:cBhvr>
                                    </p:animEffect>
                                  </p:childTnLst>
                                </p:cTn>
                              </p:par>
                              <p:par>
                                <p:cTn id="57" presetID="10" presetClass="entr" presetSubtype="0" fill="hold" nodeType="withEffect">
                                  <p:stCondLst>
                                    <p:cond delay="0"/>
                                  </p:stCondLst>
                                  <p:childTnLst>
                                    <p:set>
                                      <p:cBhvr>
                                        <p:cTn id="58" dur="1" fill="hold">
                                          <p:stCondLst>
                                            <p:cond delay="0"/>
                                          </p:stCondLst>
                                        </p:cTn>
                                        <p:tgtEl>
                                          <p:spTgt spid="22"/>
                                        </p:tgtEl>
                                        <p:attrNameLst>
                                          <p:attrName>style.visibility</p:attrName>
                                        </p:attrNameLst>
                                      </p:cBhvr>
                                      <p:to>
                                        <p:strVal val="visible"/>
                                      </p:to>
                                    </p:set>
                                    <p:animEffect transition="in" filter="fade">
                                      <p:cBhvr>
                                        <p:cTn id="59" dur="450"/>
                                        <p:tgtEl>
                                          <p:spTgt spid="22"/>
                                        </p:tgtEl>
                                      </p:cBhvr>
                                    </p:animEffect>
                                  </p:childTnLst>
                                </p:cTn>
                              </p:par>
                              <p:par>
                                <p:cTn id="60" presetID="22" presetClass="entr" presetSubtype="10" fill="hold" nodeType="withEffect">
                                  <p:stCondLst>
                                    <p:cond delay="0"/>
                                  </p:stCondLst>
                                  <p:childTnLst>
                                    <p:set>
                                      <p:cBhvr>
                                        <p:cTn id="61" dur="1" fill="hold">
                                          <p:stCondLst>
                                            <p:cond delay="0"/>
                                          </p:stCondLst>
                                        </p:cTn>
                                        <p:tgtEl>
                                          <p:spTgt spid="21"/>
                                        </p:tgtEl>
                                        <p:attrNameLst>
                                          <p:attrName>style.visibility</p:attrName>
                                        </p:attrNameLst>
                                      </p:cBhvr>
                                      <p:to>
                                        <p:strVal val="visible"/>
                                      </p:to>
                                    </p:set>
                                    <p:animEffect transition="in" filter="wipe(left)">
                                      <p:cBhvr>
                                        <p:cTn id="62" dur="9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8FA"/>
        </a:solidFill>
        <a:effectLst/>
      </p:bgPr>
    </p:bg>
    <p:spTree>
      <p:nvGrpSpPr>
        <p:cNvPr id="1" name=""/>
        <p:cNvGrpSpPr/>
        <p:nvPr/>
      </p:nvGrpSpPr>
      <p:grpSpPr>
        <a:xfrm>
          <a:off x="0" y="0"/>
          <a:ext cx="0" cy="0"/>
          <a:chOff x="0" y="0"/>
          <a:chExt cx="0" cy="0"/>
        </a:xfrm>
      </p:grpSpPr>
      <p:sp>
        <p:nvSpPr>
          <p:cNvPr id="2" name="Shape 0"/>
          <p:cNvSpPr/>
          <p:nvPr/>
        </p:nvSpPr>
        <p:spPr>
          <a:xfrm>
            <a:off x="697230" y="468630"/>
            <a:ext cx="754380" cy="754380"/>
          </a:xfrm>
          <a:prstGeom prst="ellipse">
            <a:avLst/>
          </a:prstGeom>
          <a:solidFill>
            <a:srgbClr val="C0392B">
              <a:alpha val="20000"/>
            </a:srgbClr>
          </a:solidFill>
          <a:ln/>
        </p:spPr>
        <p:txBody>
          <a:bodyPr/>
          <a:lstStyle/>
          <a:p>
            <a:endParaRPr lang="en-US"/>
          </a:p>
        </p:txBody>
      </p:sp>
      <p:sp>
        <p:nvSpPr>
          <p:cNvPr id="3" name="Shape 1"/>
          <p:cNvSpPr/>
          <p:nvPr/>
        </p:nvSpPr>
        <p:spPr>
          <a:xfrm>
            <a:off x="822960" y="594360"/>
            <a:ext cx="502920" cy="502920"/>
          </a:xfrm>
          <a:prstGeom prst="ellipse">
            <a:avLst/>
          </a:prstGeom>
          <a:solidFill>
            <a:srgbClr val="C0392B"/>
          </a:solidFill>
          <a:ln/>
        </p:spPr>
        <p:txBody>
          <a:bodyPr/>
          <a:lstStyle/>
          <a:p>
            <a:endParaRPr lang="en-US"/>
          </a:p>
        </p:txBody>
      </p:sp>
      <p:sp>
        <p:nvSpPr>
          <p:cNvPr id="5" name="Text 2"/>
          <p:cNvSpPr/>
          <p:nvPr/>
        </p:nvSpPr>
        <p:spPr>
          <a:xfrm>
            <a:off x="1481328" y="713232"/>
            <a:ext cx="4279392" cy="274320"/>
          </a:xfrm>
          <a:prstGeom prst="rect">
            <a:avLst/>
          </a:prstGeom>
          <a:noFill/>
          <a:ln/>
        </p:spPr>
        <p:txBody>
          <a:bodyPr wrap="square" lIns="0" tIns="0" rIns="0" bIns="0" rtlCol="0" anchor="ctr"/>
          <a:lstStyle/>
          <a:p>
            <a:pPr marL="0" indent="0">
              <a:buNone/>
            </a:pPr>
            <a:r>
              <a:rPr lang="en-US" sz="1400" b="1" kern="0" spc="200" dirty="0">
                <a:solidFill>
                  <a:srgbClr val="C0392B"/>
                </a:solidFill>
                <a:latin typeface="Calibri" pitchFamily="34" charset="0"/>
                <a:ea typeface="Calibri" pitchFamily="34" charset="-122"/>
                <a:cs typeface="Calibri" pitchFamily="34" charset="-120"/>
              </a:rPr>
              <a:t>MEDICAL / PERFORMANCE STAFF</a:t>
            </a:r>
            <a:endParaRPr lang="en-US" sz="1400" dirty="0"/>
          </a:p>
        </p:txBody>
      </p:sp>
      <p:sp>
        <p:nvSpPr>
          <p:cNvPr id="6" name="Text 3"/>
          <p:cNvSpPr/>
          <p:nvPr/>
        </p:nvSpPr>
        <p:spPr>
          <a:xfrm>
            <a:off x="822960" y="1188720"/>
            <a:ext cx="4937760" cy="777240"/>
          </a:xfrm>
          <a:prstGeom prst="rect">
            <a:avLst/>
          </a:prstGeom>
          <a:noFill/>
          <a:ln/>
        </p:spPr>
        <p:txBody>
          <a:bodyPr wrap="square" lIns="0" tIns="0" rIns="0" bIns="0" rtlCol="0" anchor="ctr"/>
          <a:lstStyle/>
          <a:p>
            <a:pPr marL="0" indent="0">
              <a:buNone/>
            </a:pPr>
            <a:r>
              <a:rPr lang="en-US" sz="1800" b="1" dirty="0">
                <a:solidFill>
                  <a:srgbClr val="1A1A1A"/>
                </a:solidFill>
                <a:latin typeface="Cambria" pitchFamily="34" charset="0"/>
                <a:ea typeface="Cambria" pitchFamily="34" charset="-122"/>
                <a:cs typeface="Cambria" pitchFamily="34" charset="-120"/>
              </a:rPr>
              <a:t>Which workload patterns are worth flagging before signing a player?</a:t>
            </a:r>
            <a:endParaRPr lang="en-US" sz="1800" dirty="0"/>
          </a:p>
        </p:txBody>
      </p:sp>
      <p:sp>
        <p:nvSpPr>
          <p:cNvPr id="7" name="Shape 4"/>
          <p:cNvSpPr/>
          <p:nvPr/>
        </p:nvSpPr>
        <p:spPr>
          <a:xfrm>
            <a:off x="822960" y="2057400"/>
            <a:ext cx="4937760" cy="896112"/>
          </a:xfrm>
          <a:prstGeom prst="roundRect">
            <a:avLst>
              <a:gd name="adj" fmla="val 7143"/>
            </a:avLst>
          </a:prstGeom>
          <a:solidFill>
            <a:srgbClr val="16264D"/>
          </a:solidFill>
          <a:ln/>
        </p:spPr>
        <p:txBody>
          <a:bodyPr/>
          <a:lstStyle/>
          <a:p>
            <a:endParaRPr lang="en-US"/>
          </a:p>
        </p:txBody>
      </p:sp>
      <p:sp>
        <p:nvSpPr>
          <p:cNvPr id="8" name="Text 5"/>
          <p:cNvSpPr/>
          <p:nvPr/>
        </p:nvSpPr>
        <p:spPr>
          <a:xfrm>
            <a:off x="1024128" y="2148840"/>
            <a:ext cx="4535424" cy="228600"/>
          </a:xfrm>
          <a:prstGeom prst="rect">
            <a:avLst/>
          </a:prstGeom>
          <a:noFill/>
          <a:ln/>
        </p:spPr>
        <p:txBody>
          <a:bodyPr wrap="square" lIns="0" tIns="0" rIns="0" bIns="0" rtlCol="0" anchor="ctr"/>
          <a:lstStyle/>
          <a:p>
            <a:pPr marL="0" indent="0">
              <a:buNone/>
            </a:pPr>
            <a:r>
              <a:rPr lang="en-US" sz="1200" b="1" kern="0" spc="100" dirty="0">
                <a:solidFill>
                  <a:srgbClr val="E8A33D"/>
                </a:solidFill>
                <a:latin typeface="Calibri" pitchFamily="34" charset="0"/>
                <a:ea typeface="Calibri" pitchFamily="34" charset="-122"/>
                <a:cs typeface="Calibri" pitchFamily="34" charset="-120"/>
              </a:rPr>
              <a:t>HYPOTHESIS</a:t>
            </a:r>
            <a:endParaRPr lang="en-US" sz="1200" dirty="0"/>
          </a:p>
        </p:txBody>
      </p:sp>
      <p:sp>
        <p:nvSpPr>
          <p:cNvPr id="9" name="Text 6"/>
          <p:cNvSpPr/>
          <p:nvPr/>
        </p:nvSpPr>
        <p:spPr>
          <a:xfrm>
            <a:off x="1024128" y="2377440"/>
            <a:ext cx="4535424" cy="530352"/>
          </a:xfrm>
          <a:prstGeom prst="rect">
            <a:avLst/>
          </a:prstGeom>
          <a:noFill/>
          <a:ln/>
        </p:spPr>
        <p:txBody>
          <a:bodyPr wrap="square" lIns="0" tIns="0" rIns="0" bIns="0" rtlCol="0" anchor="ctr"/>
          <a:lstStyle/>
          <a:p>
            <a:pPr marL="0" indent="0">
              <a:buNone/>
            </a:pPr>
            <a:r>
              <a:rPr lang="en-US" sz="1400" i="1" dirty="0">
                <a:solidFill>
                  <a:srgbClr val="FFFFFF"/>
                </a:solidFill>
                <a:latin typeface="Calibri" pitchFamily="34" charset="0"/>
                <a:ea typeface="Calibri" pitchFamily="34" charset="-122"/>
                <a:cs typeface="Calibri" pitchFamily="34" charset="-120"/>
              </a:rPr>
              <a:t>Position predicts injury and workload risk.</a:t>
            </a:r>
            <a:endParaRPr lang="en-US" sz="1400" dirty="0"/>
          </a:p>
        </p:txBody>
      </p:sp>
      <p:sp>
        <p:nvSpPr>
          <p:cNvPr id="10" name="Shape 7"/>
          <p:cNvSpPr/>
          <p:nvPr/>
        </p:nvSpPr>
        <p:spPr>
          <a:xfrm>
            <a:off x="822960" y="3154680"/>
            <a:ext cx="4937760" cy="420624"/>
          </a:xfrm>
          <a:prstGeom prst="roundRect">
            <a:avLst>
              <a:gd name="adj" fmla="val 50000"/>
            </a:avLst>
          </a:prstGeom>
          <a:solidFill>
            <a:srgbClr val="6B7280"/>
          </a:solidFill>
          <a:ln/>
        </p:spPr>
        <p:txBody>
          <a:bodyPr/>
          <a:lstStyle/>
          <a:p>
            <a:endParaRPr lang="en-US"/>
          </a:p>
        </p:txBody>
      </p:sp>
      <p:pic>
        <p:nvPicPr>
          <p:cNvPr id="11" name="Image 1" descr="preencoded.png"/>
          <p:cNvPicPr>
            <a:picLocks noChangeAspect="1"/>
          </p:cNvPicPr>
          <p:nvPr/>
        </p:nvPicPr>
        <p:blipFill>
          <a:blip r:embed="rId3"/>
          <a:stretch>
            <a:fillRect/>
          </a:stretch>
        </p:blipFill>
        <p:spPr>
          <a:xfrm>
            <a:off x="939800" y="3225800"/>
            <a:ext cx="254000" cy="254000"/>
          </a:xfrm>
          <a:prstGeom prst="rect">
            <a:avLst/>
          </a:prstGeom>
        </p:spPr>
      </p:pic>
      <p:sp>
        <p:nvSpPr>
          <p:cNvPr id="12" name="Text 8"/>
          <p:cNvSpPr/>
          <p:nvPr/>
        </p:nvSpPr>
        <p:spPr>
          <a:xfrm>
            <a:off x="1280160" y="3154680"/>
            <a:ext cx="4389120" cy="420624"/>
          </a:xfrm>
          <a:prstGeom prst="rect">
            <a:avLst/>
          </a:prstGeom>
          <a:noFill/>
          <a:ln/>
        </p:spPr>
        <p:txBody>
          <a:bodyPr wrap="square" lIns="0" tIns="0" rIns="0" bIns="0" rtlCol="0" anchor="ctr"/>
          <a:lstStyle/>
          <a:p>
            <a:pPr marL="0" indent="0" algn="l">
              <a:buNone/>
            </a:pPr>
            <a:r>
              <a:rPr lang="en-US" sz="1350" b="1" dirty="0">
                <a:solidFill>
                  <a:srgbClr val="FFFFFF"/>
                </a:solidFill>
                <a:latin typeface="Calibri" pitchFamily="34" charset="0"/>
                <a:ea typeface="Calibri" pitchFamily="34" charset="-122"/>
                <a:cs typeface="Calibri" pitchFamily="34" charset="-120"/>
              </a:rPr>
              <a:t>NOT CONFIRMED, but goalkeepers stand out</a:t>
            </a:r>
            <a:endParaRPr lang="en-US" sz="1350" dirty="0"/>
          </a:p>
        </p:txBody>
      </p:sp>
      <p:pic>
        <p:nvPicPr>
          <p:cNvPr id="13" name="Image 2" descr="preencoded.png"/>
          <p:cNvPicPr>
            <a:picLocks noChangeAspect="1"/>
          </p:cNvPicPr>
          <p:nvPr/>
        </p:nvPicPr>
        <p:blipFill>
          <a:blip r:embed="rId4"/>
          <a:stretch>
            <a:fillRect/>
          </a:stretch>
        </p:blipFill>
        <p:spPr>
          <a:xfrm>
            <a:off x="800100" y="4025900"/>
            <a:ext cx="254000" cy="254000"/>
          </a:xfrm>
          <a:prstGeom prst="rect">
            <a:avLst/>
          </a:prstGeom>
        </p:spPr>
      </p:pic>
      <p:sp>
        <p:nvSpPr>
          <p:cNvPr id="14" name="Text 9"/>
          <p:cNvSpPr/>
          <p:nvPr/>
        </p:nvSpPr>
        <p:spPr>
          <a:xfrm>
            <a:off x="1152144" y="3962400"/>
            <a:ext cx="4608576" cy="530352"/>
          </a:xfrm>
          <a:prstGeom prst="rect">
            <a:avLst/>
          </a:prstGeom>
          <a:noFill/>
          <a:ln/>
        </p:spPr>
        <p:txBody>
          <a:bodyPr wrap="square" lIns="0" tIns="0" rIns="0" bIns="0" rtlCol="0" anchor="t"/>
          <a:lstStyle/>
          <a:p>
            <a:pPr marL="0" indent="0">
              <a:buNone/>
            </a:pPr>
            <a:r>
              <a:rPr lang="en-US" sz="1400" dirty="0">
                <a:solidFill>
                  <a:srgbClr val="1A1A1A"/>
                </a:solidFill>
                <a:latin typeface="Calibri" pitchFamily="34" charset="0"/>
                <a:ea typeface="Calibri" pitchFamily="34" charset="-122"/>
                <a:cs typeface="Calibri" pitchFamily="34" charset="-120"/>
              </a:rPr>
              <a:t>Position alone does not statistically predict injury risk.</a:t>
            </a:r>
            <a:endParaRPr lang="en-US" sz="1400" dirty="0"/>
          </a:p>
        </p:txBody>
      </p:sp>
      <p:pic>
        <p:nvPicPr>
          <p:cNvPr id="15" name="Image 3" descr="preencoded.png"/>
          <p:cNvPicPr>
            <a:picLocks noChangeAspect="1"/>
          </p:cNvPicPr>
          <p:nvPr/>
        </p:nvPicPr>
        <p:blipFill>
          <a:blip r:embed="rId4"/>
          <a:stretch>
            <a:fillRect/>
          </a:stretch>
        </p:blipFill>
        <p:spPr>
          <a:xfrm>
            <a:off x="800100" y="4864100"/>
            <a:ext cx="254000" cy="254000"/>
          </a:xfrm>
          <a:prstGeom prst="rect">
            <a:avLst/>
          </a:prstGeom>
        </p:spPr>
      </p:pic>
      <p:sp>
        <p:nvSpPr>
          <p:cNvPr id="16" name="Text 10"/>
          <p:cNvSpPr/>
          <p:nvPr/>
        </p:nvSpPr>
        <p:spPr>
          <a:xfrm>
            <a:off x="1152144" y="4800600"/>
            <a:ext cx="4608576" cy="530352"/>
          </a:xfrm>
          <a:prstGeom prst="rect">
            <a:avLst/>
          </a:prstGeom>
          <a:noFill/>
          <a:ln/>
        </p:spPr>
        <p:txBody>
          <a:bodyPr wrap="square" lIns="0" tIns="0" rIns="0" bIns="0" rtlCol="0" anchor="t"/>
          <a:lstStyle/>
          <a:p>
            <a:pPr marL="0" indent="0">
              <a:buNone/>
            </a:pPr>
            <a:r>
              <a:rPr lang="en-US" sz="1400" dirty="0">
                <a:solidFill>
                  <a:srgbClr val="1A1A1A"/>
                </a:solidFill>
                <a:latin typeface="Calibri" pitchFamily="34" charset="0"/>
                <a:ea typeface="Calibri" pitchFamily="34" charset="-122"/>
                <a:cs typeface="Calibri" pitchFamily="34" charset="-120"/>
              </a:rPr>
              <a:t>Goalkeepers still trend lower: 2.3 vs. about 4.2 for outfield.</a:t>
            </a:r>
            <a:endParaRPr lang="en-US" sz="1400" dirty="0"/>
          </a:p>
        </p:txBody>
      </p:sp>
      <p:pic>
        <p:nvPicPr>
          <p:cNvPr id="17" name="Image 4" descr="preencoded.png"/>
          <p:cNvPicPr>
            <a:picLocks noChangeAspect="1"/>
          </p:cNvPicPr>
          <p:nvPr/>
        </p:nvPicPr>
        <p:blipFill>
          <a:blip r:embed="rId4"/>
          <a:stretch>
            <a:fillRect/>
          </a:stretch>
        </p:blipFill>
        <p:spPr>
          <a:xfrm>
            <a:off x="800100" y="5702300"/>
            <a:ext cx="254000" cy="254000"/>
          </a:xfrm>
          <a:prstGeom prst="rect">
            <a:avLst/>
          </a:prstGeom>
        </p:spPr>
      </p:pic>
      <p:sp>
        <p:nvSpPr>
          <p:cNvPr id="18" name="Text 11"/>
          <p:cNvSpPr/>
          <p:nvPr/>
        </p:nvSpPr>
        <p:spPr>
          <a:xfrm>
            <a:off x="1152144" y="5638800"/>
            <a:ext cx="4608576" cy="530352"/>
          </a:xfrm>
          <a:prstGeom prst="rect">
            <a:avLst/>
          </a:prstGeom>
          <a:noFill/>
          <a:ln/>
        </p:spPr>
        <p:txBody>
          <a:bodyPr wrap="square" lIns="0" tIns="0" rIns="0" bIns="0" rtlCol="0" anchor="t"/>
          <a:lstStyle/>
          <a:p>
            <a:pPr marL="0" indent="0">
              <a:buNone/>
            </a:pPr>
            <a:r>
              <a:rPr lang="en-US" sz="1400" dirty="0">
                <a:solidFill>
                  <a:srgbClr val="1A1A1A"/>
                </a:solidFill>
                <a:latin typeface="Calibri" pitchFamily="34" charset="0"/>
                <a:ea typeface="Calibri" pitchFamily="34" charset="-122"/>
                <a:cs typeface="Calibri" pitchFamily="34" charset="-120"/>
              </a:rPr>
              <a:t>Too few goalkeepers in the data (52) to call this confirmed.</a:t>
            </a:r>
            <a:endParaRPr lang="en-US" sz="1400" dirty="0"/>
          </a:p>
        </p:txBody>
      </p:sp>
      <p:sp>
        <p:nvSpPr>
          <p:cNvPr id="19" name="Shape 12"/>
          <p:cNvSpPr/>
          <p:nvPr/>
        </p:nvSpPr>
        <p:spPr>
          <a:xfrm>
            <a:off x="6217920" y="594360"/>
            <a:ext cx="5148072" cy="5623560"/>
          </a:xfrm>
          <a:prstGeom prst="roundRect">
            <a:avLst>
              <a:gd name="adj" fmla="val 1599"/>
            </a:avLst>
          </a:prstGeom>
          <a:solidFill>
            <a:srgbClr val="FFFFFF"/>
          </a:solidFill>
          <a:ln/>
          <a:effectLst>
            <a:outerShdw blurRad="101600" dist="38100" dir="5400000" algn="bl" rotWithShape="0">
              <a:srgbClr val="8C93A6">
                <a:alpha val="22000"/>
              </a:srgbClr>
            </a:outerShdw>
          </a:effectLst>
        </p:spPr>
        <p:txBody>
          <a:bodyPr/>
          <a:lstStyle/>
          <a:p>
            <a:endParaRPr lang="en-US"/>
          </a:p>
        </p:txBody>
      </p:sp>
      <p:sp>
        <p:nvSpPr>
          <p:cNvPr id="20" name="Text 13"/>
          <p:cNvSpPr/>
          <p:nvPr/>
        </p:nvSpPr>
        <p:spPr>
          <a:xfrm>
            <a:off x="6537960" y="822960"/>
            <a:ext cx="4507992" cy="365760"/>
          </a:xfrm>
          <a:prstGeom prst="rect">
            <a:avLst/>
          </a:prstGeom>
          <a:noFill/>
          <a:ln/>
        </p:spPr>
        <p:txBody>
          <a:bodyPr wrap="square" lIns="0" tIns="0" rIns="0" bIns="0" rtlCol="0" anchor="ctr"/>
          <a:lstStyle/>
          <a:p>
            <a:pPr marL="0" indent="0">
              <a:buNone/>
            </a:pPr>
            <a:r>
              <a:rPr lang="en-US" sz="1350" b="1" dirty="0">
                <a:solidFill>
                  <a:srgbClr val="1A1A1A"/>
                </a:solidFill>
                <a:latin typeface="Calibri" pitchFamily="34" charset="0"/>
                <a:ea typeface="Calibri" pitchFamily="34" charset="-122"/>
                <a:cs typeface="Calibri" pitchFamily="34" charset="-120"/>
              </a:rPr>
              <a:t>Median injuries per 1,000 90s, by position</a:t>
            </a:r>
            <a:endParaRPr lang="en-US" sz="1350" dirty="0"/>
          </a:p>
        </p:txBody>
      </p:sp>
      <p:sp>
        <p:nvSpPr>
          <p:cNvPr id="22" name="Text 14"/>
          <p:cNvSpPr/>
          <p:nvPr/>
        </p:nvSpPr>
        <p:spPr>
          <a:xfrm>
            <a:off x="6537960" y="5029200"/>
            <a:ext cx="4507992" cy="960120"/>
          </a:xfrm>
          <a:prstGeom prst="rect">
            <a:avLst/>
          </a:prstGeom>
          <a:noFill/>
          <a:ln/>
        </p:spPr>
        <p:txBody>
          <a:bodyPr wrap="square" lIns="0" tIns="0" rIns="0" bIns="0" rtlCol="0" anchor="t"/>
          <a:lstStyle/>
          <a:p>
            <a:pPr marL="0" indent="0">
              <a:buNone/>
            </a:pPr>
            <a:r>
              <a:rPr lang="en-US" sz="1300" i="1" dirty="0">
                <a:solidFill>
                  <a:srgbClr val="44506B"/>
                </a:solidFill>
                <a:latin typeface="Calibri" pitchFamily="34" charset="0"/>
                <a:ea typeface="Calibri" pitchFamily="34" charset="-122"/>
                <a:cs typeface="Calibri" pitchFamily="34" charset="-120"/>
              </a:rPr>
              <a:t>n = 582 players (Goalkeeper n=52, Defender n=217, Midfield n=182, Attack n=131).</a:t>
            </a:r>
            <a:endParaRPr lang="en-US" sz="1300" dirty="0">
              <a:solidFill>
                <a:srgbClr val="44506B"/>
              </a:solidFill>
            </a:endParaRPr>
          </a:p>
        </p:txBody>
      </p:sp>
      <p:sp>
        <p:nvSpPr>
          <p:cNvPr id="24" name="Text 15"/>
          <p:cNvSpPr/>
          <p:nvPr/>
        </p:nvSpPr>
        <p:spPr>
          <a:xfrm>
            <a:off x="11368735" y="6400800"/>
            <a:ext cx="548640" cy="274320"/>
          </a:xfrm>
          <a:prstGeom prst="rect">
            <a:avLst/>
          </a:prstGeom>
          <a:noFill/>
          <a:ln/>
        </p:spPr>
        <p:txBody>
          <a:bodyPr wrap="square" lIns="0" tIns="0" rIns="0" bIns="0" rtlCol="0" anchor="ctr"/>
          <a:lstStyle/>
          <a:p>
            <a:pPr marL="0" indent="0" algn="r">
              <a:buNone/>
            </a:pPr>
            <a:r>
              <a:rPr lang="en-US" sz="1200" dirty="0">
                <a:solidFill>
                  <a:srgbClr val="5A6478"/>
                </a:solidFill>
                <a:latin typeface="Calibri" pitchFamily="34" charset="0"/>
                <a:ea typeface="Calibri" pitchFamily="34" charset="-122"/>
                <a:cs typeface="Calibri" pitchFamily="34" charset="-120"/>
              </a:rPr>
              <a:t>08</a:t>
            </a:r>
            <a:endParaRPr lang="en-US" sz="1200" dirty="0">
              <a:solidFill>
                <a:srgbClr val="5A6478"/>
              </a:solidFill>
            </a:endParaRPr>
          </a:p>
        </p:txBody>
      </p:sp>
      <p:pic>
        <p:nvPicPr>
          <p:cNvPr id="25" name="Graphic 25" descr="Soccer goal icon"/>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914400" y="685800"/>
            <a:ext cx="304800" cy="304800"/>
          </a:xfrm>
          <a:prstGeom prst="rect">
            <a:avLst/>
          </a:prstGeom>
        </p:spPr>
      </p:pic>
      <p:graphicFrame>
        <p:nvGraphicFramePr>
          <p:cNvPr id="63" name="Chart 62"/>
          <p:cNvGraphicFramePr>
            <a:graphicFrameLocks noGrp="1"/>
          </p:cNvGraphicFramePr>
          <p:nvPr/>
        </p:nvGraphicFramePr>
        <p:xfrm>
          <a:off x="6537960" y="1280160"/>
          <a:ext cx="4507992" cy="3566160"/>
        </p:xfrm>
        <a:graphic>
          <a:graphicData uri="http://schemas.openxmlformats.org/drawingml/2006/chart">
            <c:chart xmlns:c="http://schemas.openxmlformats.org/drawingml/2006/chart" r:id="rId8"/>
          </a:graphicData>
        </a:graphic>
      </p:graphicFrame>
    </p:spTree>
    <p:extLst>
      <p:ext uri="{BB962C8B-B14F-4D97-AF65-F5344CB8AC3E}">
        <p14:creationId xmlns:p14="http://schemas.microsoft.com/office/powerpoint/2010/main" val="1509924217"/>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par>
                                <p:cTn id="8" presetID="10" presetClass="entr" presetSubtype="0" fill="hold"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50"/>
                                        <p:tgtEl>
                                          <p:spTgt spid="8"/>
                                        </p:tgtEl>
                                      </p:cBhvr>
                                    </p:animEffect>
                                  </p:childTnLst>
                                </p:cTn>
                              </p:par>
                              <p:par>
                                <p:cTn id="11" presetID="10"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50"/>
                                        <p:tgtEl>
                                          <p:spTgt spid="9"/>
                                        </p:tgtEl>
                                      </p:cBhvr>
                                    </p:animEffect>
                                  </p:childTnLst>
                                </p:cTn>
                              </p:par>
                            </p:childTnLst>
                          </p:cTn>
                        </p:par>
                      </p:childTnLst>
                    </p:cTn>
                  </p:par>
                  <p:par>
                    <p:cTn id="14" fill="hold">
                      <p:stCondLst>
                        <p:cond delay="250"/>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450"/>
                                        <p:tgtEl>
                                          <p:spTgt spid="10"/>
                                        </p:tgtEl>
                                      </p:cBhvr>
                                    </p:animEffect>
                                  </p:childTnLst>
                                </p:cTn>
                              </p:par>
                              <p:par>
                                <p:cTn id="19" presetID="10" presetClass="entr" presetSubtype="0" fill="hold" nodeType="with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fade">
                                      <p:cBhvr>
                                        <p:cTn id="21" dur="450"/>
                                        <p:tgtEl>
                                          <p:spTgt spid="11"/>
                                        </p:tgtEl>
                                      </p:cBhvr>
                                    </p:animEffect>
                                  </p:childTnLst>
                                </p:cTn>
                              </p:par>
                              <p:par>
                                <p:cTn id="22" presetID="10" presetClass="entr" presetSubtype="0" fill="hold" nodeType="with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50"/>
                                        <p:tgtEl>
                                          <p:spTgt spid="12"/>
                                        </p:tgtEl>
                                      </p:cBhvr>
                                    </p:animEffect>
                                  </p:childTnLst>
                                </p:cTn>
                              </p:par>
                            </p:childTnLst>
                          </p:cTn>
                        </p:par>
                      </p:childTnLst>
                    </p:cTn>
                  </p:par>
                  <p:par>
                    <p:cTn id="25" fill="hold">
                      <p:stCondLst>
                        <p:cond delay="250"/>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3"/>
                                        </p:tgtEl>
                                        <p:attrNameLst>
                                          <p:attrName>style.visibility</p:attrName>
                                        </p:attrNameLst>
                                      </p:cBhvr>
                                      <p:to>
                                        <p:strVal val="visible"/>
                                      </p:to>
                                    </p:set>
                                    <p:animEffect transition="in" filter="fade">
                                      <p:cBhvr>
                                        <p:cTn id="29" dur="450"/>
                                        <p:tgtEl>
                                          <p:spTgt spid="13"/>
                                        </p:tgtEl>
                                      </p:cBhvr>
                                    </p:animEffect>
                                  </p:childTnLst>
                                </p:cTn>
                              </p:par>
                              <p:par>
                                <p:cTn id="30" presetID="10" presetClass="entr" presetSubtype="0" fill="hold" nodeType="withEffect">
                                  <p:stCondLst>
                                    <p:cond delay="0"/>
                                  </p:stCondLst>
                                  <p:childTnLst>
                                    <p:set>
                                      <p:cBhvr>
                                        <p:cTn id="31" dur="1" fill="hold">
                                          <p:stCondLst>
                                            <p:cond delay="0"/>
                                          </p:stCondLst>
                                        </p:cTn>
                                        <p:tgtEl>
                                          <p:spTgt spid="14"/>
                                        </p:tgtEl>
                                        <p:attrNameLst>
                                          <p:attrName>style.visibility</p:attrName>
                                        </p:attrNameLst>
                                      </p:cBhvr>
                                      <p:to>
                                        <p:strVal val="visible"/>
                                      </p:to>
                                    </p:set>
                                    <p:animEffect transition="in" filter="fade">
                                      <p:cBhvr>
                                        <p:cTn id="32" dur="450"/>
                                        <p:tgtEl>
                                          <p:spTgt spid="14"/>
                                        </p:tgtEl>
                                      </p:cBhvr>
                                    </p:animEffect>
                                  </p:childTnLst>
                                </p:cTn>
                              </p:par>
                            </p:childTnLst>
                          </p:cTn>
                        </p:par>
                      </p:childTnLst>
                    </p:cTn>
                  </p:par>
                  <p:par>
                    <p:cTn id="33" fill="hold">
                      <p:stCondLst>
                        <p:cond delay="250"/>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5"/>
                                        </p:tgtEl>
                                        <p:attrNameLst>
                                          <p:attrName>style.visibility</p:attrName>
                                        </p:attrNameLst>
                                      </p:cBhvr>
                                      <p:to>
                                        <p:strVal val="visible"/>
                                      </p:to>
                                    </p:set>
                                    <p:animEffect transition="in" filter="fade">
                                      <p:cBhvr>
                                        <p:cTn id="37" dur="450"/>
                                        <p:tgtEl>
                                          <p:spTgt spid="15"/>
                                        </p:tgtEl>
                                      </p:cBhvr>
                                    </p:animEffect>
                                  </p:childTnLst>
                                </p:cTn>
                              </p:par>
                              <p:par>
                                <p:cTn id="38" presetID="10" presetClass="entr" presetSubtype="0" fill="hold" nodeType="withEffect">
                                  <p:stCondLst>
                                    <p:cond delay="0"/>
                                  </p:stCondLst>
                                  <p:childTnLst>
                                    <p:set>
                                      <p:cBhvr>
                                        <p:cTn id="39" dur="1" fill="hold">
                                          <p:stCondLst>
                                            <p:cond delay="0"/>
                                          </p:stCondLst>
                                        </p:cTn>
                                        <p:tgtEl>
                                          <p:spTgt spid="16"/>
                                        </p:tgtEl>
                                        <p:attrNameLst>
                                          <p:attrName>style.visibility</p:attrName>
                                        </p:attrNameLst>
                                      </p:cBhvr>
                                      <p:to>
                                        <p:strVal val="visible"/>
                                      </p:to>
                                    </p:set>
                                    <p:animEffect transition="in" filter="fade">
                                      <p:cBhvr>
                                        <p:cTn id="40" dur="450"/>
                                        <p:tgtEl>
                                          <p:spTgt spid="16"/>
                                        </p:tgtEl>
                                      </p:cBhvr>
                                    </p:animEffect>
                                  </p:childTnLst>
                                </p:cTn>
                              </p:par>
                            </p:childTnLst>
                          </p:cTn>
                        </p:par>
                      </p:childTnLst>
                    </p:cTn>
                  </p:par>
                  <p:par>
                    <p:cTn id="41" fill="hold">
                      <p:stCondLst>
                        <p:cond delay="250"/>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17"/>
                                        </p:tgtEl>
                                        <p:attrNameLst>
                                          <p:attrName>style.visibility</p:attrName>
                                        </p:attrNameLst>
                                      </p:cBhvr>
                                      <p:to>
                                        <p:strVal val="visible"/>
                                      </p:to>
                                    </p:set>
                                    <p:animEffect transition="in" filter="fade">
                                      <p:cBhvr>
                                        <p:cTn id="45" dur="450"/>
                                        <p:tgtEl>
                                          <p:spTgt spid="17"/>
                                        </p:tgtEl>
                                      </p:cBhvr>
                                    </p:animEffect>
                                  </p:childTnLst>
                                </p:cTn>
                              </p:par>
                              <p:par>
                                <p:cTn id="46" presetID="10" presetClass="entr" presetSubtype="0" fill="hold" nodeType="withEffect">
                                  <p:stCondLst>
                                    <p:cond delay="0"/>
                                  </p:stCondLst>
                                  <p:childTnLst>
                                    <p:set>
                                      <p:cBhvr>
                                        <p:cTn id="47" dur="1" fill="hold">
                                          <p:stCondLst>
                                            <p:cond delay="0"/>
                                          </p:stCondLst>
                                        </p:cTn>
                                        <p:tgtEl>
                                          <p:spTgt spid="18"/>
                                        </p:tgtEl>
                                        <p:attrNameLst>
                                          <p:attrName>style.visibility</p:attrName>
                                        </p:attrNameLst>
                                      </p:cBhvr>
                                      <p:to>
                                        <p:strVal val="visible"/>
                                      </p:to>
                                    </p:set>
                                    <p:animEffect transition="in" filter="fade">
                                      <p:cBhvr>
                                        <p:cTn id="48" dur="450"/>
                                        <p:tgtEl>
                                          <p:spTgt spid="18"/>
                                        </p:tgtEl>
                                      </p:cBhvr>
                                    </p:animEffect>
                                  </p:childTnLst>
                                </p:cTn>
                              </p:par>
                            </p:childTnLst>
                          </p:cTn>
                        </p:par>
                      </p:childTnLst>
                    </p:cTn>
                  </p:par>
                  <p:par>
                    <p:cTn id="49" fill="hold">
                      <p:stCondLst>
                        <p:cond delay="250"/>
                      </p:stCondLst>
                      <p:childTnLst>
                        <p:par>
                          <p:cTn id="50" fill="hold">
                            <p:stCondLst>
                              <p:cond delay="0"/>
                            </p:stCondLst>
                            <p:childTnLst>
                              <p:par>
                                <p:cTn id="51" presetID="10" presetClass="entr" presetSubtype="0" fill="hold" nodeType="click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50"/>
                                        <p:tgtEl>
                                          <p:spTgt spid="19"/>
                                        </p:tgtEl>
                                      </p:cBhvr>
                                    </p:animEffect>
                                  </p:childTnLst>
                                </p:cTn>
                              </p:par>
                              <p:par>
                                <p:cTn id="54" presetID="10" presetClass="entr" presetSubtype="0" fill="hold" nodeType="withEffect">
                                  <p:stCondLst>
                                    <p:cond delay="0"/>
                                  </p:stCondLst>
                                  <p:childTnLst>
                                    <p:set>
                                      <p:cBhvr>
                                        <p:cTn id="55" dur="1" fill="hold">
                                          <p:stCondLst>
                                            <p:cond delay="0"/>
                                          </p:stCondLst>
                                        </p:cTn>
                                        <p:tgtEl>
                                          <p:spTgt spid="20"/>
                                        </p:tgtEl>
                                        <p:attrNameLst>
                                          <p:attrName>style.visibility</p:attrName>
                                        </p:attrNameLst>
                                      </p:cBhvr>
                                      <p:to>
                                        <p:strVal val="visible"/>
                                      </p:to>
                                    </p:set>
                                    <p:animEffect transition="in" filter="fade">
                                      <p:cBhvr>
                                        <p:cTn id="56" dur="450"/>
                                        <p:tgtEl>
                                          <p:spTgt spid="20"/>
                                        </p:tgtEl>
                                      </p:cBhvr>
                                    </p:animEffect>
                                  </p:childTnLst>
                                </p:cTn>
                              </p:par>
                              <p:par>
                                <p:cTn id="57" presetID="10" presetClass="entr" presetSubtype="0" fill="hold" nodeType="withEffect">
                                  <p:stCondLst>
                                    <p:cond delay="0"/>
                                  </p:stCondLst>
                                  <p:childTnLst>
                                    <p:set>
                                      <p:cBhvr>
                                        <p:cTn id="58" dur="1" fill="hold">
                                          <p:stCondLst>
                                            <p:cond delay="0"/>
                                          </p:stCondLst>
                                        </p:cTn>
                                        <p:tgtEl>
                                          <p:spTgt spid="22"/>
                                        </p:tgtEl>
                                        <p:attrNameLst>
                                          <p:attrName>style.visibility</p:attrName>
                                        </p:attrNameLst>
                                      </p:cBhvr>
                                      <p:to>
                                        <p:strVal val="visible"/>
                                      </p:to>
                                    </p:set>
                                    <p:animEffect transition="in" filter="fade">
                                      <p:cBhvr>
                                        <p:cTn id="59" dur="450"/>
                                        <p:tgtEl>
                                          <p:spTgt spid="22"/>
                                        </p:tgtEl>
                                      </p:cBhvr>
                                    </p:animEffect>
                                  </p:childTnLst>
                                </p:cTn>
                              </p:par>
                              <p:par>
                                <p:cTn id="60" presetID="22" presetClass="entr" presetSubtype="4" fill="hold" nodeType="withEffect">
                                  <p:stCondLst>
                                    <p:cond delay="0"/>
                                  </p:stCondLst>
                                  <p:childTnLst>
                                    <p:set>
                                      <p:cBhvr>
                                        <p:cTn id="61" dur="1" fill="hold">
                                          <p:stCondLst>
                                            <p:cond delay="0"/>
                                          </p:stCondLst>
                                        </p:cTn>
                                        <p:tgtEl>
                                          <p:spTgt spid="21"/>
                                        </p:tgtEl>
                                        <p:attrNameLst>
                                          <p:attrName>style.visibility</p:attrName>
                                        </p:attrNameLst>
                                      </p:cBhvr>
                                      <p:to>
                                        <p:strVal val="visible"/>
                                      </p:to>
                                    </p:set>
                                    <p:animEffect transition="in" filter="wipe(up)">
                                      <p:cBhvr>
                                        <p:cTn id="62" dur="9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697230" y="468630"/>
            <a:ext cx="754380" cy="754380"/>
          </a:xfrm>
          <a:prstGeom prst="ellipse">
            <a:avLst/>
          </a:prstGeom>
          <a:solidFill>
            <a:srgbClr val="0F1B3D">
              <a:alpha val="20000"/>
            </a:srgbClr>
          </a:solidFill>
          <a:ln/>
        </p:spPr>
        <p:txBody>
          <a:bodyPr/>
          <a:lstStyle/>
          <a:p>
            <a:endParaRPr lang="en-US"/>
          </a:p>
        </p:txBody>
      </p:sp>
      <p:sp>
        <p:nvSpPr>
          <p:cNvPr id="3" name="Shape 1"/>
          <p:cNvSpPr/>
          <p:nvPr/>
        </p:nvSpPr>
        <p:spPr>
          <a:xfrm>
            <a:off x="822960" y="594360"/>
            <a:ext cx="502920" cy="502920"/>
          </a:xfrm>
          <a:prstGeom prst="ellipse">
            <a:avLst/>
          </a:prstGeom>
          <a:solidFill>
            <a:srgbClr val="0F1B3D"/>
          </a:solidFill>
          <a:ln/>
        </p:spPr>
        <p:txBody>
          <a:bodyPr/>
          <a:lstStyle/>
          <a:p>
            <a:endParaRPr lang="en-US"/>
          </a:p>
        </p:txBody>
      </p:sp>
      <p:pic>
        <p:nvPicPr>
          <p:cNvPr id="4" name="Image 0" descr="preencoded.png"/>
          <p:cNvPicPr>
            <a:picLocks noChangeAspect="1"/>
          </p:cNvPicPr>
          <p:nvPr/>
        </p:nvPicPr>
        <p:blipFill>
          <a:blip r:embed="rId3"/>
          <a:stretch>
            <a:fillRect/>
          </a:stretch>
        </p:blipFill>
        <p:spPr>
          <a:xfrm>
            <a:off x="969264" y="740664"/>
            <a:ext cx="210312" cy="210312"/>
          </a:xfrm>
          <a:prstGeom prst="rect">
            <a:avLst/>
          </a:prstGeom>
        </p:spPr>
      </p:pic>
      <p:sp>
        <p:nvSpPr>
          <p:cNvPr id="5" name="Text 2"/>
          <p:cNvSpPr/>
          <p:nvPr/>
        </p:nvSpPr>
        <p:spPr>
          <a:xfrm>
            <a:off x="1481328" y="713232"/>
            <a:ext cx="4279392" cy="274320"/>
          </a:xfrm>
          <a:prstGeom prst="rect">
            <a:avLst/>
          </a:prstGeom>
          <a:noFill/>
          <a:ln/>
        </p:spPr>
        <p:txBody>
          <a:bodyPr wrap="square" lIns="0" tIns="0" rIns="0" bIns="0" rtlCol="0" anchor="ctr"/>
          <a:lstStyle/>
          <a:p>
            <a:pPr marL="0" indent="0">
              <a:buNone/>
            </a:pPr>
            <a:r>
              <a:rPr lang="en-US" sz="1400" b="1" kern="0" spc="200" dirty="0">
                <a:solidFill>
                  <a:srgbClr val="0F1B3D"/>
                </a:solidFill>
                <a:latin typeface="Calibri" pitchFamily="34" charset="0"/>
                <a:ea typeface="Calibri" pitchFamily="34" charset="-122"/>
                <a:cs typeface="Calibri" pitchFamily="34" charset="-120"/>
              </a:rPr>
              <a:t>VALUE FORECAST VALIDATION</a:t>
            </a:r>
            <a:endParaRPr lang="en-US" sz="1400" dirty="0"/>
          </a:p>
        </p:txBody>
      </p:sp>
      <p:sp>
        <p:nvSpPr>
          <p:cNvPr id="6" name="Text 3"/>
          <p:cNvSpPr/>
          <p:nvPr/>
        </p:nvSpPr>
        <p:spPr>
          <a:xfrm>
            <a:off x="822960" y="1188720"/>
            <a:ext cx="4937760" cy="777240"/>
          </a:xfrm>
          <a:prstGeom prst="rect">
            <a:avLst/>
          </a:prstGeom>
          <a:noFill/>
          <a:ln/>
        </p:spPr>
        <p:txBody>
          <a:bodyPr wrap="square" lIns="0" tIns="0" rIns="0" bIns="0" rtlCol="0" anchor="ctr"/>
          <a:lstStyle/>
          <a:p>
            <a:pPr marL="0" indent="0">
              <a:buNone/>
            </a:pPr>
            <a:r>
              <a:rPr lang="en-US" sz="1800" b="1" dirty="0">
                <a:solidFill>
                  <a:srgbClr val="1A1A1A"/>
                </a:solidFill>
                <a:latin typeface="Cambria" pitchFamily="34" charset="0"/>
                <a:ea typeface="Cambria" pitchFamily="34" charset="-122"/>
                <a:cs typeface="Cambria" pitchFamily="34" charset="-120"/>
              </a:rPr>
              <a:t>Does the value-trend forecast actually work?</a:t>
            </a:r>
            <a:endParaRPr lang="en-US" sz="1800" dirty="0"/>
          </a:p>
        </p:txBody>
      </p:sp>
      <p:sp>
        <p:nvSpPr>
          <p:cNvPr id="7" name="Shape 4"/>
          <p:cNvSpPr/>
          <p:nvPr/>
        </p:nvSpPr>
        <p:spPr>
          <a:xfrm>
            <a:off x="822960" y="2057400"/>
            <a:ext cx="4937760" cy="896112"/>
          </a:xfrm>
          <a:prstGeom prst="roundRect">
            <a:avLst>
              <a:gd name="adj" fmla="val 7143"/>
            </a:avLst>
          </a:prstGeom>
          <a:solidFill>
            <a:srgbClr val="16264D"/>
          </a:solidFill>
          <a:ln/>
        </p:spPr>
        <p:txBody>
          <a:bodyPr/>
          <a:lstStyle/>
          <a:p>
            <a:endParaRPr lang="en-US"/>
          </a:p>
        </p:txBody>
      </p:sp>
      <p:sp>
        <p:nvSpPr>
          <p:cNvPr id="8" name="Text 5"/>
          <p:cNvSpPr/>
          <p:nvPr/>
        </p:nvSpPr>
        <p:spPr>
          <a:xfrm>
            <a:off x="1024128" y="2148840"/>
            <a:ext cx="4535424" cy="228600"/>
          </a:xfrm>
          <a:prstGeom prst="rect">
            <a:avLst/>
          </a:prstGeom>
          <a:noFill/>
          <a:ln/>
        </p:spPr>
        <p:txBody>
          <a:bodyPr wrap="square" lIns="0" tIns="0" rIns="0" bIns="0" rtlCol="0" anchor="ctr"/>
          <a:lstStyle/>
          <a:p>
            <a:pPr marL="0" indent="0">
              <a:buNone/>
            </a:pPr>
            <a:r>
              <a:rPr lang="en-US" sz="1200" b="1" kern="0" spc="100" dirty="0">
                <a:solidFill>
                  <a:srgbClr val="E8A33D"/>
                </a:solidFill>
                <a:latin typeface="Calibri" pitchFamily="34" charset="0"/>
                <a:ea typeface="Calibri" pitchFamily="34" charset="-122"/>
                <a:cs typeface="Calibri" pitchFamily="34" charset="-120"/>
              </a:rPr>
              <a:t>HYPOTHESIS</a:t>
            </a:r>
            <a:endParaRPr lang="en-US" sz="1200" dirty="0"/>
          </a:p>
        </p:txBody>
      </p:sp>
      <p:sp>
        <p:nvSpPr>
          <p:cNvPr id="9" name="Text 6"/>
          <p:cNvSpPr/>
          <p:nvPr/>
        </p:nvSpPr>
        <p:spPr>
          <a:xfrm>
            <a:off x="1024128" y="2377440"/>
            <a:ext cx="4535424" cy="530352"/>
          </a:xfrm>
          <a:prstGeom prst="rect">
            <a:avLst/>
          </a:prstGeom>
          <a:noFill/>
          <a:ln/>
        </p:spPr>
        <p:txBody>
          <a:bodyPr wrap="square" lIns="0" tIns="0" rIns="0" bIns="0" rtlCol="0" anchor="ctr"/>
          <a:lstStyle/>
          <a:p>
            <a:pPr marL="0" indent="0">
              <a:buNone/>
            </a:pPr>
            <a:r>
              <a:rPr lang="en-US" sz="1400" i="1" dirty="0">
                <a:solidFill>
                  <a:srgbClr val="FFFFFF"/>
                </a:solidFill>
                <a:latin typeface="Calibri" pitchFamily="34" charset="0"/>
                <a:ea typeface="Calibri" pitchFamily="34" charset="-122"/>
                <a:cs typeface="Calibri" pitchFamily="34" charset="-120"/>
              </a:rPr>
              <a:t>A player's market value trend can be forecast from historical valuation snapshots alone.</a:t>
            </a:r>
            <a:endParaRPr lang="en-US" sz="1400" dirty="0"/>
          </a:p>
        </p:txBody>
      </p:sp>
      <p:sp>
        <p:nvSpPr>
          <p:cNvPr id="10" name="Shape 7"/>
          <p:cNvSpPr/>
          <p:nvPr/>
        </p:nvSpPr>
        <p:spPr>
          <a:xfrm>
            <a:off x="822960" y="3154680"/>
            <a:ext cx="4937760" cy="420624"/>
          </a:xfrm>
          <a:prstGeom prst="roundRect">
            <a:avLst>
              <a:gd name="adj" fmla="val 50000"/>
            </a:avLst>
          </a:prstGeom>
          <a:solidFill>
            <a:srgbClr val="C0392B"/>
          </a:solidFill>
          <a:ln/>
        </p:spPr>
        <p:txBody>
          <a:bodyPr/>
          <a:lstStyle/>
          <a:p>
            <a:endParaRPr lang="en-US"/>
          </a:p>
        </p:txBody>
      </p:sp>
      <p:pic>
        <p:nvPicPr>
          <p:cNvPr id="11" name="Image 1" descr="preencoded.png"/>
          <p:cNvPicPr>
            <a:picLocks noChangeAspect="1"/>
          </p:cNvPicPr>
          <p:nvPr/>
        </p:nvPicPr>
        <p:blipFill>
          <a:blip r:embed="rId4"/>
          <a:stretch>
            <a:fillRect/>
          </a:stretch>
        </p:blipFill>
        <p:spPr>
          <a:xfrm>
            <a:off x="969264" y="3255264"/>
            <a:ext cx="219456" cy="219456"/>
          </a:xfrm>
          <a:prstGeom prst="rect">
            <a:avLst/>
          </a:prstGeom>
        </p:spPr>
      </p:pic>
      <p:sp>
        <p:nvSpPr>
          <p:cNvPr id="12" name="Text 8"/>
          <p:cNvSpPr/>
          <p:nvPr/>
        </p:nvSpPr>
        <p:spPr>
          <a:xfrm>
            <a:off x="1280160" y="3154680"/>
            <a:ext cx="4389120" cy="420624"/>
          </a:xfrm>
          <a:prstGeom prst="rect">
            <a:avLst/>
          </a:prstGeom>
          <a:noFill/>
          <a:ln/>
        </p:spPr>
        <p:txBody>
          <a:bodyPr wrap="square" lIns="0" tIns="0" rIns="0" bIns="0" rtlCol="0" anchor="ctr"/>
          <a:lstStyle/>
          <a:p>
            <a:pPr marL="0" indent="0" algn="l">
              <a:buNone/>
            </a:pPr>
            <a:r>
              <a:rPr lang="en-US" sz="1350" b="1" dirty="0">
                <a:solidFill>
                  <a:srgbClr val="FFFFFF"/>
                </a:solidFill>
                <a:latin typeface="Calibri" pitchFamily="34" charset="0"/>
                <a:ea typeface="Calibri" pitchFamily="34" charset="-122"/>
                <a:cs typeface="Calibri" pitchFamily="34" charset="-120"/>
              </a:rPr>
              <a:t>NOT RELIABLE: worse than a coin flip</a:t>
            </a:r>
            <a:endParaRPr lang="en-US" sz="1350" dirty="0"/>
          </a:p>
        </p:txBody>
      </p:sp>
      <p:pic>
        <p:nvPicPr>
          <p:cNvPr id="13" name="Image 2" descr="preencoded.png"/>
          <p:cNvPicPr>
            <a:picLocks noChangeAspect="1"/>
          </p:cNvPicPr>
          <p:nvPr/>
        </p:nvPicPr>
        <p:blipFill>
          <a:blip r:embed="rId5"/>
          <a:stretch>
            <a:fillRect/>
          </a:stretch>
        </p:blipFill>
        <p:spPr>
          <a:xfrm>
            <a:off x="822960" y="3904488"/>
            <a:ext cx="219456" cy="219456"/>
          </a:xfrm>
          <a:prstGeom prst="rect">
            <a:avLst/>
          </a:prstGeom>
        </p:spPr>
      </p:pic>
      <p:sp>
        <p:nvSpPr>
          <p:cNvPr id="14" name="Text 9"/>
          <p:cNvSpPr/>
          <p:nvPr/>
        </p:nvSpPr>
        <p:spPr>
          <a:xfrm>
            <a:off x="1152144" y="3822192"/>
            <a:ext cx="4608576" cy="530352"/>
          </a:xfrm>
          <a:prstGeom prst="rect">
            <a:avLst/>
          </a:prstGeom>
          <a:noFill/>
          <a:ln/>
        </p:spPr>
        <p:txBody>
          <a:bodyPr wrap="square" lIns="0" tIns="0" rIns="0" bIns="0" rtlCol="0" anchor="t"/>
          <a:lstStyle/>
          <a:p>
            <a:pPr marL="0" indent="0">
              <a:buNone/>
            </a:pPr>
            <a:r>
              <a:rPr lang="en-US" sz="1400" dirty="0">
                <a:solidFill>
                  <a:srgbClr val="1A1A1A"/>
                </a:solidFill>
                <a:latin typeface="Calibri" pitchFamily="34" charset="0"/>
                <a:ea typeface="Calibri" pitchFamily="34" charset="-122"/>
                <a:cs typeface="Calibri" pitchFamily="34" charset="-120"/>
              </a:rPr>
              <a:t>Backtested on 150 players: forecast gets the direction right only 22.7% of the time.</a:t>
            </a:r>
            <a:endParaRPr lang="en-US" sz="1400" dirty="0"/>
          </a:p>
        </p:txBody>
      </p:sp>
      <p:pic>
        <p:nvPicPr>
          <p:cNvPr id="15" name="Image 3" descr="preencoded.png"/>
          <p:cNvPicPr>
            <a:picLocks noChangeAspect="1"/>
          </p:cNvPicPr>
          <p:nvPr/>
        </p:nvPicPr>
        <p:blipFill>
          <a:blip r:embed="rId5"/>
          <a:stretch>
            <a:fillRect/>
          </a:stretch>
        </p:blipFill>
        <p:spPr>
          <a:xfrm>
            <a:off x="822960" y="4617720"/>
            <a:ext cx="219456" cy="219456"/>
          </a:xfrm>
          <a:prstGeom prst="rect">
            <a:avLst/>
          </a:prstGeom>
        </p:spPr>
      </p:pic>
      <p:sp>
        <p:nvSpPr>
          <p:cNvPr id="16" name="Text 10"/>
          <p:cNvSpPr/>
          <p:nvPr/>
        </p:nvSpPr>
        <p:spPr>
          <a:xfrm>
            <a:off x="1152144" y="4535424"/>
            <a:ext cx="4608576" cy="530352"/>
          </a:xfrm>
          <a:prstGeom prst="rect">
            <a:avLst/>
          </a:prstGeom>
          <a:noFill/>
          <a:ln/>
        </p:spPr>
        <p:txBody>
          <a:bodyPr wrap="square" lIns="0" tIns="0" rIns="0" bIns="0" rtlCol="0" anchor="t"/>
          <a:lstStyle/>
          <a:p>
            <a:pPr marL="0" indent="0">
              <a:buNone/>
            </a:pPr>
            <a:r>
              <a:rPr lang="en-US" sz="1400" dirty="0">
                <a:solidFill>
                  <a:srgbClr val="1A1A1A"/>
                </a:solidFill>
                <a:latin typeface="Calibri" pitchFamily="34" charset="0"/>
                <a:ea typeface="Calibri" pitchFamily="34" charset="-122"/>
                <a:cs typeface="Calibri" pitchFamily="34" charset="-120"/>
              </a:rPr>
              <a:t>A coin flip would score about 50%. This model is confidently wrong, not just noisy.</a:t>
            </a:r>
            <a:endParaRPr lang="en-US" sz="1400" dirty="0"/>
          </a:p>
        </p:txBody>
      </p:sp>
      <p:pic>
        <p:nvPicPr>
          <p:cNvPr id="17" name="Image 4" descr="preencoded.png"/>
          <p:cNvPicPr>
            <a:picLocks noChangeAspect="1"/>
          </p:cNvPicPr>
          <p:nvPr/>
        </p:nvPicPr>
        <p:blipFill>
          <a:blip r:embed="rId5"/>
          <a:stretch>
            <a:fillRect/>
          </a:stretch>
        </p:blipFill>
        <p:spPr>
          <a:xfrm>
            <a:off x="822960" y="5330952"/>
            <a:ext cx="219456" cy="219456"/>
          </a:xfrm>
          <a:prstGeom prst="rect">
            <a:avLst/>
          </a:prstGeom>
        </p:spPr>
      </p:pic>
      <p:sp>
        <p:nvSpPr>
          <p:cNvPr id="18" name="Text 11"/>
          <p:cNvSpPr/>
          <p:nvPr/>
        </p:nvSpPr>
        <p:spPr>
          <a:xfrm>
            <a:off x="1152144" y="5248656"/>
            <a:ext cx="4608576" cy="530352"/>
          </a:xfrm>
          <a:prstGeom prst="rect">
            <a:avLst/>
          </a:prstGeom>
          <a:noFill/>
          <a:ln/>
        </p:spPr>
        <p:txBody>
          <a:bodyPr wrap="square" lIns="0" tIns="0" rIns="0" bIns="0" rtlCol="0" anchor="t"/>
          <a:lstStyle/>
          <a:p>
            <a:pPr marL="0" indent="0">
              <a:buNone/>
            </a:pPr>
            <a:r>
              <a:rPr lang="en-US" sz="1400" dirty="0">
                <a:solidFill>
                  <a:srgbClr val="1A1A1A"/>
                </a:solidFill>
                <a:latin typeface="Calibri" pitchFamily="34" charset="0"/>
                <a:ea typeface="Calibri" pitchFamily="34" charset="-122"/>
                <a:cs typeface="Calibri" pitchFamily="34" charset="-120"/>
              </a:rPr>
              <a:t>Magnitude error is high too: 149% median error against real held-out values.</a:t>
            </a:r>
            <a:endParaRPr lang="en-US" sz="1400" dirty="0"/>
          </a:p>
        </p:txBody>
      </p:sp>
      <p:sp>
        <p:nvSpPr>
          <p:cNvPr id="19" name="Shape 12"/>
          <p:cNvSpPr/>
          <p:nvPr/>
        </p:nvSpPr>
        <p:spPr>
          <a:xfrm>
            <a:off x="6217920" y="594360"/>
            <a:ext cx="5148072" cy="5623560"/>
          </a:xfrm>
          <a:prstGeom prst="roundRect">
            <a:avLst>
              <a:gd name="adj" fmla="val 1599"/>
            </a:avLst>
          </a:prstGeom>
          <a:solidFill>
            <a:srgbClr val="FFFFFF"/>
          </a:solidFill>
          <a:ln/>
          <a:effectLst>
            <a:outerShdw blurRad="101600" dist="38100" dir="5400000" algn="bl" rotWithShape="0">
              <a:srgbClr val="8C93A6">
                <a:alpha val="22000"/>
              </a:srgbClr>
            </a:outerShdw>
          </a:effectLst>
        </p:spPr>
        <p:txBody>
          <a:bodyPr/>
          <a:lstStyle/>
          <a:p>
            <a:endParaRPr lang="en-US"/>
          </a:p>
        </p:txBody>
      </p:sp>
      <p:sp>
        <p:nvSpPr>
          <p:cNvPr id="20" name="Text 13"/>
          <p:cNvSpPr/>
          <p:nvPr/>
        </p:nvSpPr>
        <p:spPr>
          <a:xfrm>
            <a:off x="6537960" y="822960"/>
            <a:ext cx="4507992" cy="365760"/>
          </a:xfrm>
          <a:prstGeom prst="rect">
            <a:avLst/>
          </a:prstGeom>
          <a:noFill/>
          <a:ln/>
        </p:spPr>
        <p:txBody>
          <a:bodyPr wrap="square" lIns="0" tIns="0" rIns="0" bIns="0" rtlCol="0" anchor="ctr"/>
          <a:lstStyle/>
          <a:p>
            <a:pPr marL="0" indent="0">
              <a:buNone/>
            </a:pPr>
            <a:r>
              <a:rPr lang="en-US" sz="1350" b="1" dirty="0">
                <a:solidFill>
                  <a:srgbClr val="1A1A1A"/>
                </a:solidFill>
                <a:latin typeface="Calibri" pitchFamily="34" charset="0"/>
                <a:ea typeface="Calibri" pitchFamily="34" charset="-122"/>
                <a:cs typeface="Calibri" pitchFamily="34" charset="-120"/>
              </a:rPr>
              <a:t>Directional accuracy vs. a coin-flip baseline (%)</a:t>
            </a:r>
            <a:endParaRPr lang="en-US" sz="1350" dirty="0"/>
          </a:p>
        </p:txBody>
      </p:sp>
      <p:sp>
        <p:nvSpPr>
          <p:cNvPr id="22" name="Text 14"/>
          <p:cNvSpPr/>
          <p:nvPr/>
        </p:nvSpPr>
        <p:spPr>
          <a:xfrm>
            <a:off x="6537960" y="5029200"/>
            <a:ext cx="4507992" cy="960120"/>
          </a:xfrm>
          <a:prstGeom prst="rect">
            <a:avLst/>
          </a:prstGeom>
          <a:noFill/>
          <a:ln/>
        </p:spPr>
        <p:txBody>
          <a:bodyPr wrap="square" lIns="0" tIns="0" rIns="0" bIns="0" rtlCol="0" anchor="t"/>
          <a:lstStyle/>
          <a:p>
            <a:pPr marL="0" indent="0">
              <a:buNone/>
            </a:pPr>
            <a:r>
              <a:rPr lang="en-US" sz="1300" i="1" dirty="0">
                <a:solidFill>
                  <a:srgbClr val="6B7280"/>
                </a:solidFill>
                <a:latin typeface="Calibri" pitchFamily="34" charset="0"/>
                <a:ea typeface="Calibri" pitchFamily="34" charset="-122"/>
                <a:cs typeface="Calibri" pitchFamily="34" charset="-120"/>
              </a:rPr>
              <a:t>n = 150 players sampled from 1,518 eligible (6+ valuation snapshots). Prophet model, log-space fit, last 2 snapshots per player held out.</a:t>
            </a:r>
            <a:endParaRPr lang="en-US" sz="1300" dirty="0"/>
          </a:p>
        </p:txBody>
      </p:sp>
      <p:sp>
        <p:nvSpPr>
          <p:cNvPr id="24" name="Text 15"/>
          <p:cNvSpPr/>
          <p:nvPr/>
        </p:nvSpPr>
        <p:spPr>
          <a:xfrm>
            <a:off x="11368735" y="6400800"/>
            <a:ext cx="548640" cy="274320"/>
          </a:xfrm>
          <a:prstGeom prst="rect">
            <a:avLst/>
          </a:prstGeom>
          <a:noFill/>
          <a:ln/>
        </p:spPr>
        <p:txBody>
          <a:bodyPr wrap="square" lIns="0" tIns="0" rIns="0" bIns="0" rtlCol="0" anchor="ctr"/>
          <a:lstStyle/>
          <a:p>
            <a:pPr marL="0" indent="0" algn="r">
              <a:buNone/>
            </a:pPr>
            <a:r>
              <a:rPr lang="en-US" sz="1000" dirty="0">
                <a:solidFill>
                  <a:srgbClr val="A3A9B5"/>
                </a:solidFill>
                <a:latin typeface="Calibri" pitchFamily="34" charset="0"/>
                <a:ea typeface="Calibri" pitchFamily="34" charset="-122"/>
                <a:cs typeface="Calibri" pitchFamily="34" charset="-120"/>
              </a:rPr>
              <a:t>09</a:t>
            </a:r>
            <a:endParaRPr lang="en-US" sz="1000" dirty="0"/>
          </a:p>
        </p:txBody>
      </p:sp>
      <p:graphicFrame>
        <p:nvGraphicFramePr>
          <p:cNvPr id="25" name="Chart 24"/>
          <p:cNvGraphicFramePr>
            <a:graphicFrameLocks noGrp="1"/>
          </p:cNvGraphicFramePr>
          <p:nvPr/>
        </p:nvGraphicFramePr>
        <p:xfrm>
          <a:off x="6537960" y="1280160"/>
          <a:ext cx="4507992" cy="3566160"/>
        </p:xfrm>
        <a:graphic>
          <a:graphicData uri="http://schemas.openxmlformats.org/drawingml/2006/chart">
            <c:chart xmlns:c="http://schemas.openxmlformats.org/drawingml/2006/chart" r:id="rId7"/>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0F1B3D"/>
        </a:solidFill>
        <a:effectLst/>
      </p:bgPr>
    </p:bg>
    <p:spTree>
      <p:nvGrpSpPr>
        <p:cNvPr id="1" name=""/>
        <p:cNvGrpSpPr/>
        <p:nvPr/>
      </p:nvGrpSpPr>
      <p:grpSpPr>
        <a:xfrm>
          <a:off x="0" y="0"/>
          <a:ext cx="0" cy="0"/>
          <a:chOff x="0" y="0"/>
          <a:chExt cx="0" cy="0"/>
        </a:xfrm>
      </p:grpSpPr>
      <p:sp>
        <p:nvSpPr>
          <p:cNvPr id="2" name="Shape 0"/>
          <p:cNvSpPr/>
          <p:nvPr/>
        </p:nvSpPr>
        <p:spPr>
          <a:xfrm>
            <a:off x="-365760" y="-365760"/>
            <a:ext cx="731520" cy="731520"/>
          </a:xfrm>
          <a:prstGeom prst="ellipse">
            <a:avLst/>
          </a:prstGeom>
          <a:ln w="19050">
            <a:solidFill>
              <a:srgbClr val="1F7A4D">
                <a:alpha val="45000"/>
              </a:srgbClr>
            </a:solidFill>
            <a:prstDash val="solid"/>
          </a:ln>
        </p:spPr>
        <p:txBody>
          <a:bodyPr/>
          <a:lstStyle/>
          <a:p>
            <a:endParaRPr lang="en-US"/>
          </a:p>
        </p:txBody>
      </p:sp>
      <p:sp>
        <p:nvSpPr>
          <p:cNvPr id="3" name="Shape 1"/>
          <p:cNvSpPr/>
          <p:nvPr/>
        </p:nvSpPr>
        <p:spPr>
          <a:xfrm>
            <a:off x="11825935" y="-365760"/>
            <a:ext cx="731520" cy="731520"/>
          </a:xfrm>
          <a:prstGeom prst="ellipse">
            <a:avLst/>
          </a:prstGeom>
          <a:ln w="19050">
            <a:solidFill>
              <a:srgbClr val="1F7A4D">
                <a:alpha val="45000"/>
              </a:srgbClr>
            </a:solidFill>
            <a:prstDash val="solid"/>
          </a:ln>
        </p:spPr>
        <p:txBody>
          <a:bodyPr/>
          <a:lstStyle/>
          <a:p>
            <a:endParaRPr lang="en-US"/>
          </a:p>
        </p:txBody>
      </p:sp>
      <p:sp>
        <p:nvSpPr>
          <p:cNvPr id="4" name="Shape 2"/>
          <p:cNvSpPr/>
          <p:nvPr/>
        </p:nvSpPr>
        <p:spPr>
          <a:xfrm>
            <a:off x="-365760" y="6492240"/>
            <a:ext cx="731520" cy="731520"/>
          </a:xfrm>
          <a:prstGeom prst="ellipse">
            <a:avLst/>
          </a:prstGeom>
          <a:ln w="19050">
            <a:solidFill>
              <a:srgbClr val="1F7A4D">
                <a:alpha val="45000"/>
              </a:srgbClr>
            </a:solidFill>
            <a:prstDash val="solid"/>
          </a:ln>
        </p:spPr>
        <p:txBody>
          <a:bodyPr/>
          <a:lstStyle/>
          <a:p>
            <a:endParaRPr lang="en-US"/>
          </a:p>
        </p:txBody>
      </p:sp>
      <p:sp>
        <p:nvSpPr>
          <p:cNvPr id="5" name="Shape 3"/>
          <p:cNvSpPr/>
          <p:nvPr/>
        </p:nvSpPr>
        <p:spPr>
          <a:xfrm>
            <a:off x="11825935" y="6492240"/>
            <a:ext cx="731520" cy="731520"/>
          </a:xfrm>
          <a:prstGeom prst="ellipse">
            <a:avLst/>
          </a:prstGeom>
          <a:ln w="19050">
            <a:solidFill>
              <a:srgbClr val="1F7A4D">
                <a:alpha val="45000"/>
              </a:srgbClr>
            </a:solidFill>
            <a:prstDash val="solid"/>
          </a:ln>
        </p:spPr>
        <p:txBody>
          <a:bodyPr/>
          <a:lstStyle/>
          <a:p>
            <a:endParaRPr lang="en-US"/>
          </a:p>
        </p:txBody>
      </p:sp>
      <p:sp>
        <p:nvSpPr>
          <p:cNvPr id="6" name="Shape 4"/>
          <p:cNvSpPr/>
          <p:nvPr/>
        </p:nvSpPr>
        <p:spPr>
          <a:xfrm>
            <a:off x="-1371600" y="6217920"/>
            <a:ext cx="3657600" cy="3657600"/>
          </a:xfrm>
          <a:prstGeom prst="ellipse">
            <a:avLst/>
          </a:prstGeom>
          <a:solidFill>
            <a:srgbClr val="1F7A4D">
              <a:alpha val="5000"/>
            </a:srgbClr>
          </a:solidFill>
          <a:ln w="25400">
            <a:solidFill>
              <a:srgbClr val="1F7A4D">
                <a:alpha val="38000"/>
              </a:srgbClr>
            </a:solidFill>
            <a:prstDash val="solid"/>
          </a:ln>
        </p:spPr>
        <p:txBody>
          <a:bodyPr/>
          <a:lstStyle/>
          <a:p>
            <a:endParaRPr lang="en-US"/>
          </a:p>
        </p:txBody>
      </p:sp>
      <p:sp>
        <p:nvSpPr>
          <p:cNvPr id="7" name="Shape 5"/>
          <p:cNvSpPr/>
          <p:nvPr/>
        </p:nvSpPr>
        <p:spPr>
          <a:xfrm>
            <a:off x="411480" y="8001000"/>
            <a:ext cx="91440" cy="91440"/>
          </a:xfrm>
          <a:prstGeom prst="ellipse">
            <a:avLst/>
          </a:prstGeom>
          <a:solidFill>
            <a:srgbClr val="E8A33D">
              <a:alpha val="75000"/>
            </a:srgbClr>
          </a:solidFill>
          <a:ln/>
        </p:spPr>
        <p:txBody>
          <a:bodyPr/>
          <a:lstStyle/>
          <a:p>
            <a:endParaRPr lang="en-US"/>
          </a:p>
        </p:txBody>
      </p:sp>
      <p:sp>
        <p:nvSpPr>
          <p:cNvPr id="8" name="Shape 6"/>
          <p:cNvSpPr/>
          <p:nvPr/>
        </p:nvSpPr>
        <p:spPr>
          <a:xfrm>
            <a:off x="685800" y="502920"/>
            <a:ext cx="822960" cy="822960"/>
          </a:xfrm>
          <a:prstGeom prst="ellipse">
            <a:avLst/>
          </a:prstGeom>
          <a:solidFill>
            <a:srgbClr val="E8A33D">
              <a:alpha val="20000"/>
            </a:srgbClr>
          </a:solidFill>
          <a:ln/>
        </p:spPr>
        <p:txBody>
          <a:bodyPr/>
          <a:lstStyle/>
          <a:p>
            <a:endParaRPr lang="en-US"/>
          </a:p>
        </p:txBody>
      </p:sp>
      <p:sp>
        <p:nvSpPr>
          <p:cNvPr id="9" name="Shape 7"/>
          <p:cNvSpPr/>
          <p:nvPr/>
        </p:nvSpPr>
        <p:spPr>
          <a:xfrm>
            <a:off x="822960" y="640080"/>
            <a:ext cx="548640" cy="548640"/>
          </a:xfrm>
          <a:prstGeom prst="ellipse">
            <a:avLst/>
          </a:prstGeom>
          <a:solidFill>
            <a:srgbClr val="E8A33D"/>
          </a:solidFill>
          <a:ln/>
        </p:spPr>
        <p:txBody>
          <a:bodyPr/>
          <a:lstStyle/>
          <a:p>
            <a:endParaRPr lang="en-US"/>
          </a:p>
        </p:txBody>
      </p:sp>
      <p:sp>
        <p:nvSpPr>
          <p:cNvPr id="11" name="Text 8"/>
          <p:cNvSpPr/>
          <p:nvPr/>
        </p:nvSpPr>
        <p:spPr>
          <a:xfrm>
            <a:off x="1536192" y="777240"/>
            <a:ext cx="5486400" cy="274320"/>
          </a:xfrm>
          <a:prstGeom prst="rect">
            <a:avLst/>
          </a:prstGeom>
          <a:noFill/>
          <a:ln/>
        </p:spPr>
        <p:txBody>
          <a:bodyPr wrap="square" lIns="0" tIns="0" rIns="0" bIns="0" rtlCol="0" anchor="ctr"/>
          <a:lstStyle/>
          <a:p>
            <a:pPr marL="0" indent="0">
              <a:buNone/>
            </a:pPr>
            <a:r>
              <a:rPr lang="en-US" sz="1400" b="1" kern="0" spc="200" dirty="0">
                <a:solidFill>
                  <a:srgbClr val="E8A33D"/>
                </a:solidFill>
                <a:latin typeface="Calibri" pitchFamily="34" charset="0"/>
                <a:ea typeface="Calibri" pitchFamily="34" charset="-122"/>
                <a:cs typeface="Calibri" pitchFamily="34" charset="-120"/>
              </a:rPr>
              <a:t>THE HONEST CAVEAT</a:t>
            </a:r>
            <a:endParaRPr lang="en-US" sz="1400" dirty="0"/>
          </a:p>
        </p:txBody>
      </p:sp>
      <p:graphicFrame>
        <p:nvGraphicFramePr>
          <p:cNvPr id="12" name="Chart 0"/>
          <p:cNvGraphicFramePr/>
          <p:nvPr/>
        </p:nvGraphicFramePr>
        <p:xfrm>
          <a:off x="1051560" y="1417320"/>
          <a:ext cx="3063240" cy="3063240"/>
        </p:xfrm>
        <a:graphic>
          <a:graphicData uri="http://schemas.openxmlformats.org/drawingml/2006/chart">
            <c:chart xmlns:c="http://schemas.openxmlformats.org/drawingml/2006/chart" xmlns:r="http://schemas.openxmlformats.org/officeDocument/2006/relationships" r:id="rId3"/>
          </a:graphicData>
        </a:graphic>
      </p:graphicFrame>
      <p:sp>
        <p:nvSpPr>
          <p:cNvPr id="13" name="Text 9"/>
          <p:cNvSpPr/>
          <p:nvPr/>
        </p:nvSpPr>
        <p:spPr>
          <a:xfrm>
            <a:off x="1051560" y="2446020"/>
            <a:ext cx="3063240" cy="777240"/>
          </a:xfrm>
          <a:prstGeom prst="rect">
            <a:avLst/>
          </a:prstGeom>
          <a:noFill/>
          <a:ln/>
        </p:spPr>
        <p:txBody>
          <a:bodyPr wrap="square" lIns="0" tIns="0" rIns="0" bIns="0" rtlCol="0" anchor="ctr"/>
          <a:lstStyle/>
          <a:p>
            <a:pPr marL="0" indent="0" algn="ctr">
              <a:buNone/>
            </a:pPr>
            <a:r>
              <a:rPr lang="en-US" sz="4400" b="1" dirty="0">
                <a:solidFill>
                  <a:srgbClr val="FFFFFF"/>
                </a:solidFill>
                <a:latin typeface="Cambria" pitchFamily="34" charset="0"/>
                <a:ea typeface="Cambria" pitchFamily="34" charset="-122"/>
                <a:cs typeface="Cambria" pitchFamily="34" charset="-120"/>
              </a:rPr>
              <a:t>67%</a:t>
            </a:r>
            <a:endParaRPr lang="en-US" sz="4400" dirty="0"/>
          </a:p>
        </p:txBody>
      </p:sp>
      <p:sp>
        <p:nvSpPr>
          <p:cNvPr id="14" name="Text 10"/>
          <p:cNvSpPr/>
          <p:nvPr/>
        </p:nvSpPr>
        <p:spPr>
          <a:xfrm>
            <a:off x="1051560" y="3150108"/>
            <a:ext cx="3063240" cy="320040"/>
          </a:xfrm>
          <a:prstGeom prst="rect">
            <a:avLst/>
          </a:prstGeom>
          <a:noFill/>
          <a:ln/>
        </p:spPr>
        <p:txBody>
          <a:bodyPr wrap="square" lIns="0" tIns="0" rIns="0" bIns="0" rtlCol="0" anchor="ctr"/>
          <a:lstStyle/>
          <a:p>
            <a:pPr marL="0" indent="0" algn="ctr">
              <a:buNone/>
            </a:pPr>
            <a:r>
              <a:rPr lang="en-US" sz="1200" b="1" kern="0" spc="200" dirty="0">
                <a:solidFill>
                  <a:srgbClr val="E8A33D"/>
                </a:solidFill>
                <a:latin typeface="Calibri" pitchFamily="34" charset="0"/>
                <a:ea typeface="Calibri" pitchFamily="34" charset="-122"/>
                <a:cs typeface="Calibri" pitchFamily="34" charset="-120"/>
              </a:rPr>
              <a:t>EXCLUDED</a:t>
            </a:r>
            <a:endParaRPr lang="en-US" sz="1200" dirty="0"/>
          </a:p>
        </p:txBody>
      </p:sp>
      <p:sp>
        <p:nvSpPr>
          <p:cNvPr id="15" name="Shape 11"/>
          <p:cNvSpPr/>
          <p:nvPr/>
        </p:nvSpPr>
        <p:spPr>
          <a:xfrm>
            <a:off x="1051560" y="5156200"/>
            <a:ext cx="146304" cy="146304"/>
          </a:xfrm>
          <a:prstGeom prst="ellipse">
            <a:avLst/>
          </a:prstGeom>
          <a:solidFill>
            <a:srgbClr val="E8A33D"/>
          </a:solidFill>
          <a:ln/>
        </p:spPr>
        <p:txBody>
          <a:bodyPr/>
          <a:lstStyle/>
          <a:p>
            <a:endParaRPr lang="en-US"/>
          </a:p>
        </p:txBody>
      </p:sp>
      <p:sp>
        <p:nvSpPr>
          <p:cNvPr id="16" name="Text 12"/>
          <p:cNvSpPr/>
          <p:nvPr/>
        </p:nvSpPr>
        <p:spPr>
          <a:xfrm>
            <a:off x="1298448" y="5110480"/>
            <a:ext cx="4064000" cy="457200"/>
          </a:xfrm>
          <a:prstGeom prst="rect">
            <a:avLst/>
          </a:prstGeom>
          <a:noFill/>
          <a:ln/>
        </p:spPr>
        <p:txBody>
          <a:bodyPr wrap="square" lIns="0" tIns="0" rIns="0" bIns="0" rtlCol="0" anchor="t"/>
          <a:lstStyle/>
          <a:p>
            <a:pPr marL="0" indent="0">
              <a:buNone/>
            </a:pPr>
            <a:r>
              <a:rPr lang="en-US" sz="1400" dirty="0">
                <a:solidFill>
                  <a:srgbClr val="E8ECF5"/>
                </a:solidFill>
                <a:latin typeface="Calibri" pitchFamily="34" charset="0"/>
                <a:ea typeface="Calibri" pitchFamily="34" charset="-122"/>
                <a:cs typeface="Calibri" pitchFamily="34" charset="-120"/>
              </a:rPr>
              <a:t>1,310 players excluded, zero recorded FBref playing time</a:t>
            </a:r>
            <a:endParaRPr lang="en-US" sz="1400" dirty="0">
              <a:solidFill>
                <a:srgbClr val="E8ECF5"/>
              </a:solidFill>
            </a:endParaRPr>
          </a:p>
        </p:txBody>
      </p:sp>
      <p:sp>
        <p:nvSpPr>
          <p:cNvPr id="17" name="Shape 13"/>
          <p:cNvSpPr/>
          <p:nvPr/>
        </p:nvSpPr>
        <p:spPr>
          <a:xfrm>
            <a:off x="1051560" y="5664200"/>
            <a:ext cx="146304" cy="146304"/>
          </a:xfrm>
          <a:prstGeom prst="ellipse">
            <a:avLst/>
          </a:prstGeom>
          <a:solidFill>
            <a:srgbClr val="8494C4"/>
          </a:solidFill>
          <a:ln w="9525">
            <a:solidFill>
              <a:srgbClr val="3C4A73"/>
            </a:solidFill>
            <a:prstDash val="solid"/>
          </a:ln>
        </p:spPr>
        <p:txBody>
          <a:bodyPr/>
          <a:lstStyle/>
          <a:p>
            <a:endParaRPr lang="en-US"/>
          </a:p>
        </p:txBody>
      </p:sp>
      <p:sp>
        <p:nvSpPr>
          <p:cNvPr id="18" name="Text 14"/>
          <p:cNvSpPr/>
          <p:nvPr/>
        </p:nvSpPr>
        <p:spPr>
          <a:xfrm>
            <a:off x="1298448" y="5618480"/>
            <a:ext cx="4064000" cy="457200"/>
          </a:xfrm>
          <a:prstGeom prst="rect">
            <a:avLst/>
          </a:prstGeom>
          <a:noFill/>
          <a:ln/>
        </p:spPr>
        <p:txBody>
          <a:bodyPr wrap="square" lIns="0" tIns="0" rIns="0" bIns="0" rtlCol="0" anchor="t"/>
          <a:lstStyle/>
          <a:p>
            <a:pPr marL="0" indent="0">
              <a:buNone/>
            </a:pPr>
            <a:r>
              <a:rPr lang="en-US" sz="1400" dirty="0">
                <a:solidFill>
                  <a:srgbClr val="E8ECF5"/>
                </a:solidFill>
                <a:latin typeface="Calibri" pitchFamily="34" charset="0"/>
                <a:ea typeface="Calibri" pitchFamily="34" charset="-122"/>
                <a:cs typeface="Calibri" pitchFamily="34" charset="-120"/>
              </a:rPr>
              <a:t>649 players included, usable playing-time data</a:t>
            </a:r>
            <a:endParaRPr lang="en-US" sz="1400" dirty="0">
              <a:solidFill>
                <a:srgbClr val="E8ECF5"/>
              </a:solidFill>
            </a:endParaRPr>
          </a:p>
        </p:txBody>
      </p:sp>
      <p:sp>
        <p:nvSpPr>
          <p:cNvPr id="19" name="Shape 15"/>
          <p:cNvSpPr/>
          <p:nvPr/>
        </p:nvSpPr>
        <p:spPr>
          <a:xfrm>
            <a:off x="5440680" y="777240"/>
            <a:ext cx="5943600" cy="5394960"/>
          </a:xfrm>
          <a:prstGeom prst="roundRect">
            <a:avLst>
              <a:gd name="adj" fmla="val 1525"/>
            </a:avLst>
          </a:prstGeom>
          <a:solidFill>
            <a:srgbClr val="16264D"/>
          </a:solidFill>
          <a:ln/>
        </p:spPr>
        <p:txBody>
          <a:bodyPr/>
          <a:lstStyle/>
          <a:p>
            <a:endParaRPr lang="en-US"/>
          </a:p>
        </p:txBody>
      </p:sp>
      <p:sp>
        <p:nvSpPr>
          <p:cNvPr id="20" name="Text 16"/>
          <p:cNvSpPr/>
          <p:nvPr/>
        </p:nvSpPr>
        <p:spPr>
          <a:xfrm>
            <a:off x="5760720" y="1005840"/>
            <a:ext cx="5303520" cy="457200"/>
          </a:xfrm>
          <a:prstGeom prst="rect">
            <a:avLst/>
          </a:prstGeom>
          <a:noFill/>
          <a:ln/>
        </p:spPr>
        <p:txBody>
          <a:bodyPr wrap="square" lIns="0" tIns="0" rIns="0" bIns="0" rtlCol="0" anchor="ctr"/>
          <a:lstStyle/>
          <a:p>
            <a:pPr marL="0" indent="0">
              <a:buNone/>
            </a:pPr>
            <a:r>
              <a:rPr lang="en-US" sz="1450" b="1" dirty="0">
                <a:solidFill>
                  <a:srgbClr val="E8A33D"/>
                </a:solidFill>
                <a:latin typeface="Calibri" pitchFamily="34" charset="0"/>
                <a:ea typeface="Calibri" pitchFamily="34" charset="-122"/>
                <a:cs typeface="Calibri" pitchFamily="34" charset="-120"/>
              </a:rPr>
              <a:t>Confirmed: a real coverage gap, not a matching bug</a:t>
            </a:r>
            <a:endParaRPr lang="en-US" sz="1450" dirty="0"/>
          </a:p>
        </p:txBody>
      </p:sp>
      <p:pic>
        <p:nvPicPr>
          <p:cNvPr id="21" name="Image 1" descr="preencoded.png"/>
          <p:cNvPicPr>
            <a:picLocks noChangeAspect="1"/>
          </p:cNvPicPr>
          <p:nvPr/>
        </p:nvPicPr>
        <p:blipFill>
          <a:blip r:embed="rId4"/>
          <a:stretch>
            <a:fillRect/>
          </a:stretch>
        </p:blipFill>
        <p:spPr>
          <a:xfrm>
            <a:off x="5740400" y="1816100"/>
            <a:ext cx="254000" cy="254000"/>
          </a:xfrm>
          <a:prstGeom prst="rect">
            <a:avLst/>
          </a:prstGeom>
        </p:spPr>
      </p:pic>
      <p:sp>
        <p:nvSpPr>
          <p:cNvPr id="22" name="Text 17"/>
          <p:cNvSpPr/>
          <p:nvPr/>
        </p:nvSpPr>
        <p:spPr>
          <a:xfrm>
            <a:off x="6089904" y="1752600"/>
            <a:ext cx="4974336" cy="777240"/>
          </a:xfrm>
          <a:prstGeom prst="rect">
            <a:avLst/>
          </a:prstGeom>
          <a:noFill/>
          <a:ln/>
        </p:spPr>
        <p:txBody>
          <a:bodyPr wrap="square" lIns="0" tIns="0" rIns="0" bIns="0" rtlCol="0" anchor="t"/>
          <a:lstStyle/>
          <a:p>
            <a:pPr marL="0" indent="0">
              <a:buNone/>
            </a:pPr>
            <a:r>
              <a:rPr lang="en-US" sz="1400" dirty="0">
                <a:solidFill>
                  <a:srgbClr val="CADCFC"/>
                </a:solidFill>
                <a:latin typeface="Calibri" pitchFamily="34" charset="0"/>
                <a:ea typeface="Calibri" pitchFamily="34" charset="-122"/>
                <a:cs typeface="Calibri" pitchFamily="34" charset="-120"/>
              </a:rPr>
              <a:t>Zero of the 1,310 have any exact FBref name match. That rules out a silent matching bug.</a:t>
            </a:r>
            <a:endParaRPr lang="en-US" sz="1400" dirty="0"/>
          </a:p>
        </p:txBody>
      </p:sp>
      <p:pic>
        <p:nvPicPr>
          <p:cNvPr id="23" name="Image 2" descr="preencoded.png"/>
          <p:cNvPicPr>
            <a:picLocks noChangeAspect="1"/>
          </p:cNvPicPr>
          <p:nvPr/>
        </p:nvPicPr>
        <p:blipFill>
          <a:blip r:embed="rId4"/>
          <a:stretch>
            <a:fillRect/>
          </a:stretch>
        </p:blipFill>
        <p:spPr>
          <a:xfrm>
            <a:off x="5740400" y="2882900"/>
            <a:ext cx="254000" cy="254000"/>
          </a:xfrm>
          <a:prstGeom prst="rect">
            <a:avLst/>
          </a:prstGeom>
        </p:spPr>
      </p:pic>
      <p:sp>
        <p:nvSpPr>
          <p:cNvPr id="24" name="Text 18"/>
          <p:cNvSpPr/>
          <p:nvPr/>
        </p:nvSpPr>
        <p:spPr>
          <a:xfrm>
            <a:off x="6089904" y="2819400"/>
            <a:ext cx="4974336" cy="777240"/>
          </a:xfrm>
          <a:prstGeom prst="rect">
            <a:avLst/>
          </a:prstGeom>
          <a:noFill/>
          <a:ln/>
        </p:spPr>
        <p:txBody>
          <a:bodyPr wrap="square" lIns="0" tIns="0" rIns="0" bIns="0" rtlCol="0" anchor="t"/>
          <a:lstStyle/>
          <a:p>
            <a:pPr marL="0" indent="0">
              <a:buNone/>
            </a:pPr>
            <a:r>
              <a:rPr lang="en-US" sz="1400" dirty="0">
                <a:solidFill>
                  <a:srgbClr val="CADCFC"/>
                </a:solidFill>
                <a:latin typeface="Calibri" pitchFamily="34" charset="0"/>
                <a:ea typeface="Calibri" pitchFamily="34" charset="-122"/>
                <a:cs typeface="Calibri" pitchFamily="34" charset="-120"/>
              </a:rPr>
              <a:t>257 simply had no valuation yet during FBref's 2017–2024 window.</a:t>
            </a:r>
            <a:endParaRPr lang="en-US" sz="1400" dirty="0"/>
          </a:p>
        </p:txBody>
      </p:sp>
      <p:pic>
        <p:nvPicPr>
          <p:cNvPr id="25" name="Image 3" descr="preencoded.png"/>
          <p:cNvPicPr>
            <a:picLocks noChangeAspect="1"/>
          </p:cNvPicPr>
          <p:nvPr/>
        </p:nvPicPr>
        <p:blipFill>
          <a:blip r:embed="rId4"/>
          <a:stretch>
            <a:fillRect/>
          </a:stretch>
        </p:blipFill>
        <p:spPr>
          <a:xfrm>
            <a:off x="5740400" y="3949700"/>
            <a:ext cx="254000" cy="254000"/>
          </a:xfrm>
          <a:prstGeom prst="rect">
            <a:avLst/>
          </a:prstGeom>
        </p:spPr>
      </p:pic>
      <p:sp>
        <p:nvSpPr>
          <p:cNvPr id="26" name="Text 19"/>
          <p:cNvSpPr/>
          <p:nvPr/>
        </p:nvSpPr>
        <p:spPr>
          <a:xfrm>
            <a:off x="6089904" y="3886200"/>
            <a:ext cx="4974336" cy="777240"/>
          </a:xfrm>
          <a:prstGeom prst="rect">
            <a:avLst/>
          </a:prstGeom>
          <a:noFill/>
          <a:ln/>
        </p:spPr>
        <p:txBody>
          <a:bodyPr wrap="square" lIns="0" tIns="0" rIns="0" bIns="0" rtlCol="0" anchor="t"/>
          <a:lstStyle/>
          <a:p>
            <a:pPr marL="0" indent="0">
              <a:buNone/>
            </a:pPr>
            <a:r>
              <a:rPr lang="en-US" sz="1400" dirty="0">
                <a:solidFill>
                  <a:srgbClr val="CADCFC"/>
                </a:solidFill>
                <a:latin typeface="Calibri" pitchFamily="34" charset="0"/>
                <a:ea typeface="Calibri" pitchFamily="34" charset="-122"/>
                <a:cs typeface="Calibri" pitchFamily="34" charset="-120"/>
              </a:rPr>
              <a:t>269 more looked like possible matches. Manual review found none, just shared surnames.</a:t>
            </a:r>
            <a:endParaRPr lang="en-US" sz="1400" dirty="0"/>
          </a:p>
        </p:txBody>
      </p:sp>
      <p:pic>
        <p:nvPicPr>
          <p:cNvPr id="27" name="Image 4" descr="preencoded.png"/>
          <p:cNvPicPr>
            <a:picLocks noChangeAspect="1"/>
          </p:cNvPicPr>
          <p:nvPr/>
        </p:nvPicPr>
        <p:blipFill>
          <a:blip r:embed="rId4"/>
          <a:stretch>
            <a:fillRect/>
          </a:stretch>
        </p:blipFill>
        <p:spPr>
          <a:xfrm>
            <a:off x="5740400" y="5016500"/>
            <a:ext cx="254000" cy="254000"/>
          </a:xfrm>
          <a:prstGeom prst="rect">
            <a:avLst/>
          </a:prstGeom>
        </p:spPr>
      </p:pic>
      <p:sp>
        <p:nvSpPr>
          <p:cNvPr id="28" name="Text 20"/>
          <p:cNvSpPr/>
          <p:nvPr/>
        </p:nvSpPr>
        <p:spPr>
          <a:xfrm>
            <a:off x="6089904" y="4953000"/>
            <a:ext cx="4974336" cy="777240"/>
          </a:xfrm>
          <a:prstGeom prst="rect">
            <a:avLst/>
          </a:prstGeom>
          <a:noFill/>
          <a:ln/>
        </p:spPr>
        <p:txBody>
          <a:bodyPr wrap="square" lIns="0" tIns="0" rIns="0" bIns="0" rtlCol="0" anchor="t"/>
          <a:lstStyle/>
          <a:p>
            <a:pPr marL="0" indent="0">
              <a:buNone/>
            </a:pPr>
            <a:r>
              <a:rPr lang="en-US" sz="1400" dirty="0">
                <a:solidFill>
                  <a:srgbClr val="CADCFC"/>
                </a:solidFill>
                <a:latin typeface="Calibri" pitchFamily="34" charset="0"/>
                <a:ea typeface="Calibri" pitchFamily="34" charset="-122"/>
                <a:cs typeface="Calibri" pitchFamily="34" charset="-120"/>
              </a:rPr>
              <a:t>Some, like Donnarumma and Zubimendi, genuinely were not in the Premier League yet.</a:t>
            </a:r>
            <a:endParaRPr lang="en-US" sz="1400" dirty="0"/>
          </a:p>
        </p:txBody>
      </p:sp>
      <p:sp>
        <p:nvSpPr>
          <p:cNvPr id="29" name="Text 21"/>
          <p:cNvSpPr/>
          <p:nvPr/>
        </p:nvSpPr>
        <p:spPr>
          <a:xfrm>
            <a:off x="11368735" y="6400800"/>
            <a:ext cx="548640" cy="274320"/>
          </a:xfrm>
          <a:prstGeom prst="rect">
            <a:avLst/>
          </a:prstGeom>
          <a:noFill/>
          <a:ln/>
        </p:spPr>
        <p:txBody>
          <a:bodyPr wrap="square" lIns="0" tIns="0" rIns="0" bIns="0" rtlCol="0" anchor="ctr"/>
          <a:lstStyle/>
          <a:p>
            <a:pPr marL="0" indent="0" algn="r">
              <a:buNone/>
            </a:pPr>
            <a:r>
              <a:rPr lang="en-US" sz="1200" dirty="0">
                <a:solidFill>
                  <a:srgbClr val="A8B4D0"/>
                </a:solidFill>
                <a:latin typeface="Calibri" pitchFamily="34" charset="0"/>
                <a:ea typeface="Calibri" pitchFamily="34" charset="-122"/>
                <a:cs typeface="Calibri" pitchFamily="34" charset="-120"/>
              </a:rPr>
              <a:t>10</a:t>
            </a:r>
            <a:endParaRPr lang="en-US" sz="1200" dirty="0">
              <a:solidFill>
                <a:srgbClr val="A8B4D0"/>
              </a:solidFill>
            </a:endParaRPr>
          </a:p>
        </p:txBody>
      </p:sp>
      <p:pic>
        <p:nvPicPr>
          <p:cNvPr id="30" name="Graphic 30" descr="Football icon"/>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900430" y="717550"/>
            <a:ext cx="393700" cy="393700"/>
          </a:xfrm>
          <a:prstGeom prst="rect">
            <a:avLst/>
          </a:prstGeom>
        </p:spPr>
      </p:pic>
    </p:spTree>
    <p:extLst>
      <p:ext uri="{BB962C8B-B14F-4D97-AF65-F5344CB8AC3E}">
        <p14:creationId xmlns:p14="http://schemas.microsoft.com/office/powerpoint/2010/main" val="1966752109"/>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wheel(1)">
                                      <p:cBhvr>
                                        <p:cTn id="7" dur="1000"/>
                                        <p:tgtEl>
                                          <p:spTgt spid="12"/>
                                        </p:tgtEl>
                                      </p:cBhvr>
                                    </p:animEffect>
                                  </p:childTnLst>
                                </p:cTn>
                              </p:par>
                              <p:par>
                                <p:cTn id="8" presetID="10" presetClass="entr" presetSubtype="0" fill="hold"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450"/>
                                        <p:tgtEl>
                                          <p:spTgt spid="13"/>
                                        </p:tgtEl>
                                      </p:cBhvr>
                                    </p:animEffect>
                                  </p:childTnLst>
                                </p:cTn>
                              </p:par>
                              <p:par>
                                <p:cTn id="11" presetID="10" presetClass="entr" presetSubtype="0" fill="hold" nodeType="with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450"/>
                                        <p:tgtEl>
                                          <p:spTgt spid="14"/>
                                        </p:tgtEl>
                                      </p:cBhvr>
                                    </p:animEffect>
                                  </p:childTnLst>
                                </p:cTn>
                              </p:par>
                            </p:childTnLst>
                          </p:cTn>
                        </p:par>
                      </p:childTnLst>
                    </p:cTn>
                  </p:par>
                  <p:par>
                    <p:cTn id="14" fill="hold">
                      <p:stCondLst>
                        <p:cond delay="250"/>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5"/>
                                        </p:tgtEl>
                                        <p:attrNameLst>
                                          <p:attrName>style.visibility</p:attrName>
                                        </p:attrNameLst>
                                      </p:cBhvr>
                                      <p:to>
                                        <p:strVal val="visible"/>
                                      </p:to>
                                    </p:set>
                                    <p:animEffect transition="in" filter="fade">
                                      <p:cBhvr>
                                        <p:cTn id="18" dur="450"/>
                                        <p:tgtEl>
                                          <p:spTgt spid="15"/>
                                        </p:tgtEl>
                                      </p:cBhvr>
                                    </p:animEffect>
                                  </p:childTnLst>
                                </p:cTn>
                              </p:par>
                              <p:par>
                                <p:cTn id="19" presetID="10" presetClass="entr" presetSubtype="0" fill="hold" nodeType="with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fade">
                                      <p:cBhvr>
                                        <p:cTn id="21" dur="450"/>
                                        <p:tgtEl>
                                          <p:spTgt spid="16"/>
                                        </p:tgtEl>
                                      </p:cBhvr>
                                    </p:animEffect>
                                  </p:childTnLst>
                                </p:cTn>
                              </p:par>
                              <p:par>
                                <p:cTn id="22" presetID="10" presetClass="entr" presetSubtype="0" fill="hold" nodeType="withEffect">
                                  <p:stCondLst>
                                    <p:cond delay="0"/>
                                  </p:stCondLst>
                                  <p:childTnLst>
                                    <p:set>
                                      <p:cBhvr>
                                        <p:cTn id="23" dur="1" fill="hold">
                                          <p:stCondLst>
                                            <p:cond delay="0"/>
                                          </p:stCondLst>
                                        </p:cTn>
                                        <p:tgtEl>
                                          <p:spTgt spid="17"/>
                                        </p:tgtEl>
                                        <p:attrNameLst>
                                          <p:attrName>style.visibility</p:attrName>
                                        </p:attrNameLst>
                                      </p:cBhvr>
                                      <p:to>
                                        <p:strVal val="visible"/>
                                      </p:to>
                                    </p:set>
                                    <p:animEffect transition="in" filter="fade">
                                      <p:cBhvr>
                                        <p:cTn id="24" dur="450"/>
                                        <p:tgtEl>
                                          <p:spTgt spid="17"/>
                                        </p:tgtEl>
                                      </p:cBhvr>
                                    </p:animEffect>
                                  </p:childTnLst>
                                </p:cTn>
                              </p:par>
                              <p:par>
                                <p:cTn id="25" presetID="10" presetClass="entr" presetSubtype="0" fill="hold" nodeType="with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450"/>
                                        <p:tgtEl>
                                          <p:spTgt spid="18"/>
                                        </p:tgtEl>
                                      </p:cBhvr>
                                    </p:animEffect>
                                  </p:childTnLst>
                                </p:cTn>
                              </p:par>
                            </p:childTnLst>
                          </p:cTn>
                        </p:par>
                      </p:childTnLst>
                    </p:cTn>
                  </p:par>
                  <p:par>
                    <p:cTn id="28" fill="hold">
                      <p:stCondLst>
                        <p:cond delay="250"/>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9"/>
                                        </p:tgtEl>
                                        <p:attrNameLst>
                                          <p:attrName>style.visibility</p:attrName>
                                        </p:attrNameLst>
                                      </p:cBhvr>
                                      <p:to>
                                        <p:strVal val="visible"/>
                                      </p:to>
                                    </p:set>
                                    <p:animEffect transition="in" filter="fade">
                                      <p:cBhvr>
                                        <p:cTn id="32" dur="450"/>
                                        <p:tgtEl>
                                          <p:spTgt spid="19"/>
                                        </p:tgtEl>
                                      </p:cBhvr>
                                    </p:animEffect>
                                  </p:childTnLst>
                                </p:cTn>
                              </p:par>
                              <p:par>
                                <p:cTn id="33" presetID="10" presetClass="entr" presetSubtype="0" fill="hold" nodeType="withEffect">
                                  <p:stCondLst>
                                    <p:cond delay="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450"/>
                                        <p:tgtEl>
                                          <p:spTgt spid="20"/>
                                        </p:tgtEl>
                                      </p:cBhvr>
                                    </p:animEffect>
                                  </p:childTnLst>
                                </p:cTn>
                              </p:par>
                            </p:childTnLst>
                          </p:cTn>
                        </p:par>
                      </p:childTnLst>
                    </p:cTn>
                  </p:par>
                  <p:par>
                    <p:cTn id="36" fill="hold">
                      <p:stCondLst>
                        <p:cond delay="250"/>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21"/>
                                        </p:tgtEl>
                                        <p:attrNameLst>
                                          <p:attrName>style.visibility</p:attrName>
                                        </p:attrNameLst>
                                      </p:cBhvr>
                                      <p:to>
                                        <p:strVal val="visible"/>
                                      </p:to>
                                    </p:set>
                                    <p:animEffect transition="in" filter="fade">
                                      <p:cBhvr>
                                        <p:cTn id="40" dur="450"/>
                                        <p:tgtEl>
                                          <p:spTgt spid="21"/>
                                        </p:tgtEl>
                                      </p:cBhvr>
                                    </p:animEffect>
                                  </p:childTnLst>
                                </p:cTn>
                              </p:par>
                              <p:par>
                                <p:cTn id="41" presetID="10" presetClass="entr" presetSubtype="0" fill="hold" nodeType="withEffect">
                                  <p:stCondLst>
                                    <p:cond delay="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450"/>
                                        <p:tgtEl>
                                          <p:spTgt spid="22"/>
                                        </p:tgtEl>
                                      </p:cBhvr>
                                    </p:animEffect>
                                  </p:childTnLst>
                                </p:cTn>
                              </p:par>
                            </p:childTnLst>
                          </p:cTn>
                        </p:par>
                      </p:childTnLst>
                    </p:cTn>
                  </p:par>
                  <p:par>
                    <p:cTn id="44" fill="hold">
                      <p:stCondLst>
                        <p:cond delay="250"/>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23"/>
                                        </p:tgtEl>
                                        <p:attrNameLst>
                                          <p:attrName>style.visibility</p:attrName>
                                        </p:attrNameLst>
                                      </p:cBhvr>
                                      <p:to>
                                        <p:strVal val="visible"/>
                                      </p:to>
                                    </p:set>
                                    <p:animEffect transition="in" filter="fade">
                                      <p:cBhvr>
                                        <p:cTn id="48" dur="450"/>
                                        <p:tgtEl>
                                          <p:spTgt spid="23"/>
                                        </p:tgtEl>
                                      </p:cBhvr>
                                    </p:animEffect>
                                  </p:childTnLst>
                                </p:cTn>
                              </p:par>
                              <p:par>
                                <p:cTn id="49" presetID="10" presetClass="entr" presetSubtype="0" fill="hold" nodeType="withEffect">
                                  <p:stCondLst>
                                    <p:cond delay="0"/>
                                  </p:stCondLst>
                                  <p:childTnLst>
                                    <p:set>
                                      <p:cBhvr>
                                        <p:cTn id="50" dur="1" fill="hold">
                                          <p:stCondLst>
                                            <p:cond delay="0"/>
                                          </p:stCondLst>
                                        </p:cTn>
                                        <p:tgtEl>
                                          <p:spTgt spid="24"/>
                                        </p:tgtEl>
                                        <p:attrNameLst>
                                          <p:attrName>style.visibility</p:attrName>
                                        </p:attrNameLst>
                                      </p:cBhvr>
                                      <p:to>
                                        <p:strVal val="visible"/>
                                      </p:to>
                                    </p:set>
                                    <p:animEffect transition="in" filter="fade">
                                      <p:cBhvr>
                                        <p:cTn id="51" dur="450"/>
                                        <p:tgtEl>
                                          <p:spTgt spid="24"/>
                                        </p:tgtEl>
                                      </p:cBhvr>
                                    </p:animEffect>
                                  </p:childTnLst>
                                </p:cTn>
                              </p:par>
                            </p:childTnLst>
                          </p:cTn>
                        </p:par>
                      </p:childTnLst>
                    </p:cTn>
                  </p:par>
                  <p:par>
                    <p:cTn id="52" fill="hold">
                      <p:stCondLst>
                        <p:cond delay="250"/>
                      </p:stCondLst>
                      <p:childTnLst>
                        <p:par>
                          <p:cTn id="53" fill="hold">
                            <p:stCondLst>
                              <p:cond delay="0"/>
                            </p:stCondLst>
                            <p:childTnLst>
                              <p:par>
                                <p:cTn id="54" presetID="10" presetClass="entr" presetSubtype="0" fill="hold" nodeType="clickEffect">
                                  <p:stCondLst>
                                    <p:cond delay="0"/>
                                  </p:stCondLst>
                                  <p:childTnLst>
                                    <p:set>
                                      <p:cBhvr>
                                        <p:cTn id="55" dur="1" fill="hold">
                                          <p:stCondLst>
                                            <p:cond delay="0"/>
                                          </p:stCondLst>
                                        </p:cTn>
                                        <p:tgtEl>
                                          <p:spTgt spid="25"/>
                                        </p:tgtEl>
                                        <p:attrNameLst>
                                          <p:attrName>style.visibility</p:attrName>
                                        </p:attrNameLst>
                                      </p:cBhvr>
                                      <p:to>
                                        <p:strVal val="visible"/>
                                      </p:to>
                                    </p:set>
                                    <p:animEffect transition="in" filter="fade">
                                      <p:cBhvr>
                                        <p:cTn id="56" dur="450"/>
                                        <p:tgtEl>
                                          <p:spTgt spid="25"/>
                                        </p:tgtEl>
                                      </p:cBhvr>
                                    </p:animEffect>
                                  </p:childTnLst>
                                </p:cTn>
                              </p:par>
                              <p:par>
                                <p:cTn id="57" presetID="10" presetClass="entr" presetSubtype="0" fill="hold" nodeType="withEffect">
                                  <p:stCondLst>
                                    <p:cond delay="0"/>
                                  </p:stCondLst>
                                  <p:childTnLst>
                                    <p:set>
                                      <p:cBhvr>
                                        <p:cTn id="58" dur="1" fill="hold">
                                          <p:stCondLst>
                                            <p:cond delay="0"/>
                                          </p:stCondLst>
                                        </p:cTn>
                                        <p:tgtEl>
                                          <p:spTgt spid="26"/>
                                        </p:tgtEl>
                                        <p:attrNameLst>
                                          <p:attrName>style.visibility</p:attrName>
                                        </p:attrNameLst>
                                      </p:cBhvr>
                                      <p:to>
                                        <p:strVal val="visible"/>
                                      </p:to>
                                    </p:set>
                                    <p:animEffect transition="in" filter="fade">
                                      <p:cBhvr>
                                        <p:cTn id="59" dur="450"/>
                                        <p:tgtEl>
                                          <p:spTgt spid="26"/>
                                        </p:tgtEl>
                                      </p:cBhvr>
                                    </p:animEffect>
                                  </p:childTnLst>
                                </p:cTn>
                              </p:par>
                            </p:childTnLst>
                          </p:cTn>
                        </p:par>
                      </p:childTnLst>
                    </p:cTn>
                  </p:par>
                  <p:par>
                    <p:cTn id="60" fill="hold">
                      <p:stCondLst>
                        <p:cond delay="250"/>
                      </p:stCondLst>
                      <p:childTnLst>
                        <p:par>
                          <p:cTn id="61" fill="hold">
                            <p:stCondLst>
                              <p:cond delay="0"/>
                            </p:stCondLst>
                            <p:childTnLst>
                              <p:par>
                                <p:cTn id="62" presetID="10" presetClass="entr" presetSubtype="0" fill="hold" nodeType="click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50"/>
                                        <p:tgtEl>
                                          <p:spTgt spid="27"/>
                                        </p:tgtEl>
                                      </p:cBhvr>
                                    </p:animEffect>
                                  </p:childTnLst>
                                </p:cTn>
                              </p:par>
                              <p:par>
                                <p:cTn id="65" presetID="10" presetClass="entr" presetSubtype="0" fill="hold" nodeType="withEffect">
                                  <p:stCondLst>
                                    <p:cond delay="0"/>
                                  </p:stCondLst>
                                  <p:childTnLst>
                                    <p:set>
                                      <p:cBhvr>
                                        <p:cTn id="66" dur="1" fill="hold">
                                          <p:stCondLst>
                                            <p:cond delay="0"/>
                                          </p:stCondLst>
                                        </p:cTn>
                                        <p:tgtEl>
                                          <p:spTgt spid="28"/>
                                        </p:tgtEl>
                                        <p:attrNameLst>
                                          <p:attrName>style.visibility</p:attrName>
                                        </p:attrNameLst>
                                      </p:cBhvr>
                                      <p:to>
                                        <p:strVal val="visible"/>
                                      </p:to>
                                    </p:set>
                                    <p:animEffect transition="in" filter="fade">
                                      <p:cBhvr>
                                        <p:cTn id="67" dur="45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22960" y="594360"/>
            <a:ext cx="5486400" cy="320040"/>
          </a:xfrm>
          <a:prstGeom prst="rect">
            <a:avLst/>
          </a:prstGeom>
          <a:noFill/>
          <a:ln/>
        </p:spPr>
        <p:txBody>
          <a:bodyPr wrap="square" lIns="0" tIns="0" rIns="0" bIns="0" rtlCol="0" anchor="ctr"/>
          <a:lstStyle/>
          <a:p>
            <a:pPr marL="0" indent="0">
              <a:buNone/>
            </a:pPr>
            <a:r>
              <a:rPr lang="en-US" sz="1400" b="1" kern="0" spc="200" dirty="0">
                <a:solidFill>
                  <a:srgbClr val="1F7A4D"/>
                </a:solidFill>
                <a:latin typeface="Calibri" pitchFamily="34" charset="0"/>
                <a:ea typeface="Calibri" pitchFamily="34" charset="-122"/>
                <a:cs typeface="Calibri" pitchFamily="34" charset="-120"/>
              </a:rPr>
              <a:t>SYNTHESIS</a:t>
            </a:r>
            <a:endParaRPr lang="en-US" sz="1400" dirty="0"/>
          </a:p>
        </p:txBody>
      </p:sp>
      <p:sp>
        <p:nvSpPr>
          <p:cNvPr id="3" name="Text 1"/>
          <p:cNvSpPr/>
          <p:nvPr/>
        </p:nvSpPr>
        <p:spPr>
          <a:xfrm>
            <a:off x="777240" y="896112"/>
            <a:ext cx="9144000" cy="731520"/>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So, worth the investment?</a:t>
            </a:r>
            <a:endParaRPr lang="en-US" sz="3200" dirty="0"/>
          </a:p>
        </p:txBody>
      </p:sp>
      <p:sp>
        <p:nvSpPr>
          <p:cNvPr id="4" name="Text 2"/>
          <p:cNvSpPr/>
          <p:nvPr/>
        </p:nvSpPr>
        <p:spPr>
          <a:xfrm>
            <a:off x="822960" y="1645920"/>
            <a:ext cx="10332720" cy="777240"/>
          </a:xfrm>
          <a:prstGeom prst="rect">
            <a:avLst/>
          </a:prstGeom>
          <a:noFill/>
          <a:ln/>
        </p:spPr>
        <p:txBody>
          <a:bodyPr wrap="square" lIns="0" tIns="0" rIns="0" bIns="0" rtlCol="0" anchor="t"/>
          <a:lstStyle/>
          <a:p>
            <a:pPr marL="0" indent="0">
              <a:buNone/>
            </a:pPr>
            <a:r>
              <a:rPr lang="en-US" sz="1350" i="1" dirty="0">
                <a:solidFill>
                  <a:srgbClr val="6B7280"/>
                </a:solidFill>
                <a:latin typeface="Calibri" pitchFamily="34" charset="0"/>
                <a:ea typeface="Calibri" pitchFamily="34" charset="-122"/>
                <a:cs typeface="Calibri" pitchFamily="34" charset="-120"/>
              </a:rPr>
              <a:t>The clearest finding: any injury history flattens value growth, not how recent it is. That matters more because the raw value-trend forecast alone is unreliable (22.7% directional accuracy, worse than a coin flip), so this is the signal that actually protects a recruitment decision.</a:t>
            </a:r>
            <a:endParaRPr lang="en-US" sz="1350" dirty="0"/>
          </a:p>
        </p:txBody>
      </p:sp>
      <p:sp>
        <p:nvSpPr>
          <p:cNvPr id="5" name="Shape 3"/>
          <p:cNvSpPr/>
          <p:nvPr/>
        </p:nvSpPr>
        <p:spPr>
          <a:xfrm>
            <a:off x="822960" y="2697480"/>
            <a:ext cx="3383280" cy="2331720"/>
          </a:xfrm>
          <a:prstGeom prst="roundRect">
            <a:avLst>
              <a:gd name="adj" fmla="val 3529"/>
            </a:avLst>
          </a:prstGeom>
          <a:solidFill>
            <a:srgbClr val="FFFFFF"/>
          </a:solidFill>
          <a:ln w="19050">
            <a:solidFill>
              <a:srgbClr val="E8A33D"/>
            </a:solidFill>
            <a:prstDash val="solid"/>
          </a:ln>
          <a:effectLst>
            <a:outerShdw blurRad="101600" dist="38100" dir="5400000" algn="bl" rotWithShape="0">
              <a:srgbClr val="8C93A6">
                <a:alpha val="22000"/>
              </a:srgbClr>
            </a:outerShdw>
          </a:effectLst>
        </p:spPr>
        <p:txBody>
          <a:bodyPr/>
          <a:lstStyle/>
          <a:p>
            <a:endParaRPr lang="en-US"/>
          </a:p>
        </p:txBody>
      </p:sp>
      <p:sp>
        <p:nvSpPr>
          <p:cNvPr id="6" name="Shape 4"/>
          <p:cNvSpPr/>
          <p:nvPr/>
        </p:nvSpPr>
        <p:spPr>
          <a:xfrm>
            <a:off x="960120" y="2834640"/>
            <a:ext cx="713232" cy="713232"/>
          </a:xfrm>
          <a:prstGeom prst="ellipse">
            <a:avLst/>
          </a:prstGeom>
          <a:solidFill>
            <a:srgbClr val="E8A33D">
              <a:alpha val="20000"/>
            </a:srgbClr>
          </a:solidFill>
          <a:ln/>
        </p:spPr>
        <p:txBody>
          <a:bodyPr/>
          <a:lstStyle/>
          <a:p>
            <a:endParaRPr lang="en-US"/>
          </a:p>
        </p:txBody>
      </p:sp>
      <p:sp>
        <p:nvSpPr>
          <p:cNvPr id="7" name="Shape 5"/>
          <p:cNvSpPr/>
          <p:nvPr/>
        </p:nvSpPr>
        <p:spPr>
          <a:xfrm>
            <a:off x="1078992" y="2953512"/>
            <a:ext cx="475488" cy="475488"/>
          </a:xfrm>
          <a:prstGeom prst="ellipse">
            <a:avLst/>
          </a:prstGeom>
          <a:solidFill>
            <a:srgbClr val="E8A33D"/>
          </a:solidFill>
          <a:ln/>
        </p:spPr>
        <p:txBody>
          <a:bodyPr/>
          <a:lstStyle/>
          <a:p>
            <a:endParaRPr lang="en-US"/>
          </a:p>
        </p:txBody>
      </p:sp>
      <p:pic>
        <p:nvPicPr>
          <p:cNvPr id="8" name="Image 0" descr="preencoded.png"/>
          <p:cNvPicPr>
            <a:picLocks noChangeAspect="1"/>
          </p:cNvPicPr>
          <p:nvPr/>
        </p:nvPicPr>
        <p:blipFill>
          <a:blip r:embed="rId3"/>
          <a:stretch>
            <a:fillRect/>
          </a:stretch>
        </p:blipFill>
        <p:spPr>
          <a:xfrm>
            <a:off x="1225296" y="3099816"/>
            <a:ext cx="182880" cy="182880"/>
          </a:xfrm>
          <a:prstGeom prst="rect">
            <a:avLst/>
          </a:prstGeom>
        </p:spPr>
      </p:pic>
      <p:sp>
        <p:nvSpPr>
          <p:cNvPr id="9" name="Text 6"/>
          <p:cNvSpPr/>
          <p:nvPr/>
        </p:nvSpPr>
        <p:spPr>
          <a:xfrm>
            <a:off x="1078992" y="3008376"/>
            <a:ext cx="2560320" cy="219456"/>
          </a:xfrm>
          <a:prstGeom prst="rect">
            <a:avLst/>
          </a:prstGeom>
          <a:noFill/>
          <a:ln/>
        </p:spPr>
        <p:txBody>
          <a:bodyPr wrap="square" lIns="0" tIns="0" rIns="0" bIns="0" rtlCol="0" anchor="ctr"/>
          <a:lstStyle/>
          <a:p>
            <a:pPr marL="0" indent="0" algn="r">
              <a:buNone/>
            </a:pPr>
            <a:r>
              <a:rPr lang="en-US" sz="1100" b="1" kern="0" spc="100" dirty="0">
                <a:solidFill>
                  <a:srgbClr val="B8790C"/>
                </a:solidFill>
                <a:latin typeface="Calibri" pitchFamily="34" charset="0"/>
                <a:ea typeface="Calibri" pitchFamily="34" charset="-122"/>
                <a:cs typeface="Calibri" pitchFamily="34" charset="-120"/>
              </a:rPr>
              <a:t>STRONGEST SIGNAL</a:t>
            </a:r>
            <a:endParaRPr lang="en-US" sz="1100" dirty="0"/>
          </a:p>
        </p:txBody>
      </p:sp>
      <p:sp>
        <p:nvSpPr>
          <p:cNvPr id="10" name="Text 7"/>
          <p:cNvSpPr/>
          <p:nvPr/>
        </p:nvSpPr>
        <p:spPr>
          <a:xfrm>
            <a:off x="1078992" y="3557016"/>
            <a:ext cx="2871216" cy="365760"/>
          </a:xfrm>
          <a:prstGeom prst="rect">
            <a:avLst/>
          </a:prstGeom>
          <a:noFill/>
          <a:ln/>
        </p:spPr>
        <p:txBody>
          <a:bodyPr wrap="square" lIns="0" tIns="0" rIns="0" bIns="0" rtlCol="0" anchor="ctr"/>
          <a:lstStyle/>
          <a:p>
            <a:pPr marL="0" indent="0">
              <a:buNone/>
            </a:pPr>
            <a:r>
              <a:rPr lang="en-US" sz="1400" b="1" dirty="0">
                <a:solidFill>
                  <a:srgbClr val="1A1A1A"/>
                </a:solidFill>
                <a:latin typeface="Calibri" pitchFamily="34" charset="0"/>
                <a:ea typeface="Calibri" pitchFamily="34" charset="-122"/>
                <a:cs typeface="Calibri" pitchFamily="34" charset="-120"/>
              </a:rPr>
              <a:t>Scouting</a:t>
            </a:r>
            <a:endParaRPr lang="en-US" sz="1400" dirty="0"/>
          </a:p>
        </p:txBody>
      </p:sp>
      <p:sp>
        <p:nvSpPr>
          <p:cNvPr id="11" name="Text 8"/>
          <p:cNvSpPr/>
          <p:nvPr/>
        </p:nvSpPr>
        <p:spPr>
          <a:xfrm>
            <a:off x="1078992" y="3922776"/>
            <a:ext cx="2871216" cy="1005840"/>
          </a:xfrm>
          <a:prstGeom prst="rect">
            <a:avLst/>
          </a:prstGeom>
          <a:noFill/>
          <a:ln/>
        </p:spPr>
        <p:txBody>
          <a:bodyPr wrap="square" lIns="0" tIns="0" rIns="0" bIns="0" rtlCol="0" anchor="t"/>
          <a:lstStyle/>
          <a:p>
            <a:pPr marL="0" indent="0">
              <a:buNone/>
            </a:pPr>
            <a:r>
              <a:rPr lang="en-US" sz="1400" dirty="0">
                <a:solidFill>
                  <a:srgbClr val="6B7280"/>
                </a:solidFill>
                <a:latin typeface="Calibri" pitchFamily="34" charset="0"/>
                <a:ea typeface="Calibri" pitchFamily="34" charset="-122"/>
                <a:cs typeface="Calibri" pitchFamily="34" charset="-120"/>
              </a:rPr>
              <a:t>Any injury history flattens value growth.</a:t>
            </a:r>
            <a:endParaRPr lang="en-US" sz="1400" dirty="0"/>
          </a:p>
        </p:txBody>
      </p:sp>
      <p:sp>
        <p:nvSpPr>
          <p:cNvPr id="12" name="Shape 9"/>
          <p:cNvSpPr/>
          <p:nvPr/>
        </p:nvSpPr>
        <p:spPr>
          <a:xfrm>
            <a:off x="4434840" y="2697480"/>
            <a:ext cx="3383280" cy="2331720"/>
          </a:xfrm>
          <a:prstGeom prst="roundRect">
            <a:avLst>
              <a:gd name="adj" fmla="val 3529"/>
            </a:avLst>
          </a:prstGeom>
          <a:solidFill>
            <a:srgbClr val="FFFFFF"/>
          </a:solidFill>
          <a:ln/>
          <a:effectLst>
            <a:outerShdw blurRad="101600" dist="38100" dir="5400000" algn="bl" rotWithShape="0">
              <a:srgbClr val="8C93A6">
                <a:alpha val="22000"/>
              </a:srgbClr>
            </a:outerShdw>
          </a:effectLst>
        </p:spPr>
        <p:txBody>
          <a:bodyPr/>
          <a:lstStyle/>
          <a:p>
            <a:endParaRPr lang="en-US"/>
          </a:p>
        </p:txBody>
      </p:sp>
      <p:sp>
        <p:nvSpPr>
          <p:cNvPr id="13" name="Shape 10"/>
          <p:cNvSpPr/>
          <p:nvPr/>
        </p:nvSpPr>
        <p:spPr>
          <a:xfrm>
            <a:off x="4572000" y="2834640"/>
            <a:ext cx="713232" cy="713232"/>
          </a:xfrm>
          <a:prstGeom prst="ellipse">
            <a:avLst/>
          </a:prstGeom>
          <a:solidFill>
            <a:srgbClr val="1F7A4D">
              <a:alpha val="20000"/>
            </a:srgbClr>
          </a:solidFill>
          <a:ln/>
        </p:spPr>
        <p:txBody>
          <a:bodyPr/>
          <a:lstStyle/>
          <a:p>
            <a:endParaRPr lang="en-US"/>
          </a:p>
        </p:txBody>
      </p:sp>
      <p:sp>
        <p:nvSpPr>
          <p:cNvPr id="14" name="Shape 11"/>
          <p:cNvSpPr/>
          <p:nvPr/>
        </p:nvSpPr>
        <p:spPr>
          <a:xfrm>
            <a:off x="4690872" y="2953512"/>
            <a:ext cx="475488" cy="475488"/>
          </a:xfrm>
          <a:prstGeom prst="ellipse">
            <a:avLst/>
          </a:prstGeom>
          <a:solidFill>
            <a:srgbClr val="1F7A4D"/>
          </a:solidFill>
          <a:ln/>
        </p:spPr>
        <p:txBody>
          <a:bodyPr/>
          <a:lstStyle/>
          <a:p>
            <a:endParaRPr lang="en-US"/>
          </a:p>
        </p:txBody>
      </p:sp>
      <p:pic>
        <p:nvPicPr>
          <p:cNvPr id="15" name="Image 1" descr="preencoded.png"/>
          <p:cNvPicPr>
            <a:picLocks noChangeAspect="1"/>
          </p:cNvPicPr>
          <p:nvPr/>
        </p:nvPicPr>
        <p:blipFill>
          <a:blip r:embed="rId4"/>
          <a:stretch>
            <a:fillRect/>
          </a:stretch>
        </p:blipFill>
        <p:spPr>
          <a:xfrm>
            <a:off x="4837176" y="3099816"/>
            <a:ext cx="182880" cy="182880"/>
          </a:xfrm>
          <a:prstGeom prst="rect">
            <a:avLst/>
          </a:prstGeom>
        </p:spPr>
      </p:pic>
      <p:sp>
        <p:nvSpPr>
          <p:cNvPr id="16" name="Text 12"/>
          <p:cNvSpPr/>
          <p:nvPr/>
        </p:nvSpPr>
        <p:spPr>
          <a:xfrm>
            <a:off x="4690872" y="3557016"/>
            <a:ext cx="2871216" cy="365760"/>
          </a:xfrm>
          <a:prstGeom prst="rect">
            <a:avLst/>
          </a:prstGeom>
          <a:noFill/>
          <a:ln/>
        </p:spPr>
        <p:txBody>
          <a:bodyPr wrap="square" lIns="0" tIns="0" rIns="0" bIns="0" rtlCol="0" anchor="ctr"/>
          <a:lstStyle/>
          <a:p>
            <a:pPr marL="0" indent="0">
              <a:buNone/>
            </a:pPr>
            <a:r>
              <a:rPr lang="en-US" sz="1400" b="1" dirty="0">
                <a:solidFill>
                  <a:srgbClr val="1A1A1A"/>
                </a:solidFill>
                <a:latin typeface="Calibri" pitchFamily="34" charset="0"/>
                <a:ea typeface="Calibri" pitchFamily="34" charset="-122"/>
                <a:cs typeface="Calibri" pitchFamily="34" charset="-120"/>
              </a:rPr>
              <a:t>Front Office</a:t>
            </a:r>
            <a:endParaRPr lang="en-US" sz="1400" dirty="0"/>
          </a:p>
        </p:txBody>
      </p:sp>
      <p:sp>
        <p:nvSpPr>
          <p:cNvPr id="17" name="Text 13"/>
          <p:cNvSpPr/>
          <p:nvPr/>
        </p:nvSpPr>
        <p:spPr>
          <a:xfrm>
            <a:off x="4690872" y="3922776"/>
            <a:ext cx="2871216" cy="1005840"/>
          </a:xfrm>
          <a:prstGeom prst="rect">
            <a:avLst/>
          </a:prstGeom>
          <a:noFill/>
          <a:ln/>
        </p:spPr>
        <p:txBody>
          <a:bodyPr wrap="square" lIns="0" tIns="0" rIns="0" bIns="0" rtlCol="0" anchor="t"/>
          <a:lstStyle/>
          <a:p>
            <a:pPr marL="0" indent="0">
              <a:buNone/>
            </a:pPr>
            <a:r>
              <a:rPr lang="en-US" sz="1400" dirty="0">
                <a:solidFill>
                  <a:srgbClr val="6B7280"/>
                </a:solidFill>
                <a:latin typeface="Calibri" pitchFamily="34" charset="0"/>
                <a:ea typeface="Calibri" pitchFamily="34" charset="-122"/>
                <a:cs typeface="Calibri" pitchFamily="34" charset="-120"/>
              </a:rPr>
              <a:t>21–24 is the true value-risk sweet spot.</a:t>
            </a:r>
            <a:endParaRPr lang="en-US" sz="1400" dirty="0"/>
          </a:p>
        </p:txBody>
      </p:sp>
      <p:sp>
        <p:nvSpPr>
          <p:cNvPr id="18" name="Shape 14"/>
          <p:cNvSpPr/>
          <p:nvPr/>
        </p:nvSpPr>
        <p:spPr>
          <a:xfrm>
            <a:off x="8046720" y="2697480"/>
            <a:ext cx="3383280" cy="2331720"/>
          </a:xfrm>
          <a:prstGeom prst="roundRect">
            <a:avLst>
              <a:gd name="adj" fmla="val 3529"/>
            </a:avLst>
          </a:prstGeom>
          <a:solidFill>
            <a:srgbClr val="FFFFFF"/>
          </a:solidFill>
          <a:ln/>
          <a:effectLst>
            <a:outerShdw blurRad="101600" dist="38100" dir="5400000" algn="bl" rotWithShape="0">
              <a:srgbClr val="8C93A6">
                <a:alpha val="22000"/>
              </a:srgbClr>
            </a:outerShdw>
          </a:effectLst>
        </p:spPr>
        <p:txBody>
          <a:bodyPr/>
          <a:lstStyle/>
          <a:p>
            <a:endParaRPr lang="en-US"/>
          </a:p>
        </p:txBody>
      </p:sp>
      <p:sp>
        <p:nvSpPr>
          <p:cNvPr id="19" name="Shape 15"/>
          <p:cNvSpPr/>
          <p:nvPr/>
        </p:nvSpPr>
        <p:spPr>
          <a:xfrm>
            <a:off x="8183880" y="2834640"/>
            <a:ext cx="713232" cy="713232"/>
          </a:xfrm>
          <a:prstGeom prst="ellipse">
            <a:avLst/>
          </a:prstGeom>
          <a:solidFill>
            <a:srgbClr val="C0392B">
              <a:alpha val="20000"/>
            </a:srgbClr>
          </a:solidFill>
          <a:ln/>
        </p:spPr>
        <p:txBody>
          <a:bodyPr/>
          <a:lstStyle/>
          <a:p>
            <a:endParaRPr lang="en-US"/>
          </a:p>
        </p:txBody>
      </p:sp>
      <p:sp>
        <p:nvSpPr>
          <p:cNvPr id="20" name="Shape 16"/>
          <p:cNvSpPr/>
          <p:nvPr/>
        </p:nvSpPr>
        <p:spPr>
          <a:xfrm>
            <a:off x="8302752" y="2953512"/>
            <a:ext cx="475488" cy="475488"/>
          </a:xfrm>
          <a:prstGeom prst="ellipse">
            <a:avLst/>
          </a:prstGeom>
          <a:solidFill>
            <a:srgbClr val="C0392B"/>
          </a:solidFill>
          <a:ln/>
        </p:spPr>
        <p:txBody>
          <a:bodyPr/>
          <a:lstStyle/>
          <a:p>
            <a:endParaRPr lang="en-US"/>
          </a:p>
        </p:txBody>
      </p:sp>
      <p:pic>
        <p:nvPicPr>
          <p:cNvPr id="21" name="Image 2" descr="preencoded.png"/>
          <p:cNvPicPr>
            <a:picLocks noChangeAspect="1"/>
          </p:cNvPicPr>
          <p:nvPr/>
        </p:nvPicPr>
        <p:blipFill>
          <a:blip r:embed="rId5"/>
          <a:stretch>
            <a:fillRect/>
          </a:stretch>
        </p:blipFill>
        <p:spPr>
          <a:xfrm>
            <a:off x="8449056" y="3099816"/>
            <a:ext cx="182880" cy="182880"/>
          </a:xfrm>
          <a:prstGeom prst="rect">
            <a:avLst/>
          </a:prstGeom>
        </p:spPr>
      </p:pic>
      <p:sp>
        <p:nvSpPr>
          <p:cNvPr id="22" name="Text 17"/>
          <p:cNvSpPr/>
          <p:nvPr/>
        </p:nvSpPr>
        <p:spPr>
          <a:xfrm>
            <a:off x="8302752" y="3557016"/>
            <a:ext cx="2871216" cy="365760"/>
          </a:xfrm>
          <a:prstGeom prst="rect">
            <a:avLst/>
          </a:prstGeom>
          <a:noFill/>
          <a:ln/>
        </p:spPr>
        <p:txBody>
          <a:bodyPr wrap="square" lIns="0" tIns="0" rIns="0" bIns="0" rtlCol="0" anchor="ctr"/>
          <a:lstStyle/>
          <a:p>
            <a:pPr marL="0" indent="0">
              <a:buNone/>
            </a:pPr>
            <a:r>
              <a:rPr lang="en-US" sz="1400" b="1" dirty="0">
                <a:solidFill>
                  <a:srgbClr val="1A1A1A"/>
                </a:solidFill>
                <a:latin typeface="Calibri" pitchFamily="34" charset="0"/>
                <a:ea typeface="Calibri" pitchFamily="34" charset="-122"/>
                <a:cs typeface="Calibri" pitchFamily="34" charset="-120"/>
              </a:rPr>
              <a:t>Medical</a:t>
            </a:r>
            <a:endParaRPr lang="en-US" sz="1400" dirty="0"/>
          </a:p>
        </p:txBody>
      </p:sp>
      <p:sp>
        <p:nvSpPr>
          <p:cNvPr id="23" name="Text 18"/>
          <p:cNvSpPr/>
          <p:nvPr/>
        </p:nvSpPr>
        <p:spPr>
          <a:xfrm>
            <a:off x="8302752" y="3922776"/>
            <a:ext cx="2871216" cy="1005840"/>
          </a:xfrm>
          <a:prstGeom prst="rect">
            <a:avLst/>
          </a:prstGeom>
          <a:noFill/>
          <a:ln/>
        </p:spPr>
        <p:txBody>
          <a:bodyPr wrap="square" lIns="0" tIns="0" rIns="0" bIns="0" rtlCol="0" anchor="t"/>
          <a:lstStyle/>
          <a:p>
            <a:pPr marL="0" indent="0">
              <a:buNone/>
            </a:pPr>
            <a:r>
              <a:rPr lang="en-US" sz="1400" dirty="0">
                <a:solidFill>
                  <a:srgbClr val="6B7280"/>
                </a:solidFill>
                <a:latin typeface="Calibri" pitchFamily="34" charset="0"/>
                <a:ea typeface="Calibri" pitchFamily="34" charset="-122"/>
                <a:cs typeface="Calibri" pitchFamily="34" charset="-120"/>
              </a:rPr>
              <a:t>Position risk is unconfirmed. Keep monitoring workload.</a:t>
            </a:r>
            <a:endParaRPr lang="en-US" sz="1400" dirty="0"/>
          </a:p>
        </p:txBody>
      </p:sp>
      <p:sp>
        <p:nvSpPr>
          <p:cNvPr id="24" name="Shape 19"/>
          <p:cNvSpPr/>
          <p:nvPr/>
        </p:nvSpPr>
        <p:spPr>
          <a:xfrm>
            <a:off x="822960" y="5349240"/>
            <a:ext cx="10515600" cy="1051560"/>
          </a:xfrm>
          <a:prstGeom prst="roundRect">
            <a:avLst>
              <a:gd name="adj" fmla="val 7826"/>
            </a:avLst>
          </a:prstGeom>
          <a:solidFill>
            <a:srgbClr val="0F1B3D"/>
          </a:solidFill>
          <a:ln/>
        </p:spPr>
        <p:txBody>
          <a:bodyPr/>
          <a:lstStyle/>
          <a:p>
            <a:endParaRPr lang="en-US"/>
          </a:p>
        </p:txBody>
      </p:sp>
      <p:sp>
        <p:nvSpPr>
          <p:cNvPr id="25" name="Text 20"/>
          <p:cNvSpPr/>
          <p:nvPr/>
        </p:nvSpPr>
        <p:spPr>
          <a:xfrm>
            <a:off x="1051560" y="5349240"/>
            <a:ext cx="10058400" cy="1051560"/>
          </a:xfrm>
          <a:prstGeom prst="rect">
            <a:avLst/>
          </a:prstGeom>
          <a:noFill/>
          <a:ln/>
        </p:spPr>
        <p:txBody>
          <a:bodyPr wrap="square" lIns="0" tIns="0" rIns="0" bIns="0" rtlCol="0" anchor="ctr"/>
          <a:lstStyle/>
          <a:p>
            <a:pPr marL="0" indent="0">
              <a:buNone/>
            </a:pPr>
            <a:r>
              <a:rPr lang="en-US" sz="1350" b="1" dirty="0">
                <a:solidFill>
                  <a:srgbClr val="E8A33D"/>
                </a:solidFill>
                <a:latin typeface="Calibri" pitchFamily="34" charset="0"/>
                <a:ea typeface="Calibri" pitchFamily="34" charset="-122"/>
                <a:cs typeface="Calibri" pitchFamily="34" charset="-120"/>
              </a:rPr>
              <a:t>Bottom line:  </a:t>
            </a:r>
            <a:r>
              <a:rPr lang="en-US" sz="1350" dirty="0">
                <a:solidFill>
                  <a:srgbClr val="FFFFFF"/>
                </a:solidFill>
                <a:latin typeface="Calibri" pitchFamily="34" charset="0"/>
                <a:ea typeface="Calibri" pitchFamily="34" charset="-122"/>
                <a:cs typeface="Calibri" pitchFamily="34" charset="-120"/>
              </a:rPr>
              <a:t>value forecast and injury risk, read together, give recruitment a more realistic picture than a rising valuation alone, and flag exactly where that picture is still uncertain.</a:t>
            </a:r>
            <a:endParaRPr lang="en-US" sz="1350" dirty="0"/>
          </a:p>
        </p:txBody>
      </p:sp>
      <p:sp>
        <p:nvSpPr>
          <p:cNvPr id="27" name="Text 21"/>
          <p:cNvSpPr/>
          <p:nvPr/>
        </p:nvSpPr>
        <p:spPr>
          <a:xfrm>
            <a:off x="11368735" y="6400800"/>
            <a:ext cx="548640" cy="274320"/>
          </a:xfrm>
          <a:prstGeom prst="rect">
            <a:avLst/>
          </a:prstGeom>
          <a:noFill/>
          <a:ln/>
        </p:spPr>
        <p:txBody>
          <a:bodyPr wrap="square" lIns="0" tIns="0" rIns="0" bIns="0" rtlCol="0" anchor="ctr"/>
          <a:lstStyle/>
          <a:p>
            <a:pPr marL="0" indent="0" algn="r">
              <a:buNone/>
            </a:pPr>
            <a:r>
              <a:rPr lang="en-US" sz="1000" dirty="0">
                <a:solidFill>
                  <a:srgbClr val="A3A9B5"/>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F1B3D"/>
        </a:solidFill>
        <a:effectLst/>
      </p:bgPr>
    </p:bg>
    <p:spTree>
      <p:nvGrpSpPr>
        <p:cNvPr id="1" name=""/>
        <p:cNvGrpSpPr/>
        <p:nvPr/>
      </p:nvGrpSpPr>
      <p:grpSpPr>
        <a:xfrm>
          <a:off x="0" y="0"/>
          <a:ext cx="0" cy="0"/>
          <a:chOff x="0" y="0"/>
          <a:chExt cx="0" cy="0"/>
        </a:xfrm>
      </p:grpSpPr>
      <p:sp>
        <p:nvSpPr>
          <p:cNvPr id="2" name="Shape 0"/>
          <p:cNvSpPr/>
          <p:nvPr/>
        </p:nvSpPr>
        <p:spPr>
          <a:xfrm>
            <a:off x="-365760" y="-365760"/>
            <a:ext cx="731520" cy="731520"/>
          </a:xfrm>
          <a:prstGeom prst="ellipse">
            <a:avLst/>
          </a:prstGeom>
          <a:ln w="19050">
            <a:solidFill>
              <a:srgbClr val="1F7A4D">
                <a:alpha val="45000"/>
              </a:srgbClr>
            </a:solidFill>
            <a:prstDash val="solid"/>
          </a:ln>
        </p:spPr>
        <p:txBody>
          <a:bodyPr/>
          <a:lstStyle/>
          <a:p>
            <a:endParaRPr lang="en-US"/>
          </a:p>
        </p:txBody>
      </p:sp>
      <p:sp>
        <p:nvSpPr>
          <p:cNvPr id="3" name="Shape 1"/>
          <p:cNvSpPr/>
          <p:nvPr/>
        </p:nvSpPr>
        <p:spPr>
          <a:xfrm>
            <a:off x="11825935" y="-365760"/>
            <a:ext cx="731520" cy="731520"/>
          </a:xfrm>
          <a:prstGeom prst="ellipse">
            <a:avLst/>
          </a:prstGeom>
          <a:ln w="19050">
            <a:solidFill>
              <a:srgbClr val="1F7A4D">
                <a:alpha val="45000"/>
              </a:srgbClr>
            </a:solidFill>
            <a:prstDash val="solid"/>
          </a:ln>
        </p:spPr>
        <p:txBody>
          <a:bodyPr/>
          <a:lstStyle/>
          <a:p>
            <a:endParaRPr lang="en-US"/>
          </a:p>
        </p:txBody>
      </p:sp>
      <p:sp>
        <p:nvSpPr>
          <p:cNvPr id="4" name="Shape 2"/>
          <p:cNvSpPr/>
          <p:nvPr/>
        </p:nvSpPr>
        <p:spPr>
          <a:xfrm>
            <a:off x="-365760" y="6492240"/>
            <a:ext cx="731520" cy="731520"/>
          </a:xfrm>
          <a:prstGeom prst="ellipse">
            <a:avLst/>
          </a:prstGeom>
          <a:ln w="19050">
            <a:solidFill>
              <a:srgbClr val="1F7A4D">
                <a:alpha val="45000"/>
              </a:srgbClr>
            </a:solidFill>
            <a:prstDash val="solid"/>
          </a:ln>
        </p:spPr>
        <p:txBody>
          <a:bodyPr/>
          <a:lstStyle/>
          <a:p>
            <a:endParaRPr lang="en-US"/>
          </a:p>
        </p:txBody>
      </p:sp>
      <p:sp>
        <p:nvSpPr>
          <p:cNvPr id="5" name="Shape 3"/>
          <p:cNvSpPr/>
          <p:nvPr/>
        </p:nvSpPr>
        <p:spPr>
          <a:xfrm>
            <a:off x="11825935" y="6492240"/>
            <a:ext cx="731520" cy="731520"/>
          </a:xfrm>
          <a:prstGeom prst="ellipse">
            <a:avLst/>
          </a:prstGeom>
          <a:ln w="19050">
            <a:solidFill>
              <a:srgbClr val="1F7A4D">
                <a:alpha val="45000"/>
              </a:srgbClr>
            </a:solidFill>
            <a:prstDash val="solid"/>
          </a:ln>
        </p:spPr>
        <p:txBody>
          <a:bodyPr/>
          <a:lstStyle/>
          <a:p>
            <a:endParaRPr lang="en-US"/>
          </a:p>
        </p:txBody>
      </p:sp>
      <p:sp>
        <p:nvSpPr>
          <p:cNvPr id="6" name="Shape 4"/>
          <p:cNvSpPr/>
          <p:nvPr/>
        </p:nvSpPr>
        <p:spPr>
          <a:xfrm>
            <a:off x="7863840" y="137160"/>
            <a:ext cx="6583680" cy="6583680"/>
          </a:xfrm>
          <a:prstGeom prst="ellipse">
            <a:avLst/>
          </a:prstGeom>
          <a:solidFill>
            <a:srgbClr val="1F7A4D">
              <a:alpha val="5000"/>
            </a:srgbClr>
          </a:solidFill>
          <a:ln w="25400">
            <a:solidFill>
              <a:srgbClr val="1F7A4D">
                <a:alpha val="38000"/>
              </a:srgbClr>
            </a:solidFill>
            <a:prstDash val="solid"/>
          </a:ln>
        </p:spPr>
        <p:txBody>
          <a:bodyPr/>
          <a:lstStyle/>
          <a:p>
            <a:endParaRPr lang="en-US"/>
          </a:p>
        </p:txBody>
      </p:sp>
      <p:sp>
        <p:nvSpPr>
          <p:cNvPr id="7" name="Shape 5"/>
          <p:cNvSpPr/>
          <p:nvPr/>
        </p:nvSpPr>
        <p:spPr>
          <a:xfrm>
            <a:off x="11109960" y="3383280"/>
            <a:ext cx="91440" cy="91440"/>
          </a:xfrm>
          <a:prstGeom prst="ellipse">
            <a:avLst/>
          </a:prstGeom>
          <a:solidFill>
            <a:srgbClr val="E8A33D">
              <a:alpha val="75000"/>
            </a:srgbClr>
          </a:solidFill>
          <a:ln/>
        </p:spPr>
        <p:txBody>
          <a:bodyPr/>
          <a:lstStyle/>
          <a:p>
            <a:endParaRPr lang="en-US"/>
          </a:p>
        </p:txBody>
      </p:sp>
      <p:sp>
        <p:nvSpPr>
          <p:cNvPr id="8" name="Shape 6"/>
          <p:cNvSpPr/>
          <p:nvPr/>
        </p:nvSpPr>
        <p:spPr>
          <a:xfrm>
            <a:off x="7863840" y="3429000"/>
            <a:ext cx="4327855" cy="0"/>
          </a:xfrm>
          <a:prstGeom prst="line">
            <a:avLst/>
          </a:prstGeom>
          <a:noFill/>
          <a:ln w="25400">
            <a:solidFill>
              <a:srgbClr val="1F7A4D">
                <a:alpha val="38000"/>
              </a:srgbClr>
            </a:solidFill>
            <a:prstDash val="solid"/>
          </a:ln>
        </p:spPr>
        <p:txBody>
          <a:bodyPr/>
          <a:lstStyle/>
          <a:p>
            <a:endParaRPr lang="en-US"/>
          </a:p>
        </p:txBody>
      </p:sp>
      <p:sp>
        <p:nvSpPr>
          <p:cNvPr id="9" name="Text 7"/>
          <p:cNvSpPr/>
          <p:nvPr/>
        </p:nvSpPr>
        <p:spPr>
          <a:xfrm>
            <a:off x="822960" y="1737360"/>
            <a:ext cx="54864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0" cap="none" spc="200" normalizeH="0" baseline="0" noProof="0" dirty="0">
                <a:ln>
                  <a:noFill/>
                </a:ln>
                <a:solidFill>
                  <a:srgbClr val="E8A33D"/>
                </a:solidFill>
                <a:effectLst/>
                <a:uLnTx/>
                <a:uFillTx/>
                <a:latin typeface="Calibri" pitchFamily="34" charset="0"/>
                <a:ea typeface="Calibri" pitchFamily="34" charset="-122"/>
                <a:cs typeface="Calibri" pitchFamily="34" charset="-120"/>
              </a:rPr>
              <a:t>NOW, IN TABLEAU</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777240" y="2057400"/>
            <a:ext cx="8229600" cy="10058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600" b="1" i="0" u="none" strike="noStrike" kern="1200" cap="none" spc="0" normalizeH="0" baseline="0" noProof="0" dirty="0">
                <a:ln>
                  <a:noFill/>
                </a:ln>
                <a:solidFill>
                  <a:srgbClr val="FFFFFF"/>
                </a:solidFill>
                <a:effectLst/>
                <a:uLnTx/>
                <a:uFillTx/>
                <a:latin typeface="Cambria" pitchFamily="34" charset="0"/>
                <a:ea typeface="Cambria" pitchFamily="34" charset="-122"/>
                <a:cs typeface="Cambria" pitchFamily="34" charset="-120"/>
              </a:rPr>
              <a:t>See it live.</a:t>
            </a:r>
            <a:endParaRPr kumimoji="0" lang="en-US" sz="4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Text 9"/>
          <p:cNvSpPr/>
          <p:nvPr/>
        </p:nvSpPr>
        <p:spPr>
          <a:xfrm>
            <a:off x="822960" y="3063240"/>
            <a:ext cx="7498080" cy="7315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CADCFC"/>
                </a:solidFill>
                <a:effectLst/>
                <a:uLnTx/>
                <a:uFillTx/>
                <a:latin typeface="Calibri" pitchFamily="34" charset="0"/>
                <a:ea typeface="Calibri" pitchFamily="34" charset="-122"/>
                <a:cs typeface="Calibri" pitchFamily="34" charset="-120"/>
              </a:rPr>
              <a:t>Switching to the interactive dashboards: value vs. injury risk, age, recency, and position, with cross-filtering across every view.</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Shape 10">
            <a:hlinkClick r:id="rId3" tooltip="Open the Tableau workbook"/>
          </p:cNvPr>
          <p:cNvSpPr/>
          <p:nvPr/>
        </p:nvSpPr>
        <p:spPr>
          <a:xfrm>
            <a:off x="822960" y="4160520"/>
            <a:ext cx="3931920" cy="685800"/>
          </a:xfrm>
          <a:prstGeom prst="roundRect">
            <a:avLst>
              <a:gd name="adj" fmla="val 50000"/>
            </a:avLst>
          </a:prstGeom>
          <a:solidFill>
            <a:srgbClr val="E8A33D"/>
          </a:solidFill>
          <a:ln/>
        </p:spPr>
        <p:txBody>
          <a:bodyPr/>
          <a:lstStyle/>
          <a:p>
            <a:endParaRPr lang="en-US"/>
          </a:p>
        </p:txBody>
      </p:sp>
      <p:sp>
        <p:nvSpPr>
          <p:cNvPr id="13" name="Shape 11"/>
          <p:cNvSpPr/>
          <p:nvPr/>
        </p:nvSpPr>
        <p:spPr>
          <a:xfrm rot="5400000">
            <a:off x="1298448" y="4402836"/>
            <a:ext cx="201168" cy="201168"/>
          </a:xfrm>
          <a:prstGeom prst="triangle">
            <a:avLst/>
          </a:prstGeom>
          <a:solidFill>
            <a:srgbClr val="0F1B3D"/>
          </a:solidFill>
          <a:ln/>
        </p:spPr>
        <p:txBody>
          <a:bodyPr/>
          <a:lstStyle/>
          <a:p>
            <a:endParaRPr lang="en-US"/>
          </a:p>
        </p:txBody>
      </p:sp>
      <p:sp>
        <p:nvSpPr>
          <p:cNvPr id="14" name="Text 12">
            <a:hlinkClick r:id="rId3" tooltip="Open the Tableau workbook"/>
          </p:cNvPr>
          <p:cNvSpPr/>
          <p:nvPr/>
        </p:nvSpPr>
        <p:spPr>
          <a:xfrm>
            <a:off x="1691640" y="4160520"/>
            <a:ext cx="2971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sng" strike="noStrike" kern="1200" cap="none" spc="0" normalizeH="0" baseline="0" noProof="0" dirty="0">
                <a:ln>
                  <a:noFill/>
                </a:ln>
                <a:solidFill>
                  <a:srgbClr val="0F1B3D"/>
                </a:solidFill>
                <a:effectLst/>
                <a:uLnTx/>
                <a:uFillTx/>
                <a:latin typeface="Calibri" pitchFamily="34" charset="0"/>
                <a:ea typeface="Calibri" pitchFamily="34" charset="-122"/>
                <a:cs typeface="Calibri" pitchFamily="34" charset="-120"/>
                <a:hlinkClick r:id="rId3" tooltip="Open the Tableau workbook">
                  <a:extLst>
                    <a:ext uri="{A12FA001-AC4F-418D-AE19-62706E023703}">
                      <ahyp:hlinkClr xmlns:ahyp="http://schemas.microsoft.com/office/drawing/2018/hyperlinkcolor" val="tx"/>
                    </a:ext>
                  </a:extLst>
                </a:hlinkClick>
              </a:rPr>
              <a:t>Open Tableau Dashboard</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Shape 13"/>
          <p:cNvSpPr/>
          <p:nvPr/>
        </p:nvSpPr>
        <p:spPr>
          <a:xfrm>
            <a:off x="822960" y="5129784"/>
            <a:ext cx="91440" cy="91440"/>
          </a:xfrm>
          <a:prstGeom prst="ellipse">
            <a:avLst/>
          </a:prstGeom>
          <a:solidFill>
            <a:srgbClr val="E8A33D"/>
          </a:solidFill>
          <a:ln/>
        </p:spPr>
        <p:txBody>
          <a:bodyPr/>
          <a:lstStyle/>
          <a:p>
            <a:endParaRPr lang="en-US"/>
          </a:p>
        </p:txBody>
      </p:sp>
      <p:sp>
        <p:nvSpPr>
          <p:cNvPr id="16" name="Text 14"/>
          <p:cNvSpPr/>
          <p:nvPr/>
        </p:nvSpPr>
        <p:spPr>
          <a:xfrm>
            <a:off x="1051560" y="5001768"/>
            <a:ext cx="36576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200" cap="none" spc="0" normalizeH="0" baseline="0" noProof="0" dirty="0">
                <a:ln>
                  <a:noFill/>
                </a:ln>
                <a:solidFill>
                  <a:srgbClr val="AEB8D6"/>
                </a:solidFill>
                <a:effectLst/>
                <a:uLnTx/>
                <a:uFillTx/>
                <a:latin typeface="Calibri" pitchFamily="34" charset="0"/>
                <a:ea typeface="Calibri" pitchFamily="34" charset="-122"/>
                <a:cs typeface="Calibri" pitchFamily="34" charset="-120"/>
              </a:rPr>
              <a:t>Cover (navigate from here)</a:t>
            </a:r>
            <a:endParaRPr kumimoji="0" lang="en-US" sz="13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Shape 15"/>
          <p:cNvSpPr/>
          <p:nvPr/>
        </p:nvSpPr>
        <p:spPr>
          <a:xfrm>
            <a:off x="822960" y="5422392"/>
            <a:ext cx="91440" cy="91440"/>
          </a:xfrm>
          <a:prstGeom prst="ellipse">
            <a:avLst/>
          </a:prstGeom>
          <a:solidFill>
            <a:srgbClr val="E8A33D"/>
          </a:solidFill>
          <a:ln/>
        </p:spPr>
        <p:txBody>
          <a:bodyPr/>
          <a:lstStyle/>
          <a:p>
            <a:endParaRPr lang="en-US"/>
          </a:p>
        </p:txBody>
      </p:sp>
      <p:sp>
        <p:nvSpPr>
          <p:cNvPr id="18" name="Text 16"/>
          <p:cNvSpPr/>
          <p:nvPr/>
        </p:nvSpPr>
        <p:spPr>
          <a:xfrm>
            <a:off x="1051560" y="5294376"/>
            <a:ext cx="36576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200" cap="none" spc="0" normalizeH="0" baseline="0" noProof="0" dirty="0">
                <a:ln>
                  <a:noFill/>
                </a:ln>
                <a:solidFill>
                  <a:srgbClr val="AEB8D6"/>
                </a:solidFill>
                <a:effectLst/>
                <a:uLnTx/>
                <a:uFillTx/>
                <a:latin typeface="Calibri" pitchFamily="34" charset="0"/>
                <a:ea typeface="Calibri" pitchFamily="34" charset="-122"/>
                <a:cs typeface="Calibri" pitchFamily="34" charset="-120"/>
              </a:rPr>
              <a:t>Value Trend</a:t>
            </a:r>
            <a:endParaRPr kumimoji="0" lang="en-US" sz="13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Shape 17"/>
          <p:cNvSpPr/>
          <p:nvPr/>
        </p:nvSpPr>
        <p:spPr>
          <a:xfrm>
            <a:off x="822960" y="5715000"/>
            <a:ext cx="91440" cy="91440"/>
          </a:xfrm>
          <a:prstGeom prst="ellipse">
            <a:avLst/>
          </a:prstGeom>
          <a:solidFill>
            <a:srgbClr val="E8A33D"/>
          </a:solidFill>
          <a:ln/>
        </p:spPr>
        <p:txBody>
          <a:bodyPr/>
          <a:lstStyle/>
          <a:p>
            <a:endParaRPr lang="en-US"/>
          </a:p>
        </p:txBody>
      </p:sp>
      <p:sp>
        <p:nvSpPr>
          <p:cNvPr id="20" name="Text 18"/>
          <p:cNvSpPr/>
          <p:nvPr/>
        </p:nvSpPr>
        <p:spPr>
          <a:xfrm>
            <a:off x="1051560" y="5586984"/>
            <a:ext cx="36576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200" cap="none" spc="0" normalizeH="0" baseline="0" noProof="0" dirty="0">
                <a:ln>
                  <a:noFill/>
                </a:ln>
                <a:solidFill>
                  <a:srgbClr val="AEB8D6"/>
                </a:solidFill>
                <a:effectLst/>
                <a:uLnTx/>
                <a:uFillTx/>
                <a:latin typeface="Calibri" pitchFamily="34" charset="0"/>
                <a:ea typeface="Calibri" pitchFamily="34" charset="-122"/>
                <a:cs typeface="Calibri" pitchFamily="34" charset="-120"/>
              </a:rPr>
              <a:t>Risk Summary</a:t>
            </a:r>
            <a:endParaRPr kumimoji="0" lang="en-US" sz="13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Shape 19"/>
          <p:cNvSpPr/>
          <p:nvPr/>
        </p:nvSpPr>
        <p:spPr>
          <a:xfrm>
            <a:off x="822960" y="6007608"/>
            <a:ext cx="91440" cy="91440"/>
          </a:xfrm>
          <a:prstGeom prst="ellipse">
            <a:avLst/>
          </a:prstGeom>
          <a:solidFill>
            <a:srgbClr val="E8A33D"/>
          </a:solidFill>
          <a:ln/>
        </p:spPr>
        <p:txBody>
          <a:bodyPr/>
          <a:lstStyle/>
          <a:p>
            <a:endParaRPr lang="en-US"/>
          </a:p>
        </p:txBody>
      </p:sp>
      <p:sp>
        <p:nvSpPr>
          <p:cNvPr id="22" name="Text 20"/>
          <p:cNvSpPr/>
          <p:nvPr/>
        </p:nvSpPr>
        <p:spPr>
          <a:xfrm>
            <a:off x="1051560" y="5879592"/>
            <a:ext cx="36576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200" cap="none" spc="0" normalizeH="0" baseline="0" noProof="0" dirty="0">
                <a:ln>
                  <a:noFill/>
                </a:ln>
                <a:solidFill>
                  <a:srgbClr val="AEB8D6"/>
                </a:solidFill>
                <a:effectLst/>
                <a:uLnTx/>
                <a:uFillTx/>
                <a:latin typeface="Calibri" pitchFamily="34" charset="0"/>
                <a:ea typeface="Calibri" pitchFamily="34" charset="-122"/>
                <a:cs typeface="Calibri" pitchFamily="34" charset="-120"/>
              </a:rPr>
              <a:t>Age &amp; Risk Profile</a:t>
            </a:r>
            <a:endParaRPr kumimoji="0" lang="en-US" sz="13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Shape 21"/>
          <p:cNvSpPr/>
          <p:nvPr/>
        </p:nvSpPr>
        <p:spPr>
          <a:xfrm>
            <a:off x="822960" y="6300216"/>
            <a:ext cx="91440" cy="91440"/>
          </a:xfrm>
          <a:prstGeom prst="ellipse">
            <a:avLst/>
          </a:prstGeom>
          <a:solidFill>
            <a:srgbClr val="E8A33D"/>
          </a:solidFill>
          <a:ln/>
        </p:spPr>
        <p:txBody>
          <a:bodyPr/>
          <a:lstStyle/>
          <a:p>
            <a:endParaRPr lang="en-US"/>
          </a:p>
        </p:txBody>
      </p:sp>
      <p:sp>
        <p:nvSpPr>
          <p:cNvPr id="24" name="Text 22"/>
          <p:cNvSpPr/>
          <p:nvPr/>
        </p:nvSpPr>
        <p:spPr>
          <a:xfrm>
            <a:off x="1051560" y="6172200"/>
            <a:ext cx="36576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200" cap="none" spc="0" normalizeH="0" baseline="0" noProof="0" dirty="0">
                <a:ln>
                  <a:noFill/>
                </a:ln>
                <a:solidFill>
                  <a:srgbClr val="AEB8D6"/>
                </a:solidFill>
                <a:effectLst/>
                <a:uLnTx/>
                <a:uFillTx/>
                <a:latin typeface="Calibri" pitchFamily="34" charset="0"/>
                <a:ea typeface="Calibri" pitchFamily="34" charset="-122"/>
                <a:cs typeface="Calibri" pitchFamily="34" charset="-120"/>
              </a:rPr>
              <a:t>Recency &amp; Position Risk Profile</a:t>
            </a:r>
            <a:endParaRPr kumimoji="0" lang="en-US" sz="13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Text 23"/>
          <p:cNvSpPr/>
          <p:nvPr/>
        </p:nvSpPr>
        <p:spPr>
          <a:xfrm>
            <a:off x="11368735" y="6400800"/>
            <a:ext cx="54864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6E7DA6"/>
                </a:solidFill>
                <a:effectLst/>
                <a:uLnTx/>
                <a:uFillTx/>
                <a:latin typeface="Calibri" pitchFamily="34" charset="0"/>
                <a:ea typeface="Calibri" pitchFamily="34" charset="-122"/>
                <a:cs typeface="Calibri" pitchFamily="34" charset="-120"/>
              </a:rPr>
              <a:t>12</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2">
    <p:bg>
      <p:bgPr>
        <a:solidFill>
          <a:srgbClr val="F7F8FA"/>
        </a:solidFill>
        <a:effectLst/>
      </p:bgPr>
    </p:bg>
    <p:spTree>
      <p:nvGrpSpPr>
        <p:cNvPr id="1" name=""/>
        <p:cNvGrpSpPr/>
        <p:nvPr/>
      </p:nvGrpSpPr>
      <p:grpSpPr>
        <a:xfrm>
          <a:off x="0" y="0"/>
          <a:ext cx="0" cy="0"/>
          <a:chOff x="0" y="0"/>
          <a:chExt cx="0" cy="0"/>
        </a:xfrm>
      </p:grpSpPr>
      <p:sp>
        <p:nvSpPr>
          <p:cNvPr id="2" name="Text 0"/>
          <p:cNvSpPr/>
          <p:nvPr/>
        </p:nvSpPr>
        <p:spPr>
          <a:xfrm>
            <a:off x="822960" y="594360"/>
            <a:ext cx="5486400" cy="320040"/>
          </a:xfrm>
          <a:prstGeom prst="rect">
            <a:avLst/>
          </a:prstGeom>
          <a:noFill/>
          <a:ln/>
        </p:spPr>
        <p:txBody>
          <a:bodyPr wrap="square" lIns="0" tIns="0" rIns="0" bIns="0" rtlCol="0" anchor="ctr"/>
          <a:lstStyle/>
          <a:p>
            <a:pPr marL="0" indent="0">
              <a:buNone/>
            </a:pPr>
            <a:r>
              <a:rPr lang="en-US" sz="1400" b="1" kern="0" spc="200" dirty="0">
                <a:solidFill>
                  <a:srgbClr val="1F7A4D"/>
                </a:solidFill>
                <a:latin typeface="Calibri" pitchFamily="34" charset="0"/>
                <a:ea typeface="Calibri" pitchFamily="34" charset="-122"/>
                <a:cs typeface="Calibri" pitchFamily="34" charset="-120"/>
              </a:rPr>
              <a:t>RECOMMENDATIONS</a:t>
            </a:r>
            <a:endParaRPr lang="en-US" sz="1400" dirty="0"/>
          </a:p>
        </p:txBody>
      </p:sp>
      <p:sp>
        <p:nvSpPr>
          <p:cNvPr id="3" name="Text 1"/>
          <p:cNvSpPr/>
          <p:nvPr/>
        </p:nvSpPr>
        <p:spPr>
          <a:xfrm>
            <a:off x="777240" y="896112"/>
            <a:ext cx="9601200" cy="731520"/>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What this means for recruitment</a:t>
            </a:r>
            <a:endParaRPr lang="en-US" sz="3200" dirty="0"/>
          </a:p>
        </p:txBody>
      </p:sp>
      <p:sp>
        <p:nvSpPr>
          <p:cNvPr id="4" name="Shape 2"/>
          <p:cNvSpPr/>
          <p:nvPr/>
        </p:nvSpPr>
        <p:spPr>
          <a:xfrm>
            <a:off x="822960" y="2011680"/>
            <a:ext cx="10515600" cy="1188720"/>
          </a:xfrm>
          <a:prstGeom prst="roundRect">
            <a:avLst>
              <a:gd name="adj" fmla="val 6923"/>
            </a:avLst>
          </a:prstGeom>
          <a:solidFill>
            <a:srgbClr val="FFFFFF"/>
          </a:solidFill>
          <a:ln/>
          <a:effectLst>
            <a:outerShdw blurRad="88900" dist="38100" dir="5400000" algn="bl" rotWithShape="0">
              <a:srgbClr val="8C93A6">
                <a:alpha val="20000"/>
              </a:srgbClr>
            </a:outerShdw>
          </a:effectLst>
        </p:spPr>
        <p:txBody>
          <a:bodyPr/>
          <a:lstStyle/>
          <a:p>
            <a:endParaRPr lang="en-US"/>
          </a:p>
        </p:txBody>
      </p:sp>
      <p:sp>
        <p:nvSpPr>
          <p:cNvPr id="5" name="Shape 3"/>
          <p:cNvSpPr/>
          <p:nvPr/>
        </p:nvSpPr>
        <p:spPr>
          <a:xfrm>
            <a:off x="937260" y="2180844"/>
            <a:ext cx="850392" cy="850392"/>
          </a:xfrm>
          <a:prstGeom prst="ellipse">
            <a:avLst/>
          </a:prstGeom>
          <a:solidFill>
            <a:srgbClr val="E8A33D">
              <a:alpha val="20000"/>
            </a:srgbClr>
          </a:solidFill>
          <a:ln/>
        </p:spPr>
        <p:txBody>
          <a:bodyPr/>
          <a:lstStyle/>
          <a:p>
            <a:endParaRPr lang="en-US"/>
          </a:p>
        </p:txBody>
      </p:sp>
      <p:sp>
        <p:nvSpPr>
          <p:cNvPr id="6" name="Shape 4"/>
          <p:cNvSpPr/>
          <p:nvPr/>
        </p:nvSpPr>
        <p:spPr>
          <a:xfrm>
            <a:off x="1078992" y="2322576"/>
            <a:ext cx="566928" cy="566928"/>
          </a:xfrm>
          <a:prstGeom prst="ellipse">
            <a:avLst/>
          </a:prstGeom>
          <a:solidFill>
            <a:srgbClr val="E8A33D"/>
          </a:solidFill>
          <a:ln/>
        </p:spPr>
        <p:txBody>
          <a:bodyPr/>
          <a:lstStyle/>
          <a:p>
            <a:endParaRPr lang="en-US"/>
          </a:p>
        </p:txBody>
      </p:sp>
      <p:sp>
        <p:nvSpPr>
          <p:cNvPr id="8" name="Text 5"/>
          <p:cNvSpPr/>
          <p:nvPr/>
        </p:nvSpPr>
        <p:spPr>
          <a:xfrm>
            <a:off x="1920240" y="2194560"/>
            <a:ext cx="2743200" cy="822960"/>
          </a:xfrm>
          <a:prstGeom prst="rect">
            <a:avLst/>
          </a:prstGeom>
          <a:noFill/>
          <a:ln/>
        </p:spPr>
        <p:txBody>
          <a:bodyPr wrap="square" lIns="0" tIns="0" rIns="0" bIns="0" rtlCol="0" anchor="ctr"/>
          <a:lstStyle/>
          <a:p>
            <a:pPr marL="0" indent="0">
              <a:buNone/>
            </a:pPr>
            <a:r>
              <a:rPr lang="en-US" sz="1550" b="1" dirty="0">
                <a:solidFill>
                  <a:srgbClr val="1A1A1A"/>
                </a:solidFill>
                <a:latin typeface="Calibri" pitchFamily="34" charset="0"/>
                <a:ea typeface="Calibri" pitchFamily="34" charset="-122"/>
                <a:cs typeface="Calibri" pitchFamily="34" charset="-120"/>
              </a:rPr>
              <a:t>Scouting</a:t>
            </a:r>
            <a:endParaRPr lang="en-US" sz="1550" dirty="0"/>
          </a:p>
        </p:txBody>
      </p:sp>
      <p:sp>
        <p:nvSpPr>
          <p:cNvPr id="9" name="Text 6"/>
          <p:cNvSpPr/>
          <p:nvPr/>
        </p:nvSpPr>
        <p:spPr>
          <a:xfrm>
            <a:off x="4318000" y="2148840"/>
            <a:ext cx="6794500" cy="914400"/>
          </a:xfrm>
          <a:prstGeom prst="rect">
            <a:avLst/>
          </a:prstGeom>
          <a:noFill/>
          <a:ln/>
        </p:spPr>
        <p:txBody>
          <a:bodyPr wrap="square" lIns="0" tIns="0" rIns="0" bIns="0" rtlCol="0" anchor="ctr"/>
          <a:lstStyle/>
          <a:p>
            <a:pPr marL="0" indent="0">
              <a:buNone/>
            </a:pPr>
            <a:r>
              <a:rPr lang="en-US" sz="1400" dirty="0">
                <a:solidFill>
                  <a:srgbClr val="44506B"/>
                </a:solidFill>
                <a:latin typeface="Calibri" pitchFamily="34" charset="0"/>
                <a:ea typeface="Calibri" pitchFamily="34" charset="-122"/>
                <a:cs typeface="Calibri" pitchFamily="34" charset="-120"/>
              </a:rPr>
              <a:t>Screen for any injury history, not just recent incidents. That's the pattern the data actually supports.</a:t>
            </a:r>
            <a:endParaRPr lang="en-US" sz="1400" dirty="0">
              <a:solidFill>
                <a:srgbClr val="44506B"/>
              </a:solidFill>
            </a:endParaRPr>
          </a:p>
        </p:txBody>
      </p:sp>
      <p:sp>
        <p:nvSpPr>
          <p:cNvPr id="10" name="Shape 7"/>
          <p:cNvSpPr/>
          <p:nvPr/>
        </p:nvSpPr>
        <p:spPr>
          <a:xfrm>
            <a:off x="822960" y="3429000"/>
            <a:ext cx="10515600" cy="1188720"/>
          </a:xfrm>
          <a:prstGeom prst="roundRect">
            <a:avLst>
              <a:gd name="adj" fmla="val 6923"/>
            </a:avLst>
          </a:prstGeom>
          <a:solidFill>
            <a:srgbClr val="FFFFFF"/>
          </a:solidFill>
          <a:ln/>
          <a:effectLst>
            <a:outerShdw blurRad="88900" dist="38100" dir="5400000" algn="bl" rotWithShape="0">
              <a:srgbClr val="8C93A6">
                <a:alpha val="20000"/>
              </a:srgbClr>
            </a:outerShdw>
          </a:effectLst>
        </p:spPr>
        <p:txBody>
          <a:bodyPr/>
          <a:lstStyle/>
          <a:p>
            <a:endParaRPr lang="en-US"/>
          </a:p>
        </p:txBody>
      </p:sp>
      <p:sp>
        <p:nvSpPr>
          <p:cNvPr id="11" name="Shape 8"/>
          <p:cNvSpPr/>
          <p:nvPr/>
        </p:nvSpPr>
        <p:spPr>
          <a:xfrm>
            <a:off x="937260" y="3598164"/>
            <a:ext cx="850392" cy="850392"/>
          </a:xfrm>
          <a:prstGeom prst="ellipse">
            <a:avLst/>
          </a:prstGeom>
          <a:solidFill>
            <a:srgbClr val="1F7A4D">
              <a:alpha val="20000"/>
            </a:srgbClr>
          </a:solidFill>
          <a:ln/>
        </p:spPr>
        <p:txBody>
          <a:bodyPr/>
          <a:lstStyle/>
          <a:p>
            <a:endParaRPr lang="en-US"/>
          </a:p>
        </p:txBody>
      </p:sp>
      <p:sp>
        <p:nvSpPr>
          <p:cNvPr id="12" name="Shape 9"/>
          <p:cNvSpPr/>
          <p:nvPr/>
        </p:nvSpPr>
        <p:spPr>
          <a:xfrm>
            <a:off x="1078992" y="3739896"/>
            <a:ext cx="566928" cy="566928"/>
          </a:xfrm>
          <a:prstGeom prst="ellipse">
            <a:avLst/>
          </a:prstGeom>
          <a:solidFill>
            <a:srgbClr val="1F7A4D"/>
          </a:solidFill>
          <a:ln/>
        </p:spPr>
        <p:txBody>
          <a:bodyPr/>
          <a:lstStyle/>
          <a:p>
            <a:endParaRPr lang="en-US"/>
          </a:p>
        </p:txBody>
      </p:sp>
      <p:pic>
        <p:nvPicPr>
          <p:cNvPr id="13" name="Image 1" descr="preencoded.png"/>
          <p:cNvPicPr>
            <a:picLocks noChangeAspect="1"/>
          </p:cNvPicPr>
          <p:nvPr/>
        </p:nvPicPr>
        <p:blipFill>
          <a:blip r:embed="rId3"/>
          <a:stretch>
            <a:fillRect/>
          </a:stretch>
        </p:blipFill>
        <p:spPr>
          <a:xfrm>
            <a:off x="1225296" y="3886200"/>
            <a:ext cx="274320" cy="274320"/>
          </a:xfrm>
          <a:prstGeom prst="rect">
            <a:avLst/>
          </a:prstGeom>
        </p:spPr>
      </p:pic>
      <p:sp>
        <p:nvSpPr>
          <p:cNvPr id="14" name="Text 10"/>
          <p:cNvSpPr/>
          <p:nvPr/>
        </p:nvSpPr>
        <p:spPr>
          <a:xfrm>
            <a:off x="1920240" y="3611880"/>
            <a:ext cx="2743200" cy="822960"/>
          </a:xfrm>
          <a:prstGeom prst="rect">
            <a:avLst/>
          </a:prstGeom>
          <a:noFill/>
          <a:ln/>
        </p:spPr>
        <p:txBody>
          <a:bodyPr wrap="square" lIns="0" tIns="0" rIns="0" bIns="0" rtlCol="0" anchor="ctr"/>
          <a:lstStyle/>
          <a:p>
            <a:pPr marL="0" indent="0">
              <a:buNone/>
            </a:pPr>
            <a:r>
              <a:rPr lang="en-US" sz="1550" b="1" dirty="0">
                <a:solidFill>
                  <a:srgbClr val="1A1A1A"/>
                </a:solidFill>
                <a:latin typeface="Calibri" pitchFamily="34" charset="0"/>
                <a:ea typeface="Calibri" pitchFamily="34" charset="-122"/>
                <a:cs typeface="Calibri" pitchFamily="34" charset="-120"/>
              </a:rPr>
              <a:t>Front Office</a:t>
            </a:r>
            <a:endParaRPr lang="en-US" sz="1550" dirty="0"/>
          </a:p>
        </p:txBody>
      </p:sp>
      <p:sp>
        <p:nvSpPr>
          <p:cNvPr id="15" name="Text 11"/>
          <p:cNvSpPr/>
          <p:nvPr/>
        </p:nvSpPr>
        <p:spPr>
          <a:xfrm>
            <a:off x="4318000" y="3566160"/>
            <a:ext cx="6794500" cy="914400"/>
          </a:xfrm>
          <a:prstGeom prst="rect">
            <a:avLst/>
          </a:prstGeom>
          <a:noFill/>
          <a:ln/>
        </p:spPr>
        <p:txBody>
          <a:bodyPr wrap="square" lIns="0" tIns="0" rIns="0" bIns="0" rtlCol="0" anchor="ctr"/>
          <a:lstStyle/>
          <a:p>
            <a:pPr marL="0" indent="0">
              <a:buNone/>
            </a:pPr>
            <a:r>
              <a:rPr lang="en-US" sz="1400" dirty="0">
                <a:solidFill>
                  <a:srgbClr val="44506B"/>
                </a:solidFill>
                <a:latin typeface="Calibri" pitchFamily="34" charset="0"/>
                <a:ea typeface="Calibri" pitchFamily="34" charset="-122"/>
                <a:cs typeface="Calibri" pitchFamily="34" charset="-120"/>
              </a:rPr>
              <a:t>Weight the 21–24 age band in valuation models. It's the only bracket combining above-average growth with below-average risk.</a:t>
            </a:r>
            <a:endParaRPr lang="en-US" sz="1400" dirty="0">
              <a:solidFill>
                <a:srgbClr val="44506B"/>
              </a:solidFill>
            </a:endParaRPr>
          </a:p>
        </p:txBody>
      </p:sp>
      <p:sp>
        <p:nvSpPr>
          <p:cNvPr id="16" name="Shape 12"/>
          <p:cNvSpPr/>
          <p:nvPr/>
        </p:nvSpPr>
        <p:spPr>
          <a:xfrm>
            <a:off x="822960" y="4846320"/>
            <a:ext cx="10515600" cy="1188720"/>
          </a:xfrm>
          <a:prstGeom prst="roundRect">
            <a:avLst>
              <a:gd name="adj" fmla="val 6923"/>
            </a:avLst>
          </a:prstGeom>
          <a:solidFill>
            <a:srgbClr val="FFFFFF"/>
          </a:solidFill>
          <a:ln/>
          <a:effectLst>
            <a:outerShdw blurRad="88900" dist="38100" dir="5400000" algn="bl" rotWithShape="0">
              <a:srgbClr val="8C93A6">
                <a:alpha val="20000"/>
              </a:srgbClr>
            </a:outerShdw>
          </a:effectLst>
        </p:spPr>
        <p:txBody>
          <a:bodyPr/>
          <a:lstStyle/>
          <a:p>
            <a:endParaRPr lang="en-US"/>
          </a:p>
        </p:txBody>
      </p:sp>
      <p:sp>
        <p:nvSpPr>
          <p:cNvPr id="17" name="Shape 13"/>
          <p:cNvSpPr/>
          <p:nvPr/>
        </p:nvSpPr>
        <p:spPr>
          <a:xfrm>
            <a:off x="937260" y="5015484"/>
            <a:ext cx="850392" cy="850392"/>
          </a:xfrm>
          <a:prstGeom prst="ellipse">
            <a:avLst/>
          </a:prstGeom>
          <a:solidFill>
            <a:srgbClr val="C0392B">
              <a:alpha val="20000"/>
            </a:srgbClr>
          </a:solidFill>
          <a:ln/>
        </p:spPr>
        <p:txBody>
          <a:bodyPr/>
          <a:lstStyle/>
          <a:p>
            <a:endParaRPr lang="en-US"/>
          </a:p>
        </p:txBody>
      </p:sp>
      <p:sp>
        <p:nvSpPr>
          <p:cNvPr id="18" name="Shape 14"/>
          <p:cNvSpPr/>
          <p:nvPr/>
        </p:nvSpPr>
        <p:spPr>
          <a:xfrm>
            <a:off x="1078992" y="5157216"/>
            <a:ext cx="566928" cy="566928"/>
          </a:xfrm>
          <a:prstGeom prst="ellipse">
            <a:avLst/>
          </a:prstGeom>
          <a:solidFill>
            <a:srgbClr val="C0392B"/>
          </a:solidFill>
          <a:ln/>
        </p:spPr>
        <p:txBody>
          <a:bodyPr/>
          <a:lstStyle/>
          <a:p>
            <a:endParaRPr lang="en-US"/>
          </a:p>
        </p:txBody>
      </p:sp>
      <p:pic>
        <p:nvPicPr>
          <p:cNvPr id="19" name="Image 2" descr="preencoded.png"/>
          <p:cNvPicPr>
            <a:picLocks noChangeAspect="1"/>
          </p:cNvPicPr>
          <p:nvPr/>
        </p:nvPicPr>
        <p:blipFill>
          <a:blip r:embed="rId4"/>
          <a:stretch>
            <a:fillRect/>
          </a:stretch>
        </p:blipFill>
        <p:spPr>
          <a:xfrm>
            <a:off x="1225296" y="5303520"/>
            <a:ext cx="274320" cy="274320"/>
          </a:xfrm>
          <a:prstGeom prst="rect">
            <a:avLst/>
          </a:prstGeom>
        </p:spPr>
      </p:pic>
      <p:sp>
        <p:nvSpPr>
          <p:cNvPr id="20" name="Text 15"/>
          <p:cNvSpPr/>
          <p:nvPr/>
        </p:nvSpPr>
        <p:spPr>
          <a:xfrm>
            <a:off x="1920240" y="5029200"/>
            <a:ext cx="2743200" cy="822960"/>
          </a:xfrm>
          <a:prstGeom prst="rect">
            <a:avLst/>
          </a:prstGeom>
          <a:noFill/>
          <a:ln/>
        </p:spPr>
        <p:txBody>
          <a:bodyPr wrap="square" lIns="0" tIns="0" rIns="0" bIns="0" rtlCol="0" anchor="ctr"/>
          <a:lstStyle/>
          <a:p>
            <a:pPr marL="0" indent="0">
              <a:buNone/>
            </a:pPr>
            <a:r>
              <a:rPr lang="en-US" sz="1550" b="1" dirty="0">
                <a:solidFill>
                  <a:srgbClr val="1A1A1A"/>
                </a:solidFill>
                <a:latin typeface="Calibri" pitchFamily="34" charset="0"/>
                <a:ea typeface="Calibri" pitchFamily="34" charset="-122"/>
                <a:cs typeface="Calibri" pitchFamily="34" charset="-120"/>
              </a:rPr>
              <a:t>Medical / Performance</a:t>
            </a:r>
            <a:endParaRPr lang="en-US" sz="1550" dirty="0"/>
          </a:p>
        </p:txBody>
      </p:sp>
      <p:sp>
        <p:nvSpPr>
          <p:cNvPr id="21" name="Text 16"/>
          <p:cNvSpPr/>
          <p:nvPr/>
        </p:nvSpPr>
        <p:spPr>
          <a:xfrm>
            <a:off x="4318000" y="4983480"/>
            <a:ext cx="6794500" cy="914400"/>
          </a:xfrm>
          <a:prstGeom prst="rect">
            <a:avLst/>
          </a:prstGeom>
          <a:noFill/>
          <a:ln/>
        </p:spPr>
        <p:txBody>
          <a:bodyPr wrap="square" lIns="0" tIns="0" rIns="0" bIns="0" rtlCol="0" anchor="ctr"/>
          <a:lstStyle/>
          <a:p>
            <a:pPr marL="0" indent="0">
              <a:buNone/>
            </a:pPr>
            <a:r>
              <a:rPr lang="en-US" sz="1400" dirty="0">
                <a:solidFill>
                  <a:srgbClr val="44506B"/>
                </a:solidFill>
                <a:latin typeface="Calibri" pitchFamily="34" charset="0"/>
                <a:ea typeface="Calibri" pitchFamily="34" charset="-122"/>
                <a:cs typeface="Calibri" pitchFamily="34" charset="-120"/>
              </a:rPr>
              <a:t>Keep workload monitoring regardless of position. The goalkeeper pattern is promising but not yet statistically confirmed.</a:t>
            </a:r>
            <a:endParaRPr lang="en-US" sz="1400" dirty="0">
              <a:solidFill>
                <a:srgbClr val="44506B"/>
              </a:solidFill>
            </a:endParaRPr>
          </a:p>
        </p:txBody>
      </p:sp>
      <p:sp>
        <p:nvSpPr>
          <p:cNvPr id="22" name="Text 17"/>
          <p:cNvSpPr/>
          <p:nvPr/>
        </p:nvSpPr>
        <p:spPr>
          <a:xfrm>
            <a:off x="11368735" y="6400800"/>
            <a:ext cx="548640" cy="274320"/>
          </a:xfrm>
          <a:prstGeom prst="rect">
            <a:avLst/>
          </a:prstGeom>
          <a:noFill/>
          <a:ln/>
        </p:spPr>
        <p:txBody>
          <a:bodyPr wrap="square" lIns="0" tIns="0" rIns="0" bIns="0" rtlCol="0" anchor="ctr"/>
          <a:lstStyle/>
          <a:p>
            <a:pPr marL="0" indent="0" algn="r">
              <a:buNone/>
            </a:pPr>
            <a:r>
              <a:rPr lang="en-US" sz="1200" dirty="0">
                <a:solidFill>
                  <a:srgbClr val="5A6478"/>
                </a:solidFill>
                <a:latin typeface="Calibri" pitchFamily="34" charset="0"/>
                <a:ea typeface="Calibri" pitchFamily="34" charset="-122"/>
                <a:cs typeface="Calibri" pitchFamily="34" charset="-120"/>
              </a:rPr>
              <a:t>13</a:t>
            </a:r>
            <a:endParaRPr lang="en-US" sz="1200" dirty="0">
              <a:solidFill>
                <a:srgbClr val="5A6478"/>
              </a:solidFill>
            </a:endParaRPr>
          </a:p>
        </p:txBody>
      </p:sp>
      <p:pic>
        <p:nvPicPr>
          <p:cNvPr id="23" name="Graphic 23" descr="Trophy icon"/>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162050" y="2406650"/>
            <a:ext cx="406400" cy="406400"/>
          </a:xfrm>
          <a:prstGeom prst="rect">
            <a:avLst/>
          </a:prstGeom>
        </p:spPr>
      </p:pic>
    </p:spTree>
    <p:extLst>
      <p:ext uri="{BB962C8B-B14F-4D97-AF65-F5344CB8AC3E}">
        <p14:creationId xmlns:p14="http://schemas.microsoft.com/office/powerpoint/2010/main" val="744709326"/>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50"/>
                                        <p:tgtEl>
                                          <p:spTgt spid="4"/>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50"/>
                                        <p:tgtEl>
                                          <p:spTgt spid="9"/>
                                        </p:tgtEl>
                                      </p:cBhvr>
                                    </p:animEffect>
                                  </p:childTnLst>
                                </p:cTn>
                              </p:par>
                              <p:par>
                                <p:cTn id="11" presetID="10"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450"/>
                                        <p:tgtEl>
                                          <p:spTgt spid="5"/>
                                        </p:tgtEl>
                                      </p:cBhvr>
                                    </p:animEffect>
                                  </p:childTnLst>
                                </p:cTn>
                              </p:par>
                              <p:par>
                                <p:cTn id="14" presetID="10" presetClass="entr" presetSubtype="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50"/>
                                        <p:tgtEl>
                                          <p:spTgt spid="8"/>
                                        </p:tgtEl>
                                      </p:cBhvr>
                                    </p:animEffect>
                                  </p:childTnLst>
                                </p:cTn>
                              </p:par>
                              <p:par>
                                <p:cTn id="17" presetID="10" presetClass="entr" presetSubtype="0" fill="hold" nodeType="with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450"/>
                                        <p:tgtEl>
                                          <p:spTgt spid="6"/>
                                        </p:tgtEl>
                                      </p:cBhvr>
                                    </p:animEffect>
                                  </p:childTnLst>
                                </p:cTn>
                              </p:par>
                            </p:childTnLst>
                          </p:cTn>
                        </p:par>
                      </p:childTnLst>
                    </p:cTn>
                  </p:par>
                  <p:par>
                    <p:cTn id="20" fill="hold">
                      <p:stCondLst>
                        <p:cond delay="250"/>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50"/>
                                        <p:tgtEl>
                                          <p:spTgt spid="10"/>
                                        </p:tgtEl>
                                      </p:cBhvr>
                                    </p:animEffect>
                                  </p:childTnLst>
                                </p:cTn>
                              </p:par>
                              <p:par>
                                <p:cTn id="25" presetID="10" presetClass="entr" presetSubtype="0" fill="hold" nodeType="with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fade">
                                      <p:cBhvr>
                                        <p:cTn id="27" dur="450"/>
                                        <p:tgtEl>
                                          <p:spTgt spid="15"/>
                                        </p:tgtEl>
                                      </p:cBhvr>
                                    </p:animEffect>
                                  </p:childTnLst>
                                </p:cTn>
                              </p:par>
                              <p:par>
                                <p:cTn id="28" presetID="10" presetClass="entr" presetSubtype="0" fill="hold" nodeType="with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450"/>
                                        <p:tgtEl>
                                          <p:spTgt spid="11"/>
                                        </p:tgtEl>
                                      </p:cBhvr>
                                    </p:animEffect>
                                  </p:childTnLst>
                                </p:cTn>
                              </p:par>
                              <p:par>
                                <p:cTn id="31" presetID="10" presetClass="entr" presetSubtype="0" fill="hold"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450"/>
                                        <p:tgtEl>
                                          <p:spTgt spid="14"/>
                                        </p:tgtEl>
                                      </p:cBhvr>
                                    </p:animEffect>
                                  </p:childTnLst>
                                </p:cTn>
                              </p:par>
                              <p:par>
                                <p:cTn id="34" presetID="10" presetClass="entr" presetSubtype="0" fill="hold" nodeType="withEffect">
                                  <p:stCondLst>
                                    <p:cond delay="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450"/>
                                        <p:tgtEl>
                                          <p:spTgt spid="12"/>
                                        </p:tgtEl>
                                      </p:cBhvr>
                                    </p:animEffect>
                                  </p:childTnLst>
                                </p:cTn>
                              </p:par>
                              <p:par>
                                <p:cTn id="37" presetID="10" presetClass="entr" presetSubtype="0" fill="hold"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50"/>
                                        <p:tgtEl>
                                          <p:spTgt spid="13"/>
                                        </p:tgtEl>
                                      </p:cBhvr>
                                    </p:animEffect>
                                  </p:childTnLst>
                                </p:cTn>
                              </p:par>
                            </p:childTnLst>
                          </p:cTn>
                        </p:par>
                      </p:childTnLst>
                    </p:cTn>
                  </p:par>
                  <p:par>
                    <p:cTn id="40" fill="hold">
                      <p:stCondLst>
                        <p:cond delay="250"/>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50"/>
                                        <p:tgtEl>
                                          <p:spTgt spid="16"/>
                                        </p:tgtEl>
                                      </p:cBhvr>
                                    </p:animEffect>
                                  </p:childTnLst>
                                </p:cTn>
                              </p:par>
                              <p:par>
                                <p:cTn id="45" presetID="10" presetClass="entr" presetSubtype="0" fill="hold" nodeType="withEffect">
                                  <p:stCondLst>
                                    <p:cond delay="0"/>
                                  </p:stCondLst>
                                  <p:childTnLst>
                                    <p:set>
                                      <p:cBhvr>
                                        <p:cTn id="46" dur="1" fill="hold">
                                          <p:stCondLst>
                                            <p:cond delay="0"/>
                                          </p:stCondLst>
                                        </p:cTn>
                                        <p:tgtEl>
                                          <p:spTgt spid="21"/>
                                        </p:tgtEl>
                                        <p:attrNameLst>
                                          <p:attrName>style.visibility</p:attrName>
                                        </p:attrNameLst>
                                      </p:cBhvr>
                                      <p:to>
                                        <p:strVal val="visible"/>
                                      </p:to>
                                    </p:set>
                                    <p:animEffect transition="in" filter="fade">
                                      <p:cBhvr>
                                        <p:cTn id="47" dur="450"/>
                                        <p:tgtEl>
                                          <p:spTgt spid="21"/>
                                        </p:tgtEl>
                                      </p:cBhvr>
                                    </p:animEffect>
                                  </p:childTnLst>
                                </p:cTn>
                              </p:par>
                              <p:par>
                                <p:cTn id="48" presetID="10" presetClass="entr" presetSubtype="0" fill="hold" nodeType="with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450"/>
                                        <p:tgtEl>
                                          <p:spTgt spid="17"/>
                                        </p:tgtEl>
                                      </p:cBhvr>
                                    </p:animEffect>
                                  </p:childTnLst>
                                </p:cTn>
                              </p:par>
                              <p:par>
                                <p:cTn id="51" presetID="10" presetClass="entr" presetSubtype="0" fill="hold" nodeType="withEffect">
                                  <p:stCondLst>
                                    <p:cond delay="0"/>
                                  </p:stCondLst>
                                  <p:childTnLst>
                                    <p:set>
                                      <p:cBhvr>
                                        <p:cTn id="52" dur="1" fill="hold">
                                          <p:stCondLst>
                                            <p:cond delay="0"/>
                                          </p:stCondLst>
                                        </p:cTn>
                                        <p:tgtEl>
                                          <p:spTgt spid="20"/>
                                        </p:tgtEl>
                                        <p:attrNameLst>
                                          <p:attrName>style.visibility</p:attrName>
                                        </p:attrNameLst>
                                      </p:cBhvr>
                                      <p:to>
                                        <p:strVal val="visible"/>
                                      </p:to>
                                    </p:set>
                                    <p:animEffect transition="in" filter="fade">
                                      <p:cBhvr>
                                        <p:cTn id="53" dur="450"/>
                                        <p:tgtEl>
                                          <p:spTgt spid="20"/>
                                        </p:tgtEl>
                                      </p:cBhvr>
                                    </p:animEffect>
                                  </p:childTnLst>
                                </p:cTn>
                              </p:par>
                              <p:par>
                                <p:cTn id="54" presetID="10" presetClass="entr" presetSubtype="0" fill="hold" nodeType="withEffect">
                                  <p:stCondLst>
                                    <p:cond delay="0"/>
                                  </p:stCondLst>
                                  <p:childTnLst>
                                    <p:set>
                                      <p:cBhvr>
                                        <p:cTn id="55" dur="1" fill="hold">
                                          <p:stCondLst>
                                            <p:cond delay="0"/>
                                          </p:stCondLst>
                                        </p:cTn>
                                        <p:tgtEl>
                                          <p:spTgt spid="18"/>
                                        </p:tgtEl>
                                        <p:attrNameLst>
                                          <p:attrName>style.visibility</p:attrName>
                                        </p:attrNameLst>
                                      </p:cBhvr>
                                      <p:to>
                                        <p:strVal val="visible"/>
                                      </p:to>
                                    </p:set>
                                    <p:animEffect transition="in" filter="fade">
                                      <p:cBhvr>
                                        <p:cTn id="56" dur="450"/>
                                        <p:tgtEl>
                                          <p:spTgt spid="18"/>
                                        </p:tgtEl>
                                      </p:cBhvr>
                                    </p:animEffect>
                                  </p:childTnLst>
                                </p:cTn>
                              </p:par>
                              <p:par>
                                <p:cTn id="57" presetID="10" presetClass="entr" presetSubtype="0" fill="hold" nodeType="withEffect">
                                  <p:stCondLst>
                                    <p:cond delay="0"/>
                                  </p:stCondLst>
                                  <p:childTnLst>
                                    <p:set>
                                      <p:cBhvr>
                                        <p:cTn id="58" dur="1" fill="hold">
                                          <p:stCondLst>
                                            <p:cond delay="0"/>
                                          </p:stCondLst>
                                        </p:cTn>
                                        <p:tgtEl>
                                          <p:spTgt spid="19"/>
                                        </p:tgtEl>
                                        <p:attrNameLst>
                                          <p:attrName>style.visibility</p:attrName>
                                        </p:attrNameLst>
                                      </p:cBhvr>
                                      <p:to>
                                        <p:strVal val="visible"/>
                                      </p:to>
                                    </p:set>
                                    <p:animEffect transition="in" filter="fade">
                                      <p:cBhvr>
                                        <p:cTn id="59" dur="45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4">
    <p:bg>
      <p:bgPr>
        <a:solidFill>
          <a:srgbClr val="0F1B3D"/>
        </a:solidFill>
        <a:effectLst/>
      </p:bgPr>
    </p:bg>
    <p:spTree>
      <p:nvGrpSpPr>
        <p:cNvPr id="1" name=""/>
        <p:cNvGrpSpPr/>
        <p:nvPr/>
      </p:nvGrpSpPr>
      <p:grpSpPr>
        <a:xfrm>
          <a:off x="0" y="0"/>
          <a:ext cx="0" cy="0"/>
          <a:chOff x="0" y="0"/>
          <a:chExt cx="0" cy="0"/>
        </a:xfrm>
      </p:grpSpPr>
      <p:sp>
        <p:nvSpPr>
          <p:cNvPr id="900" name="Pitch 900"/>
          <p:cNvSpPr/>
          <p:nvPr/>
        </p:nvSpPr>
        <p:spPr>
          <a:xfrm>
            <a:off x="762000" y="762000"/>
            <a:ext cx="10668000" cy="5334000"/>
          </a:xfrm>
          <a:prstGeom prst="rect">
            <a:avLst/>
          </a:prstGeom>
          <a:noFill/>
          <a:ln w="15875">
            <a:solidFill>
              <a:srgbClr val="1A2A4E"/>
            </a:solidFill>
          </a:ln>
        </p:spPr>
        <p:txBody>
          <a:bodyPr/>
          <a:lstStyle/>
          <a:p>
            <a:endParaRPr/>
          </a:p>
        </p:txBody>
      </p:sp>
      <p:sp>
        <p:nvSpPr>
          <p:cNvPr id="901" name="Pitch 901"/>
          <p:cNvSpPr/>
          <p:nvPr/>
        </p:nvSpPr>
        <p:spPr>
          <a:xfrm>
            <a:off x="6096000" y="762000"/>
            <a:ext cx="0" cy="5334000"/>
          </a:xfrm>
          <a:prstGeom prst="line">
            <a:avLst/>
          </a:prstGeom>
          <a:noFill/>
          <a:ln w="15875">
            <a:solidFill>
              <a:srgbClr val="1A2A4E"/>
            </a:solidFill>
          </a:ln>
        </p:spPr>
        <p:txBody>
          <a:bodyPr/>
          <a:lstStyle/>
          <a:p>
            <a:endParaRPr/>
          </a:p>
        </p:txBody>
      </p:sp>
      <p:sp>
        <p:nvSpPr>
          <p:cNvPr id="902" name="Pitch 902"/>
          <p:cNvSpPr/>
          <p:nvPr/>
        </p:nvSpPr>
        <p:spPr>
          <a:xfrm>
            <a:off x="5207000" y="2540000"/>
            <a:ext cx="1778000" cy="1778000"/>
          </a:xfrm>
          <a:prstGeom prst="ellipse">
            <a:avLst/>
          </a:prstGeom>
          <a:noFill/>
          <a:ln w="15875">
            <a:solidFill>
              <a:srgbClr val="1A2A4E"/>
            </a:solidFill>
          </a:ln>
        </p:spPr>
        <p:txBody>
          <a:bodyPr/>
          <a:lstStyle/>
          <a:p>
            <a:endParaRPr/>
          </a:p>
        </p:txBody>
      </p:sp>
      <p:sp>
        <p:nvSpPr>
          <p:cNvPr id="903" name="Pitch 903"/>
          <p:cNvSpPr/>
          <p:nvPr/>
        </p:nvSpPr>
        <p:spPr>
          <a:xfrm>
            <a:off x="6045200" y="3378200"/>
            <a:ext cx="101600" cy="101600"/>
          </a:xfrm>
          <a:prstGeom prst="ellipse">
            <a:avLst/>
          </a:prstGeom>
          <a:solidFill>
            <a:srgbClr val="1A2A4E"/>
          </a:solidFill>
          <a:ln w="12700">
            <a:solidFill>
              <a:srgbClr val="1A2A4E"/>
            </a:solidFill>
          </a:ln>
        </p:spPr>
        <p:txBody>
          <a:bodyPr/>
          <a:lstStyle/>
          <a:p>
            <a:endParaRPr/>
          </a:p>
        </p:txBody>
      </p:sp>
      <p:sp>
        <p:nvSpPr>
          <p:cNvPr id="904" name="Pitch 904"/>
          <p:cNvSpPr/>
          <p:nvPr/>
        </p:nvSpPr>
        <p:spPr>
          <a:xfrm>
            <a:off x="762000" y="1905000"/>
            <a:ext cx="1524000" cy="3048000"/>
          </a:xfrm>
          <a:prstGeom prst="rect">
            <a:avLst/>
          </a:prstGeom>
          <a:noFill/>
          <a:ln w="15875">
            <a:solidFill>
              <a:srgbClr val="1A2A4E"/>
            </a:solidFill>
          </a:ln>
        </p:spPr>
        <p:txBody>
          <a:bodyPr/>
          <a:lstStyle/>
          <a:p>
            <a:endParaRPr/>
          </a:p>
        </p:txBody>
      </p:sp>
      <p:sp>
        <p:nvSpPr>
          <p:cNvPr id="905" name="Pitch 905"/>
          <p:cNvSpPr/>
          <p:nvPr/>
        </p:nvSpPr>
        <p:spPr>
          <a:xfrm>
            <a:off x="762000" y="2667000"/>
            <a:ext cx="660400" cy="1524000"/>
          </a:xfrm>
          <a:prstGeom prst="rect">
            <a:avLst/>
          </a:prstGeom>
          <a:noFill/>
          <a:ln w="15875">
            <a:solidFill>
              <a:srgbClr val="1A2A4E"/>
            </a:solidFill>
          </a:ln>
        </p:spPr>
        <p:txBody>
          <a:bodyPr/>
          <a:lstStyle/>
          <a:p>
            <a:endParaRPr/>
          </a:p>
        </p:txBody>
      </p:sp>
      <p:sp>
        <p:nvSpPr>
          <p:cNvPr id="906" name="Pitch 906"/>
          <p:cNvSpPr/>
          <p:nvPr/>
        </p:nvSpPr>
        <p:spPr>
          <a:xfrm>
            <a:off x="9906000" y="1905000"/>
            <a:ext cx="1524000" cy="3048000"/>
          </a:xfrm>
          <a:prstGeom prst="rect">
            <a:avLst/>
          </a:prstGeom>
          <a:noFill/>
          <a:ln w="15875">
            <a:solidFill>
              <a:srgbClr val="1A2A4E"/>
            </a:solidFill>
          </a:ln>
        </p:spPr>
        <p:txBody>
          <a:bodyPr/>
          <a:lstStyle/>
          <a:p>
            <a:endParaRPr/>
          </a:p>
        </p:txBody>
      </p:sp>
      <p:sp>
        <p:nvSpPr>
          <p:cNvPr id="907" name="Pitch 907"/>
          <p:cNvSpPr/>
          <p:nvPr/>
        </p:nvSpPr>
        <p:spPr>
          <a:xfrm>
            <a:off x="10769600" y="2667000"/>
            <a:ext cx="660400" cy="1524000"/>
          </a:xfrm>
          <a:prstGeom prst="rect">
            <a:avLst/>
          </a:prstGeom>
          <a:noFill/>
          <a:ln w="15875">
            <a:solidFill>
              <a:srgbClr val="1A2A4E"/>
            </a:solidFill>
          </a:ln>
        </p:spPr>
        <p:txBody>
          <a:bodyPr/>
          <a:lstStyle/>
          <a:p>
            <a:endParaRPr/>
          </a:p>
        </p:txBody>
      </p:sp>
      <p:sp>
        <p:nvSpPr>
          <p:cNvPr id="2" name="Shape 0"/>
          <p:cNvSpPr/>
          <p:nvPr/>
        </p:nvSpPr>
        <p:spPr>
          <a:xfrm>
            <a:off x="-365760" y="-365760"/>
            <a:ext cx="731520" cy="731520"/>
          </a:xfrm>
          <a:prstGeom prst="ellipse">
            <a:avLst/>
          </a:prstGeom>
          <a:ln w="19050">
            <a:solidFill>
              <a:srgbClr val="1F7A4D">
                <a:alpha val="45000"/>
              </a:srgbClr>
            </a:solidFill>
            <a:prstDash val="solid"/>
          </a:ln>
        </p:spPr>
        <p:txBody>
          <a:bodyPr/>
          <a:lstStyle/>
          <a:p>
            <a:endParaRPr lang="en-US"/>
          </a:p>
        </p:txBody>
      </p:sp>
      <p:sp>
        <p:nvSpPr>
          <p:cNvPr id="3" name="Shape 1"/>
          <p:cNvSpPr/>
          <p:nvPr/>
        </p:nvSpPr>
        <p:spPr>
          <a:xfrm>
            <a:off x="11825935" y="-365760"/>
            <a:ext cx="731520" cy="731520"/>
          </a:xfrm>
          <a:prstGeom prst="ellipse">
            <a:avLst/>
          </a:prstGeom>
          <a:ln w="19050">
            <a:solidFill>
              <a:srgbClr val="1F7A4D">
                <a:alpha val="45000"/>
              </a:srgbClr>
            </a:solidFill>
            <a:prstDash val="solid"/>
          </a:ln>
        </p:spPr>
        <p:txBody>
          <a:bodyPr/>
          <a:lstStyle/>
          <a:p>
            <a:endParaRPr lang="en-US"/>
          </a:p>
        </p:txBody>
      </p:sp>
      <p:sp>
        <p:nvSpPr>
          <p:cNvPr id="4" name="Shape 2"/>
          <p:cNvSpPr/>
          <p:nvPr/>
        </p:nvSpPr>
        <p:spPr>
          <a:xfrm>
            <a:off x="-365760" y="6492240"/>
            <a:ext cx="731520" cy="731520"/>
          </a:xfrm>
          <a:prstGeom prst="ellipse">
            <a:avLst/>
          </a:prstGeom>
          <a:ln w="19050">
            <a:solidFill>
              <a:srgbClr val="1F7A4D">
                <a:alpha val="45000"/>
              </a:srgbClr>
            </a:solidFill>
            <a:prstDash val="solid"/>
          </a:ln>
        </p:spPr>
        <p:txBody>
          <a:bodyPr/>
          <a:lstStyle/>
          <a:p>
            <a:endParaRPr lang="en-US"/>
          </a:p>
        </p:txBody>
      </p:sp>
      <p:sp>
        <p:nvSpPr>
          <p:cNvPr id="5" name="Shape 3"/>
          <p:cNvSpPr/>
          <p:nvPr/>
        </p:nvSpPr>
        <p:spPr>
          <a:xfrm>
            <a:off x="11825935" y="6492240"/>
            <a:ext cx="731520" cy="731520"/>
          </a:xfrm>
          <a:prstGeom prst="ellipse">
            <a:avLst/>
          </a:prstGeom>
          <a:ln w="19050">
            <a:solidFill>
              <a:srgbClr val="1F7A4D">
                <a:alpha val="45000"/>
              </a:srgbClr>
            </a:solidFill>
            <a:prstDash val="solid"/>
          </a:ln>
        </p:spPr>
        <p:txBody>
          <a:bodyPr/>
          <a:lstStyle/>
          <a:p>
            <a:endParaRPr lang="en-US"/>
          </a:p>
        </p:txBody>
      </p:sp>
      <p:sp>
        <p:nvSpPr>
          <p:cNvPr id="6" name="Shape 4"/>
          <p:cNvSpPr/>
          <p:nvPr/>
        </p:nvSpPr>
        <p:spPr>
          <a:xfrm>
            <a:off x="-3291840" y="-3291840"/>
            <a:ext cx="4754880" cy="4754880"/>
          </a:xfrm>
          <a:prstGeom prst="ellipse">
            <a:avLst/>
          </a:prstGeom>
          <a:solidFill>
            <a:srgbClr val="1F7A4D">
              <a:alpha val="5000"/>
            </a:srgbClr>
          </a:solidFill>
          <a:ln w="25400">
            <a:solidFill>
              <a:srgbClr val="1F7A4D">
                <a:alpha val="38000"/>
              </a:srgbClr>
            </a:solidFill>
            <a:prstDash val="solid"/>
          </a:ln>
        </p:spPr>
        <p:txBody>
          <a:bodyPr/>
          <a:lstStyle/>
          <a:p>
            <a:endParaRPr lang="en-US"/>
          </a:p>
        </p:txBody>
      </p:sp>
      <p:sp>
        <p:nvSpPr>
          <p:cNvPr id="7" name="Shape 5"/>
          <p:cNvSpPr/>
          <p:nvPr/>
        </p:nvSpPr>
        <p:spPr>
          <a:xfrm>
            <a:off x="-960120" y="-960120"/>
            <a:ext cx="91440" cy="91440"/>
          </a:xfrm>
          <a:prstGeom prst="ellipse">
            <a:avLst/>
          </a:prstGeom>
          <a:solidFill>
            <a:srgbClr val="E8A33D">
              <a:alpha val="75000"/>
            </a:srgbClr>
          </a:solidFill>
          <a:ln/>
        </p:spPr>
        <p:txBody>
          <a:bodyPr/>
          <a:lstStyle/>
          <a:p>
            <a:endParaRPr lang="en-US"/>
          </a:p>
        </p:txBody>
      </p:sp>
      <p:sp>
        <p:nvSpPr>
          <p:cNvPr id="8" name="Shape 6"/>
          <p:cNvSpPr/>
          <p:nvPr/>
        </p:nvSpPr>
        <p:spPr>
          <a:xfrm>
            <a:off x="9784080" y="4480560"/>
            <a:ext cx="6583680" cy="6583680"/>
          </a:xfrm>
          <a:prstGeom prst="ellipse">
            <a:avLst/>
          </a:prstGeom>
          <a:solidFill>
            <a:srgbClr val="1F7A4D">
              <a:alpha val="5000"/>
            </a:srgbClr>
          </a:solidFill>
          <a:ln w="25400">
            <a:solidFill>
              <a:srgbClr val="1F7A4D">
                <a:alpha val="38000"/>
              </a:srgbClr>
            </a:solidFill>
            <a:prstDash val="solid"/>
          </a:ln>
        </p:spPr>
        <p:txBody>
          <a:bodyPr/>
          <a:lstStyle/>
          <a:p>
            <a:endParaRPr lang="en-US"/>
          </a:p>
        </p:txBody>
      </p:sp>
      <p:sp>
        <p:nvSpPr>
          <p:cNvPr id="9" name="Shape 7"/>
          <p:cNvSpPr/>
          <p:nvPr/>
        </p:nvSpPr>
        <p:spPr>
          <a:xfrm>
            <a:off x="13030200" y="7726680"/>
            <a:ext cx="91440" cy="91440"/>
          </a:xfrm>
          <a:prstGeom prst="ellipse">
            <a:avLst/>
          </a:prstGeom>
          <a:solidFill>
            <a:srgbClr val="E8A33D">
              <a:alpha val="75000"/>
            </a:srgbClr>
          </a:solidFill>
          <a:ln/>
        </p:spPr>
        <p:txBody>
          <a:bodyPr/>
          <a:lstStyle/>
          <a:p>
            <a:endParaRPr lang="en-US"/>
          </a:p>
        </p:txBody>
      </p:sp>
      <p:sp>
        <p:nvSpPr>
          <p:cNvPr id="10" name="Text 8"/>
          <p:cNvSpPr/>
          <p:nvPr/>
        </p:nvSpPr>
        <p:spPr>
          <a:xfrm>
            <a:off x="822960" y="2286000"/>
            <a:ext cx="8229600" cy="1097280"/>
          </a:xfrm>
          <a:prstGeom prst="rect">
            <a:avLst/>
          </a:prstGeom>
          <a:noFill/>
          <a:ln/>
        </p:spPr>
        <p:txBody>
          <a:bodyPr wrap="square" lIns="0" tIns="0" rIns="0" bIns="0" rtlCol="0" anchor="ctr"/>
          <a:lstStyle/>
          <a:p>
            <a:pPr marL="0" indent="0">
              <a:buNone/>
            </a:pPr>
            <a:r>
              <a:rPr lang="en-US" sz="4800" b="1" dirty="0">
                <a:solidFill>
                  <a:srgbClr val="FFFFFF"/>
                </a:solidFill>
                <a:latin typeface="Cambria" pitchFamily="34" charset="0"/>
                <a:ea typeface="Cambria" pitchFamily="34" charset="-122"/>
                <a:cs typeface="Cambria" pitchFamily="34" charset="-120"/>
              </a:rPr>
              <a:t>Thank you.</a:t>
            </a:r>
            <a:endParaRPr lang="en-US" sz="4800" dirty="0"/>
          </a:p>
        </p:txBody>
      </p:sp>
      <p:sp>
        <p:nvSpPr>
          <p:cNvPr id="11" name="Text 9"/>
          <p:cNvSpPr/>
          <p:nvPr/>
        </p:nvSpPr>
        <p:spPr>
          <a:xfrm>
            <a:off x="822960" y="3246120"/>
            <a:ext cx="8229600" cy="548640"/>
          </a:xfrm>
          <a:prstGeom prst="rect">
            <a:avLst/>
          </a:prstGeom>
          <a:noFill/>
          <a:ln/>
        </p:spPr>
        <p:txBody>
          <a:bodyPr wrap="square" lIns="0" tIns="0" rIns="0" bIns="0" rtlCol="0" anchor="ctr"/>
          <a:lstStyle/>
          <a:p>
            <a:pPr marL="0" indent="0">
              <a:buNone/>
            </a:pPr>
            <a:r>
              <a:rPr lang="en-US" sz="1600" dirty="0">
                <a:solidFill>
                  <a:srgbClr val="CADCFC"/>
                </a:solidFill>
                <a:latin typeface="Calibri" pitchFamily="34" charset="0"/>
                <a:ea typeface="Calibri" pitchFamily="34" charset="-122"/>
                <a:cs typeface="Calibri" pitchFamily="34" charset="-120"/>
              </a:rPr>
              <a:t>Questions welcome. Let's dig into the dashboards.</a:t>
            </a:r>
            <a:endParaRPr lang="en-US" sz="1600" dirty="0"/>
          </a:p>
        </p:txBody>
      </p:sp>
      <p:pic>
        <p:nvPicPr>
          <p:cNvPr id="12" name="Image 0" descr="preencoded.png"/>
          <p:cNvPicPr>
            <a:picLocks noChangeAspect="1"/>
          </p:cNvPicPr>
          <p:nvPr/>
        </p:nvPicPr>
        <p:blipFill>
          <a:blip r:embed="rId3"/>
          <a:stretch>
            <a:fillRect/>
          </a:stretch>
        </p:blipFill>
        <p:spPr>
          <a:xfrm>
            <a:off x="822960" y="4206240"/>
            <a:ext cx="292608" cy="292608"/>
          </a:xfrm>
          <a:prstGeom prst="rect">
            <a:avLst/>
          </a:prstGeom>
        </p:spPr>
      </p:pic>
      <p:sp>
        <p:nvSpPr>
          <p:cNvPr id="13" name="Text 10">
            <a:hlinkClick r:id="rId4"/>
          </p:cNvPr>
          <p:cNvSpPr/>
          <p:nvPr/>
        </p:nvSpPr>
        <p:spPr>
          <a:xfrm>
            <a:off x="1234440" y="4206240"/>
            <a:ext cx="7772400" cy="292608"/>
          </a:xfrm>
          <a:prstGeom prst="rect">
            <a:avLst/>
          </a:prstGeom>
          <a:noFill/>
          <a:ln/>
        </p:spPr>
        <p:txBody>
          <a:bodyPr wrap="square" lIns="0" tIns="0" rIns="0" bIns="0" rtlCol="0" anchor="ctr"/>
          <a:lstStyle/>
          <a:p>
            <a:pPr marL="0" indent="0">
              <a:buNone/>
            </a:pPr>
            <a:r>
              <a:rPr lang="en-US" sz="1300" u="sng" dirty="0">
                <a:solidFill>
                  <a:srgbClr val="E8A33D"/>
                </a:solidFill>
                <a:latin typeface="Calibri" pitchFamily="34" charset="0"/>
                <a:ea typeface="Calibri" pitchFamily="34" charset="-122"/>
                <a:cs typeface="Calibri" pitchFamily="34" charset="-120"/>
                <a:hlinkClick r:id="rId4">
                  <a:extLst>
                    <a:ext uri="{A12FA001-AC4F-418D-AE19-62706E023703}">
                      <ahyp:hlinkClr xmlns:ahyp="http://schemas.microsoft.com/office/drawing/2018/hyperlinkcolor" val="tx"/>
                    </a:ext>
                  </a:extLst>
                </a:hlinkClick>
              </a:rPr>
              <a:t>github.com/Simba90m/capstone_project_worth_the_investment_PL</a:t>
            </a:r>
            <a:endParaRPr lang="en-US" sz="1300" dirty="0"/>
          </a:p>
        </p:txBody>
      </p:sp>
      <p:sp>
        <p:nvSpPr>
          <p:cNvPr id="14" name="Text 11"/>
          <p:cNvSpPr/>
          <p:nvPr/>
        </p:nvSpPr>
        <p:spPr>
          <a:xfrm>
            <a:off x="11368735" y="6400800"/>
            <a:ext cx="548640" cy="274320"/>
          </a:xfrm>
          <a:prstGeom prst="rect">
            <a:avLst/>
          </a:prstGeom>
          <a:noFill/>
          <a:ln/>
        </p:spPr>
        <p:txBody>
          <a:bodyPr wrap="square" lIns="0" tIns="0" rIns="0" bIns="0" rtlCol="0" anchor="ctr"/>
          <a:lstStyle/>
          <a:p>
            <a:pPr marL="0" indent="0" algn="r">
              <a:buNone/>
            </a:pPr>
            <a:r>
              <a:rPr lang="en-US" sz="1200" dirty="0">
                <a:solidFill>
                  <a:srgbClr val="A8B4D0"/>
                </a:solidFill>
                <a:latin typeface="Calibri" pitchFamily="34" charset="0"/>
                <a:ea typeface="Calibri" pitchFamily="34" charset="-122"/>
                <a:cs typeface="Calibri" pitchFamily="34" charset="-120"/>
              </a:rPr>
              <a:t>14</a:t>
            </a:r>
            <a:endParaRPr lang="en-US" sz="1200" dirty="0">
              <a:solidFill>
                <a:srgbClr val="A8B4D0"/>
              </a:solidFill>
            </a:endParaRPr>
          </a:p>
        </p:txBody>
      </p:sp>
      <p:pic>
        <p:nvPicPr>
          <p:cNvPr id="908" name="Graphic 908" descr="Soccer ball on the penalty spot"/>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452100" y="3238500"/>
            <a:ext cx="381000" cy="381000"/>
          </a:xfrm>
          <a:prstGeom prst="rect">
            <a:avLst/>
          </a:prstGeom>
        </p:spPr>
      </p:pic>
    </p:spTree>
    <p:extLst>
      <p:ext uri="{BB962C8B-B14F-4D97-AF65-F5344CB8AC3E}">
        <p14:creationId xmlns:p14="http://schemas.microsoft.com/office/powerpoint/2010/main" val="2116259954"/>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childTnLst>
                          </p:cTn>
                        </p:par>
                      </p:childTnLst>
                    </p:cTn>
                  </p:par>
                  <p:par>
                    <p:cTn id="8" fill="hold">
                      <p:stCondLst>
                        <p:cond delay="300"/>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500"/>
                                        <p:tgtEl>
                                          <p:spTgt spid="12"/>
                                        </p:tgtEl>
                                      </p:cBhvr>
                                    </p:animEffect>
                                  </p:childTnLst>
                                </p:cTn>
                              </p:par>
                              <p:par>
                                <p:cTn id="13" presetID="10" presetClass="entr" presetSubtype="0" fill="hold" nodeType="withEffect">
                                  <p:stCondLst>
                                    <p:cond delay="0"/>
                                  </p:stCondLst>
                                  <p:childTnLst>
                                    <p:set>
                                      <p:cBhvr>
                                        <p:cTn id="14" dur="1" fill="hold">
                                          <p:stCondLst>
                                            <p:cond delay="0"/>
                                          </p:stCondLst>
                                        </p:cTn>
                                        <p:tgtEl>
                                          <p:spTgt spid="13"/>
                                        </p:tgtEl>
                                        <p:attrNameLst>
                                          <p:attrName>style.visibility</p:attrName>
                                        </p:attrNameLst>
                                      </p:cBhvr>
                                      <p:to>
                                        <p:strVal val="visible"/>
                                      </p:to>
                                    </p:set>
                                    <p:animEffect transition="in" filter="fade">
                                      <p:cBhvr>
                                        <p:cTn id="15"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3">
    <p:bg>
      <p:bgPr>
        <a:solidFill>
          <a:srgbClr val="F7F8FA"/>
        </a:solidFill>
        <a:effectLst/>
      </p:bgPr>
    </p:bg>
    <p:spTree>
      <p:nvGrpSpPr>
        <p:cNvPr id="1" name=""/>
        <p:cNvGrpSpPr/>
        <p:nvPr/>
      </p:nvGrpSpPr>
      <p:grpSpPr>
        <a:xfrm>
          <a:off x="0" y="0"/>
          <a:ext cx="0" cy="0"/>
          <a:chOff x="0" y="0"/>
          <a:chExt cx="0" cy="0"/>
        </a:xfrm>
      </p:grpSpPr>
      <p:sp>
        <p:nvSpPr>
          <p:cNvPr id="2" name="Text 0"/>
          <p:cNvSpPr/>
          <p:nvPr/>
        </p:nvSpPr>
        <p:spPr>
          <a:xfrm>
            <a:off x="822960" y="594360"/>
            <a:ext cx="5486400" cy="320040"/>
          </a:xfrm>
          <a:prstGeom prst="rect">
            <a:avLst/>
          </a:prstGeom>
          <a:noFill/>
          <a:ln/>
        </p:spPr>
        <p:txBody>
          <a:bodyPr wrap="square" lIns="0" tIns="0" rIns="0" bIns="0" rtlCol="0" anchor="ctr"/>
          <a:lstStyle/>
          <a:p>
            <a:pPr marL="0" indent="0">
              <a:buNone/>
            </a:pPr>
            <a:r>
              <a:rPr lang="en-US" sz="1400" b="1" kern="0" spc="200" dirty="0">
                <a:solidFill>
                  <a:srgbClr val="1F7A4D"/>
                </a:solidFill>
                <a:latin typeface="Calibri" pitchFamily="34" charset="0"/>
                <a:ea typeface="Calibri" pitchFamily="34" charset="-122"/>
                <a:cs typeface="Calibri" pitchFamily="34" charset="-120"/>
              </a:rPr>
              <a:t>ROADMAP</a:t>
            </a:r>
            <a:endParaRPr lang="en-US" sz="1400" dirty="0"/>
          </a:p>
        </p:txBody>
      </p:sp>
      <p:sp>
        <p:nvSpPr>
          <p:cNvPr id="3" name="Text 1"/>
          <p:cNvSpPr/>
          <p:nvPr/>
        </p:nvSpPr>
        <p:spPr>
          <a:xfrm>
            <a:off x="777240" y="896112"/>
            <a:ext cx="7315200" cy="731520"/>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Where we are</a:t>
            </a:r>
            <a:endParaRPr lang="en-US" sz="3200" dirty="0"/>
          </a:p>
        </p:txBody>
      </p:sp>
      <p:pic>
        <p:nvPicPr>
          <p:cNvPr id="4" name="Image 0" descr="preencoded.png"/>
          <p:cNvPicPr>
            <a:picLocks noChangeAspect="1"/>
          </p:cNvPicPr>
          <p:nvPr/>
        </p:nvPicPr>
        <p:blipFill>
          <a:blip r:embed="rId3"/>
          <a:stretch>
            <a:fillRect/>
          </a:stretch>
        </p:blipFill>
        <p:spPr>
          <a:xfrm>
            <a:off x="822960" y="1917700"/>
            <a:ext cx="310896" cy="310896"/>
          </a:xfrm>
          <a:prstGeom prst="rect">
            <a:avLst/>
          </a:prstGeom>
        </p:spPr>
      </p:pic>
      <p:sp>
        <p:nvSpPr>
          <p:cNvPr id="5" name="Text 2"/>
          <p:cNvSpPr/>
          <p:nvPr/>
        </p:nvSpPr>
        <p:spPr>
          <a:xfrm>
            <a:off x="1298448" y="1905000"/>
            <a:ext cx="6035040" cy="365760"/>
          </a:xfrm>
          <a:prstGeom prst="rect">
            <a:avLst/>
          </a:prstGeom>
          <a:noFill/>
          <a:ln/>
        </p:spPr>
        <p:txBody>
          <a:bodyPr wrap="square" lIns="0" tIns="0" rIns="0" bIns="0" rtlCol="0" anchor="ctr"/>
          <a:lstStyle/>
          <a:p>
            <a:pPr marL="0" indent="0">
              <a:buNone/>
            </a:pPr>
            <a:r>
              <a:rPr lang="en-US" sz="1300" dirty="0">
                <a:solidFill>
                  <a:srgbClr val="1A1A1A"/>
                </a:solidFill>
                <a:latin typeface="Calibri" pitchFamily="34" charset="0"/>
                <a:ea typeface="Calibri" pitchFamily="34" charset="-122"/>
                <a:cs typeface="Calibri" pitchFamily="34" charset="-120"/>
              </a:rPr>
              <a:t>Business question with background &amp; impact</a:t>
            </a:r>
            <a:endParaRPr lang="en-US" sz="1300" dirty="0"/>
          </a:p>
        </p:txBody>
      </p:sp>
      <p:pic>
        <p:nvPicPr>
          <p:cNvPr id="6" name="Image 1" descr="preencoded.png"/>
          <p:cNvPicPr>
            <a:picLocks noChangeAspect="1"/>
          </p:cNvPicPr>
          <p:nvPr/>
        </p:nvPicPr>
        <p:blipFill>
          <a:blip r:embed="rId3"/>
          <a:stretch>
            <a:fillRect/>
          </a:stretch>
        </p:blipFill>
        <p:spPr>
          <a:xfrm>
            <a:off x="822960" y="2679700"/>
            <a:ext cx="310896" cy="310896"/>
          </a:xfrm>
          <a:prstGeom prst="rect">
            <a:avLst/>
          </a:prstGeom>
        </p:spPr>
      </p:pic>
      <p:sp>
        <p:nvSpPr>
          <p:cNvPr id="7" name="Text 3"/>
          <p:cNvSpPr/>
          <p:nvPr/>
        </p:nvSpPr>
        <p:spPr>
          <a:xfrm>
            <a:off x="1298448" y="2667000"/>
            <a:ext cx="6035040" cy="365760"/>
          </a:xfrm>
          <a:prstGeom prst="rect">
            <a:avLst/>
          </a:prstGeom>
          <a:noFill/>
          <a:ln/>
        </p:spPr>
        <p:txBody>
          <a:bodyPr wrap="square" lIns="0" tIns="0" rIns="0" bIns="0" rtlCol="0" anchor="ctr"/>
          <a:lstStyle/>
          <a:p>
            <a:pPr marL="0" indent="0">
              <a:buNone/>
            </a:pPr>
            <a:r>
              <a:rPr lang="en-US" sz="1300" dirty="0">
                <a:solidFill>
                  <a:srgbClr val="1A1A1A"/>
                </a:solidFill>
                <a:latin typeface="Calibri" pitchFamily="34" charset="0"/>
                <a:ea typeface="Calibri" pitchFamily="34" charset="-122"/>
                <a:cs typeface="Calibri" pitchFamily="34" charset="-120"/>
              </a:rPr>
              <a:t>Technical analysis in Python + SQL + Tableau</a:t>
            </a:r>
            <a:endParaRPr lang="en-US" sz="1300" dirty="0"/>
          </a:p>
        </p:txBody>
      </p:sp>
      <p:pic>
        <p:nvPicPr>
          <p:cNvPr id="8" name="Image 2" descr="preencoded.png"/>
          <p:cNvPicPr>
            <a:picLocks noChangeAspect="1"/>
          </p:cNvPicPr>
          <p:nvPr/>
        </p:nvPicPr>
        <p:blipFill>
          <a:blip r:embed="rId3"/>
          <a:stretch>
            <a:fillRect/>
          </a:stretch>
        </p:blipFill>
        <p:spPr>
          <a:xfrm>
            <a:off x="822960" y="3441700"/>
            <a:ext cx="310896" cy="310896"/>
          </a:xfrm>
          <a:prstGeom prst="rect">
            <a:avLst/>
          </a:prstGeom>
        </p:spPr>
      </p:pic>
      <p:sp>
        <p:nvSpPr>
          <p:cNvPr id="9" name="Text 4"/>
          <p:cNvSpPr/>
          <p:nvPr/>
        </p:nvSpPr>
        <p:spPr>
          <a:xfrm>
            <a:off x="1298448" y="3429000"/>
            <a:ext cx="6035040" cy="365760"/>
          </a:xfrm>
          <a:prstGeom prst="rect">
            <a:avLst/>
          </a:prstGeom>
          <a:noFill/>
          <a:ln/>
        </p:spPr>
        <p:txBody>
          <a:bodyPr wrap="square" lIns="0" tIns="0" rIns="0" bIns="0" rtlCol="0" anchor="ctr"/>
          <a:lstStyle/>
          <a:p>
            <a:pPr marL="0" indent="0">
              <a:buNone/>
            </a:pPr>
            <a:r>
              <a:rPr lang="en-US" sz="1300" dirty="0">
                <a:solidFill>
                  <a:srgbClr val="1A1A1A"/>
                </a:solidFill>
                <a:latin typeface="Calibri" pitchFamily="34" charset="0"/>
                <a:ea typeface="Calibri" pitchFamily="34" charset="-122"/>
                <a:cs typeface="Calibri" pitchFamily="34" charset="-120"/>
              </a:rPr>
              <a:t>Work stored in a GitHub repository</a:t>
            </a:r>
            <a:endParaRPr lang="en-US" sz="1300" dirty="0"/>
          </a:p>
        </p:txBody>
      </p:sp>
      <p:pic>
        <p:nvPicPr>
          <p:cNvPr id="10" name="Image 3" descr="preencoded.png"/>
          <p:cNvPicPr>
            <a:picLocks noChangeAspect="1"/>
          </p:cNvPicPr>
          <p:nvPr/>
        </p:nvPicPr>
        <p:blipFill>
          <a:blip r:embed="rId3"/>
          <a:stretch>
            <a:fillRect/>
          </a:stretch>
        </p:blipFill>
        <p:spPr>
          <a:xfrm>
            <a:off x="822960" y="4203700"/>
            <a:ext cx="310896" cy="310896"/>
          </a:xfrm>
          <a:prstGeom prst="rect">
            <a:avLst/>
          </a:prstGeom>
        </p:spPr>
      </p:pic>
      <p:sp>
        <p:nvSpPr>
          <p:cNvPr id="11" name="Text 5"/>
          <p:cNvSpPr/>
          <p:nvPr/>
        </p:nvSpPr>
        <p:spPr>
          <a:xfrm>
            <a:off x="1298448" y="4191000"/>
            <a:ext cx="6035040" cy="365760"/>
          </a:xfrm>
          <a:prstGeom prst="rect">
            <a:avLst/>
          </a:prstGeom>
          <a:noFill/>
          <a:ln/>
        </p:spPr>
        <p:txBody>
          <a:bodyPr wrap="square" lIns="0" tIns="0" rIns="0" bIns="0" rtlCol="0" anchor="ctr"/>
          <a:lstStyle/>
          <a:p>
            <a:pPr marL="0" indent="0">
              <a:buNone/>
            </a:pPr>
            <a:r>
              <a:rPr lang="en-US" sz="1300" dirty="0">
                <a:solidFill>
                  <a:srgbClr val="1A1A1A"/>
                </a:solidFill>
                <a:latin typeface="Calibri" pitchFamily="34" charset="0"/>
                <a:ea typeface="Calibri" pitchFamily="34" charset="-122"/>
                <a:cs typeface="Calibri" pitchFamily="34" charset="-120"/>
              </a:rPr>
              <a:t>Data stored in a SQL database (DuckDB)</a:t>
            </a:r>
            <a:endParaRPr lang="en-US" sz="1300" dirty="0"/>
          </a:p>
        </p:txBody>
      </p:sp>
      <p:pic>
        <p:nvPicPr>
          <p:cNvPr id="12" name="Image 4" descr="preencoded.png"/>
          <p:cNvPicPr>
            <a:picLocks noChangeAspect="1"/>
          </p:cNvPicPr>
          <p:nvPr/>
        </p:nvPicPr>
        <p:blipFill>
          <a:blip r:embed="rId3"/>
          <a:stretch>
            <a:fillRect/>
          </a:stretch>
        </p:blipFill>
        <p:spPr>
          <a:xfrm>
            <a:off x="822960" y="4965700"/>
            <a:ext cx="310896" cy="310896"/>
          </a:xfrm>
          <a:prstGeom prst="rect">
            <a:avLst/>
          </a:prstGeom>
        </p:spPr>
      </p:pic>
      <p:sp>
        <p:nvSpPr>
          <p:cNvPr id="13" name="Text 6"/>
          <p:cNvSpPr/>
          <p:nvPr/>
        </p:nvSpPr>
        <p:spPr>
          <a:xfrm>
            <a:off x="1298448" y="4953000"/>
            <a:ext cx="6035040" cy="365760"/>
          </a:xfrm>
          <a:prstGeom prst="rect">
            <a:avLst/>
          </a:prstGeom>
          <a:noFill/>
          <a:ln/>
        </p:spPr>
        <p:txBody>
          <a:bodyPr wrap="square" lIns="0" tIns="0" rIns="0" bIns="0" rtlCol="0" anchor="ctr"/>
          <a:lstStyle/>
          <a:p>
            <a:pPr marL="0" indent="0">
              <a:buNone/>
            </a:pPr>
            <a:r>
              <a:rPr lang="en-US" sz="1300" dirty="0">
                <a:solidFill>
                  <a:srgbClr val="1A1A1A"/>
                </a:solidFill>
                <a:latin typeface="Calibri" pitchFamily="34" charset="0"/>
                <a:ea typeface="Calibri" pitchFamily="34" charset="-122"/>
                <a:cs typeface="Calibri" pitchFamily="34" charset="-120"/>
              </a:rPr>
              <a:t>Multiple, genuinely-own data sources (3 combined)</a:t>
            </a:r>
            <a:endParaRPr lang="en-US" sz="1300" dirty="0"/>
          </a:p>
        </p:txBody>
      </p:sp>
      <p:sp>
        <p:nvSpPr>
          <p:cNvPr id="14" name="Shape 7"/>
          <p:cNvSpPr/>
          <p:nvPr/>
        </p:nvSpPr>
        <p:spPr>
          <a:xfrm>
            <a:off x="822960" y="5727700"/>
            <a:ext cx="310896" cy="310896"/>
          </a:xfrm>
          <a:prstGeom prst="ellipse">
            <a:avLst/>
          </a:prstGeom>
          <a:solidFill>
            <a:srgbClr val="1F7A4D"/>
          </a:solidFill>
          <a:ln/>
        </p:spPr>
        <p:txBody>
          <a:bodyPr/>
          <a:lstStyle/>
          <a:p>
            <a:endParaRPr lang="en-US"/>
          </a:p>
        </p:txBody>
      </p:sp>
      <p:sp>
        <p:nvSpPr>
          <p:cNvPr id="15" name="Text 8"/>
          <p:cNvSpPr/>
          <p:nvPr/>
        </p:nvSpPr>
        <p:spPr>
          <a:xfrm>
            <a:off x="1298448" y="5715000"/>
            <a:ext cx="6035040" cy="365760"/>
          </a:xfrm>
          <a:prstGeom prst="rect">
            <a:avLst/>
          </a:prstGeom>
          <a:noFill/>
          <a:ln/>
        </p:spPr>
        <p:txBody>
          <a:bodyPr wrap="square" lIns="0" tIns="0" rIns="0" bIns="0" rtlCol="0" anchor="ctr"/>
          <a:lstStyle/>
          <a:p>
            <a:pPr marL="0" indent="0">
              <a:buNone/>
            </a:pPr>
            <a:r>
              <a:rPr lang="en-US" sz="1300" dirty="0">
                <a:solidFill>
                  <a:srgbClr val="4A5568"/>
                </a:solidFill>
                <a:latin typeface="Calibri" pitchFamily="34" charset="0"/>
                <a:ea typeface="Calibri" pitchFamily="34" charset="-122"/>
                <a:cs typeface="Calibri" pitchFamily="34" charset="-120"/>
              </a:rPr>
              <a:t>Final presentation, slides in repo</a:t>
            </a:r>
            <a:endParaRPr lang="en-US" sz="1300" dirty="0">
              <a:solidFill>
                <a:srgbClr val="4A5568"/>
              </a:solidFill>
            </a:endParaRPr>
          </a:p>
        </p:txBody>
      </p:sp>
      <p:sp>
        <p:nvSpPr>
          <p:cNvPr id="16" name="Shape 9"/>
          <p:cNvSpPr/>
          <p:nvPr/>
        </p:nvSpPr>
        <p:spPr>
          <a:xfrm>
            <a:off x="7818120" y="1920240"/>
            <a:ext cx="3520440" cy="4206240"/>
          </a:xfrm>
          <a:prstGeom prst="roundRect">
            <a:avLst>
              <a:gd name="adj" fmla="val 2338"/>
            </a:avLst>
          </a:prstGeom>
          <a:solidFill>
            <a:srgbClr val="0F1B3D"/>
          </a:solidFill>
          <a:ln/>
        </p:spPr>
        <p:txBody>
          <a:bodyPr/>
          <a:lstStyle/>
          <a:p>
            <a:endParaRPr lang="en-US"/>
          </a:p>
        </p:txBody>
      </p:sp>
      <p:sp>
        <p:nvSpPr>
          <p:cNvPr id="17" name="Text 10"/>
          <p:cNvSpPr/>
          <p:nvPr/>
        </p:nvSpPr>
        <p:spPr>
          <a:xfrm>
            <a:off x="8092440" y="2121408"/>
            <a:ext cx="3017520" cy="365760"/>
          </a:xfrm>
          <a:prstGeom prst="rect">
            <a:avLst/>
          </a:prstGeom>
          <a:noFill/>
          <a:ln/>
        </p:spPr>
        <p:txBody>
          <a:bodyPr wrap="square" lIns="0" tIns="0" rIns="0" bIns="0" rtlCol="0" anchor="ctr"/>
          <a:lstStyle/>
          <a:p>
            <a:pPr marL="0" indent="0">
              <a:buNone/>
            </a:pPr>
            <a:r>
              <a:rPr lang="en-US" sz="1300" b="1" dirty="0">
                <a:solidFill>
                  <a:srgbClr val="E8A33D"/>
                </a:solidFill>
                <a:latin typeface="Calibri" pitchFamily="34" charset="0"/>
                <a:ea typeface="Calibri" pitchFamily="34" charset="-122"/>
                <a:cs typeface="Calibri" pitchFamily="34" charset="-120"/>
              </a:rPr>
              <a:t>Capstone timeline</a:t>
            </a:r>
            <a:endParaRPr lang="en-US" sz="1300" dirty="0"/>
          </a:p>
        </p:txBody>
      </p:sp>
      <p:sp>
        <p:nvSpPr>
          <p:cNvPr id="18" name="Shape 11"/>
          <p:cNvSpPr/>
          <p:nvPr/>
        </p:nvSpPr>
        <p:spPr>
          <a:xfrm>
            <a:off x="8092440" y="2633472"/>
            <a:ext cx="146304" cy="146304"/>
          </a:xfrm>
          <a:prstGeom prst="ellipse">
            <a:avLst/>
          </a:prstGeom>
          <a:solidFill>
            <a:srgbClr val="3C4A73"/>
          </a:solidFill>
          <a:ln/>
        </p:spPr>
        <p:txBody>
          <a:bodyPr/>
          <a:lstStyle/>
          <a:p>
            <a:endParaRPr lang="en-US"/>
          </a:p>
        </p:txBody>
      </p:sp>
      <p:sp>
        <p:nvSpPr>
          <p:cNvPr id="19" name="Text 12"/>
          <p:cNvSpPr/>
          <p:nvPr/>
        </p:nvSpPr>
        <p:spPr>
          <a:xfrm>
            <a:off x="8366760" y="2532888"/>
            <a:ext cx="1005840" cy="292608"/>
          </a:xfrm>
          <a:prstGeom prst="rect">
            <a:avLst/>
          </a:prstGeom>
          <a:noFill/>
          <a:ln/>
        </p:spPr>
        <p:txBody>
          <a:bodyPr wrap="square" lIns="0" tIns="0" rIns="0" bIns="0" rtlCol="0" anchor="ctr"/>
          <a:lstStyle/>
          <a:p>
            <a:pPr marL="0" indent="0">
              <a:buNone/>
            </a:pPr>
            <a:r>
              <a:rPr lang="en-US" sz="1300" b="1" dirty="0">
                <a:solidFill>
                  <a:srgbClr val="CADCFC"/>
                </a:solidFill>
                <a:latin typeface="Calibri" pitchFamily="34" charset="0"/>
                <a:ea typeface="Calibri" pitchFamily="34" charset="-122"/>
                <a:cs typeface="Calibri" pitchFamily="34" charset="-120"/>
              </a:rPr>
              <a:t>Week 1</a:t>
            </a:r>
            <a:endParaRPr lang="en-US" sz="1300" dirty="0"/>
          </a:p>
        </p:txBody>
      </p:sp>
      <p:sp>
        <p:nvSpPr>
          <p:cNvPr id="20" name="Text 13"/>
          <p:cNvSpPr/>
          <p:nvPr/>
        </p:nvSpPr>
        <p:spPr>
          <a:xfrm>
            <a:off x="8366760" y="2807208"/>
            <a:ext cx="2834640" cy="411480"/>
          </a:xfrm>
          <a:prstGeom prst="rect">
            <a:avLst/>
          </a:prstGeom>
          <a:noFill/>
          <a:ln/>
        </p:spPr>
        <p:txBody>
          <a:bodyPr wrap="square" lIns="0" tIns="0" rIns="0" bIns="0" rtlCol="0" anchor="ctr"/>
          <a:lstStyle/>
          <a:p>
            <a:pPr marL="0" indent="0">
              <a:buNone/>
            </a:pPr>
            <a:r>
              <a:rPr lang="en-US" sz="1300" dirty="0">
                <a:solidFill>
                  <a:srgbClr val="B8C4E0"/>
                </a:solidFill>
                <a:latin typeface="Calibri" pitchFamily="34" charset="0"/>
                <a:ea typeface="Calibri" pitchFamily="34" charset="-122"/>
                <a:cs typeface="Calibri" pitchFamily="34" charset="-120"/>
              </a:rPr>
              <a:t>Plan: hypothesis, data inventory</a:t>
            </a:r>
            <a:endParaRPr lang="en-US" sz="1300" dirty="0">
              <a:solidFill>
                <a:srgbClr val="B8C4E0"/>
              </a:solidFill>
            </a:endParaRPr>
          </a:p>
        </p:txBody>
      </p:sp>
      <p:sp>
        <p:nvSpPr>
          <p:cNvPr id="21" name="Shape 14"/>
          <p:cNvSpPr/>
          <p:nvPr/>
        </p:nvSpPr>
        <p:spPr>
          <a:xfrm>
            <a:off x="8092440" y="3291840"/>
            <a:ext cx="146304" cy="146304"/>
          </a:xfrm>
          <a:prstGeom prst="ellipse">
            <a:avLst/>
          </a:prstGeom>
          <a:solidFill>
            <a:srgbClr val="3C4A73"/>
          </a:solidFill>
          <a:ln/>
        </p:spPr>
        <p:txBody>
          <a:bodyPr/>
          <a:lstStyle/>
          <a:p>
            <a:endParaRPr lang="en-US"/>
          </a:p>
        </p:txBody>
      </p:sp>
      <p:sp>
        <p:nvSpPr>
          <p:cNvPr id="22" name="Text 15"/>
          <p:cNvSpPr/>
          <p:nvPr/>
        </p:nvSpPr>
        <p:spPr>
          <a:xfrm>
            <a:off x="8366760" y="3191256"/>
            <a:ext cx="1005840" cy="292608"/>
          </a:xfrm>
          <a:prstGeom prst="rect">
            <a:avLst/>
          </a:prstGeom>
          <a:noFill/>
          <a:ln/>
        </p:spPr>
        <p:txBody>
          <a:bodyPr wrap="square" lIns="0" tIns="0" rIns="0" bIns="0" rtlCol="0" anchor="ctr"/>
          <a:lstStyle/>
          <a:p>
            <a:pPr marL="0" indent="0">
              <a:buNone/>
            </a:pPr>
            <a:r>
              <a:rPr lang="en-US" sz="1300" b="1" dirty="0">
                <a:solidFill>
                  <a:srgbClr val="CADCFC"/>
                </a:solidFill>
                <a:latin typeface="Calibri" pitchFamily="34" charset="0"/>
                <a:ea typeface="Calibri" pitchFamily="34" charset="-122"/>
                <a:cs typeface="Calibri" pitchFamily="34" charset="-120"/>
              </a:rPr>
              <a:t>Week 2</a:t>
            </a:r>
            <a:endParaRPr lang="en-US" sz="1300" dirty="0"/>
          </a:p>
        </p:txBody>
      </p:sp>
      <p:sp>
        <p:nvSpPr>
          <p:cNvPr id="23" name="Text 16"/>
          <p:cNvSpPr/>
          <p:nvPr/>
        </p:nvSpPr>
        <p:spPr>
          <a:xfrm>
            <a:off x="8366760" y="3465576"/>
            <a:ext cx="2834640" cy="411480"/>
          </a:xfrm>
          <a:prstGeom prst="rect">
            <a:avLst/>
          </a:prstGeom>
          <a:noFill/>
          <a:ln/>
        </p:spPr>
        <p:txBody>
          <a:bodyPr wrap="square" lIns="0" tIns="0" rIns="0" bIns="0" rtlCol="0" anchor="ctr"/>
          <a:lstStyle/>
          <a:p>
            <a:pPr marL="0" indent="0">
              <a:buNone/>
            </a:pPr>
            <a:r>
              <a:rPr lang="en-US" sz="1300" dirty="0">
                <a:solidFill>
                  <a:srgbClr val="B8C4E0"/>
                </a:solidFill>
                <a:latin typeface="Calibri" pitchFamily="34" charset="0"/>
                <a:ea typeface="Calibri" pitchFamily="34" charset="-122"/>
                <a:cs typeface="Calibri" pitchFamily="34" charset="-120"/>
              </a:rPr>
              <a:t>Foundations: ETL, dbt, DuckDB</a:t>
            </a:r>
            <a:endParaRPr lang="en-US" sz="1300" dirty="0">
              <a:solidFill>
                <a:srgbClr val="B8C4E0"/>
              </a:solidFill>
            </a:endParaRPr>
          </a:p>
        </p:txBody>
      </p:sp>
      <p:sp>
        <p:nvSpPr>
          <p:cNvPr id="24" name="Shape 17"/>
          <p:cNvSpPr/>
          <p:nvPr/>
        </p:nvSpPr>
        <p:spPr>
          <a:xfrm>
            <a:off x="8092440" y="3950208"/>
            <a:ext cx="146304" cy="146304"/>
          </a:xfrm>
          <a:prstGeom prst="ellipse">
            <a:avLst/>
          </a:prstGeom>
          <a:solidFill>
            <a:srgbClr val="3C4A73"/>
          </a:solidFill>
          <a:ln/>
        </p:spPr>
        <p:txBody>
          <a:bodyPr/>
          <a:lstStyle/>
          <a:p>
            <a:endParaRPr lang="en-US"/>
          </a:p>
        </p:txBody>
      </p:sp>
      <p:sp>
        <p:nvSpPr>
          <p:cNvPr id="25" name="Text 18"/>
          <p:cNvSpPr/>
          <p:nvPr/>
        </p:nvSpPr>
        <p:spPr>
          <a:xfrm>
            <a:off x="8366760" y="3849624"/>
            <a:ext cx="1005840" cy="292608"/>
          </a:xfrm>
          <a:prstGeom prst="rect">
            <a:avLst/>
          </a:prstGeom>
          <a:noFill/>
          <a:ln/>
        </p:spPr>
        <p:txBody>
          <a:bodyPr wrap="square" lIns="0" tIns="0" rIns="0" bIns="0" rtlCol="0" anchor="ctr"/>
          <a:lstStyle/>
          <a:p>
            <a:pPr marL="0" indent="0">
              <a:buNone/>
            </a:pPr>
            <a:r>
              <a:rPr lang="en-US" sz="1300" b="1" dirty="0">
                <a:solidFill>
                  <a:srgbClr val="CADCFC"/>
                </a:solidFill>
                <a:latin typeface="Calibri" pitchFamily="34" charset="0"/>
                <a:ea typeface="Calibri" pitchFamily="34" charset="-122"/>
                <a:cs typeface="Calibri" pitchFamily="34" charset="-120"/>
              </a:rPr>
              <a:t>Week 3</a:t>
            </a:r>
            <a:endParaRPr lang="en-US" sz="1300" dirty="0"/>
          </a:p>
        </p:txBody>
      </p:sp>
      <p:sp>
        <p:nvSpPr>
          <p:cNvPr id="26" name="Text 19"/>
          <p:cNvSpPr/>
          <p:nvPr/>
        </p:nvSpPr>
        <p:spPr>
          <a:xfrm>
            <a:off x="8366760" y="4123944"/>
            <a:ext cx="2834640" cy="411480"/>
          </a:xfrm>
          <a:prstGeom prst="rect">
            <a:avLst/>
          </a:prstGeom>
          <a:noFill/>
          <a:ln/>
        </p:spPr>
        <p:txBody>
          <a:bodyPr wrap="square" lIns="0" tIns="0" rIns="0" bIns="0" rtlCol="0" anchor="ctr"/>
          <a:lstStyle/>
          <a:p>
            <a:pPr marL="0" indent="0">
              <a:buNone/>
            </a:pPr>
            <a:r>
              <a:rPr lang="en-US" sz="1300" dirty="0">
                <a:solidFill>
                  <a:srgbClr val="B8C4E0"/>
                </a:solidFill>
                <a:latin typeface="Calibri" pitchFamily="34" charset="0"/>
                <a:ea typeface="Calibri" pitchFamily="34" charset="-122"/>
                <a:cs typeface="Calibri" pitchFamily="34" charset="-120"/>
              </a:rPr>
              <a:t>Build: analysis, statistical tests</a:t>
            </a:r>
            <a:endParaRPr lang="en-US" sz="1300" dirty="0">
              <a:solidFill>
                <a:srgbClr val="B8C4E0"/>
              </a:solidFill>
            </a:endParaRPr>
          </a:p>
        </p:txBody>
      </p:sp>
      <p:sp>
        <p:nvSpPr>
          <p:cNvPr id="27" name="Shape 20"/>
          <p:cNvSpPr/>
          <p:nvPr/>
        </p:nvSpPr>
        <p:spPr>
          <a:xfrm>
            <a:off x="8092440" y="4608576"/>
            <a:ext cx="146304" cy="146304"/>
          </a:xfrm>
          <a:prstGeom prst="ellipse">
            <a:avLst/>
          </a:prstGeom>
          <a:solidFill>
            <a:srgbClr val="3C4A73"/>
          </a:solidFill>
          <a:ln/>
        </p:spPr>
        <p:txBody>
          <a:bodyPr/>
          <a:lstStyle/>
          <a:p>
            <a:endParaRPr lang="en-US"/>
          </a:p>
        </p:txBody>
      </p:sp>
      <p:sp>
        <p:nvSpPr>
          <p:cNvPr id="28" name="Text 21"/>
          <p:cNvSpPr/>
          <p:nvPr/>
        </p:nvSpPr>
        <p:spPr>
          <a:xfrm>
            <a:off x="8366760" y="4507992"/>
            <a:ext cx="1005840" cy="292608"/>
          </a:xfrm>
          <a:prstGeom prst="rect">
            <a:avLst/>
          </a:prstGeom>
          <a:noFill/>
          <a:ln/>
        </p:spPr>
        <p:txBody>
          <a:bodyPr wrap="square" lIns="0" tIns="0" rIns="0" bIns="0" rtlCol="0" anchor="ctr"/>
          <a:lstStyle/>
          <a:p>
            <a:pPr marL="0" indent="0">
              <a:buNone/>
            </a:pPr>
            <a:r>
              <a:rPr lang="en-US" sz="1300" b="1" dirty="0">
                <a:solidFill>
                  <a:srgbClr val="CADCFC"/>
                </a:solidFill>
                <a:latin typeface="Calibri" pitchFamily="34" charset="0"/>
                <a:ea typeface="Calibri" pitchFamily="34" charset="-122"/>
                <a:cs typeface="Calibri" pitchFamily="34" charset="-120"/>
              </a:rPr>
              <a:t>Week 4</a:t>
            </a:r>
            <a:endParaRPr lang="en-US" sz="1300" dirty="0"/>
          </a:p>
        </p:txBody>
      </p:sp>
      <p:sp>
        <p:nvSpPr>
          <p:cNvPr id="29" name="Text 22"/>
          <p:cNvSpPr/>
          <p:nvPr/>
        </p:nvSpPr>
        <p:spPr>
          <a:xfrm>
            <a:off x="8366760" y="4782312"/>
            <a:ext cx="2834640" cy="411480"/>
          </a:xfrm>
          <a:prstGeom prst="rect">
            <a:avLst/>
          </a:prstGeom>
          <a:noFill/>
          <a:ln/>
        </p:spPr>
        <p:txBody>
          <a:bodyPr wrap="square" lIns="0" tIns="0" rIns="0" bIns="0" rtlCol="0" anchor="ctr"/>
          <a:lstStyle/>
          <a:p>
            <a:pPr marL="0" indent="0">
              <a:buNone/>
            </a:pPr>
            <a:r>
              <a:rPr lang="en-US" sz="1300" dirty="0">
                <a:solidFill>
                  <a:srgbClr val="B8C4E0"/>
                </a:solidFill>
                <a:latin typeface="Calibri" pitchFamily="34" charset="0"/>
                <a:ea typeface="Calibri" pitchFamily="34" charset="-122"/>
                <a:cs typeface="Calibri" pitchFamily="34" charset="-120"/>
              </a:rPr>
              <a:t>Polish: Tableau, rehearsal, freeze</a:t>
            </a:r>
            <a:endParaRPr lang="en-US" sz="1300" dirty="0">
              <a:solidFill>
                <a:srgbClr val="B8C4E0"/>
              </a:solidFill>
            </a:endParaRPr>
          </a:p>
        </p:txBody>
      </p:sp>
      <p:sp>
        <p:nvSpPr>
          <p:cNvPr id="30" name="Shape 23"/>
          <p:cNvSpPr/>
          <p:nvPr/>
        </p:nvSpPr>
        <p:spPr>
          <a:xfrm>
            <a:off x="8092440" y="5266944"/>
            <a:ext cx="146304" cy="146304"/>
          </a:xfrm>
          <a:prstGeom prst="ellipse">
            <a:avLst/>
          </a:prstGeom>
          <a:solidFill>
            <a:srgbClr val="E8A33D"/>
          </a:solidFill>
          <a:ln/>
        </p:spPr>
        <p:txBody>
          <a:bodyPr/>
          <a:lstStyle/>
          <a:p>
            <a:endParaRPr lang="en-US"/>
          </a:p>
        </p:txBody>
      </p:sp>
      <p:sp>
        <p:nvSpPr>
          <p:cNvPr id="31" name="Text 24"/>
          <p:cNvSpPr/>
          <p:nvPr/>
        </p:nvSpPr>
        <p:spPr>
          <a:xfrm>
            <a:off x="8366760" y="5166360"/>
            <a:ext cx="1005840" cy="292608"/>
          </a:xfrm>
          <a:prstGeom prst="rect">
            <a:avLst/>
          </a:prstGeom>
          <a:noFill/>
          <a:ln/>
        </p:spPr>
        <p:txBody>
          <a:bodyPr wrap="square" lIns="0" tIns="0" rIns="0" bIns="0" rtlCol="0" anchor="ctr"/>
          <a:lstStyle/>
          <a:p>
            <a:pPr marL="0" indent="0">
              <a:buNone/>
            </a:pPr>
            <a:r>
              <a:rPr lang="en-US" sz="1300" b="1" dirty="0">
                <a:solidFill>
                  <a:srgbClr val="E8A33D"/>
                </a:solidFill>
                <a:latin typeface="Calibri" pitchFamily="34" charset="0"/>
                <a:ea typeface="Calibri" pitchFamily="34" charset="-122"/>
                <a:cs typeface="Calibri" pitchFamily="34" charset="-120"/>
              </a:rPr>
              <a:t>Sep 29</a:t>
            </a:r>
            <a:endParaRPr lang="en-US" sz="1300" dirty="0"/>
          </a:p>
        </p:txBody>
      </p:sp>
      <p:sp>
        <p:nvSpPr>
          <p:cNvPr id="32" name="Text 25"/>
          <p:cNvSpPr/>
          <p:nvPr/>
        </p:nvSpPr>
        <p:spPr>
          <a:xfrm>
            <a:off x="8366760" y="5440680"/>
            <a:ext cx="2834640" cy="411480"/>
          </a:xfrm>
          <a:prstGeom prst="rect">
            <a:avLst/>
          </a:prstGeom>
          <a:noFill/>
          <a:ln/>
        </p:spPr>
        <p:txBody>
          <a:bodyPr wrap="square" lIns="0" tIns="0" rIns="0" bIns="0" rtlCol="0" anchor="ctr"/>
          <a:lstStyle/>
          <a:p>
            <a:pPr marL="0" indent="0">
              <a:buNone/>
            </a:pPr>
            <a:r>
              <a:rPr lang="en-US" sz="1300" dirty="0">
                <a:solidFill>
                  <a:srgbClr val="B8C4E0"/>
                </a:solidFill>
                <a:latin typeface="Calibri" pitchFamily="34" charset="0"/>
                <a:ea typeface="Calibri" pitchFamily="34" charset="-122"/>
                <a:cs typeface="Calibri" pitchFamily="34" charset="-120"/>
              </a:rPr>
              <a:t>Capstone Event</a:t>
            </a:r>
            <a:endParaRPr lang="en-US" sz="1300" dirty="0">
              <a:solidFill>
                <a:srgbClr val="B8C4E0"/>
              </a:solidFill>
            </a:endParaRPr>
          </a:p>
        </p:txBody>
      </p:sp>
      <p:sp>
        <p:nvSpPr>
          <p:cNvPr id="33" name="Text 26"/>
          <p:cNvSpPr/>
          <p:nvPr/>
        </p:nvSpPr>
        <p:spPr>
          <a:xfrm>
            <a:off x="825500" y="6400800"/>
            <a:ext cx="8890000" cy="274320"/>
          </a:xfrm>
          <a:prstGeom prst="rect">
            <a:avLst/>
          </a:prstGeom>
          <a:noFill/>
          <a:ln/>
        </p:spPr>
        <p:txBody>
          <a:bodyPr wrap="square" lIns="0" tIns="0" rIns="0" bIns="0" rtlCol="0" anchor="ctr"/>
          <a:lstStyle/>
          <a:p>
            <a:pPr marL="0" indent="0">
              <a:buNone/>
            </a:pPr>
            <a:r>
              <a:rPr lang="en-US" sz="1300" i="1" dirty="0">
                <a:solidFill>
                  <a:srgbClr val="5A6478"/>
                </a:solidFill>
                <a:latin typeface="Calibri" pitchFamily="34" charset="0"/>
                <a:ea typeface="Calibri" pitchFamily="34" charset="-122"/>
                <a:cs typeface="Calibri" pitchFamily="34" charset="-120"/>
              </a:rPr>
              <a:t>Kickoff Aug 26, 2026 to Capstone Event Sep 29, 2026. Today: final presentation and live Tableau walkthrough.</a:t>
            </a:r>
            <a:endParaRPr lang="en-US" sz="1300" dirty="0">
              <a:solidFill>
                <a:srgbClr val="5A6478"/>
              </a:solidFill>
            </a:endParaRPr>
          </a:p>
        </p:txBody>
      </p:sp>
      <p:sp>
        <p:nvSpPr>
          <p:cNvPr id="34" name="Text 27"/>
          <p:cNvSpPr/>
          <p:nvPr/>
        </p:nvSpPr>
        <p:spPr>
          <a:xfrm>
            <a:off x="11368735" y="6400800"/>
            <a:ext cx="548640" cy="274320"/>
          </a:xfrm>
          <a:prstGeom prst="rect">
            <a:avLst/>
          </a:prstGeom>
          <a:noFill/>
          <a:ln/>
        </p:spPr>
        <p:txBody>
          <a:bodyPr wrap="square" lIns="0" tIns="0" rIns="0" bIns="0" rtlCol="0" anchor="ctr"/>
          <a:lstStyle/>
          <a:p>
            <a:pPr marL="0" indent="0" algn="r">
              <a:buNone/>
            </a:pPr>
            <a:r>
              <a:rPr lang="en-US" sz="1200" dirty="0">
                <a:solidFill>
                  <a:srgbClr val="5A6478"/>
                </a:solidFill>
                <a:latin typeface="Calibri" pitchFamily="34" charset="0"/>
                <a:ea typeface="Calibri" pitchFamily="34" charset="-122"/>
                <a:cs typeface="Calibri" pitchFamily="34" charset="-120"/>
              </a:rPr>
              <a:t>15</a:t>
            </a:r>
            <a:endParaRPr lang="en-US" sz="1200" dirty="0">
              <a:solidFill>
                <a:srgbClr val="5A6478"/>
              </a:solidFill>
            </a:endParaRPr>
          </a:p>
        </p:txBody>
      </p:sp>
      <p:sp>
        <p:nvSpPr>
          <p:cNvPr id="87" name="TextBox 86"/>
          <p:cNvSpPr txBox="1"/>
          <p:nvPr/>
        </p:nvSpPr>
        <p:spPr>
          <a:xfrm>
            <a:off x="822960" y="5727700"/>
            <a:ext cx="310896" cy="310896"/>
          </a:xfrm>
          <a:prstGeom prst="rect">
            <a:avLst/>
          </a:prstGeom>
          <a:noFill/>
        </p:spPr>
        <p:txBody>
          <a:bodyPr wrap="none" lIns="0" rIns="0" tIns="0" bIns="0" anchor="ctr">
            <a:spAutoFit/>
          </a:bodyPr>
          <a:lstStyle/>
          <a:p>
            <a:pPr algn="ctr"/>
            <a:r>
              <a:rPr sz="1400" b="1">
                <a:solidFill>
                  <a:srgbClr val="FFFFFF"/>
                </a:solidFill>
                <a:latin typeface="Calibri"/>
              </a:rPr>
              <a:t>✓</a:t>
            </a:r>
          </a:p>
        </p:txBody>
      </p:sp>
    </p:spTree>
    <p:extLst>
      <p:ext uri="{BB962C8B-B14F-4D97-AF65-F5344CB8AC3E}">
        <p14:creationId xmlns:p14="http://schemas.microsoft.com/office/powerpoint/2010/main" val="3923263061"/>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400"/>
                                        <p:tgtEl>
                                          <p:spTgt spid="4"/>
                                        </p:tgtEl>
                                      </p:cBhvr>
                                    </p:animEffect>
                                  </p:childTnLst>
                                </p:cTn>
                              </p:par>
                              <p:par>
                                <p:cTn id="11" presetID="10" presetClass="entr" presetSubtype="0" fill="hold" nodeType="withEffect">
                                  <p:stCondLst>
                                    <p:cond delay="0"/>
                                  </p:stCondLst>
                                  <p:childTnLst>
                                    <p:set>
                                      <p:cBhvr>
                                        <p:cTn id="12" dur="1" fill="hold">
                                          <p:stCondLst>
                                            <p:cond delay="0"/>
                                          </p:stCondLst>
                                        </p:cTn>
                                        <p:tgtEl>
                                          <p:spTgt spid="16"/>
                                        </p:tgtEl>
                                        <p:attrNameLst>
                                          <p:attrName>style.visibility</p:attrName>
                                        </p:attrNameLst>
                                      </p:cBhvr>
                                      <p:to>
                                        <p:strVal val="visible"/>
                                      </p:to>
                                    </p:set>
                                    <p:animEffect transition="in" filter="fade">
                                      <p:cBhvr>
                                        <p:cTn id="13" dur="400"/>
                                        <p:tgtEl>
                                          <p:spTgt spid="16"/>
                                        </p:tgtEl>
                                      </p:cBhvr>
                                    </p:animEffect>
                                  </p:childTnLst>
                                </p:cTn>
                              </p:par>
                              <p:par>
                                <p:cTn id="14" presetID="10" presetClass="entr" presetSubtype="0" fill="hold" nodeType="with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fade">
                                      <p:cBhvr>
                                        <p:cTn id="16" dur="400"/>
                                        <p:tgtEl>
                                          <p:spTgt spid="17"/>
                                        </p:tgtEl>
                                      </p:cBhvr>
                                    </p:animEffect>
                                  </p:childTnLst>
                                </p:cTn>
                              </p:par>
                            </p:childTnLst>
                          </p:cTn>
                        </p:par>
                      </p:childTnLst>
                    </p:cTn>
                  </p:par>
                  <p:par>
                    <p:cTn id="17" fill="hold">
                      <p:stCondLst>
                        <p:cond delay="200"/>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9"/>
                                        </p:tgtEl>
                                        <p:attrNameLst>
                                          <p:attrName>style.visibility</p:attrName>
                                        </p:attrNameLst>
                                      </p:cBhvr>
                                      <p:to>
                                        <p:strVal val="visible"/>
                                      </p:to>
                                    </p:set>
                                    <p:animEffect transition="in" filter="fade">
                                      <p:cBhvr>
                                        <p:cTn id="21" dur="400"/>
                                        <p:tgtEl>
                                          <p:spTgt spid="19"/>
                                        </p:tgtEl>
                                      </p:cBhvr>
                                    </p:animEffect>
                                  </p:childTnLst>
                                </p:cTn>
                              </p:par>
                              <p:par>
                                <p:cTn id="22" presetID="10" presetClass="entr" presetSubtype="0" fill="hold" nodeType="with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400"/>
                                        <p:tgtEl>
                                          <p:spTgt spid="7"/>
                                        </p:tgtEl>
                                      </p:cBhvr>
                                    </p:animEffect>
                                  </p:childTnLst>
                                </p:cTn>
                              </p:par>
                              <p:par>
                                <p:cTn id="25" presetID="10" presetClass="entr" presetSubtype="0" fill="hold" nodeType="with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400"/>
                                        <p:tgtEl>
                                          <p:spTgt spid="6"/>
                                        </p:tgtEl>
                                      </p:cBhvr>
                                    </p:animEffect>
                                  </p:childTnLst>
                                </p:cTn>
                              </p:par>
                              <p:par>
                                <p:cTn id="28" presetID="10" presetClass="entr" presetSubtype="0" fill="hold" nodeType="withEffect">
                                  <p:stCondLst>
                                    <p:cond delay="0"/>
                                  </p:stCondLst>
                                  <p:childTnLst>
                                    <p:set>
                                      <p:cBhvr>
                                        <p:cTn id="29" dur="1" fill="hold">
                                          <p:stCondLst>
                                            <p:cond delay="0"/>
                                          </p:stCondLst>
                                        </p:cTn>
                                        <p:tgtEl>
                                          <p:spTgt spid="20"/>
                                        </p:tgtEl>
                                        <p:attrNameLst>
                                          <p:attrName>style.visibility</p:attrName>
                                        </p:attrNameLst>
                                      </p:cBhvr>
                                      <p:to>
                                        <p:strVal val="visible"/>
                                      </p:to>
                                    </p:set>
                                    <p:animEffect transition="in" filter="fade">
                                      <p:cBhvr>
                                        <p:cTn id="30" dur="400"/>
                                        <p:tgtEl>
                                          <p:spTgt spid="20"/>
                                        </p:tgtEl>
                                      </p:cBhvr>
                                    </p:animEffect>
                                  </p:childTnLst>
                                </p:cTn>
                              </p:par>
                            </p:childTnLst>
                          </p:cTn>
                        </p:par>
                      </p:childTnLst>
                    </p:cTn>
                  </p:par>
                  <p:par>
                    <p:cTn id="31" fill="hold">
                      <p:stCondLst>
                        <p:cond delay="200"/>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22"/>
                                        </p:tgtEl>
                                        <p:attrNameLst>
                                          <p:attrName>style.visibility</p:attrName>
                                        </p:attrNameLst>
                                      </p:cBhvr>
                                      <p:to>
                                        <p:strVal val="visible"/>
                                      </p:to>
                                    </p:set>
                                    <p:animEffect transition="in" filter="fade">
                                      <p:cBhvr>
                                        <p:cTn id="35" dur="400"/>
                                        <p:tgtEl>
                                          <p:spTgt spid="22"/>
                                        </p:tgtEl>
                                      </p:cBhvr>
                                    </p:animEffect>
                                  </p:childTnLst>
                                </p:cTn>
                              </p:par>
                              <p:par>
                                <p:cTn id="36" presetID="10" presetClass="entr" presetSubtype="0" fill="hold" nodeType="withEffect">
                                  <p:stCondLst>
                                    <p:cond delay="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400"/>
                                        <p:tgtEl>
                                          <p:spTgt spid="9"/>
                                        </p:tgtEl>
                                      </p:cBhvr>
                                    </p:animEffect>
                                  </p:childTnLst>
                                </p:cTn>
                              </p:par>
                              <p:par>
                                <p:cTn id="39" presetID="10" presetClass="entr" presetSubtype="0" fill="hold" nodeType="withEffect">
                                  <p:stCondLst>
                                    <p:cond delay="0"/>
                                  </p:stCondLst>
                                  <p:childTnLst>
                                    <p:set>
                                      <p:cBhvr>
                                        <p:cTn id="40" dur="1" fill="hold">
                                          <p:stCondLst>
                                            <p:cond delay="0"/>
                                          </p:stCondLst>
                                        </p:cTn>
                                        <p:tgtEl>
                                          <p:spTgt spid="8"/>
                                        </p:tgtEl>
                                        <p:attrNameLst>
                                          <p:attrName>style.visibility</p:attrName>
                                        </p:attrNameLst>
                                      </p:cBhvr>
                                      <p:to>
                                        <p:strVal val="visible"/>
                                      </p:to>
                                    </p:set>
                                    <p:animEffect transition="in" filter="fade">
                                      <p:cBhvr>
                                        <p:cTn id="41" dur="400"/>
                                        <p:tgtEl>
                                          <p:spTgt spid="8"/>
                                        </p:tgtEl>
                                      </p:cBhvr>
                                    </p:animEffect>
                                  </p:childTnLst>
                                </p:cTn>
                              </p:par>
                              <p:par>
                                <p:cTn id="42" presetID="10" presetClass="entr" presetSubtype="0" fill="hold" nodeType="withEffect">
                                  <p:stCondLst>
                                    <p:cond delay="0"/>
                                  </p:stCondLst>
                                  <p:childTnLst>
                                    <p:set>
                                      <p:cBhvr>
                                        <p:cTn id="43" dur="1" fill="hold">
                                          <p:stCondLst>
                                            <p:cond delay="0"/>
                                          </p:stCondLst>
                                        </p:cTn>
                                        <p:tgtEl>
                                          <p:spTgt spid="23"/>
                                        </p:tgtEl>
                                        <p:attrNameLst>
                                          <p:attrName>style.visibility</p:attrName>
                                        </p:attrNameLst>
                                      </p:cBhvr>
                                      <p:to>
                                        <p:strVal val="visible"/>
                                      </p:to>
                                    </p:set>
                                    <p:animEffect transition="in" filter="fade">
                                      <p:cBhvr>
                                        <p:cTn id="44" dur="400"/>
                                        <p:tgtEl>
                                          <p:spTgt spid="23"/>
                                        </p:tgtEl>
                                      </p:cBhvr>
                                    </p:animEffect>
                                  </p:childTnLst>
                                </p:cTn>
                              </p:par>
                            </p:childTnLst>
                          </p:cTn>
                        </p:par>
                      </p:childTnLst>
                    </p:cTn>
                  </p:par>
                  <p:par>
                    <p:cTn id="45" fill="hold">
                      <p:stCondLst>
                        <p:cond delay="200"/>
                      </p:stCondLst>
                      <p:childTnLst>
                        <p:par>
                          <p:cTn id="46" fill="hold">
                            <p:stCondLst>
                              <p:cond delay="0"/>
                            </p:stCondLst>
                            <p:childTnLst>
                              <p:par>
                                <p:cTn id="47" presetID="10" presetClass="entr" presetSubtype="0" fill="hold" nodeType="clickEffect">
                                  <p:stCondLst>
                                    <p:cond delay="0"/>
                                  </p:stCondLst>
                                  <p:childTnLst>
                                    <p:set>
                                      <p:cBhvr>
                                        <p:cTn id="48" dur="1" fill="hold">
                                          <p:stCondLst>
                                            <p:cond delay="0"/>
                                          </p:stCondLst>
                                        </p:cTn>
                                        <p:tgtEl>
                                          <p:spTgt spid="25"/>
                                        </p:tgtEl>
                                        <p:attrNameLst>
                                          <p:attrName>style.visibility</p:attrName>
                                        </p:attrNameLst>
                                      </p:cBhvr>
                                      <p:to>
                                        <p:strVal val="visible"/>
                                      </p:to>
                                    </p:set>
                                    <p:animEffect transition="in" filter="fade">
                                      <p:cBhvr>
                                        <p:cTn id="49" dur="400"/>
                                        <p:tgtEl>
                                          <p:spTgt spid="25"/>
                                        </p:tgtEl>
                                      </p:cBhvr>
                                    </p:animEffect>
                                  </p:childTnLst>
                                </p:cTn>
                              </p:par>
                              <p:par>
                                <p:cTn id="50" presetID="10" presetClass="entr" presetSubtype="0" fill="hold" nodeType="withEffect">
                                  <p:stCondLst>
                                    <p:cond delay="0"/>
                                  </p:stCondLst>
                                  <p:childTnLst>
                                    <p:set>
                                      <p:cBhvr>
                                        <p:cTn id="51" dur="1" fill="hold">
                                          <p:stCondLst>
                                            <p:cond delay="0"/>
                                          </p:stCondLst>
                                        </p:cTn>
                                        <p:tgtEl>
                                          <p:spTgt spid="26"/>
                                        </p:tgtEl>
                                        <p:attrNameLst>
                                          <p:attrName>style.visibility</p:attrName>
                                        </p:attrNameLst>
                                      </p:cBhvr>
                                      <p:to>
                                        <p:strVal val="visible"/>
                                      </p:to>
                                    </p:set>
                                    <p:animEffect transition="in" filter="fade">
                                      <p:cBhvr>
                                        <p:cTn id="52" dur="400"/>
                                        <p:tgtEl>
                                          <p:spTgt spid="26"/>
                                        </p:tgtEl>
                                      </p:cBhvr>
                                    </p:animEffect>
                                  </p:childTnLst>
                                </p:cTn>
                              </p:par>
                              <p:par>
                                <p:cTn id="53" presetID="10" presetClass="entr" presetSubtype="0" fill="hold" nodeType="withEffect">
                                  <p:stCondLst>
                                    <p:cond delay="0"/>
                                  </p:stCondLst>
                                  <p:childTnLst>
                                    <p:set>
                                      <p:cBhvr>
                                        <p:cTn id="54" dur="1" fill="hold">
                                          <p:stCondLst>
                                            <p:cond delay="0"/>
                                          </p:stCondLst>
                                        </p:cTn>
                                        <p:tgtEl>
                                          <p:spTgt spid="11"/>
                                        </p:tgtEl>
                                        <p:attrNameLst>
                                          <p:attrName>style.visibility</p:attrName>
                                        </p:attrNameLst>
                                      </p:cBhvr>
                                      <p:to>
                                        <p:strVal val="visible"/>
                                      </p:to>
                                    </p:set>
                                    <p:animEffect transition="in" filter="fade">
                                      <p:cBhvr>
                                        <p:cTn id="55" dur="400"/>
                                        <p:tgtEl>
                                          <p:spTgt spid="11"/>
                                        </p:tgtEl>
                                      </p:cBhvr>
                                    </p:animEffect>
                                  </p:childTnLst>
                                </p:cTn>
                              </p:par>
                              <p:par>
                                <p:cTn id="56" presetID="10" presetClass="entr" presetSubtype="0" fill="hold" nodeType="withEffect">
                                  <p:stCondLst>
                                    <p:cond delay="0"/>
                                  </p:stCondLst>
                                  <p:childTnLst>
                                    <p:set>
                                      <p:cBhvr>
                                        <p:cTn id="57" dur="1" fill="hold">
                                          <p:stCondLst>
                                            <p:cond delay="0"/>
                                          </p:stCondLst>
                                        </p:cTn>
                                        <p:tgtEl>
                                          <p:spTgt spid="10"/>
                                        </p:tgtEl>
                                        <p:attrNameLst>
                                          <p:attrName>style.visibility</p:attrName>
                                        </p:attrNameLst>
                                      </p:cBhvr>
                                      <p:to>
                                        <p:strVal val="visible"/>
                                      </p:to>
                                    </p:set>
                                    <p:animEffect transition="in" filter="fade">
                                      <p:cBhvr>
                                        <p:cTn id="58" dur="400"/>
                                        <p:tgtEl>
                                          <p:spTgt spid="10"/>
                                        </p:tgtEl>
                                      </p:cBhvr>
                                    </p:animEffect>
                                  </p:childTnLst>
                                </p:cTn>
                              </p:par>
                            </p:childTnLst>
                          </p:cTn>
                        </p:par>
                      </p:childTnLst>
                    </p:cTn>
                  </p:par>
                  <p:par>
                    <p:cTn id="59" fill="hold">
                      <p:stCondLst>
                        <p:cond delay="200"/>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28"/>
                                        </p:tgtEl>
                                        <p:attrNameLst>
                                          <p:attrName>style.visibility</p:attrName>
                                        </p:attrNameLst>
                                      </p:cBhvr>
                                      <p:to>
                                        <p:strVal val="visible"/>
                                      </p:to>
                                    </p:set>
                                    <p:animEffect transition="in" filter="fade">
                                      <p:cBhvr>
                                        <p:cTn id="63" dur="400"/>
                                        <p:tgtEl>
                                          <p:spTgt spid="28"/>
                                        </p:tgtEl>
                                      </p:cBhvr>
                                    </p:animEffect>
                                  </p:childTnLst>
                                </p:cTn>
                              </p:par>
                              <p:par>
                                <p:cTn id="64" presetID="10" presetClass="entr" presetSubtype="0" fill="hold" nodeType="withEffect">
                                  <p:stCondLst>
                                    <p:cond delay="0"/>
                                  </p:stCondLst>
                                  <p:childTnLst>
                                    <p:set>
                                      <p:cBhvr>
                                        <p:cTn id="65" dur="1" fill="hold">
                                          <p:stCondLst>
                                            <p:cond delay="0"/>
                                          </p:stCondLst>
                                        </p:cTn>
                                        <p:tgtEl>
                                          <p:spTgt spid="29"/>
                                        </p:tgtEl>
                                        <p:attrNameLst>
                                          <p:attrName>style.visibility</p:attrName>
                                        </p:attrNameLst>
                                      </p:cBhvr>
                                      <p:to>
                                        <p:strVal val="visible"/>
                                      </p:to>
                                    </p:set>
                                    <p:animEffect transition="in" filter="fade">
                                      <p:cBhvr>
                                        <p:cTn id="66" dur="400"/>
                                        <p:tgtEl>
                                          <p:spTgt spid="29"/>
                                        </p:tgtEl>
                                      </p:cBhvr>
                                    </p:animEffect>
                                  </p:childTnLst>
                                </p:cTn>
                              </p:par>
                              <p:par>
                                <p:cTn id="67" presetID="10" presetClass="entr" presetSubtype="0" fill="hold" nodeType="withEffect">
                                  <p:stCondLst>
                                    <p:cond delay="0"/>
                                  </p:stCondLst>
                                  <p:childTnLst>
                                    <p:set>
                                      <p:cBhvr>
                                        <p:cTn id="68" dur="1" fill="hold">
                                          <p:stCondLst>
                                            <p:cond delay="0"/>
                                          </p:stCondLst>
                                        </p:cTn>
                                        <p:tgtEl>
                                          <p:spTgt spid="13"/>
                                        </p:tgtEl>
                                        <p:attrNameLst>
                                          <p:attrName>style.visibility</p:attrName>
                                        </p:attrNameLst>
                                      </p:cBhvr>
                                      <p:to>
                                        <p:strVal val="visible"/>
                                      </p:to>
                                    </p:set>
                                    <p:animEffect transition="in" filter="fade">
                                      <p:cBhvr>
                                        <p:cTn id="69" dur="400"/>
                                        <p:tgtEl>
                                          <p:spTgt spid="13"/>
                                        </p:tgtEl>
                                      </p:cBhvr>
                                    </p:animEffect>
                                  </p:childTnLst>
                                </p:cTn>
                              </p:par>
                              <p:par>
                                <p:cTn id="70" presetID="10" presetClass="entr" presetSubtype="0" fill="hold" nodeType="withEffect">
                                  <p:stCondLst>
                                    <p:cond delay="0"/>
                                  </p:stCondLst>
                                  <p:childTnLst>
                                    <p:set>
                                      <p:cBhvr>
                                        <p:cTn id="71" dur="1" fill="hold">
                                          <p:stCondLst>
                                            <p:cond delay="0"/>
                                          </p:stCondLst>
                                        </p:cTn>
                                        <p:tgtEl>
                                          <p:spTgt spid="12"/>
                                        </p:tgtEl>
                                        <p:attrNameLst>
                                          <p:attrName>style.visibility</p:attrName>
                                        </p:attrNameLst>
                                      </p:cBhvr>
                                      <p:to>
                                        <p:strVal val="visible"/>
                                      </p:to>
                                    </p:set>
                                    <p:animEffect transition="in" filter="fade">
                                      <p:cBhvr>
                                        <p:cTn id="72" dur="400"/>
                                        <p:tgtEl>
                                          <p:spTgt spid="12"/>
                                        </p:tgtEl>
                                      </p:cBhvr>
                                    </p:animEffect>
                                  </p:childTnLst>
                                </p:cTn>
                              </p:par>
                            </p:childTnLst>
                          </p:cTn>
                        </p:par>
                      </p:childTnLst>
                    </p:cTn>
                  </p:par>
                  <p:par>
                    <p:cTn id="73" fill="hold">
                      <p:stCondLst>
                        <p:cond delay="200"/>
                      </p:stCondLst>
                      <p:childTnLst>
                        <p:par>
                          <p:cTn id="74" fill="hold">
                            <p:stCondLst>
                              <p:cond delay="0"/>
                            </p:stCondLst>
                            <p:childTnLst>
                              <p:par>
                                <p:cTn id="75" presetID="10" presetClass="entr" presetSubtype="0" fill="hold" nodeType="clickEffect">
                                  <p:stCondLst>
                                    <p:cond delay="0"/>
                                  </p:stCondLst>
                                  <p:childTnLst>
                                    <p:set>
                                      <p:cBhvr>
                                        <p:cTn id="76" dur="1" fill="hold">
                                          <p:stCondLst>
                                            <p:cond delay="0"/>
                                          </p:stCondLst>
                                        </p:cTn>
                                        <p:tgtEl>
                                          <p:spTgt spid="31"/>
                                        </p:tgtEl>
                                        <p:attrNameLst>
                                          <p:attrName>style.visibility</p:attrName>
                                        </p:attrNameLst>
                                      </p:cBhvr>
                                      <p:to>
                                        <p:strVal val="visible"/>
                                      </p:to>
                                    </p:set>
                                    <p:animEffect transition="in" filter="fade">
                                      <p:cBhvr>
                                        <p:cTn id="77" dur="400"/>
                                        <p:tgtEl>
                                          <p:spTgt spid="31"/>
                                        </p:tgtEl>
                                      </p:cBhvr>
                                    </p:animEffect>
                                  </p:childTnLst>
                                </p:cTn>
                              </p:par>
                              <p:par>
                                <p:cTn id="78" presetID="10" presetClass="entr" presetSubtype="0" fill="hold" nodeType="withEffect">
                                  <p:stCondLst>
                                    <p:cond delay="0"/>
                                  </p:stCondLst>
                                  <p:childTnLst>
                                    <p:set>
                                      <p:cBhvr>
                                        <p:cTn id="79" dur="1" fill="hold">
                                          <p:stCondLst>
                                            <p:cond delay="0"/>
                                          </p:stCondLst>
                                        </p:cTn>
                                        <p:tgtEl>
                                          <p:spTgt spid="32"/>
                                        </p:tgtEl>
                                        <p:attrNameLst>
                                          <p:attrName>style.visibility</p:attrName>
                                        </p:attrNameLst>
                                      </p:cBhvr>
                                      <p:to>
                                        <p:strVal val="visible"/>
                                      </p:to>
                                    </p:set>
                                    <p:animEffect transition="in" filter="fade">
                                      <p:cBhvr>
                                        <p:cTn id="80" dur="400"/>
                                        <p:tgtEl>
                                          <p:spTgt spid="32"/>
                                        </p:tgtEl>
                                      </p:cBhvr>
                                    </p:animEffect>
                                  </p:childTnLst>
                                </p:cTn>
                              </p:par>
                              <p:par>
                                <p:cTn id="81" presetID="10" presetClass="entr" presetSubtype="0" fill="hold" nodeType="withEffect">
                                  <p:stCondLst>
                                    <p:cond delay="0"/>
                                  </p:stCondLst>
                                  <p:childTnLst>
                                    <p:set>
                                      <p:cBhvr>
                                        <p:cTn id="82" dur="1" fill="hold">
                                          <p:stCondLst>
                                            <p:cond delay="0"/>
                                          </p:stCondLst>
                                        </p:cTn>
                                        <p:tgtEl>
                                          <p:spTgt spid="15"/>
                                        </p:tgtEl>
                                        <p:attrNameLst>
                                          <p:attrName>style.visibility</p:attrName>
                                        </p:attrNameLst>
                                      </p:cBhvr>
                                      <p:to>
                                        <p:strVal val="visible"/>
                                      </p:to>
                                    </p:set>
                                    <p:animEffect transition="in" filter="fade">
                                      <p:cBhvr>
                                        <p:cTn id="83" dur="400"/>
                                        <p:tgtEl>
                                          <p:spTgt spid="15"/>
                                        </p:tgtEl>
                                      </p:cBhvr>
                                    </p:animEffect>
                                  </p:childTnLst>
                                </p:cTn>
                              </p:par>
                              <p:par>
                                <p:cTn id="84" presetID="10" presetClass="entr" presetSubtype="0" fill="hold" nodeType="withEffect">
                                  <p:stCondLst>
                                    <p:cond delay="0"/>
                                  </p:stCondLst>
                                  <p:childTnLst>
                                    <p:set>
                                      <p:cBhvr>
                                        <p:cTn id="85" dur="1" fill="hold">
                                          <p:stCondLst>
                                            <p:cond delay="0"/>
                                          </p:stCondLst>
                                        </p:cTn>
                                        <p:tgtEl>
                                          <p:spTgt spid="14"/>
                                        </p:tgtEl>
                                        <p:attrNameLst>
                                          <p:attrName>style.visibility</p:attrName>
                                        </p:attrNameLst>
                                      </p:cBhvr>
                                      <p:to>
                                        <p:strVal val="visible"/>
                                      </p:to>
                                    </p:set>
                                    <p:animEffect transition="in" filter="fade">
                                      <p:cBhvr>
                                        <p:cTn id="86" dur="4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158304C-5A88-4E74-8F87-7A0943278825}">
  <we:reference id="wa200010001" version="1.0.0.1" store="en-US" storeType="OMEX"/>
  <we:alternateReferences>
    <we:reference id="wa200010001" version="1.0.0.1" store="en-US" storeType="OMEX"/>
  </we:alternateReferences>
  <we:properties>
    <we:property name="claude.fileId" value="&quot;9fa04c96-0cfd-4bc2-85fd-1c549d8db7d4&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0</TotalTime>
  <Words>2011</Words>
  <Application>Microsoft Office PowerPoint</Application>
  <PresentationFormat>Widescreen</PresentationFormat>
  <Paragraphs>207</Paragraphs>
  <Slides>16</Slides>
  <Notes>16</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16</vt:i4>
      </vt:variant>
    </vt:vector>
  </HeadingPairs>
  <TitlesOfParts>
    <vt:vector size="21" baseType="lpstr">
      <vt:lpstr>Aptos</vt: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Mahmoud Abdelaziz</cp:lastModifiedBy>
  <cp:revision>4</cp:revision>
  <dcterms:created xsi:type="dcterms:W3CDTF">2026-08-28T17:32:46Z</dcterms:created>
  <dcterms:modified xsi:type="dcterms:W3CDTF">2026-08-30T09:31:27Z</dcterms:modified>
</cp:coreProperties>
</file>