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8.png" ContentType="image/png"/>
  <Override PartName="/ppt/media/image27.png" ContentType="image/png"/>
  <Override PartName="/ppt/media/image26.png" ContentType="image/png"/>
  <Override PartName="/ppt/media/image7.png" ContentType="image/png"/>
  <Override PartName="/ppt/media/image16.png" ContentType="image/png"/>
  <Override PartName="/ppt/media/image8.svg" ContentType="image/svg"/>
  <Override PartName="/ppt/media/image4.svg" ContentType="image/svg"/>
  <Override PartName="/ppt/media/image11.png" ContentType="image/png"/>
  <Override PartName="/ppt/media/image29.svg" ContentType="image/svg"/>
  <Override PartName="/ppt/media/image18.png" ContentType="image/png"/>
  <Override PartName="/ppt/media/image9.png" ContentType="image/png"/>
  <Override PartName="/ppt/media/image31.svg" ContentType="image/svg"/>
  <Override PartName="/ppt/media/image20.png" ContentType="image/png"/>
  <Override PartName="/ppt/media/image13.png" ContentType="image/png"/>
  <Override PartName="/ppt/media/image30.png" ContentType="image/png"/>
  <Override PartName="/ppt/media/image32.png" ContentType="image/png"/>
  <Override PartName="/ppt/media/image3.png" ContentType="image/png"/>
  <Override PartName="/ppt/media/image24.svg" ContentType="image/svg"/>
  <Override PartName="/ppt/media/image5.png" ContentType="image/png"/>
  <Override PartName="/ppt/media/image14.png" ContentType="image/png"/>
  <Override PartName="/ppt/media/image6.svg" ContentType="image/svg"/>
  <Override PartName="/ppt/media/image2.svg" ContentType="image/svg"/>
  <Override PartName="/ppt/media/image33.png" ContentType="image/png"/>
  <Override PartName="/ppt/media/image1.png" ContentType="image/png"/>
  <Override PartName="/ppt/media/image15.png" ContentType="image/png"/>
  <Override PartName="/ppt/media/image17.png" ContentType="image/png"/>
  <Override PartName="/ppt/media/image19.png" ContentType="image/png"/>
  <Override PartName="/ppt/media/image21.png" ContentType="image/png"/>
  <Override PartName="/ppt/media/image22.png" ContentType="image/png"/>
  <Override PartName="/ppt/media/image10.svg" ContentType="image/svg"/>
  <Override PartName="/ppt/media/image23.png" ContentType="image/png"/>
  <Override PartName="/ppt/media/image25.png" ContentType="image/png"/>
  <Override PartName="/ppt/media/image12.svg" ContentType="image/svg"/>
  <Override PartName="/ppt/slides/_rels/slide9.xml.rels" ContentType="application/vnd.openxmlformats-package.relationships+xml"/>
  <Override PartName="/ppt/slides/_rels/slide1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Slides/_rels/notesSlide9.xml.rels" ContentType="application/vnd.openxmlformats-package.relationships+xml"/>
  <Override PartName="/ppt/notesSlides/_rels/notesSlide6.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5.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_rels/notesSlide4.xml.rels" ContentType="application/vnd.openxmlformats-package.relationships+xml"/>
  <Override PartName="/ppt/notesSlides/_rels/notesSlide11.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ineChart>
        <c:grouping val="standard"/>
        <c:varyColors val="0"/>
        <c:ser>
          <c:idx val="0"/>
          <c:order val="0"/>
          <c:tx>
            <c:strRef>
              <c:f>label 0</c:f>
              <c:strCache>
                <c:ptCount val="1"/>
                <c:pt idx="0">
                  <c:v>Injuries / 1,000 90s</c:v>
                </c:pt>
              </c:strCache>
            </c:strRef>
          </c:tx>
          <c:spPr>
            <a:solidFill>
              <a:srgbClr val="c0392b"/>
            </a:solidFill>
            <a:ln w="34920">
              <a:solidFill>
                <a:srgbClr val="c0392b"/>
              </a:solidFill>
              <a:round/>
            </a:ln>
          </c:spPr>
          <c:marker>
            <c:symbol val="circle"/>
            <c:size val="9"/>
            <c:spPr>
              <a:solidFill>
                <a:srgbClr val="c0392b"/>
              </a:solidFill>
            </c:spPr>
          </c:marker>
          <c:dLbls>
            <c:numFmt formatCode="0.00" sourceLinked="0"/>
            <c:txPr>
              <a:bodyPr wrap="square"/>
              <a:lstStyle/>
              <a:p>
                <a:pPr>
                  <a:defRPr b="1" sz="1200" strike="noStrike" u="none">
                    <a:solidFill>
                      <a:srgbClr val="c0392b"/>
                    </a:solidFill>
                    <a:uFillTx/>
                    <a:latin typeface="Calibri"/>
                  </a:defRPr>
                </a:pPr>
              </a:p>
            </c:txPr>
            <c:dLblPos val="t"/>
            <c:showLegendKey val="0"/>
            <c:showVal val="1"/>
            <c:showCatName val="0"/>
            <c:showSerName val="0"/>
            <c:showPercent val="0"/>
            <c:separator>; </c:separator>
            <c:showLeaderLines val="1"/>
            <c:leaderLines>
              <c:spPr>
                <a:ln w="34920">
                  <a:solidFill>
                    <a:srgbClr val="000000"/>
                  </a:solidFill>
                </a:ln>
              </c:spPr>
            </c:leaderLines>
            <c:extLst>
              <c:ext xmlns:c15="http://schemas.microsoft.com/office/drawing/2012/chart" uri="{CE6537A1-D6FC-4f65-9D91-7224C49458BB}">
                <c15:showLeaderLines val="1"/>
              </c:ext>
            </c:extLst>
          </c:dLbls>
          <c:cat>
            <c:strRef>
              <c:f>categories</c:f>
              <c:strCache>
                <c:ptCount val="4"/>
                <c:pt idx="0">
                  <c:v>21–24
(emerging)</c:v>
                </c:pt>
                <c:pt idx="1">
                  <c:v>25–28
(prime)</c:v>
                </c:pt>
                <c:pt idx="2">
                  <c:v>29–32
(established)</c:v>
                </c:pt>
                <c:pt idx="3">
                  <c:v>33+
(veteran)</c:v>
                </c:pt>
              </c:strCache>
            </c:strRef>
          </c:cat>
          <c:val>
            <c:numRef>
              <c:f>0</c:f>
              <c:numCache>
                <c:formatCode>General</c:formatCode>
                <c:ptCount val="4"/>
                <c:pt idx="0">
                  <c:v>2.49</c:v>
                </c:pt>
                <c:pt idx="1">
                  <c:v>3.97</c:v>
                </c:pt>
                <c:pt idx="2">
                  <c:v>3.22</c:v>
                </c:pt>
                <c:pt idx="3">
                  <c:v>5.95</c:v>
                </c:pt>
              </c:numCache>
            </c:numRef>
          </c:val>
          <c:smooth val="0"/>
        </c:ser>
        <c:hiLowLines>
          <c:spPr>
            <a:ln w="0">
              <a:noFill/>
            </a:ln>
          </c:spPr>
        </c:hiLowLines>
        <c:marker val="1"/>
        <c:axId val="47552226"/>
        <c:axId val="92999427"/>
      </c:lineChart>
      <c:catAx>
        <c:axId val="47552226"/>
        <c:scaling>
          <c:orientation val="minMax"/>
        </c:scaling>
        <c:delete val="0"/>
        <c:axPos val="b"/>
        <c:numFmt formatCode="[$-409]mm/dd/yyyy" sourceLinked="1"/>
        <c:majorTickMark val="out"/>
        <c:minorTickMark val="none"/>
        <c:tickLblPos val="nextTo"/>
        <c:spPr>
          <a:ln w="6480">
            <a:solidFill>
              <a:srgbClr val="e3e6ec"/>
            </a:solidFill>
            <a:round/>
          </a:ln>
        </c:spPr>
        <c:txPr>
          <a:bodyPr/>
          <a:lstStyle/>
          <a:p>
            <a:pPr>
              <a:defRPr b="0" sz="1100" strike="noStrike" u="none">
                <a:solidFill>
                  <a:srgbClr val="44506b"/>
                </a:solidFill>
                <a:uFillTx/>
                <a:latin typeface="Calibri"/>
              </a:defRPr>
            </a:pPr>
          </a:p>
        </c:txPr>
        <c:crossAx val="92999427"/>
        <c:crosses val="autoZero"/>
        <c:auto val="1"/>
        <c:lblAlgn val="ctr"/>
        <c:lblOffset val="100"/>
        <c:noMultiLvlLbl val="0"/>
      </c:catAx>
      <c:valAx>
        <c:axId val="92999427"/>
        <c:scaling>
          <c:orientation val="minMax"/>
          <c:max val="7"/>
          <c:min val="0"/>
        </c:scaling>
        <c:delete val="0"/>
        <c:axPos val="l"/>
        <c:majorGridlines>
          <c:spPr>
            <a:ln w="6480">
              <a:solidFill>
                <a:srgbClr val="e3e6ec"/>
              </a:solidFill>
              <a:round/>
            </a:ln>
          </c:spPr>
        </c:majorGridlines>
        <c:numFmt formatCode="General" sourceLinked="1"/>
        <c:majorTickMark val="out"/>
        <c:minorTickMark val="none"/>
        <c:tickLblPos val="nextTo"/>
        <c:spPr>
          <a:ln w="6480">
            <a:noFill/>
          </a:ln>
        </c:spPr>
        <c:txPr>
          <a:bodyPr/>
          <a:lstStyle/>
          <a:p>
            <a:pPr>
              <a:defRPr b="0" sz="1100" strike="noStrike" u="none">
                <a:solidFill>
                  <a:srgbClr val="44506b"/>
                </a:solidFill>
                <a:uFillTx/>
                <a:latin typeface="Calibri"/>
              </a:defRPr>
            </a:pPr>
          </a:p>
        </c:txPr>
        <c:crossAx val="47552226"/>
        <c:crosses val="autoZero"/>
        <c:crossBetween val="between"/>
      </c:valAx>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Injuries / 1,000 90s</c:v>
                </c:pt>
              </c:strCache>
            </c:strRef>
          </c:tx>
          <c:spPr>
            <a:solidFill>
              <a:srgbClr val="b9c0ce"/>
            </a:solidFill>
            <a:ln w="0">
              <a:noFill/>
            </a:ln>
          </c:spPr>
          <c:invertIfNegative val="0"/>
          <c:dPt>
            <c:idx val="3"/>
            <c:invertIfNegative val="0"/>
            <c:spPr>
              <a:solidFill>
                <a:srgbClr val="0f1b3d"/>
              </a:solidFill>
              <a:ln w="0">
                <a:noFill/>
              </a:ln>
            </c:spPr>
          </c:dPt>
          <c:dLbls>
            <c:numFmt formatCode="0.00" sourceLinked="0"/>
            <c:dLbl>
              <c:idx val="3"/>
              <c:numFmt formatCode="0.00" sourceLinked="0"/>
              <c:txPr>
                <a:bodyPr wrap="square"/>
                <a:lstStyle/>
                <a:p>
                  <a:pPr>
                    <a:defRPr b="1" sz="1200" strike="noStrike" u="none">
                      <a:solidFill>
                        <a:srgbClr val="44506b"/>
                      </a:solidFill>
                      <a:uFillTx/>
                      <a:latin typeface="Calibri"/>
                    </a:defRPr>
                  </a:pPr>
                </a:p>
              </c:txPr>
              <c:dLblPos val="outEnd"/>
              <c:showLegendKey val="0"/>
              <c:showVal val="1"/>
              <c:showCatName val="0"/>
              <c:showSerName val="0"/>
              <c:showPercent val="0"/>
              <c:separator>; </c:separator>
            </c:dLbl>
            <c:txPr>
              <a:bodyPr wrap="square"/>
              <a:lstStyle/>
              <a:p>
                <a:pPr>
                  <a:defRPr b="1" sz="1200" strike="noStrike" u="none">
                    <a:solidFill>
                      <a:srgbClr val="44506b"/>
                    </a:solidFill>
                    <a:uFillTx/>
                    <a:latin typeface="Calibri"/>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4"/>
                <c:pt idx="0">
                  <c:v>Attack</c:v>
                </c:pt>
                <c:pt idx="1">
                  <c:v>Midfield</c:v>
                </c:pt>
                <c:pt idx="2">
                  <c:v>Defender</c:v>
                </c:pt>
                <c:pt idx="3">
                  <c:v>Goalkeeper</c:v>
                </c:pt>
              </c:strCache>
            </c:strRef>
          </c:cat>
          <c:val>
            <c:numRef>
              <c:f>0</c:f>
              <c:numCache>
                <c:formatCode>General</c:formatCode>
                <c:ptCount val="4"/>
                <c:pt idx="0">
                  <c:v>4.15</c:v>
                </c:pt>
                <c:pt idx="1">
                  <c:v>4.23</c:v>
                </c:pt>
                <c:pt idx="2">
                  <c:v>4.3</c:v>
                </c:pt>
                <c:pt idx="3">
                  <c:v>2.32</c:v>
                </c:pt>
              </c:numCache>
            </c:numRef>
          </c:val>
        </c:ser>
        <c:gapWidth val="60"/>
        <c:overlap val="0"/>
        <c:axId val="11838208"/>
        <c:axId val="10792032"/>
      </c:barChart>
      <c:catAx>
        <c:axId val="11838208"/>
        <c:scaling>
          <c:orientation val="minMax"/>
        </c:scaling>
        <c:delete val="0"/>
        <c:axPos val="b"/>
        <c:numFmt formatCode="[$-409]mm/dd/yyyy" sourceLinked="1"/>
        <c:majorTickMark val="out"/>
        <c:minorTickMark val="none"/>
        <c:tickLblPos val="nextTo"/>
        <c:spPr>
          <a:ln w="6480">
            <a:solidFill>
              <a:srgbClr val="e3e6ec"/>
            </a:solidFill>
            <a:round/>
          </a:ln>
        </c:spPr>
        <c:txPr>
          <a:bodyPr/>
          <a:lstStyle/>
          <a:p>
            <a:pPr>
              <a:defRPr b="0" sz="1200" strike="noStrike" u="none">
                <a:solidFill>
                  <a:srgbClr val="44506b"/>
                </a:solidFill>
                <a:uFillTx/>
                <a:latin typeface="Calibri"/>
              </a:defRPr>
            </a:pPr>
          </a:p>
        </c:txPr>
        <c:crossAx val="10792032"/>
        <c:crosses val="autoZero"/>
        <c:auto val="1"/>
        <c:lblAlgn val="ctr"/>
        <c:lblOffset val="100"/>
        <c:noMultiLvlLbl val="0"/>
      </c:catAx>
      <c:valAx>
        <c:axId val="10792032"/>
        <c:scaling>
          <c:orientation val="minMax"/>
          <c:max val="5.5"/>
          <c:min val="0"/>
        </c:scaling>
        <c:delete val="0"/>
        <c:axPos val="l"/>
        <c:majorGridlines>
          <c:spPr>
            <a:ln w="6480">
              <a:solidFill>
                <a:srgbClr val="e3e6ec"/>
              </a:solidFill>
              <a:round/>
            </a:ln>
          </c:spPr>
        </c:majorGridlines>
        <c:numFmt formatCode="General" sourceLinked="1"/>
        <c:majorTickMark val="out"/>
        <c:minorTickMark val="none"/>
        <c:tickLblPos val="nextTo"/>
        <c:spPr>
          <a:ln w="6480">
            <a:noFill/>
          </a:ln>
        </c:spPr>
        <c:txPr>
          <a:bodyPr/>
          <a:lstStyle/>
          <a:p>
            <a:pPr>
              <a:defRPr b="0" sz="1000" strike="noStrike" u="none">
                <a:solidFill>
                  <a:srgbClr val="44506b"/>
                </a:solidFill>
                <a:uFillTx/>
                <a:latin typeface="Calibri"/>
              </a:defRPr>
            </a:pPr>
          </a:p>
        </c:txPr>
        <c:crossAx val="11838208"/>
        <c:crosses val="autoZero"/>
        <c:crossBetween val="between"/>
      </c:valAx>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barChart>
        <c:barDir val="bar"/>
        <c:grouping val="clustered"/>
        <c:varyColors val="0"/>
        <c:ser>
          <c:idx val="0"/>
          <c:order val="0"/>
          <c:tx>
            <c:strRef>
              <c:f>label 0</c:f>
              <c:strCache>
                <c:ptCount val="1"/>
                <c:pt idx="0">
                  <c:v>Accuracy (%)</c:v>
                </c:pt>
              </c:strCache>
            </c:strRef>
          </c:tx>
          <c:spPr>
            <a:solidFill>
              <a:srgbClr val="4472c4"/>
            </a:solidFill>
            <a:ln w="0">
              <a:noFill/>
            </a:ln>
          </c:spPr>
          <c:invertIfNegative val="0"/>
          <c:dPt>
            <c:idx val="0"/>
            <c:invertIfNegative val="0"/>
            <c:spPr>
              <a:noFill/>
              <a:ln w="22320">
                <a:solidFill>
                  <a:srgbClr val="44506b"/>
                </a:solidFill>
                <a:prstDash val="dash"/>
                <a:round/>
              </a:ln>
            </c:spPr>
          </c:dPt>
          <c:dPt>
            <c:idx val="1"/>
            <c:invertIfNegative val="0"/>
            <c:spPr>
              <a:solidFill>
                <a:srgbClr val="c0392b"/>
              </a:solidFill>
              <a:ln w="0">
                <a:noFill/>
              </a:ln>
            </c:spPr>
          </c:dPt>
          <c:dLbls>
            <c:numFmt formatCode="0.0\%" sourceLinked="0"/>
            <c:dLbl>
              <c:idx val="0"/>
              <c:numFmt formatCode="0.0\%" sourceLinked="0"/>
              <c:txPr>
                <a:bodyPr wrap="square"/>
                <a:lstStyle/>
                <a:p>
                  <a:pPr>
                    <a:defRPr b="1" sz="1300" strike="noStrike" u="none">
                      <a:solidFill>
                        <a:srgbClr val="44506b"/>
                      </a:solidFill>
                      <a:uFillTx/>
                      <a:latin typeface="Calibri"/>
                    </a:defRPr>
                  </a:pPr>
                </a:p>
              </c:txPr>
              <c:dLblPos val="outEnd"/>
              <c:showLegendKey val="0"/>
              <c:showVal val="1"/>
              <c:showCatName val="0"/>
              <c:showSerName val="0"/>
              <c:showPercent val="0"/>
              <c:separator>; </c:separator>
            </c:dLbl>
            <c:dLbl>
              <c:idx val="1"/>
              <c:numFmt formatCode="0.0\%" sourceLinked="0"/>
              <c:txPr>
                <a:bodyPr wrap="square"/>
                <a:lstStyle/>
                <a:p>
                  <a:pPr>
                    <a:defRPr b="1" sz="1300" strike="noStrike" u="none">
                      <a:solidFill>
                        <a:srgbClr val="44506b"/>
                      </a:solidFill>
                      <a:uFillTx/>
                      <a:latin typeface="Calibri"/>
                    </a:defRPr>
                  </a:pPr>
                </a:p>
              </c:txPr>
              <c:dLblPos val="outEnd"/>
              <c:showLegendKey val="0"/>
              <c:showVal val="1"/>
              <c:showCatName val="0"/>
              <c:showSerName val="0"/>
              <c:showPercent val="0"/>
              <c:separator>; </c:separator>
            </c:dLbl>
            <c:txPr>
              <a:bodyPr wrap="square"/>
              <a:lstStyle/>
              <a:p>
                <a:pPr>
                  <a:defRPr b="1" sz="1300" strike="noStrike" u="none">
                    <a:solidFill>
                      <a:srgbClr val="44506b"/>
                    </a:solidFill>
                    <a:uFillTx/>
                    <a:latin typeface="Calibri"/>
                  </a:defRPr>
                </a:pPr>
              </a:p>
            </c:txPr>
            <c:dLblPos val="outEnd"/>
            <c:showLegendKey val="0"/>
            <c:showVal val="1"/>
            <c:showCatName val="0"/>
            <c:showSerName val="0"/>
            <c:showPercent val="0"/>
            <c:separator>; </c:separator>
            <c:showLeaderLines val="1"/>
            <c:extLst>
              <c:ext xmlns:c15="http://schemas.microsoft.com/office/drawing/2012/chart" uri="{CE6537A1-D6FC-4f65-9D91-7224C49458BB}">
                <c15:showLeaderLines val="1"/>
              </c:ext>
            </c:extLst>
          </c:dLbls>
          <c:cat>
            <c:strRef>
              <c:f>categories</c:f>
              <c:strCache>
                <c:ptCount val="2"/>
                <c:pt idx="0">
                  <c:v>Coin-flip
baseline</c:v>
                </c:pt>
                <c:pt idx="1">
                  <c:v>Model
(backtested)</c:v>
                </c:pt>
              </c:strCache>
            </c:strRef>
          </c:cat>
          <c:val>
            <c:numRef>
              <c:f>0</c:f>
              <c:numCache>
                <c:formatCode>General</c:formatCode>
                <c:ptCount val="2"/>
                <c:pt idx="0">
                  <c:v>50</c:v>
                </c:pt>
                <c:pt idx="1">
                  <c:v>22.7</c:v>
                </c:pt>
              </c:numCache>
            </c:numRef>
          </c:val>
        </c:ser>
        <c:gapWidth val="70"/>
        <c:overlap val="0"/>
        <c:axId val="3505694"/>
        <c:axId val="23505859"/>
      </c:barChart>
      <c:catAx>
        <c:axId val="3505694"/>
        <c:scaling>
          <c:orientation val="minMax"/>
        </c:scaling>
        <c:delete val="0"/>
        <c:axPos val="b"/>
        <c:numFmt formatCode="[$-409]mm/dd/yyyy" sourceLinked="1"/>
        <c:majorTickMark val="out"/>
        <c:minorTickMark val="none"/>
        <c:tickLblPos val="nextTo"/>
        <c:spPr>
          <a:ln w="6480">
            <a:solidFill>
              <a:srgbClr val="e3e6ec"/>
            </a:solidFill>
            <a:round/>
          </a:ln>
        </c:spPr>
        <c:txPr>
          <a:bodyPr/>
          <a:lstStyle/>
          <a:p>
            <a:pPr>
              <a:defRPr b="0" sz="1200" strike="noStrike" u="none">
                <a:solidFill>
                  <a:srgbClr val="44506b"/>
                </a:solidFill>
                <a:uFillTx/>
                <a:latin typeface="Calibri"/>
              </a:defRPr>
            </a:pPr>
          </a:p>
        </c:txPr>
        <c:crossAx val="23505859"/>
        <c:crosses val="autoZero"/>
        <c:auto val="1"/>
        <c:lblAlgn val="ctr"/>
        <c:lblOffset val="100"/>
        <c:noMultiLvlLbl val="0"/>
      </c:catAx>
      <c:valAx>
        <c:axId val="23505859"/>
        <c:scaling>
          <c:orientation val="minMax"/>
          <c:max val="60"/>
          <c:min val="0"/>
        </c:scaling>
        <c:delete val="0"/>
        <c:axPos val="l"/>
        <c:majorGridlines>
          <c:spPr>
            <a:ln w="6480">
              <a:solidFill>
                <a:srgbClr val="e3e6ec"/>
              </a:solidFill>
              <a:round/>
            </a:ln>
          </c:spPr>
        </c:majorGridlines>
        <c:numFmt formatCode="General" sourceLinked="1"/>
        <c:majorTickMark val="out"/>
        <c:minorTickMark val="none"/>
        <c:tickLblPos val="nextTo"/>
        <c:spPr>
          <a:ln w="6480">
            <a:noFill/>
          </a:ln>
        </c:spPr>
        <c:txPr>
          <a:bodyPr/>
          <a:lstStyle/>
          <a:p>
            <a:pPr>
              <a:defRPr b="0" sz="1000" strike="noStrike" u="none">
                <a:solidFill>
                  <a:srgbClr val="44506b"/>
                </a:solidFill>
                <a:uFillTx/>
                <a:latin typeface="Calibri"/>
              </a:defRPr>
            </a:pPr>
          </a:p>
        </c:txPr>
        <c:crossAx val="3505694"/>
        <c:crosses val="autoZero"/>
        <c:crossBetween val="between"/>
      </c:valAx>
      <c:spPr>
        <a:noFill/>
        <a:ln w="0">
          <a:noFill/>
        </a:ln>
      </c:spPr>
    </c:plotArea>
    <c:plotVisOnly val="1"/>
    <c:dispBlanksAs val="gap"/>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Coverage</c:v>
                </c:pt>
              </c:strCache>
            </c:strRef>
          </c:tx>
          <c:spPr>
            <a:solidFill>
              <a:srgbClr val="4472c4"/>
            </a:solidFill>
            <a:ln w="9360">
              <a:solidFill>
                <a:srgbClr val="f9f9f9"/>
              </a:solidFill>
              <a:round/>
            </a:ln>
          </c:spPr>
          <c:explosion val="0"/>
          <c:dPt>
            <c:idx val="0"/>
            <c:spPr>
              <a:solidFill>
                <a:srgbClr val="e8a33d"/>
              </a:solidFill>
              <a:ln w="38160">
                <a:solidFill>
                  <a:srgbClr val="0f1b3d"/>
                </a:solidFill>
                <a:round/>
              </a:ln>
            </c:spPr>
          </c:dPt>
          <c:dPt>
            <c:idx val="1"/>
            <c:spPr>
              <a:solidFill>
                <a:srgbClr val="8494c4"/>
              </a:solidFill>
              <a:ln w="38160">
                <a:solidFill>
                  <a:srgbClr val="0f1b3d"/>
                </a:solidFill>
                <a:round/>
              </a:ln>
            </c:spPr>
          </c:dPt>
          <c:dLbls>
            <c:dLbl>
              <c:idx val="0"/>
              <c:txPr>
                <a:bodyPr wrap="square"/>
                <a:lstStyle/>
                <a:p>
                  <a:pPr>
                    <a:defRPr b="0" sz="1000" strike="noStrike" u="none">
                      <a:solidFill>
                        <a:srgbClr val="000000"/>
                      </a:solidFill>
                      <a:uFillTx/>
                      <a:latin typeface="Calibri"/>
                    </a:defRPr>
                  </a:pPr>
                </a:p>
              </c:txPr>
              <c:showLegendKey val="0"/>
              <c:showVal val="0"/>
              <c:showCatName val="0"/>
              <c:showSerName val="0"/>
              <c:showPercent val="0"/>
              <c:separator>; </c:separator>
            </c:dLbl>
            <c:dLbl>
              <c:idx val="1"/>
              <c:txPr>
                <a:bodyPr wrap="square"/>
                <a:lstStyle/>
                <a:p>
                  <a:pPr>
                    <a:defRPr b="0" sz="1000" strike="noStrike" u="none">
                      <a:solidFill>
                        <a:srgbClr val="000000"/>
                      </a:solidFill>
                      <a:uFillTx/>
                      <a:latin typeface="Calibri"/>
                    </a:defRPr>
                  </a:pPr>
                </a:p>
              </c:txPr>
              <c:showLegendKey val="0"/>
              <c:showVal val="0"/>
              <c:showCatName val="0"/>
              <c:showSerName val="0"/>
              <c:showPercent val="0"/>
              <c:separator>; </c:separator>
            </c:dLbl>
            <c:txPr>
              <a:bodyPr wrap="square"/>
              <a:lstStyle/>
              <a:p>
                <a:pPr>
                  <a:defRPr b="0" sz="1000" strike="noStrike" u="none">
                    <a:solidFill>
                      <a:srgbClr val="000000"/>
                    </a:solidFill>
                    <a:uFillTx/>
                    <a:latin typeface="Calibri"/>
                  </a:defRPr>
                </a:pPr>
              </a:p>
            </c:txPr>
            <c:showLegendKey val="0"/>
            <c:showVal val="0"/>
            <c:showCatName val="0"/>
            <c:showSerName val="0"/>
            <c:showPercent val="0"/>
            <c:separator>; </c:separator>
            <c:showLeaderLines val="0"/>
            <c:leaderLines>
              <c:spPr>
                <a:ln>
                  <a:solidFill>
                    <a:srgbClr val="f9f9f9"/>
                  </a:solidFill>
                </a:ln>
              </c:spPr>
            </c:leaderLines>
          </c:dLbls>
          <c:cat>
            <c:strRef>
              <c:f>categories</c:f>
              <c:strCache>
                <c:ptCount val="2"/>
                <c:pt idx="0">
                  <c:v>Excluded (no data)</c:v>
                </c:pt>
                <c:pt idx="1">
                  <c:v>Included in analysis</c:v>
                </c:pt>
              </c:strCache>
            </c:strRef>
          </c:cat>
          <c:val>
            <c:numRef>
              <c:f>0</c:f>
              <c:numCache>
                <c:formatCode>General</c:formatCode>
                <c:ptCount val="2"/>
                <c:pt idx="0">
                  <c:v>67</c:v>
                </c:pt>
                <c:pt idx="1">
                  <c:v>33</c:v>
                </c:pt>
              </c:numCache>
            </c:numRef>
          </c:val>
        </c:ser>
        <c:firstSliceAng val="0"/>
        <c:holeSize val="50"/>
      </c:doughnutChart>
      <c:spPr>
        <a:noFill/>
        <a:ln w="0">
          <a:noFill/>
        </a:ln>
      </c:spPr>
    </c:plotArea>
    <c:plotVisOnly val="1"/>
    <c:dispBlanksAs val="span"/>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trike="noStrike" u="none">
                <a:solidFill>
                  <a:schemeClr val="dk1"/>
                </a:solidFill>
                <a:effectLst/>
                <a:uFillTx/>
                <a:latin typeface="Calibri"/>
              </a:rPr>
              <a:t>Click to move the slide</a:t>
            </a:r>
            <a:endParaRPr b="0" lang="en-US" sz="1800" strike="noStrike" u="none">
              <a:solidFill>
                <a:schemeClr val="dk1"/>
              </a:solidFill>
              <a:effectLst/>
              <a:uFillTx/>
              <a:latin typeface="Calibri"/>
            </a:endParaRPr>
          </a:p>
        </p:txBody>
      </p:sp>
      <p:sp>
        <p:nvSpPr>
          <p:cNvPr id="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F80A6A98-816A-4AB9-9134-D3B46AC5C7C8}" type="slidenum">
              <a:rPr b="0" lang="en-US" sz="1400" strike="noStrike" u="none">
                <a:solidFill>
                  <a:srgbClr val="000000"/>
                </a:solidFill>
                <a:effectLst/>
                <a:uFillTx/>
                <a:latin typeface="Times New Roman"/>
              </a:rPr>
              <a:t>1</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07" name="PlaceHolder 3"/>
          <p:cNvSpPr>
            <a:spLocks noGrp="1"/>
          </p:cNvSpPr>
          <p:nvPr>
            <p:ph type="sldNum" idx="4"/>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485B09AF-BD72-4C0D-9849-A4A6ECEFB58F}"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sldImg"/>
          </p:nvPr>
        </p:nvSpPr>
        <p:spPr>
          <a:xfrm>
            <a:off x="0" y="0"/>
            <a:ext cx="0" cy="0"/>
          </a:xfrm>
          <a:prstGeom prst="rect">
            <a:avLst/>
          </a:prstGeom>
          <a:ln w="0">
            <a:noFill/>
          </a:ln>
        </p:spPr>
      </p:sp>
      <p:sp>
        <p:nvSpPr>
          <p:cNvPr id="40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10" name="PlaceHolder 3"/>
          <p:cNvSpPr>
            <a:spLocks noGrp="1"/>
          </p:cNvSpPr>
          <p:nvPr>
            <p:ph type="sldNum" idx="5"/>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F279BEAC-C563-458D-A264-F5F0FDC76717}"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sldImg"/>
          </p:nvPr>
        </p:nvSpPr>
        <p:spPr>
          <a:xfrm>
            <a:off x="0" y="0"/>
            <a:ext cx="0" cy="0"/>
          </a:xfrm>
          <a:prstGeom prst="rect">
            <a:avLst/>
          </a:prstGeom>
          <a:ln w="0">
            <a:noFill/>
          </a:ln>
        </p:spPr>
      </p:sp>
      <p:sp>
        <p:nvSpPr>
          <p:cNvPr id="41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13" name="PlaceHolder 3"/>
          <p:cNvSpPr>
            <a:spLocks noGrp="1"/>
          </p:cNvSpPr>
          <p:nvPr>
            <p:ph type="sldNum" idx="6"/>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0E7C5E22-8801-4BB8-A366-FE907C401192}"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sldImg"/>
          </p:nvPr>
        </p:nvSpPr>
        <p:spPr>
          <a:xfrm>
            <a:off x="0" y="0"/>
            <a:ext cx="0" cy="0"/>
          </a:xfrm>
          <a:prstGeom prst="rect">
            <a:avLst/>
          </a:prstGeom>
          <a:ln w="0">
            <a:noFill/>
          </a:ln>
        </p:spPr>
      </p:sp>
      <p:sp>
        <p:nvSpPr>
          <p:cNvPr id="41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16" name="PlaceHolder 3"/>
          <p:cNvSpPr>
            <a:spLocks noGrp="1"/>
          </p:cNvSpPr>
          <p:nvPr>
            <p:ph type="sldNum" idx="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F508855B-2021-4D76-8780-0C2AFBD312EF}"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sldImg"/>
          </p:nvPr>
        </p:nvSpPr>
        <p:spPr>
          <a:xfrm>
            <a:off x="0" y="0"/>
            <a:ext cx="0" cy="0"/>
          </a:xfrm>
          <a:prstGeom prst="rect">
            <a:avLst/>
          </a:prstGeom>
          <a:ln w="0">
            <a:noFill/>
          </a:ln>
        </p:spPr>
      </p:sp>
      <p:sp>
        <p:nvSpPr>
          <p:cNvPr id="41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19" name="PlaceHolder 3"/>
          <p:cNvSpPr>
            <a:spLocks noGrp="1"/>
          </p:cNvSpPr>
          <p:nvPr>
            <p:ph type="sldNum" idx="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1ACF036B-C800-4D0D-B3A9-54E0D5787F04}"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sldImg"/>
          </p:nvPr>
        </p:nvSpPr>
        <p:spPr>
          <a:xfrm>
            <a:off x="0" y="0"/>
            <a:ext cx="0" cy="0"/>
          </a:xfrm>
          <a:prstGeom prst="rect">
            <a:avLst/>
          </a:prstGeom>
          <a:ln w="0">
            <a:noFill/>
          </a:ln>
        </p:spPr>
      </p:sp>
      <p:sp>
        <p:nvSpPr>
          <p:cNvPr id="421"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lnSpc>
                <a:spcPct val="100000"/>
              </a:lnSpc>
              <a:buNone/>
            </a:pPr>
            <a:r>
              <a:rPr b="0" lang="en-US" sz="2000" strike="noStrike" u="none">
                <a:solidFill>
                  <a:srgbClr val="000000"/>
                </a:solidFill>
                <a:effectLst/>
                <a:uFillTx/>
                <a:latin typeface="Arial"/>
              </a:rPr>
              <a:t>One-sided Mann-Whitney test is significant, p approx 0.0000, but at ~30,000 snapshots that can happen even when the typical case barely differs. Median value change rounds to 0% for all injured buckets alike. No-injury players show +11.11% raw, +4.35% after excluding low-starting-valuation snapshots that look like breakout-debut artifacts rather than real injury effects.</a:t>
            </a:r>
            <a:endParaRPr b="0" lang="en-US" sz="2000" strike="noStrike" u="none">
              <a:solidFill>
                <a:srgbClr val="000000"/>
              </a:solidFill>
              <a:effectLst/>
              <a:uFillTx/>
              <a:latin typeface="Arial"/>
            </a:endParaRPr>
          </a:p>
        </p:txBody>
      </p:sp>
      <p:sp>
        <p:nvSpPr>
          <p:cNvPr id="422" name="PlaceHolder 3"/>
          <p:cNvSpPr>
            <a:spLocks noGrp="1"/>
          </p:cNvSpPr>
          <p:nvPr>
            <p:ph type="sldNum" idx="9"/>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53BF1C9A-F39A-4BC0-BB11-C2CFEF088F9D}"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sldImg"/>
          </p:nvPr>
        </p:nvSpPr>
        <p:spPr>
          <a:xfrm>
            <a:off x="0" y="0"/>
            <a:ext cx="0" cy="0"/>
          </a:xfrm>
          <a:prstGeom prst="rect">
            <a:avLst/>
          </a:prstGeom>
          <a:ln w="0">
            <a:noFill/>
          </a:ln>
        </p:spPr>
      </p:sp>
      <p:sp>
        <p:nvSpPr>
          <p:cNvPr id="424"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lnSpc>
                <a:spcPct val="100000"/>
              </a:lnSpc>
              <a:buNone/>
            </a:pPr>
            <a:r>
              <a:rPr b="0" lang="en-US" sz="2000" strike="noStrike" u="none">
                <a:solidFill>
                  <a:srgbClr val="000000"/>
                </a:solidFill>
                <a:effectLst/>
                <a:uFillTx/>
                <a:latin typeface="Arial"/>
              </a:rPr>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endParaRPr b="0" lang="en-US" sz="2000" strike="noStrike" u="none">
              <a:solidFill>
                <a:srgbClr val="000000"/>
              </a:solidFill>
              <a:effectLst/>
              <a:uFillTx/>
              <a:latin typeface="Arial"/>
            </a:endParaRPr>
          </a:p>
        </p:txBody>
      </p:sp>
      <p:sp>
        <p:nvSpPr>
          <p:cNvPr id="425" name="PlaceHolder 3"/>
          <p:cNvSpPr>
            <a:spLocks noGrp="1"/>
          </p:cNvSpPr>
          <p:nvPr>
            <p:ph type="sldNum" idx="10"/>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AB320D99-7FA6-4D20-AEF8-099175B52F71}"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sldImg"/>
          </p:nvPr>
        </p:nvSpPr>
        <p:spPr>
          <a:xfrm>
            <a:off x="0" y="0"/>
            <a:ext cx="0" cy="0"/>
          </a:xfrm>
          <a:prstGeom prst="rect">
            <a:avLst/>
          </a:prstGeom>
          <a:ln w="0">
            <a:noFill/>
          </a:ln>
        </p:spPr>
      </p:sp>
      <p:sp>
        <p:nvSpPr>
          <p:cNvPr id="427"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lnSpc>
                <a:spcPct val="100000"/>
              </a:lnSpc>
              <a:buNone/>
            </a:pPr>
            <a:r>
              <a:rPr b="0" lang="en-US" sz="2000" strike="noStrike" u="none">
                <a:solidFill>
                  <a:srgbClr val="000000"/>
                </a:solidFill>
                <a:effectLst/>
                <a:uFillTx/>
                <a:latin typeface="Arial"/>
              </a:rPr>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endParaRPr b="0" lang="en-US" sz="2000" strike="noStrike" u="none">
              <a:solidFill>
                <a:srgbClr val="000000"/>
              </a:solidFill>
              <a:effectLst/>
              <a:uFillTx/>
              <a:latin typeface="Arial"/>
            </a:endParaRPr>
          </a:p>
        </p:txBody>
      </p:sp>
      <p:sp>
        <p:nvSpPr>
          <p:cNvPr id="428" name="PlaceHolder 3"/>
          <p:cNvSpPr>
            <a:spLocks noGrp="1"/>
          </p:cNvSpPr>
          <p:nvPr>
            <p:ph type="sldNum" idx="11"/>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99509A02-3B95-4A36-BE43-0618C0EB4656}"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PlaceHolder 1"/>
          <p:cNvSpPr>
            <a:spLocks noGrp="1"/>
          </p:cNvSpPr>
          <p:nvPr>
            <p:ph type="sldImg"/>
          </p:nvPr>
        </p:nvSpPr>
        <p:spPr>
          <a:xfrm>
            <a:off x="0" y="0"/>
            <a:ext cx="0" cy="0"/>
          </a:xfrm>
          <a:prstGeom prst="rect">
            <a:avLst/>
          </a:prstGeom>
          <a:ln w="0">
            <a:noFill/>
          </a:ln>
        </p:spPr>
      </p:sp>
      <p:sp>
        <p:nvSpPr>
          <p:cNvPr id="430"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lnSpc>
                <a:spcPct val="100000"/>
              </a:lnSpc>
              <a:buNone/>
            </a:pPr>
            <a:r>
              <a:rPr b="0" lang="en-US" sz="2000" strike="noStrike" u="none">
                <a:solidFill>
                  <a:srgbClr val="000000"/>
                </a:solidFill>
                <a:effectLst/>
                <a:uFillTx/>
                <a:latin typeface="Arial"/>
              </a:rPr>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a:t>
            </a:r>
            <a:endParaRPr b="0" lang="en-US" sz="2000" strike="noStrike" u="none">
              <a:solidFill>
                <a:srgbClr val="000000"/>
              </a:solidFill>
              <a:effectLst/>
              <a:uFillTx/>
              <a:latin typeface="Arial"/>
            </a:endParaRPr>
          </a:p>
        </p:txBody>
      </p:sp>
      <p:sp>
        <p:nvSpPr>
          <p:cNvPr id="431" name="PlaceHolder 3"/>
          <p:cNvSpPr>
            <a:spLocks noGrp="1"/>
          </p:cNvSpPr>
          <p:nvPr>
            <p:ph type="sldNum" idx="12"/>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9A5F713F-BB7C-4711-9590-53CA96C268B9}"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sldImg"/>
          </p:nvPr>
        </p:nvSpPr>
        <p:spPr>
          <a:xfrm>
            <a:off x="0" y="0"/>
            <a:ext cx="0" cy="0"/>
          </a:xfrm>
          <a:prstGeom prst="rect">
            <a:avLst/>
          </a:prstGeom>
          <a:ln w="0">
            <a:noFill/>
          </a:ln>
        </p:spPr>
      </p:sp>
      <p:sp>
        <p:nvSpPr>
          <p:cNvPr id="433"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34" name="PlaceHolder 3"/>
          <p:cNvSpPr>
            <a:spLocks noGrp="1"/>
          </p:cNvSpPr>
          <p:nvPr>
            <p:ph type="sldNum" idx="13"/>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A3EB83D7-9BCD-4225-A363-263BA068CEB7}"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5" name="PlaceHolder 1"/>
          <p:cNvSpPr>
            <a:spLocks noGrp="1"/>
          </p:cNvSpPr>
          <p:nvPr>
            <p:ph type="sldImg"/>
          </p:nvPr>
        </p:nvSpPr>
        <p:spPr>
          <a:xfrm>
            <a:off x="0" y="0"/>
            <a:ext cx="0" cy="0"/>
          </a:xfrm>
          <a:prstGeom prst="rect">
            <a:avLst/>
          </a:prstGeom>
          <a:ln w="0">
            <a:noFill/>
          </a:ln>
        </p:spPr>
      </p:sp>
      <p:sp>
        <p:nvSpPr>
          <p:cNvPr id="436"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lnSpc>
                <a:spcPct val="100000"/>
              </a:lnSpc>
              <a:buNone/>
            </a:pPr>
            <a:r>
              <a:rPr b="0" lang="en-US" sz="2000" strike="noStrike" u="none">
                <a:solidFill>
                  <a:srgbClr val="000000"/>
                </a:solidFill>
                <a:effectLst/>
                <a:uFillTx/>
                <a:latin typeface="Arial"/>
              </a:rPr>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endParaRPr b="0" lang="en-US" sz="2000" strike="noStrike" u="none">
              <a:solidFill>
                <a:srgbClr val="000000"/>
              </a:solidFill>
              <a:effectLst/>
              <a:uFillTx/>
              <a:latin typeface="Arial"/>
            </a:endParaRPr>
          </a:p>
        </p:txBody>
      </p:sp>
      <p:sp>
        <p:nvSpPr>
          <p:cNvPr id="437" name="PlaceHolder 3"/>
          <p:cNvSpPr>
            <a:spLocks noGrp="1"/>
          </p:cNvSpPr>
          <p:nvPr>
            <p:ph type="sldNum" idx="14"/>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D8ED1222-9E77-49FF-B561-EE31E44E9EEF}"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type="sldImg"/>
          </p:nvPr>
        </p:nvSpPr>
        <p:spPr>
          <a:xfrm>
            <a:off x="0" y="0"/>
            <a:ext cx="0" cy="0"/>
          </a:xfrm>
          <a:prstGeom prst="rect">
            <a:avLst/>
          </a:prstGeom>
          <a:ln w="0">
            <a:noFill/>
          </a:ln>
        </p:spPr>
      </p:sp>
      <p:sp>
        <p:nvSpPr>
          <p:cNvPr id="439"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lnSpc>
                <a:spcPct val="100000"/>
              </a:lnSpc>
              <a:buNone/>
            </a:pPr>
            <a:r>
              <a:rPr b="0" lang="en-US" sz="2000" strike="noStrike" u="none">
                <a:solidFill>
                  <a:srgbClr val="000000"/>
                </a:solidFill>
                <a:effectLst/>
                <a:uFillTx/>
                <a:latin typeface="Arial"/>
              </a:rPr>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endParaRPr b="0" lang="en-US" sz="2000" strike="noStrike" u="none">
              <a:solidFill>
                <a:srgbClr val="000000"/>
              </a:solidFill>
              <a:effectLst/>
              <a:uFillTx/>
              <a:latin typeface="Arial"/>
            </a:endParaRPr>
          </a:p>
        </p:txBody>
      </p:sp>
      <p:sp>
        <p:nvSpPr>
          <p:cNvPr id="440" name="PlaceHolder 3"/>
          <p:cNvSpPr>
            <a:spLocks noGrp="1"/>
          </p:cNvSpPr>
          <p:nvPr>
            <p:ph type="sldNum" idx="15"/>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tabLst>
                <a:tab algn="l" pos="0"/>
              </a:tabLst>
              <a:defRPr b="0" lang="en-US" sz="1800" strike="noStrike" u="none">
                <a:solidFill>
                  <a:srgbClr val="000000"/>
                </a:solidFill>
                <a:effectLst/>
                <a:uFillTx/>
                <a:latin typeface="Aptos"/>
                <a:ea typeface="+mn-ea"/>
              </a:defRPr>
            </a:lvl1pPr>
          </a:lstStyle>
          <a:p>
            <a:pPr indent="0" defTabSz="914400">
              <a:lnSpc>
                <a:spcPct val="100000"/>
              </a:lnSpc>
              <a:buNone/>
              <a:tabLst>
                <a:tab algn="l" pos="0"/>
              </a:tabLst>
            </a:pPr>
            <a:fld id="{A27771DF-7438-4280-A59E-12CCCDF62916}" type="slidenum">
              <a:rPr b="0" lang="en-US" sz="1800" strike="noStrike" u="none">
                <a:solidFill>
                  <a:srgbClr val="000000"/>
                </a:solidFill>
                <a:effectLst/>
                <a:uFillTx/>
                <a:latin typeface="Aptos"/>
                <a:ea typeface="+mn-ea"/>
              </a:rPr>
              <a:t>&lt;number&gt;</a:t>
            </a:fld>
            <a:endParaRPr b="0" lang="en-US" sz="18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1" name="PlaceHolder 1"/>
          <p:cNvSpPr>
            <a:spLocks noGrp="1"/>
          </p:cNvSpPr>
          <p:nvPr>
            <p:ph type="sldImg"/>
          </p:nvPr>
        </p:nvSpPr>
        <p:spPr>
          <a:xfrm>
            <a:off x="0" y="0"/>
            <a:ext cx="0" cy="0"/>
          </a:xfrm>
          <a:prstGeom prst="rect">
            <a:avLst/>
          </a:prstGeom>
          <a:ln w="0">
            <a:noFill/>
          </a:ln>
        </p:spPr>
      </p:sp>
      <p:sp>
        <p:nvSpPr>
          <p:cNvPr id="442"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43" name="PlaceHolder 3"/>
          <p:cNvSpPr>
            <a:spLocks noGrp="1"/>
          </p:cNvSpPr>
          <p:nvPr>
            <p:ph type="sldNum" idx="16"/>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99223038-AF24-4F5B-B629-860F79D4D1E1}"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type="sldImg"/>
          </p:nvPr>
        </p:nvSpPr>
        <p:spPr>
          <a:xfrm>
            <a:off x="0" y="0"/>
            <a:ext cx="0" cy="0"/>
          </a:xfrm>
          <a:prstGeom prst="rect">
            <a:avLst/>
          </a:prstGeom>
          <a:ln w="0">
            <a:noFill/>
          </a:ln>
        </p:spPr>
      </p:sp>
      <p:sp>
        <p:nvSpPr>
          <p:cNvPr id="445"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46" name="PlaceHolder 3"/>
          <p:cNvSpPr>
            <a:spLocks noGrp="1"/>
          </p:cNvSpPr>
          <p:nvPr>
            <p:ph type="sldNum" idx="17"/>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D3D411F8-0E0E-4408-B919-3A8AE2D16B5A}"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sldImg"/>
          </p:nvPr>
        </p:nvSpPr>
        <p:spPr>
          <a:xfrm>
            <a:off x="0" y="0"/>
            <a:ext cx="0" cy="0"/>
          </a:xfrm>
          <a:prstGeom prst="rect">
            <a:avLst/>
          </a:prstGeom>
          <a:ln w="0">
            <a:noFill/>
          </a:ln>
        </p:spPr>
      </p:sp>
      <p:sp>
        <p:nvSpPr>
          <p:cNvPr id="448" name="PlaceHolder 2"/>
          <p:cNvSpPr>
            <a:spLocks noGrp="1"/>
          </p:cNvSpPr>
          <p:nvPr>
            <p:ph type="body"/>
          </p:nvPr>
        </p:nvSpPr>
        <p:spPr>
          <a:xfrm>
            <a:off x="0" y="0"/>
            <a:ext cx="0" cy="0"/>
          </a:xfrm>
          <a:prstGeom prst="rect">
            <a:avLst/>
          </a:prstGeom>
          <a:noFill/>
          <a:ln w="0">
            <a:noFill/>
          </a:ln>
        </p:spPr>
        <p:txBody>
          <a:bodyPr lIns="90000" rIns="90000" tIns="-45000" bIns="-45000" anchor="t">
            <a:noAutofit/>
          </a:bodyPr>
          <a:p>
            <a:pPr indent="0">
              <a:buNone/>
            </a:pPr>
            <a:endParaRPr b="0" lang="en-US" sz="1800" strike="noStrike" u="none">
              <a:solidFill>
                <a:srgbClr val="000000"/>
              </a:solidFill>
              <a:effectLst/>
              <a:uFillTx/>
              <a:latin typeface="Arial"/>
            </a:endParaRPr>
          </a:p>
        </p:txBody>
      </p:sp>
      <p:sp>
        <p:nvSpPr>
          <p:cNvPr id="449" name="PlaceHolder 3"/>
          <p:cNvSpPr>
            <a:spLocks noGrp="1"/>
          </p:cNvSpPr>
          <p:nvPr>
            <p:ph type="sldNum" idx="18"/>
          </p:nvPr>
        </p:nvSpPr>
        <p:spPr>
          <a:xfrm>
            <a:off x="0" y="0"/>
            <a:ext cx="0" cy="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effectLst/>
                <a:uFillTx/>
                <a:latin typeface="+mn-lt"/>
                <a:ea typeface="+mn-ea"/>
              </a:defRPr>
            </a:lvl1pPr>
          </a:lstStyle>
          <a:p>
            <a:pPr indent="0" defTabSz="914400">
              <a:lnSpc>
                <a:spcPct val="100000"/>
              </a:lnSpc>
              <a:buNone/>
            </a:pPr>
            <a:fld id="{D585140D-7B5B-4463-9CCC-A55D14B417EE}" type="slidenum">
              <a:rPr b="0" lang="en-US" sz="1800" strike="noStrike" u="none">
                <a:solidFill>
                  <a:schemeClr val="dk1"/>
                </a:solidFill>
                <a:effectLst/>
                <a:uFillTx/>
                <a:latin typeface="+mn-lt"/>
                <a:ea typeface="+mn-ea"/>
              </a:rPr>
              <a:t>&lt;number&gt;</a:t>
            </a:fld>
            <a:endParaRPr b="0" lang="en-US" sz="18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effectLst/>
                <a:uFillTx/>
                <a:latin typeface="Calibri"/>
              </a:rPr>
              <a:t>Click to edit the title text format</a:t>
            </a:r>
            <a:endParaRPr b="0" lang="en-US" sz="1800" strike="noStrike" u="none">
              <a:solidFill>
                <a:schemeClr val="dk1"/>
              </a:solidFill>
              <a:effectLst/>
              <a:uFillTx/>
              <a:latin typeface="Calibri"/>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chemeClr val="dk1"/>
              </a:solidFill>
              <a:effectLst/>
              <a:uFillTx/>
              <a:latin typeface="Calibri"/>
            </a:endParaRPr>
          </a:p>
          <a:p>
            <a:pPr lvl="1" marL="864000" indent="-324000">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chemeClr val="dk1"/>
              </a:solidFill>
              <a:effectLst/>
              <a:uFillTx/>
              <a:latin typeface="Calibri"/>
            </a:endParaRPr>
          </a:p>
          <a:p>
            <a:pPr lvl="2" marL="1296000" indent="-288000">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chemeClr val="dk1"/>
              </a:solidFill>
              <a:effectLst/>
              <a:uFillTx/>
              <a:latin typeface="Calibri"/>
            </a:endParaRPr>
          </a:p>
          <a:p>
            <a:pPr lvl="3" marL="1728000" indent="-216000">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chemeClr val="dk1"/>
              </a:solidFill>
              <a:effectLst/>
              <a:uFillTx/>
              <a:latin typeface="Calibr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chemeClr val="dk1"/>
              </a:solidFill>
              <a:effectLst/>
              <a:uFillTx/>
              <a:latin typeface="Calibr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chemeClr val="dk1"/>
              </a:solidFill>
              <a:effectLst/>
              <a:uFillTx/>
              <a:latin typeface="Calibr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svg"/><Relationship Id="rId3" Type="http://schemas.openxmlformats.org/officeDocument/2006/relationships/slideLayout" Target="../slideLayouts/slideLayout1.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9.png"/><Relationship Id="rId8" Type="http://schemas.openxmlformats.org/officeDocument/2006/relationships/image" Target="../media/image10.svg"/><Relationship Id="rId9" Type="http://schemas.openxmlformats.org/officeDocument/2006/relationships/image" Target="../media/image11.png"/><Relationship Id="rId10" Type="http://schemas.openxmlformats.org/officeDocument/2006/relationships/image" Target="../media/image12.svg"/><Relationship Id="rId11" Type="http://schemas.openxmlformats.org/officeDocument/2006/relationships/slideLayout" Target="../slideLayouts/slideLayout1.xml"/><Relationship Id="rId1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slideLayout" Target="../slideLayouts/slideLayout1.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19.png"/><Relationship Id="rId6" Type="http://schemas.openxmlformats.org/officeDocument/2006/relationships/image" Target="../media/image19.png"/><Relationship Id="rId7" Type="http://schemas.openxmlformats.org/officeDocument/2006/relationships/image" Target="../media/image19.png"/><Relationship Id="rId8" Type="http://schemas.openxmlformats.org/officeDocument/2006/relationships/slideLayout" Target="../slideLayouts/slideLayout1.xml"/><Relationship Id="rId9"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svg"/><Relationship Id="rId7" Type="http://schemas.openxmlformats.org/officeDocument/2006/relationships/slideLayout" Target="../slideLayouts/slideLayout1.xml"/><Relationship Id="rId8"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3.png"/><Relationship Id="rId6" Type="http://schemas.openxmlformats.org/officeDocument/2006/relationships/image" Target="../media/image4.svg"/><Relationship Id="rId7" Type="http://schemas.openxmlformats.org/officeDocument/2006/relationships/chart" Target="../charts/chart1.xml"/><Relationship Id="rId8" Type="http://schemas.openxmlformats.org/officeDocument/2006/relationships/slideLayout" Target="../slideLayouts/slideLayout1.xml"/><Relationship Id="rId9"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chart" Target="../charts/chart2.xml"/><Relationship Id="rId8" Type="http://schemas.openxmlformats.org/officeDocument/2006/relationships/slideLayout" Target="../slideLayouts/slideLayout1.xml"/><Relationship Id="rId9"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6.png"/><Relationship Id="rId5" Type="http://schemas.openxmlformats.org/officeDocument/2006/relationships/image" Target="../media/image26.png"/><Relationship Id="rId6" Type="http://schemas.openxmlformats.org/officeDocument/2006/relationships/chart" Target="../charts/chart3.xml"/><Relationship Id="rId7" Type="http://schemas.openxmlformats.org/officeDocument/2006/relationships/slideLayout" Target="../slideLayouts/slideLayout1.xml"/><Relationship Id="rId8"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chart" Target="../charts/chart4.xml"/><Relationship Id="rId2" Type="http://schemas.openxmlformats.org/officeDocument/2006/relationships/image" Target="../media/image27.png"/><Relationship Id="rId3" Type="http://schemas.openxmlformats.org/officeDocument/2006/relationships/image" Target="../media/image27.png"/><Relationship Id="rId4" Type="http://schemas.openxmlformats.org/officeDocument/2006/relationships/image" Target="../media/image27.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svg"/><Relationship Id="rId8" Type="http://schemas.openxmlformats.org/officeDocument/2006/relationships/slideLayout" Target="../slideLayouts/slideLayout1.xml"/><Relationship Id="rId9"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hyperlink" Target="file:///mnt/data/Capstone%20project.%20Injury%20Risk%20in%20Premier%20League%20Recruitment.twbx" TargetMode="External"/><Relationship Id="rId2" Type="http://schemas.openxmlformats.org/officeDocument/2006/relationships/hyperlink" Target="file:///mnt/data/Capstone%20project.%20Injury%20Risk%20in%20Premier%20League%20Recruitment.twbx" TargetMode="External"/><Relationship Id="rId3" Type="http://schemas.openxmlformats.org/officeDocument/2006/relationships/hyperlink" Target="file:///mnt/data/Capstone%20project.%20Injury%20Risk%20in%20Premier%20League%20Recruitment.twbx" TargetMode="External"/><Relationship Id="rId4" Type="http://schemas.openxmlformats.org/officeDocument/2006/relationships/slideLayout" Target="../slideLayouts/slideLayout1.xml"/><Relationship Id="rId5"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30.png"/><Relationship Id="rId4" Type="http://schemas.openxmlformats.org/officeDocument/2006/relationships/image" Target="../media/image31.svg"/><Relationship Id="rId5" Type="http://schemas.openxmlformats.org/officeDocument/2006/relationships/slideLayout" Target="../slideLayouts/slideLayout1.xml"/><Relationship Id="rId6"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hyperlink" Target="https://github.com/Simba90m/capstone_project_worth_the_investment_PL" TargetMode="External"/><Relationship Id="rId3" Type="http://schemas.openxmlformats.org/officeDocument/2006/relationships/hyperlink" Target="https://github.com/Simba90m/capstone_project_worth_the_investment_PL" TargetMode="External"/><Relationship Id="rId4" Type="http://schemas.openxmlformats.org/officeDocument/2006/relationships/image" Target="../media/image1.png"/><Relationship Id="rId5" Type="http://schemas.openxmlformats.org/officeDocument/2006/relationships/image" Target="../media/image2.svg"/><Relationship Id="rId6" Type="http://schemas.openxmlformats.org/officeDocument/2006/relationships/slideLayout" Target="../slideLayouts/slideLayout1.xml"/><Relationship Id="rId7"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3.png"/><Relationship Id="rId3" Type="http://schemas.openxmlformats.org/officeDocument/2006/relationships/image" Target="../media/image33.png"/><Relationship Id="rId4" Type="http://schemas.openxmlformats.org/officeDocument/2006/relationships/image" Target="../media/image33.png"/><Relationship Id="rId5" Type="http://schemas.openxmlformats.org/officeDocument/2006/relationships/image" Target="../media/image33.png"/><Relationship Id="rId6" Type="http://schemas.openxmlformats.org/officeDocument/2006/relationships/slideLayout" Target="../slideLayouts/slideLayout1.xml"/><Relationship Id="rId7" Type="http://schemas.openxmlformats.org/officeDocument/2006/relationships/notesSlide" Target="../notesSlides/notesSlide15.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8" name="Pitch 900"/>
          <p:cNvSpPr/>
          <p:nvPr/>
        </p:nvSpPr>
        <p:spPr>
          <a:xfrm>
            <a:off x="762120" y="762120"/>
            <a:ext cx="10667520" cy="533376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9" name="Pitch 901"/>
          <p:cNvSpPr/>
          <p:nvPr/>
        </p:nvSpPr>
        <p:spPr>
          <a:xfrm>
            <a:off x="6095880" y="761760"/>
            <a:ext cx="360" cy="5334120"/>
          </a:xfrm>
          <a:prstGeom prst="line">
            <a:avLst/>
          </a:prstGeom>
          <a:ln w="15875">
            <a:solidFill>
              <a:srgbClr val="1a2a4e"/>
            </a:solidFill>
            <a:round/>
          </a:ln>
        </p:spPr>
        <p:style>
          <a:lnRef idx="0"/>
          <a:fillRef idx="0"/>
          <a:effectRef idx="0"/>
          <a:fontRef idx="minor"/>
        </p:style>
        <p:txBody>
          <a:bodyPr lIns="90000" rIns="90000" tIns="45000" bIns="45000" anchor="t">
            <a:noAutofit/>
          </a:bodyPr>
          <a:p>
            <a:endParaRPr b="0" lang="en-US" sz="1800" strike="noStrike" u="none">
              <a:solidFill>
                <a:schemeClr val="dk1"/>
              </a:solidFill>
              <a:effectLst/>
              <a:uFillTx/>
              <a:latin typeface="Calibri"/>
            </a:endParaRPr>
          </a:p>
        </p:txBody>
      </p:sp>
      <p:sp>
        <p:nvSpPr>
          <p:cNvPr id="10" name="Pitch 902"/>
          <p:cNvSpPr/>
          <p:nvPr/>
        </p:nvSpPr>
        <p:spPr>
          <a:xfrm>
            <a:off x="5207040" y="2540160"/>
            <a:ext cx="1777680" cy="1777680"/>
          </a:xfrm>
          <a:prstGeom prst="ellipse">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1" name="Pitch 903"/>
          <p:cNvSpPr/>
          <p:nvPr/>
        </p:nvSpPr>
        <p:spPr>
          <a:xfrm>
            <a:off x="6045120" y="3378240"/>
            <a:ext cx="101160" cy="101160"/>
          </a:xfrm>
          <a:prstGeom prst="ellipse">
            <a:avLst/>
          </a:prstGeom>
          <a:solidFill>
            <a:srgbClr val="1e2e55"/>
          </a:solidFill>
          <a:ln w="12700">
            <a:solidFill>
              <a:srgbClr val="1a2a4e"/>
            </a:solidFill>
            <a:round/>
          </a:ln>
        </p:spPr>
        <p:style>
          <a:lnRef idx="0"/>
          <a:fillRef idx="0"/>
          <a:effectRef idx="0"/>
          <a:fontRef idx="minor"/>
        </p:style>
        <p:txBody>
          <a:bodyPr lIns="90000" rIns="90000" tIns="26640" bIns="26640" anchor="t">
            <a:noAutofit/>
          </a:bodyPr>
          <a:p>
            <a:pPr defTabSz="914400">
              <a:lnSpc>
                <a:spcPct val="100000"/>
              </a:lnSpc>
            </a:pPr>
            <a:endParaRPr b="0" lang="en-US" sz="1800" strike="noStrike" u="none">
              <a:solidFill>
                <a:schemeClr val="dk1"/>
              </a:solidFill>
              <a:effectLst/>
              <a:uFillTx/>
              <a:latin typeface="Calibri"/>
            </a:endParaRPr>
          </a:p>
        </p:txBody>
      </p:sp>
      <p:sp>
        <p:nvSpPr>
          <p:cNvPr id="12" name="Pitch 904"/>
          <p:cNvSpPr/>
          <p:nvPr/>
        </p:nvSpPr>
        <p:spPr>
          <a:xfrm>
            <a:off x="762120" y="1905120"/>
            <a:ext cx="1523520" cy="304776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3" name="Pitch 905"/>
          <p:cNvSpPr/>
          <p:nvPr/>
        </p:nvSpPr>
        <p:spPr>
          <a:xfrm>
            <a:off x="762120" y="2666880"/>
            <a:ext cx="659880" cy="15235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4" name="Pitch 906"/>
          <p:cNvSpPr/>
          <p:nvPr/>
        </p:nvSpPr>
        <p:spPr>
          <a:xfrm>
            <a:off x="9906120" y="1905120"/>
            <a:ext cx="1523520" cy="304776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5" name="Pitch 907"/>
          <p:cNvSpPr/>
          <p:nvPr/>
        </p:nvSpPr>
        <p:spPr>
          <a:xfrm>
            <a:off x="10769760" y="2666880"/>
            <a:ext cx="659880" cy="15235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6" name="Shape 0"/>
          <p:cNvSpPr/>
          <p:nvPr/>
        </p:nvSpPr>
        <p:spPr>
          <a:xfrm>
            <a:off x="-36576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7" name="Shape 1"/>
          <p:cNvSpPr/>
          <p:nvPr/>
        </p:nvSpPr>
        <p:spPr>
          <a:xfrm>
            <a:off x="1182600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8" name="Shape 2"/>
          <p:cNvSpPr/>
          <p:nvPr/>
        </p:nvSpPr>
        <p:spPr>
          <a:xfrm>
            <a:off x="-36576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9" name="Shape 3"/>
          <p:cNvSpPr/>
          <p:nvPr/>
        </p:nvSpPr>
        <p:spPr>
          <a:xfrm>
            <a:off x="1182600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0" name="Shape 4"/>
          <p:cNvSpPr/>
          <p:nvPr/>
        </p:nvSpPr>
        <p:spPr>
          <a:xfrm>
            <a:off x="7589520" y="-4297680"/>
            <a:ext cx="5851800" cy="585180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1" name="Shape 5"/>
          <p:cNvSpPr/>
          <p:nvPr/>
        </p:nvSpPr>
        <p:spPr>
          <a:xfrm>
            <a:off x="10469880" y="-141732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22" name="Text 6"/>
          <p:cNvSpPr/>
          <p:nvPr/>
        </p:nvSpPr>
        <p:spPr>
          <a:xfrm>
            <a:off x="822960" y="169164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e8a33d"/>
                </a:solidFill>
                <a:effectLst/>
                <a:uFillTx/>
                <a:latin typeface="Calibri"/>
                <a:ea typeface="Calibri"/>
              </a:rPr>
              <a:t>DATA ANALYTICS CAPSTONE</a:t>
            </a:r>
            <a:endParaRPr b="0" lang="en-US" sz="1400" strike="noStrike" u="none">
              <a:solidFill>
                <a:srgbClr val="ffffff"/>
              </a:solidFill>
              <a:effectLst/>
              <a:uFillTx/>
              <a:latin typeface="Arial"/>
            </a:endParaRPr>
          </a:p>
        </p:txBody>
      </p:sp>
      <p:sp>
        <p:nvSpPr>
          <p:cNvPr id="23" name="Text 7"/>
          <p:cNvSpPr/>
          <p:nvPr/>
        </p:nvSpPr>
        <p:spPr>
          <a:xfrm>
            <a:off x="777240" y="2057400"/>
            <a:ext cx="10058040" cy="1371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5000" strike="noStrike" u="none">
                <a:solidFill>
                  <a:srgbClr val="ffffff"/>
                </a:solidFill>
                <a:effectLst/>
                <a:uFillTx/>
                <a:latin typeface="Cambria"/>
                <a:ea typeface="Cambria"/>
              </a:rPr>
              <a:t>Worth the Investment?</a:t>
            </a:r>
            <a:endParaRPr b="0" lang="en-US" sz="5000" strike="noStrike" u="none">
              <a:solidFill>
                <a:srgbClr val="ffffff"/>
              </a:solidFill>
              <a:effectLst/>
              <a:uFillTx/>
              <a:latin typeface="Arial"/>
            </a:endParaRPr>
          </a:p>
        </p:txBody>
      </p:sp>
      <p:sp>
        <p:nvSpPr>
          <p:cNvPr id="24" name="Text 8"/>
          <p:cNvSpPr/>
          <p:nvPr/>
        </p:nvSpPr>
        <p:spPr>
          <a:xfrm>
            <a:off x="822960" y="3310200"/>
            <a:ext cx="877788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900" strike="noStrike" u="none">
                <a:solidFill>
                  <a:srgbClr val="cadcfc"/>
                </a:solidFill>
                <a:effectLst/>
                <a:uFillTx/>
                <a:latin typeface="Calibri"/>
                <a:ea typeface="Calibri"/>
              </a:rPr>
              <a:t>Forecasting Player Value Trend &amp; Injury Risk for Premier League Recruitment Decisions</a:t>
            </a:r>
            <a:endParaRPr b="0" lang="en-US" sz="1900" strike="noStrike" u="none">
              <a:solidFill>
                <a:srgbClr val="ffffff"/>
              </a:solidFill>
              <a:effectLst/>
              <a:uFillTx/>
              <a:latin typeface="Arial"/>
            </a:endParaRPr>
          </a:p>
        </p:txBody>
      </p:sp>
      <p:sp>
        <p:nvSpPr>
          <p:cNvPr id="25" name="Shape 9"/>
          <p:cNvSpPr/>
          <p:nvPr/>
        </p:nvSpPr>
        <p:spPr>
          <a:xfrm>
            <a:off x="822960" y="4343400"/>
            <a:ext cx="82080" cy="548280"/>
          </a:xfrm>
          <a:prstGeom prst="roundRect">
            <a:avLst>
              <a:gd name="adj" fmla="val 16667"/>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6" name="Text 10"/>
          <p:cNvSpPr/>
          <p:nvPr/>
        </p:nvSpPr>
        <p:spPr>
          <a:xfrm>
            <a:off x="1051560" y="4343400"/>
            <a:ext cx="73148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trike="noStrike" u="none">
                <a:solidFill>
                  <a:srgbClr val="aeb8d6"/>
                </a:solidFill>
                <a:effectLst/>
                <a:uFillTx/>
                <a:latin typeface="Calibri"/>
                <a:ea typeface="Calibri"/>
              </a:rPr>
              <a:t>3 data sources  ·  3 stakeholders  ·  1 honest recruitment signal</a:t>
            </a:r>
            <a:endParaRPr b="0" lang="en-US" sz="1400" strike="noStrike" u="none">
              <a:solidFill>
                <a:srgbClr val="ffffff"/>
              </a:solidFill>
              <a:effectLst/>
              <a:uFillTx/>
              <a:latin typeface="Arial"/>
            </a:endParaRPr>
          </a:p>
        </p:txBody>
      </p:sp>
      <p:sp>
        <p:nvSpPr>
          <p:cNvPr id="27" name="Text 11"/>
          <p:cNvSpPr/>
          <p:nvPr/>
        </p:nvSpPr>
        <p:spPr>
          <a:xfrm>
            <a:off x="822960" y="5989320"/>
            <a:ext cx="96008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8e9bc4"/>
                </a:solidFill>
                <a:effectLst/>
                <a:uFillTx/>
                <a:latin typeface="Calibri"/>
                <a:ea typeface="Calibri"/>
              </a:rPr>
              <a:t>Mahmoud   ·   neue fische Data Analytics Bootcamp   ·   Capstone Event, Sep 29 2026</a:t>
            </a:r>
            <a:endParaRPr b="0" lang="en-US" sz="1300" strike="noStrike" u="none">
              <a:solidFill>
                <a:srgbClr val="ffffff"/>
              </a:solidFill>
              <a:effectLst/>
              <a:uFillTx/>
              <a:latin typeface="Arial"/>
            </a:endParaRPr>
          </a:p>
        </p:txBody>
      </p:sp>
      <p:pic>
        <p:nvPicPr>
          <p:cNvPr id="28" name="Graphic 908" descr="Soccer ball on the penalty spot"/>
          <p:cNvPicPr/>
          <p:nvPr/>
        </p:nvPicPr>
        <p:blipFill>
          <a:blip r:embed="rId1">
            <a:extLst>
              <a:ext uri="{96DAC541-7B7A-43D3-8B79-37D633B846F1}">
                <asvg:svgBlip xmlns:asvg="http://schemas.microsoft.com/office/drawing/2016/SVG/main" r:embed="rId2"/>
              </a:ext>
            </a:extLst>
          </a:blip>
          <a:stretch/>
        </p:blipFill>
        <p:spPr>
          <a:xfrm>
            <a:off x="10223640" y="3238560"/>
            <a:ext cx="380520" cy="380520"/>
          </a:xfrm>
          <a:prstGeom prst="rect">
            <a:avLst/>
          </a:prstGeom>
          <a:noFill/>
          <a:ln w="0">
            <a:noFill/>
          </a:ln>
        </p:spPr>
      </p:pic>
    </p:spTree>
  </p:cSld>
  <p:transition spd="med">
    <p:fade/>
  </p:transition>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0">
                                  <p:stCondLst>
                                    <p:cond delay="0"/>
                                  </p:stCondLst>
                                  <p:childTnLst>
                                    <p:set>
                                      <p:cBhvr>
                                        <p:cTn id="6" dur="1" fill="hold">
                                          <p:stCondLst>
                                            <p:cond delay="0"/>
                                          </p:stCondLst>
                                        </p:cTn>
                                        <p:tgtEl>
                                          <p:spTgt spid="24"/>
                                        </p:tgtEl>
                                        <p:attrNameLst>
                                          <p:attrName>style.visibility</p:attrName>
                                        </p:attrNameLst>
                                      </p:cBhvr>
                                      <p:to>
                                        <p:strVal val="visible"/>
                                      </p:to>
                                    </p:set>
                                    <p:animEffect filter="fade" transition="in">
                                      <p:cBhvr additive="repl">
                                        <p:cTn id="7" dur="6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nodeType="clickEffect" fill="hold" presetClass="entr" presetID="10">
                                  <p:stCondLst>
                                    <p:cond delay="0"/>
                                  </p:stCondLst>
                                  <p:childTnLst>
                                    <p:set>
                                      <p:cBhvr>
                                        <p:cTn id="11" dur="1" fill="hold">
                                          <p:stCondLst>
                                            <p:cond delay="0"/>
                                          </p:stCondLst>
                                        </p:cTn>
                                        <p:tgtEl>
                                          <p:spTgt spid="25"/>
                                        </p:tgtEl>
                                        <p:attrNameLst>
                                          <p:attrName>style.visibility</p:attrName>
                                        </p:attrNameLst>
                                      </p:cBhvr>
                                      <p:to>
                                        <p:strVal val="visible"/>
                                      </p:to>
                                    </p:set>
                                    <p:animEffect filter="fade" transition="in">
                                      <p:cBhvr additive="repl">
                                        <p:cTn id="12" dur="600"/>
                                        <p:tgtEl>
                                          <p:spTgt spid="25"/>
                                        </p:tgtEl>
                                      </p:cBhvr>
                                    </p:animEffect>
                                  </p:childTnLst>
                                </p:cTn>
                              </p:par>
                              <p:par>
                                <p:cTn id="13" nodeType="withEffect" fill="hold" presetClass="entr" presetID="10">
                                  <p:stCondLst>
                                    <p:cond delay="0"/>
                                  </p:stCondLst>
                                  <p:childTnLst>
                                    <p:set>
                                      <p:cBhvr>
                                        <p:cTn id="14" dur="1" fill="hold">
                                          <p:stCondLst>
                                            <p:cond delay="0"/>
                                          </p:stCondLst>
                                        </p:cTn>
                                        <p:tgtEl>
                                          <p:spTgt spid="26"/>
                                        </p:tgtEl>
                                        <p:attrNameLst>
                                          <p:attrName>style.visibility</p:attrName>
                                        </p:attrNameLst>
                                      </p:cBhvr>
                                      <p:to>
                                        <p:strVal val="visible"/>
                                      </p:to>
                                    </p:set>
                                    <p:animEffect filter="fade" transition="in">
                                      <p:cBhvr additive="repl">
                                        <p:cTn id="15" dur="600"/>
                                        <p:tgtEl>
                                          <p:spTgt spid="26"/>
                                        </p:tgtEl>
                                      </p:cBhvr>
                                    </p:animEffect>
                                  </p:childTnLst>
                                </p:cTn>
                              </p:par>
                            </p:childTnLst>
                          </p:cTn>
                        </p:par>
                      </p:childTnLst>
                    </p:cTn>
                  </p:par>
                  <p:par>
                    <p:cTn id="16" fill="hold">
                      <p:stCondLst>
                        <p:cond delay="indefinite"/>
                      </p:stCondLst>
                      <p:childTnLst>
                        <p:par>
                          <p:cTn id="17" fill="hold">
                            <p:stCondLst>
                              <p:cond delay="0"/>
                            </p:stCondLst>
                            <p:childTnLst>
                              <p:par>
                                <p:cTn id="18" nodeType="clickEffect" fill="hold" presetClass="entr" presetID="10">
                                  <p:stCondLst>
                                    <p:cond delay="0"/>
                                  </p:stCondLst>
                                  <p:childTnLst>
                                    <p:set>
                                      <p:cBhvr>
                                        <p:cTn id="19" dur="1" fill="hold">
                                          <p:stCondLst>
                                            <p:cond delay="0"/>
                                          </p:stCondLst>
                                        </p:cTn>
                                        <p:tgtEl>
                                          <p:spTgt spid="27"/>
                                        </p:tgtEl>
                                        <p:attrNameLst>
                                          <p:attrName>style.visibility</p:attrName>
                                        </p:attrNameLst>
                                      </p:cBhvr>
                                      <p:to>
                                        <p:strVal val="visible"/>
                                      </p:to>
                                    </p:set>
                                    <p:animEffect filter="fade" transition="in">
                                      <p:cBhvr additive="repl">
                                        <p:cTn id="20" dur="600"/>
                                        <p:tgtEl>
                                          <p:spTgt spid="2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29" name="Text 2"/>
          <p:cNvSpPr/>
          <p:nvPr/>
        </p:nvSpPr>
        <p:spPr>
          <a:xfrm>
            <a:off x="822960" y="59436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1f7a4d"/>
                </a:solidFill>
                <a:effectLst/>
                <a:uFillTx/>
                <a:latin typeface="Calibri"/>
                <a:ea typeface="Calibri"/>
              </a:rPr>
              <a:t>AGENDA</a:t>
            </a:r>
            <a:endParaRPr b="0" lang="en-US" sz="1400" strike="noStrike" u="none">
              <a:solidFill>
                <a:srgbClr val="000000"/>
              </a:solidFill>
              <a:effectLst/>
              <a:uFillTx/>
              <a:latin typeface="Arial"/>
            </a:endParaRPr>
          </a:p>
        </p:txBody>
      </p:sp>
      <p:sp>
        <p:nvSpPr>
          <p:cNvPr id="30" name="Text 3"/>
          <p:cNvSpPr/>
          <p:nvPr/>
        </p:nvSpPr>
        <p:spPr>
          <a:xfrm>
            <a:off x="777240" y="896040"/>
            <a:ext cx="82292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400" strike="noStrike" u="none">
                <a:solidFill>
                  <a:srgbClr val="1a1a1a"/>
                </a:solidFill>
                <a:effectLst/>
                <a:uFillTx/>
                <a:latin typeface="Cambria"/>
                <a:ea typeface="Cambria"/>
              </a:rPr>
              <a:t>What we'll cover</a:t>
            </a:r>
            <a:endParaRPr b="0" lang="en-US" sz="3400" strike="noStrike" u="none">
              <a:solidFill>
                <a:srgbClr val="000000"/>
              </a:solidFill>
              <a:effectLst/>
              <a:uFillTx/>
              <a:latin typeface="Arial"/>
            </a:endParaRPr>
          </a:p>
        </p:txBody>
      </p:sp>
      <p:sp>
        <p:nvSpPr>
          <p:cNvPr id="31" name="Shape 4"/>
          <p:cNvSpPr/>
          <p:nvPr/>
        </p:nvSpPr>
        <p:spPr>
          <a:xfrm>
            <a:off x="681120" y="1824120"/>
            <a:ext cx="849960" cy="84996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2" name="Shape 5"/>
          <p:cNvSpPr/>
          <p:nvPr/>
        </p:nvSpPr>
        <p:spPr>
          <a:xfrm>
            <a:off x="822960" y="1965960"/>
            <a:ext cx="566640" cy="56664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3" name="Text 6"/>
          <p:cNvSpPr/>
          <p:nvPr/>
        </p:nvSpPr>
        <p:spPr>
          <a:xfrm>
            <a:off x="1645920" y="1947600"/>
            <a:ext cx="7772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libri"/>
                <a:ea typeface="Calibri"/>
              </a:rPr>
              <a:t>The business question</a:t>
            </a:r>
            <a:endParaRPr b="0" lang="en-US" sz="1800" strike="noStrike" u="none">
              <a:solidFill>
                <a:srgbClr val="000000"/>
              </a:solidFill>
              <a:effectLst/>
              <a:uFillTx/>
              <a:latin typeface="Arial"/>
            </a:endParaRPr>
          </a:p>
        </p:txBody>
      </p:sp>
      <p:sp>
        <p:nvSpPr>
          <p:cNvPr id="34" name="Text 7"/>
          <p:cNvSpPr/>
          <p:nvPr/>
        </p:nvSpPr>
        <p:spPr>
          <a:xfrm>
            <a:off x="1645920" y="2286000"/>
            <a:ext cx="8686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Why value trend alone can mislead a recruitment call</a:t>
            </a:r>
            <a:endParaRPr b="0" lang="en-US" sz="1400" strike="noStrike" u="none">
              <a:solidFill>
                <a:srgbClr val="000000"/>
              </a:solidFill>
              <a:effectLst/>
              <a:uFillTx/>
              <a:latin typeface="Arial"/>
            </a:endParaRPr>
          </a:p>
        </p:txBody>
      </p:sp>
      <p:sp>
        <p:nvSpPr>
          <p:cNvPr id="35" name="Shape 8"/>
          <p:cNvSpPr/>
          <p:nvPr/>
        </p:nvSpPr>
        <p:spPr>
          <a:xfrm>
            <a:off x="681120" y="2720520"/>
            <a:ext cx="849960" cy="84996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6" name="Shape 9"/>
          <p:cNvSpPr/>
          <p:nvPr/>
        </p:nvSpPr>
        <p:spPr>
          <a:xfrm>
            <a:off x="822960" y="2862000"/>
            <a:ext cx="566640" cy="56664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7" name="Text 10"/>
          <p:cNvSpPr/>
          <p:nvPr/>
        </p:nvSpPr>
        <p:spPr>
          <a:xfrm>
            <a:off x="1645920" y="2843640"/>
            <a:ext cx="7772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libri"/>
                <a:ea typeface="Calibri"/>
              </a:rPr>
              <a:t>The data &amp; pipeline</a:t>
            </a:r>
            <a:endParaRPr b="0" lang="en-US" sz="1800" strike="noStrike" u="none">
              <a:solidFill>
                <a:srgbClr val="000000"/>
              </a:solidFill>
              <a:effectLst/>
              <a:uFillTx/>
              <a:latin typeface="Arial"/>
            </a:endParaRPr>
          </a:p>
        </p:txBody>
      </p:sp>
      <p:sp>
        <p:nvSpPr>
          <p:cNvPr id="38" name="Text 11"/>
          <p:cNvSpPr/>
          <p:nvPr/>
        </p:nvSpPr>
        <p:spPr>
          <a:xfrm>
            <a:off x="1645920" y="3182040"/>
            <a:ext cx="8686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Three sources, joined and modeled through dbt + DuckDB</a:t>
            </a:r>
            <a:endParaRPr b="0" lang="en-US" sz="1400" strike="noStrike" u="none">
              <a:solidFill>
                <a:srgbClr val="000000"/>
              </a:solidFill>
              <a:effectLst/>
              <a:uFillTx/>
              <a:latin typeface="Arial"/>
            </a:endParaRPr>
          </a:p>
        </p:txBody>
      </p:sp>
      <p:sp>
        <p:nvSpPr>
          <p:cNvPr id="39" name="Shape 12"/>
          <p:cNvSpPr/>
          <p:nvPr/>
        </p:nvSpPr>
        <p:spPr>
          <a:xfrm>
            <a:off x="681120" y="3616560"/>
            <a:ext cx="849960" cy="84996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0" name="Shape 13"/>
          <p:cNvSpPr/>
          <p:nvPr/>
        </p:nvSpPr>
        <p:spPr>
          <a:xfrm>
            <a:off x="822960" y="3758040"/>
            <a:ext cx="566640" cy="56664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1" name="Text 14"/>
          <p:cNvSpPr/>
          <p:nvPr/>
        </p:nvSpPr>
        <p:spPr>
          <a:xfrm>
            <a:off x="1645920" y="3740040"/>
            <a:ext cx="7772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libri"/>
                <a:ea typeface="Calibri"/>
              </a:rPr>
              <a:t>Three stakeholders, three hypotheses</a:t>
            </a:r>
            <a:endParaRPr b="0" lang="en-US" sz="1800" strike="noStrike" u="none">
              <a:solidFill>
                <a:srgbClr val="000000"/>
              </a:solidFill>
              <a:effectLst/>
              <a:uFillTx/>
              <a:latin typeface="Arial"/>
            </a:endParaRPr>
          </a:p>
        </p:txBody>
      </p:sp>
      <p:sp>
        <p:nvSpPr>
          <p:cNvPr id="42" name="Text 15"/>
          <p:cNvSpPr/>
          <p:nvPr/>
        </p:nvSpPr>
        <p:spPr>
          <a:xfrm>
            <a:off x="1645920" y="4078080"/>
            <a:ext cx="8686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Scouting, Front Office, and Medical/Performance staff</a:t>
            </a:r>
            <a:endParaRPr b="0" lang="en-US" sz="1400" strike="noStrike" u="none">
              <a:solidFill>
                <a:srgbClr val="000000"/>
              </a:solidFill>
              <a:effectLst/>
              <a:uFillTx/>
              <a:latin typeface="Arial"/>
            </a:endParaRPr>
          </a:p>
        </p:txBody>
      </p:sp>
      <p:sp>
        <p:nvSpPr>
          <p:cNvPr id="43" name="Shape 16"/>
          <p:cNvSpPr/>
          <p:nvPr/>
        </p:nvSpPr>
        <p:spPr>
          <a:xfrm>
            <a:off x="681120" y="4512600"/>
            <a:ext cx="849960" cy="84996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4" name="Shape 17"/>
          <p:cNvSpPr/>
          <p:nvPr/>
        </p:nvSpPr>
        <p:spPr>
          <a:xfrm>
            <a:off x="822960" y="4654440"/>
            <a:ext cx="566640" cy="56664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5" name="Text 18"/>
          <p:cNvSpPr/>
          <p:nvPr/>
        </p:nvSpPr>
        <p:spPr>
          <a:xfrm>
            <a:off x="1645920" y="4636080"/>
            <a:ext cx="7772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libri"/>
                <a:ea typeface="Calibri"/>
              </a:rPr>
              <a:t>What the results mean</a:t>
            </a:r>
            <a:endParaRPr b="0" lang="en-US" sz="1800" strike="noStrike" u="none">
              <a:solidFill>
                <a:srgbClr val="000000"/>
              </a:solidFill>
              <a:effectLst/>
              <a:uFillTx/>
              <a:latin typeface="Arial"/>
            </a:endParaRPr>
          </a:p>
        </p:txBody>
      </p:sp>
      <p:sp>
        <p:nvSpPr>
          <p:cNvPr id="46" name="Text 19"/>
          <p:cNvSpPr/>
          <p:nvPr/>
        </p:nvSpPr>
        <p:spPr>
          <a:xfrm>
            <a:off x="1645920" y="4974480"/>
            <a:ext cx="8686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Honest findings, and the data's real limits</a:t>
            </a:r>
            <a:endParaRPr b="0" lang="en-US" sz="1400" strike="noStrike" u="none">
              <a:solidFill>
                <a:srgbClr val="000000"/>
              </a:solidFill>
              <a:effectLst/>
              <a:uFillTx/>
              <a:latin typeface="Arial"/>
            </a:endParaRPr>
          </a:p>
        </p:txBody>
      </p:sp>
      <p:sp>
        <p:nvSpPr>
          <p:cNvPr id="47" name="Shape 20"/>
          <p:cNvSpPr/>
          <p:nvPr/>
        </p:nvSpPr>
        <p:spPr>
          <a:xfrm>
            <a:off x="681120" y="5408640"/>
            <a:ext cx="849960" cy="84996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8" name="Shape 21"/>
          <p:cNvSpPr/>
          <p:nvPr/>
        </p:nvSpPr>
        <p:spPr>
          <a:xfrm>
            <a:off x="822960" y="5550480"/>
            <a:ext cx="566640" cy="56664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9" name="Text 22"/>
          <p:cNvSpPr/>
          <p:nvPr/>
        </p:nvSpPr>
        <p:spPr>
          <a:xfrm>
            <a:off x="1645920" y="5532120"/>
            <a:ext cx="77720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libri"/>
                <a:ea typeface="Calibri"/>
              </a:rPr>
              <a:t>Live in Tableau</a:t>
            </a:r>
            <a:endParaRPr b="0" lang="en-US" sz="1800" strike="noStrike" u="none">
              <a:solidFill>
                <a:srgbClr val="000000"/>
              </a:solidFill>
              <a:effectLst/>
              <a:uFillTx/>
              <a:latin typeface="Arial"/>
            </a:endParaRPr>
          </a:p>
        </p:txBody>
      </p:sp>
      <p:sp>
        <p:nvSpPr>
          <p:cNvPr id="50" name="Text 23"/>
          <p:cNvSpPr/>
          <p:nvPr/>
        </p:nvSpPr>
        <p:spPr>
          <a:xfrm>
            <a:off x="1645920" y="5870520"/>
            <a:ext cx="868644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Interactive dashboards for hands-on exploration</a:t>
            </a:r>
            <a:endParaRPr b="0" lang="en-US" sz="1400" strike="noStrike" u="none">
              <a:solidFill>
                <a:srgbClr val="000000"/>
              </a:solidFill>
              <a:effectLst/>
              <a:uFillTx/>
              <a:latin typeface="Arial"/>
            </a:endParaRPr>
          </a:p>
        </p:txBody>
      </p:sp>
      <p:sp>
        <p:nvSpPr>
          <p:cNvPr id="51" name="Text 24"/>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400" strike="noStrike" u="none">
                <a:solidFill>
                  <a:srgbClr val="5a6478"/>
                </a:solidFill>
                <a:effectLst/>
                <a:uFillTx/>
                <a:latin typeface="Calibri"/>
                <a:ea typeface="Calibri"/>
              </a:rPr>
              <a:t>02</a:t>
            </a:r>
            <a:endParaRPr b="0" lang="en-US" sz="1400" strike="noStrike" u="none">
              <a:solidFill>
                <a:srgbClr val="000000"/>
              </a:solidFill>
              <a:effectLst/>
              <a:uFillTx/>
              <a:latin typeface="Arial"/>
            </a:endParaRPr>
          </a:p>
        </p:txBody>
      </p:sp>
      <p:sp>
        <p:nvSpPr>
          <p:cNvPr id="52" name="Oval 31"/>
          <p:cNvSpPr/>
          <p:nvPr/>
        </p:nvSpPr>
        <p:spPr>
          <a:xfrm>
            <a:off x="7848720" y="838080"/>
            <a:ext cx="3885840" cy="3885840"/>
          </a:xfrm>
          <a:prstGeom prst="ellipse">
            <a:avLst/>
          </a:prstGeom>
          <a:noFill/>
          <a:ln w="15875">
            <a:solidFill>
              <a:srgbClr val="dbe3e9"/>
            </a:solidFill>
          </a:ln>
        </p:spPr>
        <p:style>
          <a:lnRef idx="2">
            <a:schemeClr val="accent1">
              <a:shade val="15000"/>
            </a:schemeClr>
          </a:lnRef>
          <a:fillRef idx="1">
            <a:schemeClr val="accent1"/>
          </a:fillRef>
          <a:effectRef idx="0">
            <a:schemeClr val="accent1"/>
          </a:effectRef>
          <a:fontRef idx="minor"/>
        </p:style>
        <p:txBody>
          <a:bodyPr horzOverflow="clip" vertOverflow="clip" lIns="90000" rIns="90000" tIns="45000" bIns="45000" anchor="t">
            <a:noAutofit/>
          </a:bodyPr>
          <a:p>
            <a:pPr defTabSz="914400">
              <a:lnSpc>
                <a:spcPct val="100000"/>
              </a:lnSpc>
            </a:pPr>
            <a:endParaRPr b="0" lang="en-US" sz="1800" strike="noStrike" u="none">
              <a:solidFill>
                <a:schemeClr val="lt1"/>
              </a:solidFill>
              <a:effectLst/>
              <a:uFillTx/>
              <a:latin typeface="Calibri"/>
            </a:endParaRPr>
          </a:p>
        </p:txBody>
      </p:sp>
      <p:sp>
        <p:nvSpPr>
          <p:cNvPr id="53" name="Oval 32"/>
          <p:cNvSpPr/>
          <p:nvPr/>
        </p:nvSpPr>
        <p:spPr>
          <a:xfrm>
            <a:off x="8889840" y="1879560"/>
            <a:ext cx="1802880" cy="1802880"/>
          </a:xfrm>
          <a:prstGeom prst="ellipse">
            <a:avLst/>
          </a:prstGeom>
          <a:noFill/>
          <a:ln>
            <a:solidFill>
              <a:srgbClr val="e4eaef"/>
            </a:solidFill>
          </a:ln>
        </p:spPr>
        <p:style>
          <a:lnRef idx="2">
            <a:schemeClr val="accent1">
              <a:shade val="15000"/>
            </a:schemeClr>
          </a:lnRef>
          <a:fillRef idx="1">
            <a:schemeClr val="accent1"/>
          </a:fillRef>
          <a:effectRef idx="0">
            <a:schemeClr val="accent1"/>
          </a:effectRef>
          <a:fontRef idx="minor"/>
        </p:style>
        <p:txBody>
          <a:bodyPr horzOverflow="clip" vertOverflow="clip" lIns="90000" rIns="90000" tIns="45000" bIns="45000" anchor="t">
            <a:noAutofit/>
          </a:bodyPr>
          <a:p>
            <a:pPr defTabSz="914400">
              <a:lnSpc>
                <a:spcPct val="100000"/>
              </a:lnSpc>
            </a:pPr>
            <a:endParaRPr b="0" lang="en-US" sz="1800" strike="noStrike" u="none">
              <a:solidFill>
                <a:schemeClr val="lt1"/>
              </a:solidFill>
              <a:effectLst/>
              <a:uFillTx/>
              <a:latin typeface="Calibri"/>
            </a:endParaRPr>
          </a:p>
        </p:txBody>
      </p:sp>
      <p:sp>
        <p:nvSpPr>
          <p:cNvPr id="54" name="Oval 33"/>
          <p:cNvSpPr/>
          <p:nvPr/>
        </p:nvSpPr>
        <p:spPr>
          <a:xfrm>
            <a:off x="9728280" y="2717640"/>
            <a:ext cx="126720" cy="126720"/>
          </a:xfrm>
          <a:prstGeom prst="ellipse">
            <a:avLst/>
          </a:prstGeom>
          <a:solidFill>
            <a:srgbClr val="e8a33d"/>
          </a:solidFill>
          <a:ln>
            <a:noFill/>
          </a:ln>
        </p:spPr>
        <p:style>
          <a:lnRef idx="2">
            <a:schemeClr val="accent1">
              <a:shade val="15000"/>
            </a:schemeClr>
          </a:lnRef>
          <a:fillRef idx="1">
            <a:schemeClr val="accent1"/>
          </a:fillRef>
          <a:effectRef idx="0">
            <a:schemeClr val="accent1"/>
          </a:effectRef>
          <a:fontRef idx="minor"/>
        </p:style>
        <p:txBody>
          <a:bodyPr horzOverflow="clip" vertOverflow="clip" lIns="90000" rIns="90000" tIns="45000" bIns="45000" anchor="t">
            <a:noAutofit/>
          </a:bodyPr>
          <a:p>
            <a:pPr defTabSz="914400">
              <a:lnSpc>
                <a:spcPct val="100000"/>
              </a:lnSpc>
            </a:pPr>
            <a:endParaRPr b="0" lang="en-US" sz="1800" strike="noStrike" u="none">
              <a:solidFill>
                <a:schemeClr val="lt1"/>
              </a:solidFill>
              <a:effectLst/>
              <a:uFillTx/>
              <a:latin typeface="Calibri"/>
            </a:endParaRPr>
          </a:p>
        </p:txBody>
      </p:sp>
      <p:pic>
        <p:nvPicPr>
          <p:cNvPr id="55" name="Graphic 35" descr="Soccer ball icon"/>
          <p:cNvPicPr/>
          <p:nvPr/>
        </p:nvPicPr>
        <p:blipFill>
          <a:blip r:embed="rId1">
            <a:extLst>
              <a:ext uri="{96DAC541-7B7A-43D3-8B79-37D633B846F1}">
                <asvg:svgBlip xmlns:asvg="http://schemas.microsoft.com/office/drawing/2016/SVG/main" r:embed="rId2"/>
              </a:ext>
            </a:extLst>
          </a:blip>
          <a:stretch/>
        </p:blipFill>
        <p:spPr>
          <a:xfrm>
            <a:off x="939960" y="2082960"/>
            <a:ext cx="329760" cy="329760"/>
          </a:xfrm>
          <a:prstGeom prst="rect">
            <a:avLst/>
          </a:prstGeom>
          <a:noFill/>
          <a:ln w="0">
            <a:noFill/>
          </a:ln>
        </p:spPr>
      </p:pic>
      <p:pic>
        <p:nvPicPr>
          <p:cNvPr id="56" name="Graphic 36" descr="Soccer player icon"/>
          <p:cNvPicPr/>
          <p:nvPr/>
        </p:nvPicPr>
        <p:blipFill>
          <a:blip r:embed="rId3">
            <a:extLst>
              <a:ext uri="{96DAC541-7B7A-43D3-8B79-37D633B846F1}">
                <asvg:svgBlip xmlns:asvg="http://schemas.microsoft.com/office/drawing/2016/SVG/main" r:embed="rId4"/>
              </a:ext>
            </a:extLst>
          </a:blip>
          <a:stretch/>
        </p:blipFill>
        <p:spPr>
          <a:xfrm>
            <a:off x="939960" y="2971800"/>
            <a:ext cx="329760" cy="329760"/>
          </a:xfrm>
          <a:prstGeom prst="rect">
            <a:avLst/>
          </a:prstGeom>
          <a:noFill/>
          <a:ln w="0">
            <a:noFill/>
          </a:ln>
        </p:spPr>
      </p:pic>
      <p:pic>
        <p:nvPicPr>
          <p:cNvPr id="57" name="Graphic 37" descr="Soccer goal icon"/>
          <p:cNvPicPr/>
          <p:nvPr/>
        </p:nvPicPr>
        <p:blipFill>
          <a:blip r:embed="rId5">
            <a:extLst>
              <a:ext uri="{96DAC541-7B7A-43D3-8B79-37D633B846F1}">
                <asvg:svgBlip xmlns:asvg="http://schemas.microsoft.com/office/drawing/2016/SVG/main" r:embed="rId6"/>
              </a:ext>
            </a:extLst>
          </a:blip>
          <a:stretch/>
        </p:blipFill>
        <p:spPr>
          <a:xfrm>
            <a:off x="939960" y="3873600"/>
            <a:ext cx="329760" cy="329760"/>
          </a:xfrm>
          <a:prstGeom prst="rect">
            <a:avLst/>
          </a:prstGeom>
          <a:noFill/>
          <a:ln w="0">
            <a:noFill/>
          </a:ln>
        </p:spPr>
      </p:pic>
      <p:pic>
        <p:nvPicPr>
          <p:cNvPr id="58" name="Graphic 38" descr="Whistle icon"/>
          <p:cNvPicPr/>
          <p:nvPr/>
        </p:nvPicPr>
        <p:blipFill>
          <a:blip r:embed="rId7">
            <a:extLst>
              <a:ext uri="{96DAC541-7B7A-43D3-8B79-37D633B846F1}">
                <asvg:svgBlip xmlns:asvg="http://schemas.microsoft.com/office/drawing/2016/SVG/main" r:embed="rId8"/>
              </a:ext>
            </a:extLst>
          </a:blip>
          <a:stretch/>
        </p:blipFill>
        <p:spPr>
          <a:xfrm>
            <a:off x="939960" y="4762440"/>
            <a:ext cx="329760" cy="329760"/>
          </a:xfrm>
          <a:prstGeom prst="rect">
            <a:avLst/>
          </a:prstGeom>
          <a:noFill/>
          <a:ln w="0">
            <a:noFill/>
          </a:ln>
        </p:spPr>
      </p:pic>
      <p:pic>
        <p:nvPicPr>
          <p:cNvPr id="59" name="Graphic 39" descr="Trophy icon"/>
          <p:cNvPicPr/>
          <p:nvPr/>
        </p:nvPicPr>
        <p:blipFill>
          <a:blip r:embed="rId9">
            <a:extLst>
              <a:ext uri="{96DAC541-7B7A-43D3-8B79-37D633B846F1}">
                <asvg:svgBlip xmlns:asvg="http://schemas.microsoft.com/office/drawing/2016/SVG/main" r:embed="rId10"/>
              </a:ext>
            </a:extLst>
          </a:blip>
          <a:stretch/>
        </p:blipFill>
        <p:spPr>
          <a:xfrm>
            <a:off x="939960" y="5664240"/>
            <a:ext cx="329760" cy="329760"/>
          </a:xfrm>
          <a:prstGeom prst="rect">
            <a:avLst/>
          </a:prstGeom>
          <a:noFill/>
          <a:ln w="0">
            <a:noFill/>
          </a:ln>
        </p:spPr>
      </p:pic>
    </p:spTree>
  </p:cSld>
  <p:transition spd="med">
    <p:fade/>
  </p:transition>
  <p:timing>
    <p:tnLst>
      <p:par>
        <p:cTn id="21" dur="indefinite" restart="never" nodeType="tmRoot">
          <p:childTnLst>
            <p:seq>
              <p:cTn id="22" dur="indefinite" nodeType="mainSeq">
                <p:childTnLst>
                  <p:par>
                    <p:cTn id="23" fill="hold">
                      <p:stCondLst>
                        <p:cond delay="indefinite"/>
                      </p:stCondLst>
                      <p:childTnLst>
                        <p:par>
                          <p:cTn id="24" fill="hold">
                            <p:stCondLst>
                              <p:cond delay="0"/>
                            </p:stCondLst>
                            <p:childTnLst>
                              <p:par>
                                <p:cTn id="25" nodeType="clickEffect" fill="hold" presetClass="entr" presetID="10">
                                  <p:stCondLst>
                                    <p:cond delay="0"/>
                                  </p:stCondLst>
                                  <p:childTnLst>
                                    <p:set>
                                      <p:cBhvr>
                                        <p:cTn id="26" dur="1" fill="hold">
                                          <p:stCondLst>
                                            <p:cond delay="0"/>
                                          </p:stCondLst>
                                        </p:cTn>
                                        <p:tgtEl>
                                          <p:spTgt spid="31"/>
                                        </p:tgtEl>
                                        <p:attrNameLst>
                                          <p:attrName>style.visibility</p:attrName>
                                        </p:attrNameLst>
                                      </p:cBhvr>
                                      <p:to>
                                        <p:strVal val="visible"/>
                                      </p:to>
                                    </p:set>
                                    <p:animEffect filter="fade" transition="in">
                                      <p:cBhvr additive="repl">
                                        <p:cTn id="27" dur="500"/>
                                        <p:tgtEl>
                                          <p:spTgt spid="31"/>
                                        </p:tgtEl>
                                      </p:cBhvr>
                                    </p:animEffect>
                                  </p:childTnLst>
                                </p:cTn>
                              </p:par>
                              <p:par>
                                <p:cTn id="28" nodeType="withEffect" fill="hold" presetClass="entr" presetID="10">
                                  <p:stCondLst>
                                    <p:cond delay="0"/>
                                  </p:stCondLst>
                                  <p:childTnLst>
                                    <p:set>
                                      <p:cBhvr>
                                        <p:cTn id="29" dur="1" fill="hold">
                                          <p:stCondLst>
                                            <p:cond delay="0"/>
                                          </p:stCondLst>
                                        </p:cTn>
                                        <p:tgtEl>
                                          <p:spTgt spid="32"/>
                                        </p:tgtEl>
                                        <p:attrNameLst>
                                          <p:attrName>style.visibility</p:attrName>
                                        </p:attrNameLst>
                                      </p:cBhvr>
                                      <p:to>
                                        <p:strVal val="visible"/>
                                      </p:to>
                                    </p:set>
                                    <p:animEffect filter="fade" transition="in">
                                      <p:cBhvr additive="repl">
                                        <p:cTn id="30" dur="500"/>
                                        <p:tgtEl>
                                          <p:spTgt spid="32"/>
                                        </p:tgtEl>
                                      </p:cBhvr>
                                    </p:animEffect>
                                  </p:childTnLst>
                                </p:cTn>
                              </p:par>
                              <p:par>
                                <p:cTn id="31" nodeType="withEffect" fill="hold" presetClass="entr" presetID="10">
                                  <p:stCondLst>
                                    <p:cond delay="0"/>
                                  </p:stCondLst>
                                  <p:childTnLst>
                                    <p:set>
                                      <p:cBhvr>
                                        <p:cTn id="32" dur="1" fill="hold">
                                          <p:stCondLst>
                                            <p:cond delay="0"/>
                                          </p:stCondLst>
                                        </p:cTn>
                                        <p:tgtEl>
                                          <p:spTgt spid="33"/>
                                        </p:tgtEl>
                                        <p:attrNameLst>
                                          <p:attrName>style.visibility</p:attrName>
                                        </p:attrNameLst>
                                      </p:cBhvr>
                                      <p:to>
                                        <p:strVal val="visible"/>
                                      </p:to>
                                    </p:set>
                                    <p:animEffect filter="fade" transition="in">
                                      <p:cBhvr additive="repl">
                                        <p:cTn id="33" dur="500"/>
                                        <p:tgtEl>
                                          <p:spTgt spid="33"/>
                                        </p:tgtEl>
                                      </p:cBhvr>
                                    </p:animEffect>
                                  </p:childTnLst>
                                </p:cTn>
                              </p:par>
                              <p:par>
                                <p:cTn id="34" nodeType="withEffect" fill="hold" presetClass="entr" presetID="10">
                                  <p:stCondLst>
                                    <p:cond delay="0"/>
                                  </p:stCondLst>
                                  <p:childTnLst>
                                    <p:set>
                                      <p:cBhvr>
                                        <p:cTn id="35" dur="1" fill="hold">
                                          <p:stCondLst>
                                            <p:cond delay="0"/>
                                          </p:stCondLst>
                                        </p:cTn>
                                        <p:tgtEl>
                                          <p:spTgt spid="34"/>
                                        </p:tgtEl>
                                        <p:attrNameLst>
                                          <p:attrName>style.visibility</p:attrName>
                                        </p:attrNameLst>
                                      </p:cBhvr>
                                      <p:to>
                                        <p:strVal val="visible"/>
                                      </p:to>
                                    </p:set>
                                    <p:animEffect filter="fade" transition="in">
                                      <p:cBhvr additive="repl">
                                        <p:cTn id="36" dur="500"/>
                                        <p:tgtEl>
                                          <p:spTgt spid="34"/>
                                        </p:tgtEl>
                                      </p:cBhvr>
                                    </p:animEffect>
                                  </p:childTnLst>
                                </p:cTn>
                              </p:par>
                            </p:childTnLst>
                          </p:cTn>
                        </p:par>
                      </p:childTnLst>
                    </p:cTn>
                  </p:par>
                  <p:par>
                    <p:cTn id="37" fill="hold">
                      <p:stCondLst>
                        <p:cond delay="indefinite"/>
                      </p:stCondLst>
                      <p:childTnLst>
                        <p:par>
                          <p:cTn id="38" fill="hold">
                            <p:stCondLst>
                              <p:cond delay="0"/>
                            </p:stCondLst>
                            <p:childTnLst>
                              <p:par>
                                <p:cTn id="39" nodeType="clickEffect" fill="hold" presetClass="entr" presetID="10">
                                  <p:stCondLst>
                                    <p:cond delay="0"/>
                                  </p:stCondLst>
                                  <p:childTnLst>
                                    <p:set>
                                      <p:cBhvr>
                                        <p:cTn id="40" dur="1" fill="hold">
                                          <p:stCondLst>
                                            <p:cond delay="0"/>
                                          </p:stCondLst>
                                        </p:cTn>
                                        <p:tgtEl>
                                          <p:spTgt spid="35"/>
                                        </p:tgtEl>
                                        <p:attrNameLst>
                                          <p:attrName>style.visibility</p:attrName>
                                        </p:attrNameLst>
                                      </p:cBhvr>
                                      <p:to>
                                        <p:strVal val="visible"/>
                                      </p:to>
                                    </p:set>
                                    <p:animEffect filter="fade" transition="in">
                                      <p:cBhvr additive="repl">
                                        <p:cTn id="41" dur="500"/>
                                        <p:tgtEl>
                                          <p:spTgt spid="35"/>
                                        </p:tgtEl>
                                      </p:cBhvr>
                                    </p:animEffect>
                                  </p:childTnLst>
                                </p:cTn>
                              </p:par>
                              <p:par>
                                <p:cTn id="42" nodeType="withEffect" fill="hold" presetClass="entr" presetID="10">
                                  <p:stCondLst>
                                    <p:cond delay="0"/>
                                  </p:stCondLst>
                                  <p:childTnLst>
                                    <p:set>
                                      <p:cBhvr>
                                        <p:cTn id="43" dur="1" fill="hold">
                                          <p:stCondLst>
                                            <p:cond delay="0"/>
                                          </p:stCondLst>
                                        </p:cTn>
                                        <p:tgtEl>
                                          <p:spTgt spid="36"/>
                                        </p:tgtEl>
                                        <p:attrNameLst>
                                          <p:attrName>style.visibility</p:attrName>
                                        </p:attrNameLst>
                                      </p:cBhvr>
                                      <p:to>
                                        <p:strVal val="visible"/>
                                      </p:to>
                                    </p:set>
                                    <p:animEffect filter="fade" transition="in">
                                      <p:cBhvr additive="repl">
                                        <p:cTn id="44" dur="500"/>
                                        <p:tgtEl>
                                          <p:spTgt spid="36"/>
                                        </p:tgtEl>
                                      </p:cBhvr>
                                    </p:animEffect>
                                  </p:childTnLst>
                                </p:cTn>
                              </p:par>
                              <p:par>
                                <p:cTn id="45" nodeType="withEffect" fill="hold" presetClass="entr" presetID="10">
                                  <p:stCondLst>
                                    <p:cond delay="0"/>
                                  </p:stCondLst>
                                  <p:childTnLst>
                                    <p:set>
                                      <p:cBhvr>
                                        <p:cTn id="46" dur="1" fill="hold">
                                          <p:stCondLst>
                                            <p:cond delay="0"/>
                                          </p:stCondLst>
                                        </p:cTn>
                                        <p:tgtEl>
                                          <p:spTgt spid="37"/>
                                        </p:tgtEl>
                                        <p:attrNameLst>
                                          <p:attrName>style.visibility</p:attrName>
                                        </p:attrNameLst>
                                      </p:cBhvr>
                                      <p:to>
                                        <p:strVal val="visible"/>
                                      </p:to>
                                    </p:set>
                                    <p:animEffect filter="fade" transition="in">
                                      <p:cBhvr additive="repl">
                                        <p:cTn id="47" dur="500"/>
                                        <p:tgtEl>
                                          <p:spTgt spid="37"/>
                                        </p:tgtEl>
                                      </p:cBhvr>
                                    </p:animEffect>
                                  </p:childTnLst>
                                </p:cTn>
                              </p:par>
                              <p:par>
                                <p:cTn id="48" nodeType="withEffect" fill="hold" presetClass="entr" presetID="10">
                                  <p:stCondLst>
                                    <p:cond delay="0"/>
                                  </p:stCondLst>
                                  <p:childTnLst>
                                    <p:set>
                                      <p:cBhvr>
                                        <p:cTn id="49" dur="1" fill="hold">
                                          <p:stCondLst>
                                            <p:cond delay="0"/>
                                          </p:stCondLst>
                                        </p:cTn>
                                        <p:tgtEl>
                                          <p:spTgt spid="38"/>
                                        </p:tgtEl>
                                        <p:attrNameLst>
                                          <p:attrName>style.visibility</p:attrName>
                                        </p:attrNameLst>
                                      </p:cBhvr>
                                      <p:to>
                                        <p:strVal val="visible"/>
                                      </p:to>
                                    </p:set>
                                    <p:animEffect filter="fade" transition="in">
                                      <p:cBhvr additive="repl">
                                        <p:cTn id="50" dur="500"/>
                                        <p:tgtEl>
                                          <p:spTgt spid="38"/>
                                        </p:tgtEl>
                                      </p:cBhvr>
                                    </p:animEffect>
                                  </p:childTnLst>
                                </p:cTn>
                              </p:par>
                            </p:childTnLst>
                          </p:cTn>
                        </p:par>
                      </p:childTnLst>
                    </p:cTn>
                  </p:par>
                  <p:par>
                    <p:cTn id="51" fill="hold">
                      <p:stCondLst>
                        <p:cond delay="indefinite"/>
                      </p:stCondLst>
                      <p:childTnLst>
                        <p:par>
                          <p:cTn id="52" fill="hold">
                            <p:stCondLst>
                              <p:cond delay="0"/>
                            </p:stCondLst>
                            <p:childTnLst>
                              <p:par>
                                <p:cTn id="53" nodeType="clickEffect" fill="hold" presetClass="entr" presetID="10">
                                  <p:stCondLst>
                                    <p:cond delay="0"/>
                                  </p:stCondLst>
                                  <p:childTnLst>
                                    <p:set>
                                      <p:cBhvr>
                                        <p:cTn id="54" dur="1" fill="hold">
                                          <p:stCondLst>
                                            <p:cond delay="0"/>
                                          </p:stCondLst>
                                        </p:cTn>
                                        <p:tgtEl>
                                          <p:spTgt spid="39"/>
                                        </p:tgtEl>
                                        <p:attrNameLst>
                                          <p:attrName>style.visibility</p:attrName>
                                        </p:attrNameLst>
                                      </p:cBhvr>
                                      <p:to>
                                        <p:strVal val="visible"/>
                                      </p:to>
                                    </p:set>
                                    <p:animEffect filter="fade" transition="in">
                                      <p:cBhvr additive="repl">
                                        <p:cTn id="55" dur="500"/>
                                        <p:tgtEl>
                                          <p:spTgt spid="39"/>
                                        </p:tgtEl>
                                      </p:cBhvr>
                                    </p:animEffect>
                                  </p:childTnLst>
                                </p:cTn>
                              </p:par>
                              <p:par>
                                <p:cTn id="56" nodeType="withEffect" fill="hold" presetClass="entr" presetID="10">
                                  <p:stCondLst>
                                    <p:cond delay="0"/>
                                  </p:stCondLst>
                                  <p:childTnLst>
                                    <p:set>
                                      <p:cBhvr>
                                        <p:cTn id="57" dur="1" fill="hold">
                                          <p:stCondLst>
                                            <p:cond delay="0"/>
                                          </p:stCondLst>
                                        </p:cTn>
                                        <p:tgtEl>
                                          <p:spTgt spid="40"/>
                                        </p:tgtEl>
                                        <p:attrNameLst>
                                          <p:attrName>style.visibility</p:attrName>
                                        </p:attrNameLst>
                                      </p:cBhvr>
                                      <p:to>
                                        <p:strVal val="visible"/>
                                      </p:to>
                                    </p:set>
                                    <p:animEffect filter="fade" transition="in">
                                      <p:cBhvr additive="repl">
                                        <p:cTn id="58" dur="500"/>
                                        <p:tgtEl>
                                          <p:spTgt spid="40"/>
                                        </p:tgtEl>
                                      </p:cBhvr>
                                    </p:animEffect>
                                  </p:childTnLst>
                                </p:cTn>
                              </p:par>
                              <p:par>
                                <p:cTn id="59" nodeType="withEffect" fill="hold" presetClass="entr" presetID="10">
                                  <p:stCondLst>
                                    <p:cond delay="0"/>
                                  </p:stCondLst>
                                  <p:childTnLst>
                                    <p:set>
                                      <p:cBhvr>
                                        <p:cTn id="60" dur="1" fill="hold">
                                          <p:stCondLst>
                                            <p:cond delay="0"/>
                                          </p:stCondLst>
                                        </p:cTn>
                                        <p:tgtEl>
                                          <p:spTgt spid="41"/>
                                        </p:tgtEl>
                                        <p:attrNameLst>
                                          <p:attrName>style.visibility</p:attrName>
                                        </p:attrNameLst>
                                      </p:cBhvr>
                                      <p:to>
                                        <p:strVal val="visible"/>
                                      </p:to>
                                    </p:set>
                                    <p:animEffect filter="fade" transition="in">
                                      <p:cBhvr additive="repl">
                                        <p:cTn id="61" dur="500"/>
                                        <p:tgtEl>
                                          <p:spTgt spid="41"/>
                                        </p:tgtEl>
                                      </p:cBhvr>
                                    </p:animEffect>
                                  </p:childTnLst>
                                </p:cTn>
                              </p:par>
                              <p:par>
                                <p:cTn id="62" nodeType="withEffect" fill="hold" presetClass="entr" presetID="10">
                                  <p:stCondLst>
                                    <p:cond delay="0"/>
                                  </p:stCondLst>
                                  <p:childTnLst>
                                    <p:set>
                                      <p:cBhvr>
                                        <p:cTn id="63" dur="1" fill="hold">
                                          <p:stCondLst>
                                            <p:cond delay="0"/>
                                          </p:stCondLst>
                                        </p:cTn>
                                        <p:tgtEl>
                                          <p:spTgt spid="42"/>
                                        </p:tgtEl>
                                        <p:attrNameLst>
                                          <p:attrName>style.visibility</p:attrName>
                                        </p:attrNameLst>
                                      </p:cBhvr>
                                      <p:to>
                                        <p:strVal val="visible"/>
                                      </p:to>
                                    </p:set>
                                    <p:animEffect filter="fade" transition="in">
                                      <p:cBhvr additive="repl">
                                        <p:cTn id="64" dur="500"/>
                                        <p:tgtEl>
                                          <p:spTgt spid="42"/>
                                        </p:tgtEl>
                                      </p:cBhvr>
                                    </p:animEffect>
                                  </p:childTnLst>
                                </p:cTn>
                              </p:par>
                            </p:childTnLst>
                          </p:cTn>
                        </p:par>
                      </p:childTnLst>
                    </p:cTn>
                  </p:par>
                  <p:par>
                    <p:cTn id="65" fill="hold">
                      <p:stCondLst>
                        <p:cond delay="indefinite"/>
                      </p:stCondLst>
                      <p:childTnLst>
                        <p:par>
                          <p:cTn id="66" fill="hold">
                            <p:stCondLst>
                              <p:cond delay="0"/>
                            </p:stCondLst>
                            <p:childTnLst>
                              <p:par>
                                <p:cTn id="67" nodeType="clickEffect" fill="hold" presetClass="entr" presetID="10">
                                  <p:stCondLst>
                                    <p:cond delay="0"/>
                                  </p:stCondLst>
                                  <p:childTnLst>
                                    <p:set>
                                      <p:cBhvr>
                                        <p:cTn id="68" dur="1" fill="hold">
                                          <p:stCondLst>
                                            <p:cond delay="0"/>
                                          </p:stCondLst>
                                        </p:cTn>
                                        <p:tgtEl>
                                          <p:spTgt spid="43"/>
                                        </p:tgtEl>
                                        <p:attrNameLst>
                                          <p:attrName>style.visibility</p:attrName>
                                        </p:attrNameLst>
                                      </p:cBhvr>
                                      <p:to>
                                        <p:strVal val="visible"/>
                                      </p:to>
                                    </p:set>
                                    <p:animEffect filter="fade" transition="in">
                                      <p:cBhvr additive="repl">
                                        <p:cTn id="69" dur="500"/>
                                        <p:tgtEl>
                                          <p:spTgt spid="43"/>
                                        </p:tgtEl>
                                      </p:cBhvr>
                                    </p:animEffect>
                                  </p:childTnLst>
                                </p:cTn>
                              </p:par>
                              <p:par>
                                <p:cTn id="70" nodeType="withEffect" fill="hold" presetClass="entr" presetID="10">
                                  <p:stCondLst>
                                    <p:cond delay="0"/>
                                  </p:stCondLst>
                                  <p:childTnLst>
                                    <p:set>
                                      <p:cBhvr>
                                        <p:cTn id="71" dur="1" fill="hold">
                                          <p:stCondLst>
                                            <p:cond delay="0"/>
                                          </p:stCondLst>
                                        </p:cTn>
                                        <p:tgtEl>
                                          <p:spTgt spid="44"/>
                                        </p:tgtEl>
                                        <p:attrNameLst>
                                          <p:attrName>style.visibility</p:attrName>
                                        </p:attrNameLst>
                                      </p:cBhvr>
                                      <p:to>
                                        <p:strVal val="visible"/>
                                      </p:to>
                                    </p:set>
                                    <p:animEffect filter="fade" transition="in">
                                      <p:cBhvr additive="repl">
                                        <p:cTn id="72" dur="500"/>
                                        <p:tgtEl>
                                          <p:spTgt spid="44"/>
                                        </p:tgtEl>
                                      </p:cBhvr>
                                    </p:animEffect>
                                  </p:childTnLst>
                                </p:cTn>
                              </p:par>
                              <p:par>
                                <p:cTn id="73" nodeType="withEffect" fill="hold" presetClass="entr" presetID="10">
                                  <p:stCondLst>
                                    <p:cond delay="0"/>
                                  </p:stCondLst>
                                  <p:childTnLst>
                                    <p:set>
                                      <p:cBhvr>
                                        <p:cTn id="74" dur="1" fill="hold">
                                          <p:stCondLst>
                                            <p:cond delay="0"/>
                                          </p:stCondLst>
                                        </p:cTn>
                                        <p:tgtEl>
                                          <p:spTgt spid="45"/>
                                        </p:tgtEl>
                                        <p:attrNameLst>
                                          <p:attrName>style.visibility</p:attrName>
                                        </p:attrNameLst>
                                      </p:cBhvr>
                                      <p:to>
                                        <p:strVal val="visible"/>
                                      </p:to>
                                    </p:set>
                                    <p:animEffect filter="fade" transition="in">
                                      <p:cBhvr additive="repl">
                                        <p:cTn id="75" dur="500"/>
                                        <p:tgtEl>
                                          <p:spTgt spid="45"/>
                                        </p:tgtEl>
                                      </p:cBhvr>
                                    </p:animEffect>
                                  </p:childTnLst>
                                </p:cTn>
                              </p:par>
                              <p:par>
                                <p:cTn id="76" nodeType="withEffect" fill="hold" presetClass="entr" presetID="10">
                                  <p:stCondLst>
                                    <p:cond delay="0"/>
                                  </p:stCondLst>
                                  <p:childTnLst>
                                    <p:set>
                                      <p:cBhvr>
                                        <p:cTn id="77" dur="1" fill="hold">
                                          <p:stCondLst>
                                            <p:cond delay="0"/>
                                          </p:stCondLst>
                                        </p:cTn>
                                        <p:tgtEl>
                                          <p:spTgt spid="46"/>
                                        </p:tgtEl>
                                        <p:attrNameLst>
                                          <p:attrName>style.visibility</p:attrName>
                                        </p:attrNameLst>
                                      </p:cBhvr>
                                      <p:to>
                                        <p:strVal val="visible"/>
                                      </p:to>
                                    </p:set>
                                    <p:animEffect filter="fade" transition="in">
                                      <p:cBhvr additive="repl">
                                        <p:cTn id="78" dur="500"/>
                                        <p:tgtEl>
                                          <p:spTgt spid="46"/>
                                        </p:tgtEl>
                                      </p:cBhvr>
                                    </p:animEffect>
                                  </p:childTnLst>
                                </p:cTn>
                              </p:par>
                            </p:childTnLst>
                          </p:cTn>
                        </p:par>
                      </p:childTnLst>
                    </p:cTn>
                  </p:par>
                  <p:par>
                    <p:cTn id="79" fill="hold">
                      <p:stCondLst>
                        <p:cond delay="indefinite"/>
                      </p:stCondLst>
                      <p:childTnLst>
                        <p:par>
                          <p:cTn id="80" fill="hold">
                            <p:stCondLst>
                              <p:cond delay="0"/>
                            </p:stCondLst>
                            <p:childTnLst>
                              <p:par>
                                <p:cTn id="81" nodeType="clickEffect" fill="hold" presetClass="entr" presetID="10">
                                  <p:stCondLst>
                                    <p:cond delay="0"/>
                                  </p:stCondLst>
                                  <p:childTnLst>
                                    <p:set>
                                      <p:cBhvr>
                                        <p:cTn id="82" dur="1" fill="hold">
                                          <p:stCondLst>
                                            <p:cond delay="0"/>
                                          </p:stCondLst>
                                        </p:cTn>
                                        <p:tgtEl>
                                          <p:spTgt spid="47"/>
                                        </p:tgtEl>
                                        <p:attrNameLst>
                                          <p:attrName>style.visibility</p:attrName>
                                        </p:attrNameLst>
                                      </p:cBhvr>
                                      <p:to>
                                        <p:strVal val="visible"/>
                                      </p:to>
                                    </p:set>
                                    <p:animEffect filter="fade" transition="in">
                                      <p:cBhvr additive="repl">
                                        <p:cTn id="83" dur="500"/>
                                        <p:tgtEl>
                                          <p:spTgt spid="47"/>
                                        </p:tgtEl>
                                      </p:cBhvr>
                                    </p:animEffect>
                                  </p:childTnLst>
                                </p:cTn>
                              </p:par>
                              <p:par>
                                <p:cTn id="84" nodeType="withEffect" fill="hold" presetClass="entr" presetID="10">
                                  <p:stCondLst>
                                    <p:cond delay="0"/>
                                  </p:stCondLst>
                                  <p:childTnLst>
                                    <p:set>
                                      <p:cBhvr>
                                        <p:cTn id="85" dur="1" fill="hold">
                                          <p:stCondLst>
                                            <p:cond delay="0"/>
                                          </p:stCondLst>
                                        </p:cTn>
                                        <p:tgtEl>
                                          <p:spTgt spid="48"/>
                                        </p:tgtEl>
                                        <p:attrNameLst>
                                          <p:attrName>style.visibility</p:attrName>
                                        </p:attrNameLst>
                                      </p:cBhvr>
                                      <p:to>
                                        <p:strVal val="visible"/>
                                      </p:to>
                                    </p:set>
                                    <p:animEffect filter="fade" transition="in">
                                      <p:cBhvr additive="repl">
                                        <p:cTn id="86" dur="500"/>
                                        <p:tgtEl>
                                          <p:spTgt spid="48"/>
                                        </p:tgtEl>
                                      </p:cBhvr>
                                    </p:animEffect>
                                  </p:childTnLst>
                                </p:cTn>
                              </p:par>
                              <p:par>
                                <p:cTn id="87" nodeType="withEffect" fill="hold" presetClass="entr" presetID="10">
                                  <p:stCondLst>
                                    <p:cond delay="0"/>
                                  </p:stCondLst>
                                  <p:childTnLst>
                                    <p:set>
                                      <p:cBhvr>
                                        <p:cTn id="88" dur="1" fill="hold">
                                          <p:stCondLst>
                                            <p:cond delay="0"/>
                                          </p:stCondLst>
                                        </p:cTn>
                                        <p:tgtEl>
                                          <p:spTgt spid="49"/>
                                        </p:tgtEl>
                                        <p:attrNameLst>
                                          <p:attrName>style.visibility</p:attrName>
                                        </p:attrNameLst>
                                      </p:cBhvr>
                                      <p:to>
                                        <p:strVal val="visible"/>
                                      </p:to>
                                    </p:set>
                                    <p:animEffect filter="fade" transition="in">
                                      <p:cBhvr additive="repl">
                                        <p:cTn id="89" dur="500"/>
                                        <p:tgtEl>
                                          <p:spTgt spid="49"/>
                                        </p:tgtEl>
                                      </p:cBhvr>
                                    </p:animEffect>
                                  </p:childTnLst>
                                </p:cTn>
                              </p:par>
                              <p:par>
                                <p:cTn id="90" nodeType="withEffect" fill="hold" presetClass="entr" presetID="10">
                                  <p:stCondLst>
                                    <p:cond delay="0"/>
                                  </p:stCondLst>
                                  <p:childTnLst>
                                    <p:set>
                                      <p:cBhvr>
                                        <p:cTn id="91" dur="1" fill="hold">
                                          <p:stCondLst>
                                            <p:cond delay="0"/>
                                          </p:stCondLst>
                                        </p:cTn>
                                        <p:tgtEl>
                                          <p:spTgt spid="50"/>
                                        </p:tgtEl>
                                        <p:attrNameLst>
                                          <p:attrName>style.visibility</p:attrName>
                                        </p:attrNameLst>
                                      </p:cBhvr>
                                      <p:to>
                                        <p:strVal val="visible"/>
                                      </p:to>
                                    </p:set>
                                    <p:animEffect filter="fade" transition="in">
                                      <p:cBhvr additive="repl">
                                        <p:cTn id="92" dur="500"/>
                                        <p:tgtEl>
                                          <p:spTgt spid="5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60" name="Shape 0"/>
          <p:cNvSpPr/>
          <p:nvPr/>
        </p:nvSpPr>
        <p:spPr>
          <a:xfrm>
            <a:off x="-36576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61" name="Shape 1"/>
          <p:cNvSpPr/>
          <p:nvPr/>
        </p:nvSpPr>
        <p:spPr>
          <a:xfrm>
            <a:off x="1182600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62" name="Shape 2"/>
          <p:cNvSpPr/>
          <p:nvPr/>
        </p:nvSpPr>
        <p:spPr>
          <a:xfrm>
            <a:off x="-36576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63" name="Shape 3"/>
          <p:cNvSpPr/>
          <p:nvPr/>
        </p:nvSpPr>
        <p:spPr>
          <a:xfrm>
            <a:off x="1182600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64" name="Shape 4"/>
          <p:cNvSpPr/>
          <p:nvPr/>
        </p:nvSpPr>
        <p:spPr>
          <a:xfrm>
            <a:off x="-1371600" y="5486400"/>
            <a:ext cx="5486040" cy="54860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65" name="Shape 5"/>
          <p:cNvSpPr/>
          <p:nvPr/>
        </p:nvSpPr>
        <p:spPr>
          <a:xfrm>
            <a:off x="1325880" y="818388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66" name="Text 6"/>
          <p:cNvSpPr/>
          <p:nvPr/>
        </p:nvSpPr>
        <p:spPr>
          <a:xfrm>
            <a:off x="822960" y="685800"/>
            <a:ext cx="73148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e8a33d"/>
                </a:solidFill>
                <a:effectLst/>
                <a:uFillTx/>
                <a:latin typeface="Calibri"/>
                <a:ea typeface="Calibri"/>
              </a:rPr>
              <a:t>THE BUSINESS QUESTION</a:t>
            </a:r>
            <a:endParaRPr b="0" lang="en-US" sz="1400" strike="noStrike" u="none">
              <a:solidFill>
                <a:srgbClr val="ffffff"/>
              </a:solidFill>
              <a:effectLst/>
              <a:uFillTx/>
              <a:latin typeface="Arial"/>
            </a:endParaRPr>
          </a:p>
        </p:txBody>
      </p:sp>
      <p:sp>
        <p:nvSpPr>
          <p:cNvPr id="67" name="Text 7"/>
          <p:cNvSpPr/>
          <p:nvPr/>
        </p:nvSpPr>
        <p:spPr>
          <a:xfrm>
            <a:off x="822960" y="1188720"/>
            <a:ext cx="10332360" cy="1828440"/>
          </a:xfrm>
          <a:prstGeom prst="rect">
            <a:avLst/>
          </a:prstGeom>
          <a:noFill/>
          <a:ln w="0">
            <a:noFill/>
          </a:ln>
        </p:spPr>
        <p:style>
          <a:lnRef idx="0"/>
          <a:fillRef idx="0"/>
          <a:effectRef idx="0"/>
          <a:fontRef idx="minor"/>
        </p:style>
        <p:txBody>
          <a:bodyPr lIns="0" rIns="0" tIns="0" bIns="0" anchor="ctr">
            <a:noAutofit/>
          </a:bodyPr>
          <a:p>
            <a:pPr defTabSz="914400">
              <a:lnSpc>
                <a:spcPct val="125000"/>
              </a:lnSpc>
              <a:tabLst>
                <a:tab algn="l" pos="0"/>
              </a:tabLst>
            </a:pPr>
            <a:r>
              <a:rPr b="1" lang="en-US" sz="2700" strike="noStrike" u="none">
                <a:solidFill>
                  <a:srgbClr val="ffffff"/>
                </a:solidFill>
                <a:effectLst/>
                <a:uFillTx/>
                <a:latin typeface="Cambria"/>
                <a:ea typeface="Cambria"/>
              </a:rPr>
              <a:t>Market value trend alone overstates a player's recruitment worth. </a:t>
            </a:r>
            <a:r>
              <a:rPr b="0" lang="en-US" sz="2700" strike="noStrike" u="none">
                <a:solidFill>
                  <a:srgbClr val="cadcfc"/>
                </a:solidFill>
                <a:effectLst/>
                <a:uFillTx/>
                <a:latin typeface="Cambria"/>
                <a:ea typeface="Cambria"/>
              </a:rPr>
              <a:t>Players with rising value </a:t>
            </a:r>
            <a:r>
              <a:rPr b="0" i="1" lang="en-US" sz="2700" strike="noStrike" u="none">
                <a:solidFill>
                  <a:srgbClr val="e8a33d"/>
                </a:solidFill>
                <a:effectLst/>
                <a:uFillTx/>
                <a:latin typeface="Cambria"/>
                <a:ea typeface="Cambria"/>
              </a:rPr>
              <a:t>and</a:t>
            </a:r>
            <a:r>
              <a:rPr b="0" lang="en-US" sz="2700" strike="noStrike" u="none">
                <a:solidFill>
                  <a:srgbClr val="cadcfc"/>
                </a:solidFill>
                <a:effectLst/>
                <a:uFillTx/>
                <a:latin typeface="Cambria"/>
                <a:ea typeface="Cambria"/>
              </a:rPr>
              <a:t> high injury risk are systematically </a:t>
            </a:r>
            <a:r>
              <a:rPr b="1" lang="en-US" sz="2700" strike="noStrike" u="none">
                <a:solidFill>
                  <a:srgbClr val="e8a33d"/>
                </a:solidFill>
                <a:effectLst/>
                <a:uFillTx/>
                <a:latin typeface="Cambria"/>
                <a:ea typeface="Cambria"/>
              </a:rPr>
              <a:t>over-valued</a:t>
            </a:r>
            <a:r>
              <a:rPr b="0" lang="en-US" sz="2700" strike="noStrike" u="none">
                <a:solidFill>
                  <a:srgbClr val="cadcfc"/>
                </a:solidFill>
                <a:effectLst/>
                <a:uFillTx/>
                <a:latin typeface="Cambria"/>
                <a:ea typeface="Cambria"/>
              </a:rPr>
              <a:t> relative to their realistic future output.</a:t>
            </a:r>
            <a:endParaRPr b="0" lang="en-US" sz="2700" strike="noStrike" u="none">
              <a:solidFill>
                <a:srgbClr val="ffffff"/>
              </a:solidFill>
              <a:effectLst/>
              <a:uFillTx/>
              <a:latin typeface="Arial"/>
            </a:endParaRPr>
          </a:p>
        </p:txBody>
      </p:sp>
      <p:sp>
        <p:nvSpPr>
          <p:cNvPr id="68" name="Shape 8"/>
          <p:cNvSpPr/>
          <p:nvPr/>
        </p:nvSpPr>
        <p:spPr>
          <a:xfrm>
            <a:off x="822960" y="3657600"/>
            <a:ext cx="3382920" cy="233136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69" name="Shape 9"/>
          <p:cNvSpPr/>
          <p:nvPr/>
        </p:nvSpPr>
        <p:spPr>
          <a:xfrm>
            <a:off x="964800" y="3762720"/>
            <a:ext cx="685440" cy="68544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70" name="Shape 10"/>
          <p:cNvSpPr/>
          <p:nvPr/>
        </p:nvSpPr>
        <p:spPr>
          <a:xfrm>
            <a:off x="1078920" y="3877200"/>
            <a:ext cx="456840" cy="45684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71" name="Image 0" descr="preencoded.png"/>
          <p:cNvPicPr/>
          <p:nvPr/>
        </p:nvPicPr>
        <p:blipFill>
          <a:blip r:embed="rId1"/>
          <a:stretch/>
        </p:blipFill>
        <p:spPr>
          <a:xfrm>
            <a:off x="1225440" y="4023360"/>
            <a:ext cx="164160" cy="164160"/>
          </a:xfrm>
          <a:prstGeom prst="rect">
            <a:avLst/>
          </a:prstGeom>
          <a:noFill/>
          <a:ln w="0">
            <a:noFill/>
          </a:ln>
        </p:spPr>
      </p:pic>
      <p:sp>
        <p:nvSpPr>
          <p:cNvPr id="72" name="Text 11"/>
          <p:cNvSpPr/>
          <p:nvPr/>
        </p:nvSpPr>
        <p:spPr>
          <a:xfrm>
            <a:off x="1645920" y="3913560"/>
            <a:ext cx="9140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e8a33d"/>
                </a:solidFill>
                <a:effectLst/>
                <a:uFillTx/>
                <a:latin typeface="Cambria"/>
                <a:ea typeface="Cambria"/>
              </a:rPr>
              <a:t>Q1</a:t>
            </a:r>
            <a:endParaRPr b="0" lang="en-US" sz="2000" strike="noStrike" u="none">
              <a:solidFill>
                <a:srgbClr val="ffffff"/>
              </a:solidFill>
              <a:effectLst/>
              <a:uFillTx/>
              <a:latin typeface="Arial"/>
            </a:endParaRPr>
          </a:p>
        </p:txBody>
      </p:sp>
      <p:sp>
        <p:nvSpPr>
          <p:cNvPr id="73" name="Text 12"/>
          <p:cNvSpPr/>
          <p:nvPr/>
        </p:nvSpPr>
        <p:spPr>
          <a:xfrm>
            <a:off x="1078920" y="4521240"/>
            <a:ext cx="2871000" cy="126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trike="noStrike" u="none">
                <a:solidFill>
                  <a:srgbClr val="d8dff0"/>
                </a:solidFill>
                <a:effectLst/>
                <a:uFillTx/>
                <a:latin typeface="Calibri"/>
                <a:ea typeface="Calibri"/>
              </a:rPr>
              <a:t>Can we forecast a player's market value trend from age, performance, and appearance data?</a:t>
            </a:r>
            <a:endParaRPr b="0" lang="en-US" sz="1600" strike="noStrike" u="none">
              <a:solidFill>
                <a:srgbClr val="ffffff"/>
              </a:solidFill>
              <a:effectLst/>
              <a:uFillTx/>
              <a:latin typeface="Arial"/>
            </a:endParaRPr>
          </a:p>
        </p:txBody>
      </p:sp>
      <p:sp>
        <p:nvSpPr>
          <p:cNvPr id="74" name="Shape 13"/>
          <p:cNvSpPr/>
          <p:nvPr/>
        </p:nvSpPr>
        <p:spPr>
          <a:xfrm>
            <a:off x="4434840" y="3657600"/>
            <a:ext cx="3382920" cy="233136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75" name="Shape 14"/>
          <p:cNvSpPr/>
          <p:nvPr/>
        </p:nvSpPr>
        <p:spPr>
          <a:xfrm>
            <a:off x="4576680" y="3762720"/>
            <a:ext cx="685440" cy="68544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76" name="Shape 15"/>
          <p:cNvSpPr/>
          <p:nvPr/>
        </p:nvSpPr>
        <p:spPr>
          <a:xfrm>
            <a:off x="4690800" y="3877200"/>
            <a:ext cx="456840" cy="45684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77" name="Image 1" descr="preencoded.png"/>
          <p:cNvPicPr/>
          <p:nvPr/>
        </p:nvPicPr>
        <p:blipFill>
          <a:blip r:embed="rId2"/>
          <a:stretch/>
        </p:blipFill>
        <p:spPr>
          <a:xfrm>
            <a:off x="4837320" y="4023360"/>
            <a:ext cx="164160" cy="164160"/>
          </a:xfrm>
          <a:prstGeom prst="rect">
            <a:avLst/>
          </a:prstGeom>
          <a:noFill/>
          <a:ln w="0">
            <a:noFill/>
          </a:ln>
        </p:spPr>
      </p:pic>
      <p:sp>
        <p:nvSpPr>
          <p:cNvPr id="78" name="Text 16"/>
          <p:cNvSpPr/>
          <p:nvPr/>
        </p:nvSpPr>
        <p:spPr>
          <a:xfrm>
            <a:off x="5257800" y="3913560"/>
            <a:ext cx="9140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e8a33d"/>
                </a:solidFill>
                <a:effectLst/>
                <a:uFillTx/>
                <a:latin typeface="Cambria"/>
                <a:ea typeface="Cambria"/>
              </a:rPr>
              <a:t>Q2</a:t>
            </a:r>
            <a:endParaRPr b="0" lang="en-US" sz="2000" strike="noStrike" u="none">
              <a:solidFill>
                <a:srgbClr val="ffffff"/>
              </a:solidFill>
              <a:effectLst/>
              <a:uFillTx/>
              <a:latin typeface="Arial"/>
            </a:endParaRPr>
          </a:p>
        </p:txBody>
      </p:sp>
      <p:sp>
        <p:nvSpPr>
          <p:cNvPr id="79" name="Text 17"/>
          <p:cNvSpPr/>
          <p:nvPr/>
        </p:nvSpPr>
        <p:spPr>
          <a:xfrm>
            <a:off x="4690800" y="4521240"/>
            <a:ext cx="2871000" cy="126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trike="noStrike" u="none">
                <a:solidFill>
                  <a:srgbClr val="d8dff0"/>
                </a:solidFill>
                <a:effectLst/>
                <a:uFillTx/>
                <a:latin typeface="Calibri"/>
                <a:ea typeface="Calibri"/>
              </a:rPr>
              <a:t>Does injury history predict future injury risk well enough to flag “high risk” players?</a:t>
            </a:r>
            <a:endParaRPr b="0" lang="en-US" sz="1600" strike="noStrike" u="none">
              <a:solidFill>
                <a:srgbClr val="ffffff"/>
              </a:solidFill>
              <a:effectLst/>
              <a:uFillTx/>
              <a:latin typeface="Arial"/>
            </a:endParaRPr>
          </a:p>
        </p:txBody>
      </p:sp>
      <p:sp>
        <p:nvSpPr>
          <p:cNvPr id="80" name="Shape 18"/>
          <p:cNvSpPr/>
          <p:nvPr/>
        </p:nvSpPr>
        <p:spPr>
          <a:xfrm>
            <a:off x="8046720" y="3657600"/>
            <a:ext cx="3382920" cy="233136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81" name="Shape 19"/>
          <p:cNvSpPr/>
          <p:nvPr/>
        </p:nvSpPr>
        <p:spPr>
          <a:xfrm>
            <a:off x="8188560" y="3762720"/>
            <a:ext cx="685440" cy="68544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82" name="Shape 20"/>
          <p:cNvSpPr/>
          <p:nvPr/>
        </p:nvSpPr>
        <p:spPr>
          <a:xfrm>
            <a:off x="8302680" y="3877200"/>
            <a:ext cx="456840" cy="45684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83" name="Image 2" descr="preencoded.png"/>
          <p:cNvPicPr/>
          <p:nvPr/>
        </p:nvPicPr>
        <p:blipFill>
          <a:blip r:embed="rId3"/>
          <a:stretch/>
        </p:blipFill>
        <p:spPr>
          <a:xfrm>
            <a:off x="8449200" y="4023360"/>
            <a:ext cx="164160" cy="164160"/>
          </a:xfrm>
          <a:prstGeom prst="rect">
            <a:avLst/>
          </a:prstGeom>
          <a:noFill/>
          <a:ln w="0">
            <a:noFill/>
          </a:ln>
        </p:spPr>
      </p:pic>
      <p:sp>
        <p:nvSpPr>
          <p:cNvPr id="84" name="Text 21"/>
          <p:cNvSpPr/>
          <p:nvPr/>
        </p:nvSpPr>
        <p:spPr>
          <a:xfrm>
            <a:off x="8869680" y="3913560"/>
            <a:ext cx="914040" cy="3837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000" strike="noStrike" u="none">
                <a:solidFill>
                  <a:srgbClr val="e8a33d"/>
                </a:solidFill>
                <a:effectLst/>
                <a:uFillTx/>
                <a:latin typeface="Cambria"/>
                <a:ea typeface="Cambria"/>
              </a:rPr>
              <a:t>Q3</a:t>
            </a:r>
            <a:endParaRPr b="0" lang="en-US" sz="2000" strike="noStrike" u="none">
              <a:solidFill>
                <a:srgbClr val="ffffff"/>
              </a:solidFill>
              <a:effectLst/>
              <a:uFillTx/>
              <a:latin typeface="Arial"/>
            </a:endParaRPr>
          </a:p>
        </p:txBody>
      </p:sp>
      <p:sp>
        <p:nvSpPr>
          <p:cNvPr id="85" name="Text 22"/>
          <p:cNvSpPr/>
          <p:nvPr/>
        </p:nvSpPr>
        <p:spPr>
          <a:xfrm>
            <a:off x="8302680" y="4521240"/>
            <a:ext cx="2871000" cy="12697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600" strike="noStrike" u="none">
                <a:solidFill>
                  <a:srgbClr val="d8dff0"/>
                </a:solidFill>
                <a:effectLst/>
                <a:uFillTx/>
                <a:latin typeface="Calibri"/>
                <a:ea typeface="Calibri"/>
              </a:rPr>
              <a:t>Combined, do value forecast and injury risk together beat value alone as a recruitment signal?</a:t>
            </a:r>
            <a:endParaRPr b="0" lang="en-US" sz="1600" strike="noStrike" u="none">
              <a:solidFill>
                <a:srgbClr val="ffffff"/>
              </a:solidFill>
              <a:effectLst/>
              <a:uFillTx/>
              <a:latin typeface="Arial"/>
            </a:endParaRPr>
          </a:p>
        </p:txBody>
      </p:sp>
      <p:sp>
        <p:nvSpPr>
          <p:cNvPr id="86" name="Text 23"/>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a8b4d0"/>
                </a:solidFill>
                <a:effectLst/>
                <a:uFillTx/>
                <a:latin typeface="Calibri"/>
                <a:ea typeface="Calibri"/>
              </a:rPr>
              <a:t>03</a:t>
            </a:r>
            <a:endParaRPr b="0" lang="en-US" sz="1200" strike="noStrike" u="none">
              <a:solidFill>
                <a:srgbClr val="ffffff"/>
              </a:solidFill>
              <a:effectLst/>
              <a:uFillTx/>
              <a:latin typeface="Arial"/>
            </a:endParaRPr>
          </a:p>
        </p:txBody>
      </p:sp>
      <p:sp>
        <p:nvSpPr>
          <p:cNvPr id="87" name="TextBox 51"/>
          <p:cNvSpPr/>
          <p:nvPr/>
        </p:nvSpPr>
        <p:spPr>
          <a:xfrm>
            <a:off x="822960" y="3160080"/>
            <a:ext cx="10545480" cy="41976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200" strike="noStrike" u="none">
                <a:solidFill>
                  <a:srgbClr val="cadcfc"/>
                </a:solidFill>
                <a:effectLst/>
                <a:uFillTx/>
                <a:latin typeface="Calibri"/>
              </a:rPr>
              <a:t>TERM CHECK — </a:t>
            </a:r>
            <a:r>
              <a:rPr b="0" i="1" lang="en-US" sz="1200" strike="noStrike" u="none">
                <a:solidFill>
                  <a:srgbClr val="cadcfc"/>
                </a:solidFill>
                <a:effectLst/>
                <a:uFillTx/>
                <a:latin typeface="Calibri"/>
              </a:rPr>
              <a:t>“market value” = a player’s estimated transfer-market worth (public valuation data), not a confirmed sale price.</a:t>
            </a:r>
            <a:endParaRPr b="0" lang="en-US" sz="1200" strike="noStrike" u="none">
              <a:solidFill>
                <a:srgbClr val="ffffff"/>
              </a:solidFill>
              <a:effectLst/>
              <a:uFillTx/>
              <a:latin typeface="Arial"/>
            </a:endParaRPr>
          </a:p>
        </p:txBody>
      </p:sp>
    </p:spTree>
  </p:cSld>
  <p:transition spd="med">
    <p:fade/>
  </p:transition>
  <p:timing>
    <p:tnLst>
      <p:par>
        <p:cTn id="93" dur="indefinite" restart="never" nodeType="tmRoot">
          <p:childTnLst>
            <p:seq>
              <p:cTn id="94" dur="indefinite" nodeType="mainSeq">
                <p:childTnLst>
                  <p:par>
                    <p:cTn id="95" fill="hold">
                      <p:stCondLst>
                        <p:cond delay="indefinite"/>
                      </p:stCondLst>
                      <p:childTnLst>
                        <p:par>
                          <p:cTn id="96" fill="hold">
                            <p:stCondLst>
                              <p:cond delay="0"/>
                            </p:stCondLst>
                            <p:childTnLst>
                              <p:par>
                                <p:cTn id="97" nodeType="clickEffect" fill="hold" presetClass="entr" presetID="10">
                                  <p:stCondLst>
                                    <p:cond delay="0"/>
                                  </p:stCondLst>
                                  <p:childTnLst>
                                    <p:set>
                                      <p:cBhvr>
                                        <p:cTn id="98" dur="1" fill="hold">
                                          <p:stCondLst>
                                            <p:cond delay="0"/>
                                          </p:stCondLst>
                                        </p:cTn>
                                        <p:tgtEl>
                                          <p:spTgt spid="68"/>
                                        </p:tgtEl>
                                        <p:attrNameLst>
                                          <p:attrName>style.visibility</p:attrName>
                                        </p:attrNameLst>
                                      </p:cBhvr>
                                      <p:to>
                                        <p:strVal val="visible"/>
                                      </p:to>
                                    </p:set>
                                    <p:animEffect filter="fade" transition="in">
                                      <p:cBhvr additive="repl">
                                        <p:cTn id="99" dur="450"/>
                                        <p:tgtEl>
                                          <p:spTgt spid="68"/>
                                        </p:tgtEl>
                                      </p:cBhvr>
                                    </p:animEffect>
                                  </p:childTnLst>
                                </p:cTn>
                              </p:par>
                              <p:par>
                                <p:cTn id="100" nodeType="withEffect" fill="hold" presetClass="entr" presetID="10">
                                  <p:stCondLst>
                                    <p:cond delay="0"/>
                                  </p:stCondLst>
                                  <p:childTnLst>
                                    <p:set>
                                      <p:cBhvr>
                                        <p:cTn id="101" dur="1" fill="hold">
                                          <p:stCondLst>
                                            <p:cond delay="0"/>
                                          </p:stCondLst>
                                        </p:cTn>
                                        <p:tgtEl>
                                          <p:spTgt spid="74"/>
                                        </p:tgtEl>
                                        <p:attrNameLst>
                                          <p:attrName>style.visibility</p:attrName>
                                        </p:attrNameLst>
                                      </p:cBhvr>
                                      <p:to>
                                        <p:strVal val="visible"/>
                                      </p:to>
                                    </p:set>
                                    <p:animEffect filter="fade" transition="in">
                                      <p:cBhvr additive="repl">
                                        <p:cTn id="102" dur="450"/>
                                        <p:tgtEl>
                                          <p:spTgt spid="74"/>
                                        </p:tgtEl>
                                      </p:cBhvr>
                                    </p:animEffect>
                                  </p:childTnLst>
                                </p:cTn>
                              </p:par>
                              <p:par>
                                <p:cTn id="103" nodeType="withEffect" fill="hold" presetClass="entr" presetID="10">
                                  <p:stCondLst>
                                    <p:cond delay="0"/>
                                  </p:stCondLst>
                                  <p:childTnLst>
                                    <p:set>
                                      <p:cBhvr>
                                        <p:cTn id="104" dur="1" fill="hold">
                                          <p:stCondLst>
                                            <p:cond delay="0"/>
                                          </p:stCondLst>
                                        </p:cTn>
                                        <p:tgtEl>
                                          <p:spTgt spid="80"/>
                                        </p:tgtEl>
                                        <p:attrNameLst>
                                          <p:attrName>style.visibility</p:attrName>
                                        </p:attrNameLst>
                                      </p:cBhvr>
                                      <p:to>
                                        <p:strVal val="visible"/>
                                      </p:to>
                                    </p:set>
                                    <p:animEffect filter="fade" transition="in">
                                      <p:cBhvr additive="repl">
                                        <p:cTn id="105" dur="450"/>
                                        <p:tgtEl>
                                          <p:spTgt spid="80"/>
                                        </p:tgtEl>
                                      </p:cBhvr>
                                    </p:animEffect>
                                  </p:childTnLst>
                                </p:cTn>
                              </p:par>
                              <p:par>
                                <p:cTn id="106" nodeType="withEffect" fill="hold" presetClass="entr" presetID="10">
                                  <p:stCondLst>
                                    <p:cond delay="0"/>
                                  </p:stCondLst>
                                  <p:childTnLst>
                                    <p:set>
                                      <p:cBhvr>
                                        <p:cTn id="107" dur="1" fill="hold">
                                          <p:stCondLst>
                                            <p:cond delay="0"/>
                                          </p:stCondLst>
                                        </p:cTn>
                                        <p:tgtEl>
                                          <p:spTgt spid="69"/>
                                        </p:tgtEl>
                                        <p:attrNameLst>
                                          <p:attrName>style.visibility</p:attrName>
                                        </p:attrNameLst>
                                      </p:cBhvr>
                                      <p:to>
                                        <p:strVal val="visible"/>
                                      </p:to>
                                    </p:set>
                                    <p:animEffect filter="fade" transition="in">
                                      <p:cBhvr additive="repl">
                                        <p:cTn id="108" dur="450"/>
                                        <p:tgtEl>
                                          <p:spTgt spid="69"/>
                                        </p:tgtEl>
                                      </p:cBhvr>
                                    </p:animEffect>
                                  </p:childTnLst>
                                </p:cTn>
                              </p:par>
                              <p:par>
                                <p:cTn id="109" nodeType="withEffect" fill="hold" presetClass="entr" presetID="10">
                                  <p:stCondLst>
                                    <p:cond delay="0"/>
                                  </p:stCondLst>
                                  <p:childTnLst>
                                    <p:set>
                                      <p:cBhvr>
                                        <p:cTn id="110" dur="1" fill="hold">
                                          <p:stCondLst>
                                            <p:cond delay="0"/>
                                          </p:stCondLst>
                                        </p:cTn>
                                        <p:tgtEl>
                                          <p:spTgt spid="75"/>
                                        </p:tgtEl>
                                        <p:attrNameLst>
                                          <p:attrName>style.visibility</p:attrName>
                                        </p:attrNameLst>
                                      </p:cBhvr>
                                      <p:to>
                                        <p:strVal val="visible"/>
                                      </p:to>
                                    </p:set>
                                    <p:animEffect filter="fade" transition="in">
                                      <p:cBhvr additive="repl">
                                        <p:cTn id="111" dur="450"/>
                                        <p:tgtEl>
                                          <p:spTgt spid="75"/>
                                        </p:tgtEl>
                                      </p:cBhvr>
                                    </p:animEffect>
                                  </p:childTnLst>
                                </p:cTn>
                              </p:par>
                              <p:par>
                                <p:cTn id="112" nodeType="withEffect" fill="hold" presetClass="entr" presetID="10">
                                  <p:stCondLst>
                                    <p:cond delay="0"/>
                                  </p:stCondLst>
                                  <p:childTnLst>
                                    <p:set>
                                      <p:cBhvr>
                                        <p:cTn id="113" dur="1" fill="hold">
                                          <p:stCondLst>
                                            <p:cond delay="0"/>
                                          </p:stCondLst>
                                        </p:cTn>
                                        <p:tgtEl>
                                          <p:spTgt spid="81"/>
                                        </p:tgtEl>
                                        <p:attrNameLst>
                                          <p:attrName>style.visibility</p:attrName>
                                        </p:attrNameLst>
                                      </p:cBhvr>
                                      <p:to>
                                        <p:strVal val="visible"/>
                                      </p:to>
                                    </p:set>
                                    <p:animEffect filter="fade" transition="in">
                                      <p:cBhvr additive="repl">
                                        <p:cTn id="114" dur="450"/>
                                        <p:tgtEl>
                                          <p:spTgt spid="81"/>
                                        </p:tgtEl>
                                      </p:cBhvr>
                                    </p:animEffect>
                                  </p:childTnLst>
                                </p:cTn>
                              </p:par>
                              <p:par>
                                <p:cTn id="115" nodeType="withEffect" fill="hold" presetClass="entr" presetID="10">
                                  <p:stCondLst>
                                    <p:cond delay="0"/>
                                  </p:stCondLst>
                                  <p:childTnLst>
                                    <p:set>
                                      <p:cBhvr>
                                        <p:cTn id="116" dur="1" fill="hold">
                                          <p:stCondLst>
                                            <p:cond delay="0"/>
                                          </p:stCondLst>
                                        </p:cTn>
                                        <p:tgtEl>
                                          <p:spTgt spid="70"/>
                                        </p:tgtEl>
                                        <p:attrNameLst>
                                          <p:attrName>style.visibility</p:attrName>
                                        </p:attrNameLst>
                                      </p:cBhvr>
                                      <p:to>
                                        <p:strVal val="visible"/>
                                      </p:to>
                                    </p:set>
                                    <p:animEffect filter="fade" transition="in">
                                      <p:cBhvr additive="repl">
                                        <p:cTn id="117" dur="450"/>
                                        <p:tgtEl>
                                          <p:spTgt spid="70"/>
                                        </p:tgtEl>
                                      </p:cBhvr>
                                    </p:animEffect>
                                  </p:childTnLst>
                                </p:cTn>
                              </p:par>
                              <p:par>
                                <p:cTn id="118" nodeType="withEffect" fill="hold" presetClass="entr" presetID="10">
                                  <p:stCondLst>
                                    <p:cond delay="0"/>
                                  </p:stCondLst>
                                  <p:childTnLst>
                                    <p:set>
                                      <p:cBhvr>
                                        <p:cTn id="119" dur="1" fill="hold">
                                          <p:stCondLst>
                                            <p:cond delay="0"/>
                                          </p:stCondLst>
                                        </p:cTn>
                                        <p:tgtEl>
                                          <p:spTgt spid="76"/>
                                        </p:tgtEl>
                                        <p:attrNameLst>
                                          <p:attrName>style.visibility</p:attrName>
                                        </p:attrNameLst>
                                      </p:cBhvr>
                                      <p:to>
                                        <p:strVal val="visible"/>
                                      </p:to>
                                    </p:set>
                                    <p:animEffect filter="fade" transition="in">
                                      <p:cBhvr additive="repl">
                                        <p:cTn id="120" dur="450"/>
                                        <p:tgtEl>
                                          <p:spTgt spid="76"/>
                                        </p:tgtEl>
                                      </p:cBhvr>
                                    </p:animEffect>
                                  </p:childTnLst>
                                </p:cTn>
                              </p:par>
                              <p:par>
                                <p:cTn id="121" nodeType="withEffect" fill="hold" presetClass="entr" presetID="10">
                                  <p:stCondLst>
                                    <p:cond delay="0"/>
                                  </p:stCondLst>
                                  <p:childTnLst>
                                    <p:set>
                                      <p:cBhvr>
                                        <p:cTn id="122" dur="1" fill="hold">
                                          <p:stCondLst>
                                            <p:cond delay="0"/>
                                          </p:stCondLst>
                                        </p:cTn>
                                        <p:tgtEl>
                                          <p:spTgt spid="82"/>
                                        </p:tgtEl>
                                        <p:attrNameLst>
                                          <p:attrName>style.visibility</p:attrName>
                                        </p:attrNameLst>
                                      </p:cBhvr>
                                      <p:to>
                                        <p:strVal val="visible"/>
                                      </p:to>
                                    </p:set>
                                    <p:animEffect filter="fade" transition="in">
                                      <p:cBhvr additive="repl">
                                        <p:cTn id="123" dur="450"/>
                                        <p:tgtEl>
                                          <p:spTgt spid="82"/>
                                        </p:tgtEl>
                                      </p:cBhvr>
                                    </p:animEffect>
                                  </p:childTnLst>
                                </p:cTn>
                              </p:par>
                              <p:par>
                                <p:cTn id="124" nodeType="withEffect" fill="hold" presetClass="entr" presetID="10">
                                  <p:stCondLst>
                                    <p:cond delay="0"/>
                                  </p:stCondLst>
                                  <p:childTnLst>
                                    <p:set>
                                      <p:cBhvr>
                                        <p:cTn id="125" dur="1" fill="hold">
                                          <p:stCondLst>
                                            <p:cond delay="0"/>
                                          </p:stCondLst>
                                        </p:cTn>
                                        <p:tgtEl>
                                          <p:spTgt spid="72"/>
                                        </p:tgtEl>
                                        <p:attrNameLst>
                                          <p:attrName>style.visibility</p:attrName>
                                        </p:attrNameLst>
                                      </p:cBhvr>
                                      <p:to>
                                        <p:strVal val="visible"/>
                                      </p:to>
                                    </p:set>
                                    <p:animEffect filter="fade" transition="in">
                                      <p:cBhvr additive="repl">
                                        <p:cTn id="126" dur="450"/>
                                        <p:tgtEl>
                                          <p:spTgt spid="72"/>
                                        </p:tgtEl>
                                      </p:cBhvr>
                                    </p:animEffect>
                                  </p:childTnLst>
                                </p:cTn>
                              </p:par>
                              <p:par>
                                <p:cTn id="127" nodeType="withEffect" fill="hold" presetClass="entr" presetID="10">
                                  <p:stCondLst>
                                    <p:cond delay="0"/>
                                  </p:stCondLst>
                                  <p:childTnLst>
                                    <p:set>
                                      <p:cBhvr>
                                        <p:cTn id="128" dur="1" fill="hold">
                                          <p:stCondLst>
                                            <p:cond delay="0"/>
                                          </p:stCondLst>
                                        </p:cTn>
                                        <p:tgtEl>
                                          <p:spTgt spid="78"/>
                                        </p:tgtEl>
                                        <p:attrNameLst>
                                          <p:attrName>style.visibility</p:attrName>
                                        </p:attrNameLst>
                                      </p:cBhvr>
                                      <p:to>
                                        <p:strVal val="visible"/>
                                      </p:to>
                                    </p:set>
                                    <p:animEffect filter="fade" transition="in">
                                      <p:cBhvr additive="repl">
                                        <p:cTn id="129" dur="450"/>
                                        <p:tgtEl>
                                          <p:spTgt spid="78"/>
                                        </p:tgtEl>
                                      </p:cBhvr>
                                    </p:animEffect>
                                  </p:childTnLst>
                                </p:cTn>
                              </p:par>
                              <p:par>
                                <p:cTn id="130" nodeType="withEffect" fill="hold" presetClass="entr" presetID="10">
                                  <p:stCondLst>
                                    <p:cond delay="0"/>
                                  </p:stCondLst>
                                  <p:childTnLst>
                                    <p:set>
                                      <p:cBhvr>
                                        <p:cTn id="131" dur="1" fill="hold">
                                          <p:stCondLst>
                                            <p:cond delay="0"/>
                                          </p:stCondLst>
                                        </p:cTn>
                                        <p:tgtEl>
                                          <p:spTgt spid="84"/>
                                        </p:tgtEl>
                                        <p:attrNameLst>
                                          <p:attrName>style.visibility</p:attrName>
                                        </p:attrNameLst>
                                      </p:cBhvr>
                                      <p:to>
                                        <p:strVal val="visible"/>
                                      </p:to>
                                    </p:set>
                                    <p:animEffect filter="fade" transition="in">
                                      <p:cBhvr additive="repl">
                                        <p:cTn id="132" dur="450"/>
                                        <p:tgtEl>
                                          <p:spTgt spid="84"/>
                                        </p:tgtEl>
                                      </p:cBhvr>
                                    </p:animEffect>
                                  </p:childTnLst>
                                </p:cTn>
                              </p:par>
                            </p:childTnLst>
                          </p:cTn>
                        </p:par>
                      </p:childTnLst>
                    </p:cTn>
                  </p:par>
                  <p:par>
                    <p:cTn id="133" fill="hold">
                      <p:stCondLst>
                        <p:cond delay="indefinite"/>
                      </p:stCondLst>
                      <p:childTnLst>
                        <p:par>
                          <p:cTn id="134" fill="hold">
                            <p:stCondLst>
                              <p:cond delay="0"/>
                            </p:stCondLst>
                            <p:childTnLst>
                              <p:par>
                                <p:cTn id="135" nodeType="clickEffect" fill="hold" presetClass="entr" presetID="10">
                                  <p:stCondLst>
                                    <p:cond delay="0"/>
                                  </p:stCondLst>
                                  <p:childTnLst>
                                    <p:set>
                                      <p:cBhvr>
                                        <p:cTn id="136" dur="1" fill="hold">
                                          <p:stCondLst>
                                            <p:cond delay="0"/>
                                          </p:stCondLst>
                                        </p:cTn>
                                        <p:tgtEl>
                                          <p:spTgt spid="73"/>
                                        </p:tgtEl>
                                        <p:attrNameLst>
                                          <p:attrName>style.visibility</p:attrName>
                                        </p:attrNameLst>
                                      </p:cBhvr>
                                      <p:to>
                                        <p:strVal val="visible"/>
                                      </p:to>
                                    </p:set>
                                    <p:animEffect filter="fade" transition="in">
                                      <p:cBhvr additive="repl">
                                        <p:cTn id="137" dur="450"/>
                                        <p:tgtEl>
                                          <p:spTgt spid="73"/>
                                        </p:tgtEl>
                                      </p:cBhvr>
                                    </p:animEffect>
                                  </p:childTnLst>
                                </p:cTn>
                              </p:par>
                              <p:par>
                                <p:cTn id="138" nodeType="withEffect" fill="hold" presetClass="entr" presetID="10">
                                  <p:stCondLst>
                                    <p:cond delay="0"/>
                                  </p:stCondLst>
                                  <p:childTnLst>
                                    <p:set>
                                      <p:cBhvr>
                                        <p:cTn id="139" dur="1" fill="hold">
                                          <p:stCondLst>
                                            <p:cond delay="0"/>
                                          </p:stCondLst>
                                        </p:cTn>
                                        <p:tgtEl>
                                          <p:spTgt spid="79"/>
                                        </p:tgtEl>
                                        <p:attrNameLst>
                                          <p:attrName>style.visibility</p:attrName>
                                        </p:attrNameLst>
                                      </p:cBhvr>
                                      <p:to>
                                        <p:strVal val="visible"/>
                                      </p:to>
                                    </p:set>
                                    <p:animEffect filter="fade" transition="in">
                                      <p:cBhvr additive="repl">
                                        <p:cTn id="140" dur="450"/>
                                        <p:tgtEl>
                                          <p:spTgt spid="79"/>
                                        </p:tgtEl>
                                      </p:cBhvr>
                                    </p:animEffect>
                                  </p:childTnLst>
                                </p:cTn>
                              </p:par>
                              <p:par>
                                <p:cTn id="141" nodeType="withEffect" fill="hold" presetClass="entr" presetID="10">
                                  <p:stCondLst>
                                    <p:cond delay="0"/>
                                  </p:stCondLst>
                                  <p:childTnLst>
                                    <p:set>
                                      <p:cBhvr>
                                        <p:cTn id="142" dur="1" fill="hold">
                                          <p:stCondLst>
                                            <p:cond delay="0"/>
                                          </p:stCondLst>
                                        </p:cTn>
                                        <p:tgtEl>
                                          <p:spTgt spid="85"/>
                                        </p:tgtEl>
                                        <p:attrNameLst>
                                          <p:attrName>style.visibility</p:attrName>
                                        </p:attrNameLst>
                                      </p:cBhvr>
                                      <p:to>
                                        <p:strVal val="visible"/>
                                      </p:to>
                                    </p:set>
                                    <p:animEffect filter="fade" transition="in">
                                      <p:cBhvr additive="repl">
                                        <p:cTn id="143" dur="450"/>
                                        <p:tgtEl>
                                          <p:spTgt spid="8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88" name="Text 0"/>
          <p:cNvSpPr/>
          <p:nvPr/>
        </p:nvSpPr>
        <p:spPr>
          <a:xfrm>
            <a:off x="822960" y="59436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1f7a4d"/>
                </a:solidFill>
                <a:effectLst/>
                <a:uFillTx/>
                <a:latin typeface="Calibri"/>
                <a:ea typeface="Calibri"/>
              </a:rPr>
              <a:t>THE DATA</a:t>
            </a:r>
            <a:endParaRPr b="0" lang="en-US" sz="1400" strike="noStrike" u="none">
              <a:solidFill>
                <a:srgbClr val="000000"/>
              </a:solidFill>
              <a:effectLst/>
              <a:uFillTx/>
              <a:latin typeface="Arial"/>
            </a:endParaRPr>
          </a:p>
        </p:txBody>
      </p:sp>
      <p:sp>
        <p:nvSpPr>
          <p:cNvPr id="89" name="Text 1"/>
          <p:cNvSpPr/>
          <p:nvPr/>
        </p:nvSpPr>
        <p:spPr>
          <a:xfrm>
            <a:off x="777240" y="896040"/>
            <a:ext cx="91436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a1a1a"/>
                </a:solidFill>
                <a:effectLst/>
                <a:uFillTx/>
                <a:latin typeface="Cambria"/>
                <a:ea typeface="Cambria"/>
              </a:rPr>
              <a:t>Three sources, one recruitment signal</a:t>
            </a:r>
            <a:endParaRPr b="0" lang="en-US" sz="3200" strike="noStrike" u="none">
              <a:solidFill>
                <a:srgbClr val="000000"/>
              </a:solidFill>
              <a:effectLst/>
              <a:uFillTx/>
              <a:latin typeface="Arial"/>
            </a:endParaRPr>
          </a:p>
        </p:txBody>
      </p:sp>
      <p:sp>
        <p:nvSpPr>
          <p:cNvPr id="90" name="Shape 2"/>
          <p:cNvSpPr/>
          <p:nvPr/>
        </p:nvSpPr>
        <p:spPr>
          <a:xfrm>
            <a:off x="822960" y="1965960"/>
            <a:ext cx="3428640" cy="223488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91" name="Shape 3"/>
          <p:cNvSpPr/>
          <p:nvPr/>
        </p:nvSpPr>
        <p:spPr>
          <a:xfrm>
            <a:off x="951120" y="2084760"/>
            <a:ext cx="767880" cy="76788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92" name="Shape 4"/>
          <p:cNvSpPr/>
          <p:nvPr/>
        </p:nvSpPr>
        <p:spPr>
          <a:xfrm>
            <a:off x="1078920" y="2212920"/>
            <a:ext cx="511560" cy="511560"/>
          </a:xfrm>
          <a:prstGeom prst="ellipse">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93" name="Image 0" descr="preencoded.png"/>
          <p:cNvPicPr/>
          <p:nvPr/>
        </p:nvPicPr>
        <p:blipFill>
          <a:blip r:embed="rId1"/>
          <a:stretch/>
        </p:blipFill>
        <p:spPr>
          <a:xfrm>
            <a:off x="1225440" y="2359080"/>
            <a:ext cx="219240" cy="219240"/>
          </a:xfrm>
          <a:prstGeom prst="rect">
            <a:avLst/>
          </a:prstGeom>
          <a:noFill/>
          <a:ln w="0">
            <a:noFill/>
          </a:ln>
        </p:spPr>
      </p:pic>
      <p:sp>
        <p:nvSpPr>
          <p:cNvPr id="94" name="Text 5"/>
          <p:cNvSpPr/>
          <p:nvPr/>
        </p:nvSpPr>
        <p:spPr>
          <a:xfrm>
            <a:off x="1078920" y="2871360"/>
            <a:ext cx="2916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trike="noStrike" u="none">
                <a:solidFill>
                  <a:srgbClr val="1a1a1a"/>
                </a:solidFill>
                <a:effectLst/>
                <a:uFillTx/>
                <a:latin typeface="Calibri"/>
                <a:ea typeface="Calibri"/>
              </a:rPr>
              <a:t>Transfermarkt: Player Values</a:t>
            </a:r>
            <a:endParaRPr b="0" lang="en-US" sz="1450" strike="noStrike" u="none">
              <a:solidFill>
                <a:srgbClr val="000000"/>
              </a:solidFill>
              <a:effectLst/>
              <a:uFillTx/>
              <a:latin typeface="Arial"/>
            </a:endParaRPr>
          </a:p>
        </p:txBody>
      </p:sp>
      <p:sp>
        <p:nvSpPr>
          <p:cNvPr id="95" name="Text 6"/>
          <p:cNvSpPr/>
          <p:nvPr/>
        </p:nvSpPr>
        <p:spPr>
          <a:xfrm>
            <a:off x="1078920" y="3429000"/>
            <a:ext cx="2916720" cy="533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Market value history &amp; appearances across seasons</a:t>
            </a:r>
            <a:endParaRPr b="0" lang="en-US" sz="1400" strike="noStrike" u="none">
              <a:solidFill>
                <a:srgbClr val="000000"/>
              </a:solidFill>
              <a:effectLst/>
              <a:uFillTx/>
              <a:latin typeface="Arial"/>
            </a:endParaRPr>
          </a:p>
        </p:txBody>
      </p:sp>
      <p:sp>
        <p:nvSpPr>
          <p:cNvPr id="96" name="Shape 7"/>
          <p:cNvSpPr/>
          <p:nvPr/>
        </p:nvSpPr>
        <p:spPr>
          <a:xfrm>
            <a:off x="4507920" y="1965960"/>
            <a:ext cx="3428640" cy="223488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97" name="Shape 8"/>
          <p:cNvSpPr/>
          <p:nvPr/>
        </p:nvSpPr>
        <p:spPr>
          <a:xfrm>
            <a:off x="4636080" y="2084760"/>
            <a:ext cx="767880" cy="76788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98" name="Shape 9"/>
          <p:cNvSpPr/>
          <p:nvPr/>
        </p:nvSpPr>
        <p:spPr>
          <a:xfrm>
            <a:off x="4763880" y="2212920"/>
            <a:ext cx="511560" cy="51156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99" name="Image 1" descr="preencoded.png"/>
          <p:cNvPicPr/>
          <p:nvPr/>
        </p:nvPicPr>
        <p:blipFill>
          <a:blip r:embed="rId2"/>
          <a:stretch/>
        </p:blipFill>
        <p:spPr>
          <a:xfrm>
            <a:off x="4910400" y="2359080"/>
            <a:ext cx="219240" cy="219240"/>
          </a:xfrm>
          <a:prstGeom prst="rect">
            <a:avLst/>
          </a:prstGeom>
          <a:noFill/>
          <a:ln w="0">
            <a:noFill/>
          </a:ln>
        </p:spPr>
      </p:pic>
      <p:sp>
        <p:nvSpPr>
          <p:cNvPr id="100" name="Text 10"/>
          <p:cNvSpPr/>
          <p:nvPr/>
        </p:nvSpPr>
        <p:spPr>
          <a:xfrm>
            <a:off x="4763880" y="2871360"/>
            <a:ext cx="2916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trike="noStrike" u="none">
                <a:solidFill>
                  <a:srgbClr val="1a1a1a"/>
                </a:solidFill>
                <a:effectLst/>
                <a:uFillTx/>
                <a:latin typeface="Calibri"/>
                <a:ea typeface="Calibri"/>
              </a:rPr>
              <a:t>Transfermarkt: Injuries</a:t>
            </a:r>
            <a:endParaRPr b="0" lang="en-US" sz="1450" strike="noStrike" u="none">
              <a:solidFill>
                <a:srgbClr val="000000"/>
              </a:solidFill>
              <a:effectLst/>
              <a:uFillTx/>
              <a:latin typeface="Arial"/>
            </a:endParaRPr>
          </a:p>
        </p:txBody>
      </p:sp>
      <p:sp>
        <p:nvSpPr>
          <p:cNvPr id="101" name="Text 11"/>
          <p:cNvSpPr/>
          <p:nvPr/>
        </p:nvSpPr>
        <p:spPr>
          <a:xfrm>
            <a:off x="4763880" y="3429000"/>
            <a:ext cx="2916720" cy="533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Injury type, dates, and duration per player</a:t>
            </a:r>
            <a:endParaRPr b="0" lang="en-US" sz="1400" strike="noStrike" u="none">
              <a:solidFill>
                <a:srgbClr val="000000"/>
              </a:solidFill>
              <a:effectLst/>
              <a:uFillTx/>
              <a:latin typeface="Arial"/>
            </a:endParaRPr>
          </a:p>
        </p:txBody>
      </p:sp>
      <p:sp>
        <p:nvSpPr>
          <p:cNvPr id="102" name="Shape 12"/>
          <p:cNvSpPr/>
          <p:nvPr/>
        </p:nvSpPr>
        <p:spPr>
          <a:xfrm>
            <a:off x="8192880" y="1965960"/>
            <a:ext cx="3428640" cy="2234880"/>
          </a:xfrm>
          <a:prstGeom prst="roundRect">
            <a:avLst>
              <a:gd name="adj" fmla="val 4091"/>
            </a:avLst>
          </a:prstGeom>
          <a:solidFill>
            <a:srgbClr val="ffffff"/>
          </a:solidFill>
          <a:ln w="0">
            <a:noFill/>
          </a:ln>
          <a:effectLst>
            <a:outerShdw algn="bl" blurRad="101520" dir="5400000" dist="38160" rotWithShape="0">
              <a:srgbClr val="8c93a6">
                <a:alpha val="25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03" name="Shape 13"/>
          <p:cNvSpPr/>
          <p:nvPr/>
        </p:nvSpPr>
        <p:spPr>
          <a:xfrm>
            <a:off x="8321040" y="2084760"/>
            <a:ext cx="767880" cy="76788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04" name="Shape 14"/>
          <p:cNvSpPr/>
          <p:nvPr/>
        </p:nvSpPr>
        <p:spPr>
          <a:xfrm>
            <a:off x="8449200" y="2212920"/>
            <a:ext cx="511560" cy="511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105" name="Image 2" descr="preencoded.png"/>
          <p:cNvPicPr/>
          <p:nvPr/>
        </p:nvPicPr>
        <p:blipFill>
          <a:blip r:embed="rId3"/>
          <a:stretch/>
        </p:blipFill>
        <p:spPr>
          <a:xfrm>
            <a:off x="8595360" y="2359080"/>
            <a:ext cx="219240" cy="219240"/>
          </a:xfrm>
          <a:prstGeom prst="rect">
            <a:avLst/>
          </a:prstGeom>
          <a:noFill/>
          <a:ln w="0">
            <a:noFill/>
          </a:ln>
        </p:spPr>
      </p:pic>
      <p:sp>
        <p:nvSpPr>
          <p:cNvPr id="106" name="Text 15"/>
          <p:cNvSpPr/>
          <p:nvPr/>
        </p:nvSpPr>
        <p:spPr>
          <a:xfrm>
            <a:off x="8449200" y="2871360"/>
            <a:ext cx="291672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trike="noStrike" u="none">
                <a:solidFill>
                  <a:srgbClr val="1a1a1a"/>
                </a:solidFill>
                <a:effectLst/>
                <a:uFillTx/>
                <a:latin typeface="Calibri"/>
                <a:ea typeface="Calibri"/>
              </a:rPr>
              <a:t>FBref: Match Performance</a:t>
            </a:r>
            <a:endParaRPr b="0" lang="en-US" sz="1450" strike="noStrike" u="none">
              <a:solidFill>
                <a:srgbClr val="000000"/>
              </a:solidFill>
              <a:effectLst/>
              <a:uFillTx/>
              <a:latin typeface="Arial"/>
            </a:endParaRPr>
          </a:p>
        </p:txBody>
      </p:sp>
      <p:sp>
        <p:nvSpPr>
          <p:cNvPr id="107" name="Text 16"/>
          <p:cNvSpPr/>
          <p:nvPr/>
        </p:nvSpPr>
        <p:spPr>
          <a:xfrm>
            <a:off x="8449200" y="3429000"/>
            <a:ext cx="2916720" cy="533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Minutes &amp; match stats, 2017–2024, top-5 leagues</a:t>
            </a:r>
            <a:endParaRPr b="0" lang="en-US" sz="1400" strike="noStrike" u="none">
              <a:solidFill>
                <a:srgbClr val="000000"/>
              </a:solidFill>
              <a:effectLst/>
              <a:uFillTx/>
              <a:latin typeface="Arial"/>
            </a:endParaRPr>
          </a:p>
        </p:txBody>
      </p:sp>
      <p:sp>
        <p:nvSpPr>
          <p:cNvPr id="108" name="Shape 17"/>
          <p:cNvSpPr/>
          <p:nvPr/>
        </p:nvSpPr>
        <p:spPr>
          <a:xfrm>
            <a:off x="822960" y="4617720"/>
            <a:ext cx="2011320" cy="54828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09" name="Text 18"/>
          <p:cNvSpPr/>
          <p:nvPr/>
        </p:nvSpPr>
        <p:spPr>
          <a:xfrm>
            <a:off x="822960" y="4617720"/>
            <a:ext cx="201132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ffffff"/>
                </a:solidFill>
                <a:effectLst/>
                <a:uFillTx/>
                <a:latin typeface="Calibri"/>
                <a:ea typeface="Calibri"/>
              </a:rPr>
              <a:t>Raw sources</a:t>
            </a:r>
            <a:endParaRPr b="0" lang="en-US" sz="1250" strike="noStrike" u="none">
              <a:solidFill>
                <a:srgbClr val="000000"/>
              </a:solidFill>
              <a:effectLst/>
              <a:uFillTx/>
              <a:latin typeface="Arial"/>
            </a:endParaRPr>
          </a:p>
        </p:txBody>
      </p:sp>
      <p:pic>
        <p:nvPicPr>
          <p:cNvPr id="110" name="Image 3" descr="preencoded.png"/>
          <p:cNvPicPr/>
          <p:nvPr/>
        </p:nvPicPr>
        <p:blipFill>
          <a:blip r:embed="rId4"/>
          <a:stretch/>
        </p:blipFill>
        <p:spPr>
          <a:xfrm>
            <a:off x="2853000" y="4800600"/>
            <a:ext cx="182520" cy="182520"/>
          </a:xfrm>
          <a:prstGeom prst="rect">
            <a:avLst/>
          </a:prstGeom>
          <a:noFill/>
          <a:ln w="0">
            <a:noFill/>
          </a:ln>
        </p:spPr>
      </p:pic>
      <p:sp>
        <p:nvSpPr>
          <p:cNvPr id="111" name="Shape 19"/>
          <p:cNvSpPr/>
          <p:nvPr/>
        </p:nvSpPr>
        <p:spPr>
          <a:xfrm>
            <a:off x="3072240" y="4617720"/>
            <a:ext cx="2011320" cy="54828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12" name="Text 20"/>
          <p:cNvSpPr/>
          <p:nvPr/>
        </p:nvSpPr>
        <p:spPr>
          <a:xfrm>
            <a:off x="3072240" y="4617720"/>
            <a:ext cx="201132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ffffff"/>
                </a:solidFill>
                <a:effectLst/>
                <a:uFillTx/>
                <a:latin typeface="Calibri"/>
                <a:ea typeface="Calibri"/>
              </a:rPr>
              <a:t>dbt staging</a:t>
            </a:r>
            <a:endParaRPr b="0" lang="en-US" sz="1250" strike="noStrike" u="none">
              <a:solidFill>
                <a:srgbClr val="000000"/>
              </a:solidFill>
              <a:effectLst/>
              <a:uFillTx/>
              <a:latin typeface="Arial"/>
            </a:endParaRPr>
          </a:p>
        </p:txBody>
      </p:sp>
      <p:pic>
        <p:nvPicPr>
          <p:cNvPr id="113" name="Image 4" descr="preencoded.png"/>
          <p:cNvPicPr/>
          <p:nvPr/>
        </p:nvPicPr>
        <p:blipFill>
          <a:blip r:embed="rId5"/>
          <a:stretch/>
        </p:blipFill>
        <p:spPr>
          <a:xfrm>
            <a:off x="5102280" y="4800600"/>
            <a:ext cx="182520" cy="182520"/>
          </a:xfrm>
          <a:prstGeom prst="rect">
            <a:avLst/>
          </a:prstGeom>
          <a:noFill/>
          <a:ln w="0">
            <a:noFill/>
          </a:ln>
        </p:spPr>
      </p:pic>
      <p:sp>
        <p:nvSpPr>
          <p:cNvPr id="114" name="Shape 21"/>
          <p:cNvSpPr/>
          <p:nvPr/>
        </p:nvSpPr>
        <p:spPr>
          <a:xfrm>
            <a:off x="5321880" y="4617720"/>
            <a:ext cx="2011320" cy="54828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15" name="Text 22"/>
          <p:cNvSpPr/>
          <p:nvPr/>
        </p:nvSpPr>
        <p:spPr>
          <a:xfrm>
            <a:off x="5321880" y="4617720"/>
            <a:ext cx="201132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ffffff"/>
                </a:solidFill>
                <a:effectLst/>
                <a:uFillTx/>
                <a:latin typeface="Calibri"/>
                <a:ea typeface="Calibri"/>
              </a:rPr>
              <a:t>dbt prep (player match)</a:t>
            </a:r>
            <a:endParaRPr b="0" lang="en-US" sz="1250" strike="noStrike" u="none">
              <a:solidFill>
                <a:srgbClr val="000000"/>
              </a:solidFill>
              <a:effectLst/>
              <a:uFillTx/>
              <a:latin typeface="Arial"/>
            </a:endParaRPr>
          </a:p>
        </p:txBody>
      </p:sp>
      <p:pic>
        <p:nvPicPr>
          <p:cNvPr id="116" name="Image 5" descr="preencoded.png"/>
          <p:cNvPicPr/>
          <p:nvPr/>
        </p:nvPicPr>
        <p:blipFill>
          <a:blip r:embed="rId6"/>
          <a:stretch/>
        </p:blipFill>
        <p:spPr>
          <a:xfrm>
            <a:off x="7351920" y="4800600"/>
            <a:ext cx="182520" cy="182520"/>
          </a:xfrm>
          <a:prstGeom prst="rect">
            <a:avLst/>
          </a:prstGeom>
          <a:noFill/>
          <a:ln w="0">
            <a:noFill/>
          </a:ln>
        </p:spPr>
      </p:pic>
      <p:sp>
        <p:nvSpPr>
          <p:cNvPr id="117" name="Shape 23"/>
          <p:cNvSpPr/>
          <p:nvPr/>
        </p:nvSpPr>
        <p:spPr>
          <a:xfrm>
            <a:off x="7571160" y="4617720"/>
            <a:ext cx="2011320" cy="548280"/>
          </a:xfrm>
          <a:prstGeom prst="roundRect">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18" name="Text 24"/>
          <p:cNvSpPr/>
          <p:nvPr/>
        </p:nvSpPr>
        <p:spPr>
          <a:xfrm>
            <a:off x="7571160" y="4617720"/>
            <a:ext cx="201132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ffffff"/>
                </a:solidFill>
                <a:effectLst/>
                <a:uFillTx/>
                <a:latin typeface="Calibri"/>
                <a:ea typeface="Calibri"/>
              </a:rPr>
              <a:t>dbt marts</a:t>
            </a:r>
            <a:endParaRPr b="0" lang="en-US" sz="1250" strike="noStrike" u="none">
              <a:solidFill>
                <a:srgbClr val="000000"/>
              </a:solidFill>
              <a:effectLst/>
              <a:uFillTx/>
              <a:latin typeface="Arial"/>
            </a:endParaRPr>
          </a:p>
        </p:txBody>
      </p:sp>
      <p:pic>
        <p:nvPicPr>
          <p:cNvPr id="119" name="Image 6" descr="preencoded.png"/>
          <p:cNvPicPr/>
          <p:nvPr/>
        </p:nvPicPr>
        <p:blipFill>
          <a:blip r:embed="rId7"/>
          <a:stretch/>
        </p:blipFill>
        <p:spPr>
          <a:xfrm>
            <a:off x="9601200" y="4800600"/>
            <a:ext cx="182520" cy="182520"/>
          </a:xfrm>
          <a:prstGeom prst="rect">
            <a:avLst/>
          </a:prstGeom>
          <a:noFill/>
          <a:ln w="0">
            <a:noFill/>
          </a:ln>
        </p:spPr>
      </p:pic>
      <p:sp>
        <p:nvSpPr>
          <p:cNvPr id="120" name="Shape 25"/>
          <p:cNvSpPr/>
          <p:nvPr/>
        </p:nvSpPr>
        <p:spPr>
          <a:xfrm>
            <a:off x="9820800" y="4617720"/>
            <a:ext cx="2011320" cy="548280"/>
          </a:xfrm>
          <a:prstGeom prst="roundRect">
            <a:avLst>
              <a:gd name="adj" fmla="val 50000"/>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21" name="Text 26"/>
          <p:cNvSpPr/>
          <p:nvPr/>
        </p:nvSpPr>
        <p:spPr>
          <a:xfrm>
            <a:off x="9820800" y="4617720"/>
            <a:ext cx="2011320" cy="5482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50" strike="noStrike" u="none">
                <a:solidFill>
                  <a:srgbClr val="ffffff"/>
                </a:solidFill>
                <a:effectLst/>
                <a:uFillTx/>
                <a:latin typeface="Calibri"/>
                <a:ea typeface="Calibri"/>
              </a:rPr>
              <a:t>DuckDB warehouse</a:t>
            </a:r>
            <a:endParaRPr b="0" lang="en-US" sz="1250" strike="noStrike" u="none">
              <a:solidFill>
                <a:srgbClr val="000000"/>
              </a:solidFill>
              <a:effectLst/>
              <a:uFillTx/>
              <a:latin typeface="Arial"/>
            </a:endParaRPr>
          </a:p>
        </p:txBody>
      </p:sp>
      <p:sp>
        <p:nvSpPr>
          <p:cNvPr id="122" name="Text 27"/>
          <p:cNvSpPr/>
          <p:nvPr/>
        </p:nvSpPr>
        <p:spPr>
          <a:xfrm>
            <a:off x="822960" y="5623560"/>
            <a:ext cx="1033236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2800" strike="noStrike" u="none">
                <a:solidFill>
                  <a:srgbClr val="0f1b3d"/>
                </a:solidFill>
                <a:effectLst/>
                <a:uFillTx/>
                <a:latin typeface="Cambria"/>
                <a:ea typeface="Cambria"/>
              </a:rPr>
              <a:t>6 / 6  </a:t>
            </a:r>
            <a:r>
              <a:rPr b="0" lang="en-US" sz="1400" strike="noStrike" u="none">
                <a:solidFill>
                  <a:srgbClr val="44506b"/>
                </a:solidFill>
                <a:effectLst/>
                <a:uFillTx/>
                <a:latin typeface="Calibri"/>
                <a:ea typeface="Calibri"/>
              </a:rPr>
              <a:t>dbt models running end to end</a:t>
            </a:r>
            <a:r>
              <a:rPr b="0" lang="en-US" sz="1800" strike="noStrike" u="none">
                <a:solidFill>
                  <a:srgbClr val="c4cbd6"/>
                </a:solidFill>
                <a:effectLst/>
                <a:uFillTx/>
                <a:latin typeface="Calibri"/>
                <a:ea typeface="Calibri"/>
              </a:rPr>
              <a:t>      |      </a:t>
            </a:r>
            <a:r>
              <a:rPr b="1" lang="en-US" sz="2800" strike="noStrike" u="none">
                <a:solidFill>
                  <a:srgbClr val="0f1b3d"/>
                </a:solidFill>
                <a:effectLst/>
                <a:uFillTx/>
                <a:latin typeface="Cambria"/>
                <a:ea typeface="Cambria"/>
              </a:rPr>
              <a:t>1,959  </a:t>
            </a:r>
            <a:r>
              <a:rPr b="0" lang="en-US" sz="1400" strike="noStrike" u="none">
                <a:solidFill>
                  <a:srgbClr val="44506b"/>
                </a:solidFill>
                <a:effectLst/>
                <a:uFillTx/>
                <a:latin typeface="Calibri"/>
                <a:ea typeface="Calibri"/>
              </a:rPr>
              <a:t>players matched across all 3 sources</a:t>
            </a:r>
            <a:endParaRPr b="0" lang="en-US" sz="1400" strike="noStrike" u="none">
              <a:solidFill>
                <a:srgbClr val="000000"/>
              </a:solidFill>
              <a:effectLst/>
              <a:uFillTx/>
              <a:latin typeface="Arial"/>
            </a:endParaRPr>
          </a:p>
        </p:txBody>
      </p:sp>
      <p:sp>
        <p:nvSpPr>
          <p:cNvPr id="123" name="Text 28"/>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5a6478"/>
                </a:solidFill>
                <a:effectLst/>
                <a:uFillTx/>
                <a:latin typeface="Calibri"/>
                <a:ea typeface="Calibri"/>
              </a:rPr>
              <a:t>04</a:t>
            </a:r>
            <a:endParaRPr b="0" lang="en-US" sz="1200" strike="noStrike" u="none">
              <a:solidFill>
                <a:srgbClr val="000000"/>
              </a:solidFill>
              <a:effectLst/>
              <a:uFillTx/>
              <a:latin typeface="Arial"/>
            </a:endParaRPr>
          </a:p>
        </p:txBody>
      </p:sp>
    </p:spTree>
  </p:cSld>
  <p:transition spd="med">
    <p:fade/>
  </p:transition>
  <p:timing>
    <p:tnLst>
      <p:par>
        <p:cTn id="144" dur="indefinite" restart="never" nodeType="tmRoot">
          <p:childTnLst>
            <p:seq>
              <p:cTn id="145" dur="indefinite" nodeType="mainSeq">
                <p:childTnLst>
                  <p:par>
                    <p:cTn id="146" fill="hold">
                      <p:stCondLst>
                        <p:cond delay="indefinite"/>
                      </p:stCondLst>
                      <p:childTnLst>
                        <p:par>
                          <p:cTn id="147" fill="hold">
                            <p:stCondLst>
                              <p:cond delay="0"/>
                            </p:stCondLst>
                            <p:childTnLst>
                              <p:par>
                                <p:cTn id="148" nodeType="clickEffect" fill="hold" presetClass="entr" presetID="10">
                                  <p:stCondLst>
                                    <p:cond delay="0"/>
                                  </p:stCondLst>
                                  <p:childTnLst>
                                    <p:set>
                                      <p:cBhvr>
                                        <p:cTn id="149" dur="1" fill="hold">
                                          <p:stCondLst>
                                            <p:cond delay="0"/>
                                          </p:stCondLst>
                                        </p:cTn>
                                        <p:tgtEl>
                                          <p:spTgt spid="90"/>
                                        </p:tgtEl>
                                        <p:attrNameLst>
                                          <p:attrName>style.visibility</p:attrName>
                                        </p:attrNameLst>
                                      </p:cBhvr>
                                      <p:to>
                                        <p:strVal val="visible"/>
                                      </p:to>
                                    </p:set>
                                    <p:animEffect filter="fade" transition="in">
                                      <p:cBhvr additive="repl">
                                        <p:cTn id="150" dur="450"/>
                                        <p:tgtEl>
                                          <p:spTgt spid="90"/>
                                        </p:tgtEl>
                                      </p:cBhvr>
                                    </p:animEffect>
                                  </p:childTnLst>
                                </p:cTn>
                              </p:par>
                              <p:par>
                                <p:cTn id="151" nodeType="withEffect" fill="hold" presetClass="entr" presetID="10">
                                  <p:stCondLst>
                                    <p:cond delay="0"/>
                                  </p:stCondLst>
                                  <p:childTnLst>
                                    <p:set>
                                      <p:cBhvr>
                                        <p:cTn id="152" dur="1" fill="hold">
                                          <p:stCondLst>
                                            <p:cond delay="0"/>
                                          </p:stCondLst>
                                        </p:cTn>
                                        <p:tgtEl>
                                          <p:spTgt spid="96"/>
                                        </p:tgtEl>
                                        <p:attrNameLst>
                                          <p:attrName>style.visibility</p:attrName>
                                        </p:attrNameLst>
                                      </p:cBhvr>
                                      <p:to>
                                        <p:strVal val="visible"/>
                                      </p:to>
                                    </p:set>
                                    <p:animEffect filter="fade" transition="in">
                                      <p:cBhvr additive="repl">
                                        <p:cTn id="153" dur="450"/>
                                        <p:tgtEl>
                                          <p:spTgt spid="96"/>
                                        </p:tgtEl>
                                      </p:cBhvr>
                                    </p:animEffect>
                                  </p:childTnLst>
                                </p:cTn>
                              </p:par>
                              <p:par>
                                <p:cTn id="154" nodeType="withEffect" fill="hold" presetClass="entr" presetID="10">
                                  <p:stCondLst>
                                    <p:cond delay="0"/>
                                  </p:stCondLst>
                                  <p:childTnLst>
                                    <p:set>
                                      <p:cBhvr>
                                        <p:cTn id="155" dur="1" fill="hold">
                                          <p:stCondLst>
                                            <p:cond delay="0"/>
                                          </p:stCondLst>
                                        </p:cTn>
                                        <p:tgtEl>
                                          <p:spTgt spid="102"/>
                                        </p:tgtEl>
                                        <p:attrNameLst>
                                          <p:attrName>style.visibility</p:attrName>
                                        </p:attrNameLst>
                                      </p:cBhvr>
                                      <p:to>
                                        <p:strVal val="visible"/>
                                      </p:to>
                                    </p:set>
                                    <p:animEffect filter="fade" transition="in">
                                      <p:cBhvr additive="repl">
                                        <p:cTn id="156" dur="450"/>
                                        <p:tgtEl>
                                          <p:spTgt spid="102"/>
                                        </p:tgtEl>
                                      </p:cBhvr>
                                    </p:animEffect>
                                  </p:childTnLst>
                                </p:cTn>
                              </p:par>
                              <p:par>
                                <p:cTn id="157" nodeType="withEffect" fill="hold" presetClass="entr" presetID="10">
                                  <p:stCondLst>
                                    <p:cond delay="0"/>
                                  </p:stCondLst>
                                  <p:childTnLst>
                                    <p:set>
                                      <p:cBhvr>
                                        <p:cTn id="158" dur="1" fill="hold">
                                          <p:stCondLst>
                                            <p:cond delay="0"/>
                                          </p:stCondLst>
                                        </p:cTn>
                                        <p:tgtEl>
                                          <p:spTgt spid="91"/>
                                        </p:tgtEl>
                                        <p:attrNameLst>
                                          <p:attrName>style.visibility</p:attrName>
                                        </p:attrNameLst>
                                      </p:cBhvr>
                                      <p:to>
                                        <p:strVal val="visible"/>
                                      </p:to>
                                    </p:set>
                                    <p:animEffect filter="fade" transition="in">
                                      <p:cBhvr additive="repl">
                                        <p:cTn id="159" dur="450"/>
                                        <p:tgtEl>
                                          <p:spTgt spid="91"/>
                                        </p:tgtEl>
                                      </p:cBhvr>
                                    </p:animEffect>
                                  </p:childTnLst>
                                </p:cTn>
                              </p:par>
                              <p:par>
                                <p:cTn id="160" nodeType="withEffect" fill="hold" presetClass="entr" presetID="10">
                                  <p:stCondLst>
                                    <p:cond delay="0"/>
                                  </p:stCondLst>
                                  <p:childTnLst>
                                    <p:set>
                                      <p:cBhvr>
                                        <p:cTn id="161" dur="1" fill="hold">
                                          <p:stCondLst>
                                            <p:cond delay="0"/>
                                          </p:stCondLst>
                                        </p:cTn>
                                        <p:tgtEl>
                                          <p:spTgt spid="97"/>
                                        </p:tgtEl>
                                        <p:attrNameLst>
                                          <p:attrName>style.visibility</p:attrName>
                                        </p:attrNameLst>
                                      </p:cBhvr>
                                      <p:to>
                                        <p:strVal val="visible"/>
                                      </p:to>
                                    </p:set>
                                    <p:animEffect filter="fade" transition="in">
                                      <p:cBhvr additive="repl">
                                        <p:cTn id="162" dur="450"/>
                                        <p:tgtEl>
                                          <p:spTgt spid="97"/>
                                        </p:tgtEl>
                                      </p:cBhvr>
                                    </p:animEffect>
                                  </p:childTnLst>
                                </p:cTn>
                              </p:par>
                              <p:par>
                                <p:cTn id="163" nodeType="withEffect" fill="hold" presetClass="entr" presetID="10">
                                  <p:stCondLst>
                                    <p:cond delay="0"/>
                                  </p:stCondLst>
                                  <p:childTnLst>
                                    <p:set>
                                      <p:cBhvr>
                                        <p:cTn id="164" dur="1" fill="hold">
                                          <p:stCondLst>
                                            <p:cond delay="0"/>
                                          </p:stCondLst>
                                        </p:cTn>
                                        <p:tgtEl>
                                          <p:spTgt spid="103"/>
                                        </p:tgtEl>
                                        <p:attrNameLst>
                                          <p:attrName>style.visibility</p:attrName>
                                        </p:attrNameLst>
                                      </p:cBhvr>
                                      <p:to>
                                        <p:strVal val="visible"/>
                                      </p:to>
                                    </p:set>
                                    <p:animEffect filter="fade" transition="in">
                                      <p:cBhvr additive="repl">
                                        <p:cTn id="165" dur="450"/>
                                        <p:tgtEl>
                                          <p:spTgt spid="103"/>
                                        </p:tgtEl>
                                      </p:cBhvr>
                                    </p:animEffect>
                                  </p:childTnLst>
                                </p:cTn>
                              </p:par>
                              <p:par>
                                <p:cTn id="166" nodeType="withEffect" fill="hold" presetClass="entr" presetID="10">
                                  <p:stCondLst>
                                    <p:cond delay="0"/>
                                  </p:stCondLst>
                                  <p:childTnLst>
                                    <p:set>
                                      <p:cBhvr>
                                        <p:cTn id="167" dur="1" fill="hold">
                                          <p:stCondLst>
                                            <p:cond delay="0"/>
                                          </p:stCondLst>
                                        </p:cTn>
                                        <p:tgtEl>
                                          <p:spTgt spid="92"/>
                                        </p:tgtEl>
                                        <p:attrNameLst>
                                          <p:attrName>style.visibility</p:attrName>
                                        </p:attrNameLst>
                                      </p:cBhvr>
                                      <p:to>
                                        <p:strVal val="visible"/>
                                      </p:to>
                                    </p:set>
                                    <p:animEffect filter="fade" transition="in">
                                      <p:cBhvr additive="repl">
                                        <p:cTn id="168" dur="450"/>
                                        <p:tgtEl>
                                          <p:spTgt spid="92"/>
                                        </p:tgtEl>
                                      </p:cBhvr>
                                    </p:animEffect>
                                  </p:childTnLst>
                                </p:cTn>
                              </p:par>
                              <p:par>
                                <p:cTn id="169" nodeType="withEffect" fill="hold" presetClass="entr" presetID="10">
                                  <p:stCondLst>
                                    <p:cond delay="0"/>
                                  </p:stCondLst>
                                  <p:childTnLst>
                                    <p:set>
                                      <p:cBhvr>
                                        <p:cTn id="170" dur="1" fill="hold">
                                          <p:stCondLst>
                                            <p:cond delay="0"/>
                                          </p:stCondLst>
                                        </p:cTn>
                                        <p:tgtEl>
                                          <p:spTgt spid="98"/>
                                        </p:tgtEl>
                                        <p:attrNameLst>
                                          <p:attrName>style.visibility</p:attrName>
                                        </p:attrNameLst>
                                      </p:cBhvr>
                                      <p:to>
                                        <p:strVal val="visible"/>
                                      </p:to>
                                    </p:set>
                                    <p:animEffect filter="fade" transition="in">
                                      <p:cBhvr additive="repl">
                                        <p:cTn id="171" dur="450"/>
                                        <p:tgtEl>
                                          <p:spTgt spid="98"/>
                                        </p:tgtEl>
                                      </p:cBhvr>
                                    </p:animEffect>
                                  </p:childTnLst>
                                </p:cTn>
                              </p:par>
                              <p:par>
                                <p:cTn id="172" nodeType="withEffect" fill="hold" presetClass="entr" presetID="10">
                                  <p:stCondLst>
                                    <p:cond delay="0"/>
                                  </p:stCondLst>
                                  <p:childTnLst>
                                    <p:set>
                                      <p:cBhvr>
                                        <p:cTn id="173" dur="1" fill="hold">
                                          <p:stCondLst>
                                            <p:cond delay="0"/>
                                          </p:stCondLst>
                                        </p:cTn>
                                        <p:tgtEl>
                                          <p:spTgt spid="104"/>
                                        </p:tgtEl>
                                        <p:attrNameLst>
                                          <p:attrName>style.visibility</p:attrName>
                                        </p:attrNameLst>
                                      </p:cBhvr>
                                      <p:to>
                                        <p:strVal val="visible"/>
                                      </p:to>
                                    </p:set>
                                    <p:animEffect filter="fade" transition="in">
                                      <p:cBhvr additive="repl">
                                        <p:cTn id="174" dur="450"/>
                                        <p:tgtEl>
                                          <p:spTgt spid="104"/>
                                        </p:tgtEl>
                                      </p:cBhvr>
                                    </p:animEffect>
                                  </p:childTnLst>
                                </p:cTn>
                              </p:par>
                            </p:childTnLst>
                          </p:cTn>
                        </p:par>
                      </p:childTnLst>
                    </p:cTn>
                  </p:par>
                  <p:par>
                    <p:cTn id="175" fill="hold">
                      <p:stCondLst>
                        <p:cond delay="indefinite"/>
                      </p:stCondLst>
                      <p:childTnLst>
                        <p:par>
                          <p:cTn id="176" fill="hold">
                            <p:stCondLst>
                              <p:cond delay="0"/>
                            </p:stCondLst>
                            <p:childTnLst>
                              <p:par>
                                <p:cTn id="177" nodeType="clickEffect" fill="hold" presetClass="entr" presetID="10">
                                  <p:stCondLst>
                                    <p:cond delay="0"/>
                                  </p:stCondLst>
                                  <p:childTnLst>
                                    <p:set>
                                      <p:cBhvr>
                                        <p:cTn id="178" dur="1" fill="hold">
                                          <p:stCondLst>
                                            <p:cond delay="0"/>
                                          </p:stCondLst>
                                        </p:cTn>
                                        <p:tgtEl>
                                          <p:spTgt spid="94"/>
                                        </p:tgtEl>
                                        <p:attrNameLst>
                                          <p:attrName>style.visibility</p:attrName>
                                        </p:attrNameLst>
                                      </p:cBhvr>
                                      <p:to>
                                        <p:strVal val="visible"/>
                                      </p:to>
                                    </p:set>
                                    <p:animEffect filter="fade" transition="in">
                                      <p:cBhvr additive="repl">
                                        <p:cTn id="179" dur="450"/>
                                        <p:tgtEl>
                                          <p:spTgt spid="94"/>
                                        </p:tgtEl>
                                      </p:cBhvr>
                                    </p:animEffect>
                                  </p:childTnLst>
                                </p:cTn>
                              </p:par>
                              <p:par>
                                <p:cTn id="180" nodeType="withEffect" fill="hold" presetClass="entr" presetID="10">
                                  <p:stCondLst>
                                    <p:cond delay="0"/>
                                  </p:stCondLst>
                                  <p:childTnLst>
                                    <p:set>
                                      <p:cBhvr>
                                        <p:cTn id="181" dur="1" fill="hold">
                                          <p:stCondLst>
                                            <p:cond delay="0"/>
                                          </p:stCondLst>
                                        </p:cTn>
                                        <p:tgtEl>
                                          <p:spTgt spid="100"/>
                                        </p:tgtEl>
                                        <p:attrNameLst>
                                          <p:attrName>style.visibility</p:attrName>
                                        </p:attrNameLst>
                                      </p:cBhvr>
                                      <p:to>
                                        <p:strVal val="visible"/>
                                      </p:to>
                                    </p:set>
                                    <p:animEffect filter="fade" transition="in">
                                      <p:cBhvr additive="repl">
                                        <p:cTn id="182" dur="450"/>
                                        <p:tgtEl>
                                          <p:spTgt spid="100"/>
                                        </p:tgtEl>
                                      </p:cBhvr>
                                    </p:animEffect>
                                  </p:childTnLst>
                                </p:cTn>
                              </p:par>
                              <p:par>
                                <p:cTn id="183" nodeType="withEffect" fill="hold" presetClass="entr" presetID="10">
                                  <p:stCondLst>
                                    <p:cond delay="0"/>
                                  </p:stCondLst>
                                  <p:childTnLst>
                                    <p:set>
                                      <p:cBhvr>
                                        <p:cTn id="184" dur="1" fill="hold">
                                          <p:stCondLst>
                                            <p:cond delay="0"/>
                                          </p:stCondLst>
                                        </p:cTn>
                                        <p:tgtEl>
                                          <p:spTgt spid="106"/>
                                        </p:tgtEl>
                                        <p:attrNameLst>
                                          <p:attrName>style.visibility</p:attrName>
                                        </p:attrNameLst>
                                      </p:cBhvr>
                                      <p:to>
                                        <p:strVal val="visible"/>
                                      </p:to>
                                    </p:set>
                                    <p:animEffect filter="fade" transition="in">
                                      <p:cBhvr additive="repl">
                                        <p:cTn id="185" dur="450"/>
                                        <p:tgtEl>
                                          <p:spTgt spid="106"/>
                                        </p:tgtEl>
                                      </p:cBhvr>
                                    </p:animEffect>
                                  </p:childTnLst>
                                </p:cTn>
                              </p:par>
                              <p:par>
                                <p:cTn id="186" nodeType="withEffect" fill="hold" presetClass="entr" presetID="10">
                                  <p:stCondLst>
                                    <p:cond delay="0"/>
                                  </p:stCondLst>
                                  <p:childTnLst>
                                    <p:set>
                                      <p:cBhvr>
                                        <p:cTn id="187" dur="1" fill="hold">
                                          <p:stCondLst>
                                            <p:cond delay="0"/>
                                          </p:stCondLst>
                                        </p:cTn>
                                        <p:tgtEl>
                                          <p:spTgt spid="95"/>
                                        </p:tgtEl>
                                        <p:attrNameLst>
                                          <p:attrName>style.visibility</p:attrName>
                                        </p:attrNameLst>
                                      </p:cBhvr>
                                      <p:to>
                                        <p:strVal val="visible"/>
                                      </p:to>
                                    </p:set>
                                    <p:animEffect filter="fade" transition="in">
                                      <p:cBhvr additive="repl">
                                        <p:cTn id="188" dur="450"/>
                                        <p:tgtEl>
                                          <p:spTgt spid="95"/>
                                        </p:tgtEl>
                                      </p:cBhvr>
                                    </p:animEffect>
                                  </p:childTnLst>
                                </p:cTn>
                              </p:par>
                              <p:par>
                                <p:cTn id="189" nodeType="withEffect" fill="hold" presetClass="entr" presetID="10">
                                  <p:stCondLst>
                                    <p:cond delay="0"/>
                                  </p:stCondLst>
                                  <p:childTnLst>
                                    <p:set>
                                      <p:cBhvr>
                                        <p:cTn id="190" dur="1" fill="hold">
                                          <p:stCondLst>
                                            <p:cond delay="0"/>
                                          </p:stCondLst>
                                        </p:cTn>
                                        <p:tgtEl>
                                          <p:spTgt spid="101"/>
                                        </p:tgtEl>
                                        <p:attrNameLst>
                                          <p:attrName>style.visibility</p:attrName>
                                        </p:attrNameLst>
                                      </p:cBhvr>
                                      <p:to>
                                        <p:strVal val="visible"/>
                                      </p:to>
                                    </p:set>
                                    <p:animEffect filter="fade" transition="in">
                                      <p:cBhvr additive="repl">
                                        <p:cTn id="191" dur="450"/>
                                        <p:tgtEl>
                                          <p:spTgt spid="101"/>
                                        </p:tgtEl>
                                      </p:cBhvr>
                                    </p:animEffect>
                                  </p:childTnLst>
                                </p:cTn>
                              </p:par>
                              <p:par>
                                <p:cTn id="192" nodeType="withEffect" fill="hold" presetClass="entr" presetID="10">
                                  <p:stCondLst>
                                    <p:cond delay="0"/>
                                  </p:stCondLst>
                                  <p:childTnLst>
                                    <p:set>
                                      <p:cBhvr>
                                        <p:cTn id="193" dur="1" fill="hold">
                                          <p:stCondLst>
                                            <p:cond delay="0"/>
                                          </p:stCondLst>
                                        </p:cTn>
                                        <p:tgtEl>
                                          <p:spTgt spid="107"/>
                                        </p:tgtEl>
                                        <p:attrNameLst>
                                          <p:attrName>style.visibility</p:attrName>
                                        </p:attrNameLst>
                                      </p:cBhvr>
                                      <p:to>
                                        <p:strVal val="visible"/>
                                      </p:to>
                                    </p:set>
                                    <p:animEffect filter="fade" transition="in">
                                      <p:cBhvr additive="repl">
                                        <p:cTn id="194" dur="450"/>
                                        <p:tgtEl>
                                          <p:spTgt spid="107"/>
                                        </p:tgtEl>
                                      </p:cBhvr>
                                    </p:animEffect>
                                  </p:childTnLst>
                                </p:cTn>
                              </p:par>
                            </p:childTnLst>
                          </p:cTn>
                        </p:par>
                      </p:childTnLst>
                    </p:cTn>
                  </p:par>
                  <p:par>
                    <p:cTn id="195" fill="hold">
                      <p:stCondLst>
                        <p:cond delay="indefinite"/>
                      </p:stCondLst>
                      <p:childTnLst>
                        <p:par>
                          <p:cTn id="196" fill="hold">
                            <p:stCondLst>
                              <p:cond delay="0"/>
                            </p:stCondLst>
                            <p:childTnLst>
                              <p:par>
                                <p:cTn id="197" nodeType="clickEffect" fill="hold" presetClass="entr" presetID="10">
                                  <p:stCondLst>
                                    <p:cond delay="0"/>
                                  </p:stCondLst>
                                  <p:childTnLst>
                                    <p:set>
                                      <p:cBhvr>
                                        <p:cTn id="198" dur="1" fill="hold">
                                          <p:stCondLst>
                                            <p:cond delay="0"/>
                                          </p:stCondLst>
                                        </p:cTn>
                                        <p:tgtEl>
                                          <p:spTgt spid="108"/>
                                        </p:tgtEl>
                                        <p:attrNameLst>
                                          <p:attrName>style.visibility</p:attrName>
                                        </p:attrNameLst>
                                      </p:cBhvr>
                                      <p:to>
                                        <p:strVal val="visible"/>
                                      </p:to>
                                    </p:set>
                                    <p:animEffect filter="fade" transition="in">
                                      <p:cBhvr additive="repl">
                                        <p:cTn id="199" dur="450"/>
                                        <p:tgtEl>
                                          <p:spTgt spid="108"/>
                                        </p:tgtEl>
                                      </p:cBhvr>
                                    </p:animEffect>
                                  </p:childTnLst>
                                </p:cTn>
                              </p:par>
                              <p:par>
                                <p:cTn id="200" nodeType="withEffect" fill="hold" presetClass="entr" presetID="10">
                                  <p:stCondLst>
                                    <p:cond delay="0"/>
                                  </p:stCondLst>
                                  <p:childTnLst>
                                    <p:set>
                                      <p:cBhvr>
                                        <p:cTn id="201" dur="1" fill="hold">
                                          <p:stCondLst>
                                            <p:cond delay="0"/>
                                          </p:stCondLst>
                                        </p:cTn>
                                        <p:tgtEl>
                                          <p:spTgt spid="109"/>
                                        </p:tgtEl>
                                        <p:attrNameLst>
                                          <p:attrName>style.visibility</p:attrName>
                                        </p:attrNameLst>
                                      </p:cBhvr>
                                      <p:to>
                                        <p:strVal val="visible"/>
                                      </p:to>
                                    </p:set>
                                    <p:animEffect filter="fade" transition="in">
                                      <p:cBhvr additive="repl">
                                        <p:cTn id="202" dur="450"/>
                                        <p:tgtEl>
                                          <p:spTgt spid="109"/>
                                        </p:tgtEl>
                                      </p:cBhvr>
                                    </p:animEffect>
                                  </p:childTnLst>
                                </p:cTn>
                              </p:par>
                              <p:par>
                                <p:cTn id="203" nodeType="withEffect" fill="hold" presetClass="entr" presetID="10">
                                  <p:stCondLst>
                                    <p:cond delay="0"/>
                                  </p:stCondLst>
                                  <p:childTnLst>
                                    <p:set>
                                      <p:cBhvr>
                                        <p:cTn id="204" dur="1" fill="hold">
                                          <p:stCondLst>
                                            <p:cond delay="0"/>
                                          </p:stCondLst>
                                        </p:cTn>
                                        <p:tgtEl>
                                          <p:spTgt spid="111"/>
                                        </p:tgtEl>
                                        <p:attrNameLst>
                                          <p:attrName>style.visibility</p:attrName>
                                        </p:attrNameLst>
                                      </p:cBhvr>
                                      <p:to>
                                        <p:strVal val="visible"/>
                                      </p:to>
                                    </p:set>
                                    <p:animEffect filter="fade" transition="in">
                                      <p:cBhvr additive="repl">
                                        <p:cTn id="205" dur="450"/>
                                        <p:tgtEl>
                                          <p:spTgt spid="111"/>
                                        </p:tgtEl>
                                      </p:cBhvr>
                                    </p:animEffect>
                                  </p:childTnLst>
                                </p:cTn>
                              </p:par>
                              <p:par>
                                <p:cTn id="206" nodeType="withEffect" fill="hold" presetClass="entr" presetID="10">
                                  <p:stCondLst>
                                    <p:cond delay="0"/>
                                  </p:stCondLst>
                                  <p:childTnLst>
                                    <p:set>
                                      <p:cBhvr>
                                        <p:cTn id="207" dur="1" fill="hold">
                                          <p:stCondLst>
                                            <p:cond delay="0"/>
                                          </p:stCondLst>
                                        </p:cTn>
                                        <p:tgtEl>
                                          <p:spTgt spid="112"/>
                                        </p:tgtEl>
                                        <p:attrNameLst>
                                          <p:attrName>style.visibility</p:attrName>
                                        </p:attrNameLst>
                                      </p:cBhvr>
                                      <p:to>
                                        <p:strVal val="visible"/>
                                      </p:to>
                                    </p:set>
                                    <p:animEffect filter="fade" transition="in">
                                      <p:cBhvr additive="repl">
                                        <p:cTn id="208" dur="450"/>
                                        <p:tgtEl>
                                          <p:spTgt spid="112"/>
                                        </p:tgtEl>
                                      </p:cBhvr>
                                    </p:animEffect>
                                  </p:childTnLst>
                                </p:cTn>
                              </p:par>
                              <p:par>
                                <p:cTn id="209" nodeType="withEffect" fill="hold" presetClass="entr" presetID="10">
                                  <p:stCondLst>
                                    <p:cond delay="0"/>
                                  </p:stCondLst>
                                  <p:childTnLst>
                                    <p:set>
                                      <p:cBhvr>
                                        <p:cTn id="210" dur="1" fill="hold">
                                          <p:stCondLst>
                                            <p:cond delay="0"/>
                                          </p:stCondLst>
                                        </p:cTn>
                                        <p:tgtEl>
                                          <p:spTgt spid="114"/>
                                        </p:tgtEl>
                                        <p:attrNameLst>
                                          <p:attrName>style.visibility</p:attrName>
                                        </p:attrNameLst>
                                      </p:cBhvr>
                                      <p:to>
                                        <p:strVal val="visible"/>
                                      </p:to>
                                    </p:set>
                                    <p:animEffect filter="fade" transition="in">
                                      <p:cBhvr additive="repl">
                                        <p:cTn id="211" dur="450"/>
                                        <p:tgtEl>
                                          <p:spTgt spid="114"/>
                                        </p:tgtEl>
                                      </p:cBhvr>
                                    </p:animEffect>
                                  </p:childTnLst>
                                </p:cTn>
                              </p:par>
                              <p:par>
                                <p:cTn id="212" nodeType="withEffect" fill="hold" presetClass="entr" presetID="10">
                                  <p:stCondLst>
                                    <p:cond delay="0"/>
                                  </p:stCondLst>
                                  <p:childTnLst>
                                    <p:set>
                                      <p:cBhvr>
                                        <p:cTn id="213" dur="1" fill="hold">
                                          <p:stCondLst>
                                            <p:cond delay="0"/>
                                          </p:stCondLst>
                                        </p:cTn>
                                        <p:tgtEl>
                                          <p:spTgt spid="115"/>
                                        </p:tgtEl>
                                        <p:attrNameLst>
                                          <p:attrName>style.visibility</p:attrName>
                                        </p:attrNameLst>
                                      </p:cBhvr>
                                      <p:to>
                                        <p:strVal val="visible"/>
                                      </p:to>
                                    </p:set>
                                    <p:animEffect filter="fade" transition="in">
                                      <p:cBhvr additive="repl">
                                        <p:cTn id="214" dur="450"/>
                                        <p:tgtEl>
                                          <p:spTgt spid="115"/>
                                        </p:tgtEl>
                                      </p:cBhvr>
                                    </p:animEffect>
                                  </p:childTnLst>
                                </p:cTn>
                              </p:par>
                              <p:par>
                                <p:cTn id="215" nodeType="withEffect" fill="hold" presetClass="entr" presetID="10">
                                  <p:stCondLst>
                                    <p:cond delay="0"/>
                                  </p:stCondLst>
                                  <p:childTnLst>
                                    <p:set>
                                      <p:cBhvr>
                                        <p:cTn id="216" dur="1" fill="hold">
                                          <p:stCondLst>
                                            <p:cond delay="0"/>
                                          </p:stCondLst>
                                        </p:cTn>
                                        <p:tgtEl>
                                          <p:spTgt spid="117"/>
                                        </p:tgtEl>
                                        <p:attrNameLst>
                                          <p:attrName>style.visibility</p:attrName>
                                        </p:attrNameLst>
                                      </p:cBhvr>
                                      <p:to>
                                        <p:strVal val="visible"/>
                                      </p:to>
                                    </p:set>
                                    <p:animEffect filter="fade" transition="in">
                                      <p:cBhvr additive="repl">
                                        <p:cTn id="217" dur="450"/>
                                        <p:tgtEl>
                                          <p:spTgt spid="117"/>
                                        </p:tgtEl>
                                      </p:cBhvr>
                                    </p:animEffect>
                                  </p:childTnLst>
                                </p:cTn>
                              </p:par>
                              <p:par>
                                <p:cTn id="218" nodeType="withEffect" fill="hold" presetClass="entr" presetID="10">
                                  <p:stCondLst>
                                    <p:cond delay="0"/>
                                  </p:stCondLst>
                                  <p:childTnLst>
                                    <p:set>
                                      <p:cBhvr>
                                        <p:cTn id="219" dur="1" fill="hold">
                                          <p:stCondLst>
                                            <p:cond delay="0"/>
                                          </p:stCondLst>
                                        </p:cTn>
                                        <p:tgtEl>
                                          <p:spTgt spid="118"/>
                                        </p:tgtEl>
                                        <p:attrNameLst>
                                          <p:attrName>style.visibility</p:attrName>
                                        </p:attrNameLst>
                                      </p:cBhvr>
                                      <p:to>
                                        <p:strVal val="visible"/>
                                      </p:to>
                                    </p:set>
                                    <p:animEffect filter="fade" transition="in">
                                      <p:cBhvr additive="repl">
                                        <p:cTn id="220" dur="450"/>
                                        <p:tgtEl>
                                          <p:spTgt spid="118"/>
                                        </p:tgtEl>
                                      </p:cBhvr>
                                    </p:animEffect>
                                  </p:childTnLst>
                                </p:cTn>
                              </p:par>
                              <p:par>
                                <p:cTn id="221" nodeType="withEffect" fill="hold" presetClass="entr" presetID="10">
                                  <p:stCondLst>
                                    <p:cond delay="0"/>
                                  </p:stCondLst>
                                  <p:childTnLst>
                                    <p:set>
                                      <p:cBhvr>
                                        <p:cTn id="222" dur="1" fill="hold">
                                          <p:stCondLst>
                                            <p:cond delay="0"/>
                                          </p:stCondLst>
                                        </p:cTn>
                                        <p:tgtEl>
                                          <p:spTgt spid="120"/>
                                        </p:tgtEl>
                                        <p:attrNameLst>
                                          <p:attrName>style.visibility</p:attrName>
                                        </p:attrNameLst>
                                      </p:cBhvr>
                                      <p:to>
                                        <p:strVal val="visible"/>
                                      </p:to>
                                    </p:set>
                                    <p:animEffect filter="fade" transition="in">
                                      <p:cBhvr additive="repl">
                                        <p:cTn id="223" dur="450"/>
                                        <p:tgtEl>
                                          <p:spTgt spid="120"/>
                                        </p:tgtEl>
                                      </p:cBhvr>
                                    </p:animEffect>
                                  </p:childTnLst>
                                </p:cTn>
                              </p:par>
                              <p:par>
                                <p:cTn id="224" nodeType="withEffect" fill="hold" presetClass="entr" presetID="10">
                                  <p:stCondLst>
                                    <p:cond delay="0"/>
                                  </p:stCondLst>
                                  <p:childTnLst>
                                    <p:set>
                                      <p:cBhvr>
                                        <p:cTn id="225" dur="1" fill="hold">
                                          <p:stCondLst>
                                            <p:cond delay="0"/>
                                          </p:stCondLst>
                                        </p:cTn>
                                        <p:tgtEl>
                                          <p:spTgt spid="121"/>
                                        </p:tgtEl>
                                        <p:attrNameLst>
                                          <p:attrName>style.visibility</p:attrName>
                                        </p:attrNameLst>
                                      </p:cBhvr>
                                      <p:to>
                                        <p:strVal val="visible"/>
                                      </p:to>
                                    </p:set>
                                    <p:animEffect filter="fade" transition="in">
                                      <p:cBhvr additive="repl">
                                        <p:cTn id="226" dur="450"/>
                                        <p:tgtEl>
                                          <p:spTgt spid="121"/>
                                        </p:tgtEl>
                                      </p:cBhvr>
                                    </p:animEffect>
                                  </p:childTnLst>
                                </p:cTn>
                              </p:par>
                            </p:childTnLst>
                          </p:cTn>
                        </p:par>
                      </p:childTnLst>
                    </p:cTn>
                  </p:par>
                  <p:par>
                    <p:cTn id="227" fill="hold">
                      <p:stCondLst>
                        <p:cond delay="indefinite"/>
                      </p:stCondLst>
                      <p:childTnLst>
                        <p:par>
                          <p:cTn id="228" fill="hold">
                            <p:stCondLst>
                              <p:cond delay="0"/>
                            </p:stCondLst>
                            <p:childTnLst>
                              <p:par>
                                <p:cTn id="229" nodeType="clickEffect" fill="hold" presetClass="entr" presetID="10">
                                  <p:stCondLst>
                                    <p:cond delay="0"/>
                                  </p:stCondLst>
                                  <p:childTnLst>
                                    <p:set>
                                      <p:cBhvr>
                                        <p:cTn id="230" dur="1" fill="hold">
                                          <p:stCondLst>
                                            <p:cond delay="0"/>
                                          </p:stCondLst>
                                        </p:cTn>
                                        <p:tgtEl>
                                          <p:spTgt spid="122"/>
                                        </p:tgtEl>
                                        <p:attrNameLst>
                                          <p:attrName>style.visibility</p:attrName>
                                        </p:attrNameLst>
                                      </p:cBhvr>
                                      <p:to>
                                        <p:strVal val="visible"/>
                                      </p:to>
                                    </p:set>
                                    <p:animEffect filter="fade" transition="in">
                                      <p:cBhvr additive="repl">
                                        <p:cTn id="231" dur="450"/>
                                        <p:tgtEl>
                                          <p:spTgt spid="1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124" name="Shape 0"/>
          <p:cNvSpPr/>
          <p:nvPr/>
        </p:nvSpPr>
        <p:spPr>
          <a:xfrm>
            <a:off x="-36576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25" name="Shape 1"/>
          <p:cNvSpPr/>
          <p:nvPr/>
        </p:nvSpPr>
        <p:spPr>
          <a:xfrm>
            <a:off x="1182600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26" name="Shape 2"/>
          <p:cNvSpPr/>
          <p:nvPr/>
        </p:nvSpPr>
        <p:spPr>
          <a:xfrm>
            <a:off x="-36576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27" name="Shape 3"/>
          <p:cNvSpPr/>
          <p:nvPr/>
        </p:nvSpPr>
        <p:spPr>
          <a:xfrm>
            <a:off x="1182600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28" name="Shape 4"/>
          <p:cNvSpPr/>
          <p:nvPr/>
        </p:nvSpPr>
        <p:spPr>
          <a:xfrm>
            <a:off x="2926080" y="-4846320"/>
            <a:ext cx="6034680" cy="603468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29" name="Shape 5"/>
          <p:cNvSpPr/>
          <p:nvPr/>
        </p:nvSpPr>
        <p:spPr>
          <a:xfrm>
            <a:off x="5897880" y="-187452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130" name="Text 6"/>
          <p:cNvSpPr/>
          <p:nvPr/>
        </p:nvSpPr>
        <p:spPr>
          <a:xfrm>
            <a:off x="822960" y="123444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e8a33d"/>
                </a:solidFill>
                <a:effectLst/>
                <a:uFillTx/>
                <a:latin typeface="Calibri"/>
                <a:ea typeface="Calibri"/>
              </a:rPr>
              <a:t>SECTION</a:t>
            </a:r>
            <a:endParaRPr b="0" lang="en-US" sz="1400" strike="noStrike" u="none">
              <a:solidFill>
                <a:srgbClr val="ffffff"/>
              </a:solidFill>
              <a:effectLst/>
              <a:uFillTx/>
              <a:latin typeface="Arial"/>
            </a:endParaRPr>
          </a:p>
        </p:txBody>
      </p:sp>
      <p:sp>
        <p:nvSpPr>
          <p:cNvPr id="131" name="Text 7"/>
          <p:cNvSpPr/>
          <p:nvPr/>
        </p:nvSpPr>
        <p:spPr>
          <a:xfrm>
            <a:off x="777240" y="1554480"/>
            <a:ext cx="9600840" cy="1737000"/>
          </a:xfrm>
          <a:prstGeom prst="rect">
            <a:avLst/>
          </a:prstGeom>
          <a:noFill/>
          <a:ln w="0">
            <a:noFill/>
          </a:ln>
        </p:spPr>
        <p:style>
          <a:lnRef idx="0"/>
          <a:fillRef idx="0"/>
          <a:effectRef idx="0"/>
          <a:fontRef idx="minor"/>
        </p:style>
        <p:txBody>
          <a:bodyPr lIns="0" rIns="0" tIns="0" bIns="0" anchor="ctr">
            <a:noAutofit/>
          </a:bodyPr>
          <a:p>
            <a:pPr defTabSz="914400">
              <a:lnSpc>
                <a:spcPct val="108000"/>
              </a:lnSpc>
              <a:tabLst>
                <a:tab algn="l" pos="0"/>
              </a:tabLst>
            </a:pPr>
            <a:r>
              <a:rPr b="1" lang="en-US" sz="4000" strike="noStrike" u="none">
                <a:solidFill>
                  <a:srgbClr val="ffffff"/>
                </a:solidFill>
                <a:effectLst/>
                <a:uFillTx/>
                <a:latin typeface="Cambria"/>
                <a:ea typeface="Cambria"/>
              </a:rPr>
              <a:t>Three Stakeholders.</a:t>
            </a:r>
            <a:endParaRPr b="0" lang="en-US" sz="4000" strike="noStrike" u="none">
              <a:solidFill>
                <a:srgbClr val="ffffff"/>
              </a:solidFill>
              <a:effectLst/>
              <a:uFillTx/>
              <a:latin typeface="Arial"/>
            </a:endParaRPr>
          </a:p>
          <a:p>
            <a:pPr defTabSz="914400">
              <a:lnSpc>
                <a:spcPct val="108000"/>
              </a:lnSpc>
              <a:tabLst>
                <a:tab algn="l" pos="0"/>
              </a:tabLst>
            </a:pPr>
            <a:r>
              <a:rPr b="1" lang="en-US" sz="4000" strike="noStrike" u="none">
                <a:solidFill>
                  <a:srgbClr val="ffffff"/>
                </a:solidFill>
                <a:effectLst/>
                <a:uFillTx/>
                <a:latin typeface="Cambria"/>
                <a:ea typeface="Cambria"/>
              </a:rPr>
              <a:t>Three Hypotheses.</a:t>
            </a:r>
            <a:endParaRPr b="0" lang="en-US" sz="4000" strike="noStrike" u="none">
              <a:solidFill>
                <a:srgbClr val="ffffff"/>
              </a:solidFill>
              <a:effectLst/>
              <a:uFillTx/>
              <a:latin typeface="Arial"/>
            </a:endParaRPr>
          </a:p>
        </p:txBody>
      </p:sp>
      <p:sp>
        <p:nvSpPr>
          <p:cNvPr id="132" name="Shape 8"/>
          <p:cNvSpPr/>
          <p:nvPr/>
        </p:nvSpPr>
        <p:spPr>
          <a:xfrm>
            <a:off x="822960" y="3611880"/>
            <a:ext cx="3382920" cy="233136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33" name="Shape 9"/>
          <p:cNvSpPr/>
          <p:nvPr/>
        </p:nvSpPr>
        <p:spPr>
          <a:xfrm>
            <a:off x="1965960" y="3703320"/>
            <a:ext cx="1096920" cy="109692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34" name="Shape 10"/>
          <p:cNvSpPr/>
          <p:nvPr/>
        </p:nvSpPr>
        <p:spPr>
          <a:xfrm>
            <a:off x="2148840" y="3886200"/>
            <a:ext cx="731160" cy="7311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135" name="Image 0" descr="preencoded.png"/>
          <p:cNvPicPr/>
          <p:nvPr/>
        </p:nvPicPr>
        <p:blipFill>
          <a:blip r:embed="rId1"/>
          <a:stretch/>
        </p:blipFill>
        <p:spPr>
          <a:xfrm>
            <a:off x="2331720" y="4069080"/>
            <a:ext cx="365400" cy="365400"/>
          </a:xfrm>
          <a:prstGeom prst="rect">
            <a:avLst/>
          </a:prstGeom>
          <a:noFill/>
          <a:ln w="0">
            <a:noFill/>
          </a:ln>
        </p:spPr>
      </p:pic>
      <p:sp>
        <p:nvSpPr>
          <p:cNvPr id="136" name="Text 11"/>
          <p:cNvSpPr/>
          <p:nvPr/>
        </p:nvSpPr>
        <p:spPr>
          <a:xfrm>
            <a:off x="822960" y="4648320"/>
            <a:ext cx="3382920" cy="659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Recruitment /</a:t>
            </a:r>
            <a:endParaRPr b="0" lang="en-US" sz="1600" strike="noStrike" u="none">
              <a:solidFill>
                <a:srgbClr val="ffffff"/>
              </a:solidFill>
              <a:effectLst/>
              <a:uFillTx/>
              <a:latin typeface="Arial"/>
            </a:endParaRPr>
          </a:p>
          <a:p>
            <a:pPr algn="ctr" defTabSz="914400">
              <a:lnSpc>
                <a:spcPct val="100000"/>
              </a:lnSpc>
              <a:tabLst>
                <a:tab algn="l" pos="0"/>
              </a:tabLst>
            </a:pPr>
            <a:r>
              <a:rPr b="1" lang="en-US" sz="1600" strike="noStrike" u="none">
                <a:solidFill>
                  <a:srgbClr val="ffffff"/>
                </a:solidFill>
                <a:effectLst/>
                <a:uFillTx/>
                <a:latin typeface="Calibri"/>
                <a:ea typeface="Calibri"/>
              </a:rPr>
              <a:t>Scouting</a:t>
            </a:r>
            <a:endParaRPr b="0" lang="en-US" sz="1600" strike="noStrike" u="none">
              <a:solidFill>
                <a:srgbClr val="ffffff"/>
              </a:solidFill>
              <a:effectLst/>
              <a:uFillTx/>
              <a:latin typeface="Arial"/>
            </a:endParaRPr>
          </a:p>
        </p:txBody>
      </p:sp>
      <p:sp>
        <p:nvSpPr>
          <p:cNvPr id="137" name="Text 12"/>
          <p:cNvSpPr/>
          <p:nvPr/>
        </p:nvSpPr>
        <p:spPr>
          <a:xfrm>
            <a:off x="1005840" y="5308560"/>
            <a:ext cx="3017160" cy="50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trike="noStrike" u="none">
                <a:solidFill>
                  <a:srgbClr val="b8c4e0"/>
                </a:solidFill>
                <a:effectLst/>
                <a:uFillTx/>
                <a:latin typeface="Calibri"/>
                <a:ea typeface="Calibri"/>
              </a:rPr>
              <a:t>Does injury recency predict value decline?</a:t>
            </a:r>
            <a:endParaRPr b="0" lang="en-US" sz="1400" strike="noStrike" u="none">
              <a:solidFill>
                <a:srgbClr val="ffffff"/>
              </a:solidFill>
              <a:effectLst/>
              <a:uFillTx/>
              <a:latin typeface="Arial"/>
            </a:endParaRPr>
          </a:p>
        </p:txBody>
      </p:sp>
      <p:sp>
        <p:nvSpPr>
          <p:cNvPr id="138" name="Shape 13"/>
          <p:cNvSpPr/>
          <p:nvPr/>
        </p:nvSpPr>
        <p:spPr>
          <a:xfrm>
            <a:off x="4434840" y="3611880"/>
            <a:ext cx="3382920" cy="233136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39" name="Shape 14"/>
          <p:cNvSpPr/>
          <p:nvPr/>
        </p:nvSpPr>
        <p:spPr>
          <a:xfrm>
            <a:off x="5577840" y="3703320"/>
            <a:ext cx="1096920" cy="109692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40" name="Shape 15"/>
          <p:cNvSpPr/>
          <p:nvPr/>
        </p:nvSpPr>
        <p:spPr>
          <a:xfrm>
            <a:off x="5760720" y="3886200"/>
            <a:ext cx="731160" cy="7311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141" name="Image 1" descr="preencoded.png"/>
          <p:cNvPicPr/>
          <p:nvPr/>
        </p:nvPicPr>
        <p:blipFill>
          <a:blip r:embed="rId2"/>
          <a:stretch/>
        </p:blipFill>
        <p:spPr>
          <a:xfrm>
            <a:off x="5943600" y="4069080"/>
            <a:ext cx="365400" cy="365400"/>
          </a:xfrm>
          <a:prstGeom prst="rect">
            <a:avLst/>
          </a:prstGeom>
          <a:noFill/>
          <a:ln w="0">
            <a:noFill/>
          </a:ln>
        </p:spPr>
      </p:pic>
      <p:sp>
        <p:nvSpPr>
          <p:cNvPr id="142" name="Text 16"/>
          <p:cNvSpPr/>
          <p:nvPr/>
        </p:nvSpPr>
        <p:spPr>
          <a:xfrm>
            <a:off x="4434840" y="4648320"/>
            <a:ext cx="3382920" cy="659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Sporting Directors /</a:t>
            </a:r>
            <a:endParaRPr b="0" lang="en-US" sz="1600" strike="noStrike" u="none">
              <a:solidFill>
                <a:srgbClr val="ffffff"/>
              </a:solidFill>
              <a:effectLst/>
              <a:uFillTx/>
              <a:latin typeface="Arial"/>
            </a:endParaRPr>
          </a:p>
          <a:p>
            <a:pPr algn="ctr" defTabSz="914400">
              <a:lnSpc>
                <a:spcPct val="100000"/>
              </a:lnSpc>
              <a:tabLst>
                <a:tab algn="l" pos="0"/>
              </a:tabLst>
            </a:pPr>
            <a:r>
              <a:rPr b="1" lang="en-US" sz="1600" strike="noStrike" u="none">
                <a:solidFill>
                  <a:srgbClr val="ffffff"/>
                </a:solidFill>
                <a:effectLst/>
                <a:uFillTx/>
                <a:latin typeface="Calibri"/>
                <a:ea typeface="Calibri"/>
              </a:rPr>
              <a:t>Front Office</a:t>
            </a:r>
            <a:endParaRPr b="0" lang="en-US" sz="1600" strike="noStrike" u="none">
              <a:solidFill>
                <a:srgbClr val="ffffff"/>
              </a:solidFill>
              <a:effectLst/>
              <a:uFillTx/>
              <a:latin typeface="Arial"/>
            </a:endParaRPr>
          </a:p>
        </p:txBody>
      </p:sp>
      <p:sp>
        <p:nvSpPr>
          <p:cNvPr id="143" name="Text 17"/>
          <p:cNvSpPr/>
          <p:nvPr/>
        </p:nvSpPr>
        <p:spPr>
          <a:xfrm>
            <a:off x="4617720" y="5308560"/>
            <a:ext cx="3017160" cy="50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trike="noStrike" u="none">
                <a:solidFill>
                  <a:srgbClr val="b8c4e0"/>
                </a:solidFill>
                <a:effectLst/>
                <a:uFillTx/>
                <a:latin typeface="Calibri"/>
                <a:ea typeface="Calibri"/>
              </a:rPr>
              <a:t>Do younger players carry less risk?</a:t>
            </a:r>
            <a:endParaRPr b="0" lang="en-US" sz="1400" strike="noStrike" u="none">
              <a:solidFill>
                <a:srgbClr val="ffffff"/>
              </a:solidFill>
              <a:effectLst/>
              <a:uFillTx/>
              <a:latin typeface="Arial"/>
            </a:endParaRPr>
          </a:p>
        </p:txBody>
      </p:sp>
      <p:sp>
        <p:nvSpPr>
          <p:cNvPr id="144" name="Shape 18"/>
          <p:cNvSpPr/>
          <p:nvPr/>
        </p:nvSpPr>
        <p:spPr>
          <a:xfrm>
            <a:off x="8046720" y="3611880"/>
            <a:ext cx="3382920" cy="2331360"/>
          </a:xfrm>
          <a:prstGeom prst="roundRect">
            <a:avLst>
              <a:gd name="adj" fmla="val 3529"/>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45" name="Shape 19"/>
          <p:cNvSpPr/>
          <p:nvPr/>
        </p:nvSpPr>
        <p:spPr>
          <a:xfrm>
            <a:off x="9189720" y="3703320"/>
            <a:ext cx="1096920" cy="109692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46" name="Shape 20"/>
          <p:cNvSpPr/>
          <p:nvPr/>
        </p:nvSpPr>
        <p:spPr>
          <a:xfrm>
            <a:off x="9372600" y="3886200"/>
            <a:ext cx="731160" cy="73116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147" name="Image 2" descr="preencoded.png"/>
          <p:cNvPicPr/>
          <p:nvPr/>
        </p:nvPicPr>
        <p:blipFill>
          <a:blip r:embed="rId3"/>
          <a:stretch/>
        </p:blipFill>
        <p:spPr>
          <a:xfrm>
            <a:off x="9555480" y="4069080"/>
            <a:ext cx="365400" cy="365400"/>
          </a:xfrm>
          <a:prstGeom prst="rect">
            <a:avLst/>
          </a:prstGeom>
          <a:noFill/>
          <a:ln w="0">
            <a:noFill/>
          </a:ln>
        </p:spPr>
      </p:pic>
      <p:sp>
        <p:nvSpPr>
          <p:cNvPr id="148" name="Text 21"/>
          <p:cNvSpPr/>
          <p:nvPr/>
        </p:nvSpPr>
        <p:spPr>
          <a:xfrm>
            <a:off x="8046720" y="4648320"/>
            <a:ext cx="3382920" cy="659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600" strike="noStrike" u="none">
                <a:solidFill>
                  <a:srgbClr val="ffffff"/>
                </a:solidFill>
                <a:effectLst/>
                <a:uFillTx/>
                <a:latin typeface="Calibri"/>
                <a:ea typeface="Calibri"/>
              </a:rPr>
              <a:t>Medical /</a:t>
            </a:r>
            <a:endParaRPr b="0" lang="en-US" sz="1600" strike="noStrike" u="none">
              <a:solidFill>
                <a:srgbClr val="ffffff"/>
              </a:solidFill>
              <a:effectLst/>
              <a:uFillTx/>
              <a:latin typeface="Arial"/>
            </a:endParaRPr>
          </a:p>
          <a:p>
            <a:pPr algn="ctr" defTabSz="914400">
              <a:lnSpc>
                <a:spcPct val="100000"/>
              </a:lnSpc>
              <a:tabLst>
                <a:tab algn="l" pos="0"/>
              </a:tabLst>
            </a:pPr>
            <a:r>
              <a:rPr b="1" lang="en-US" sz="1600" strike="noStrike" u="none">
                <a:solidFill>
                  <a:srgbClr val="ffffff"/>
                </a:solidFill>
                <a:effectLst/>
                <a:uFillTx/>
                <a:latin typeface="Calibri"/>
                <a:ea typeface="Calibri"/>
              </a:rPr>
              <a:t>Performance Staff</a:t>
            </a:r>
            <a:endParaRPr b="0" lang="en-US" sz="1600" strike="noStrike" u="none">
              <a:solidFill>
                <a:srgbClr val="ffffff"/>
              </a:solidFill>
              <a:effectLst/>
              <a:uFillTx/>
              <a:latin typeface="Arial"/>
            </a:endParaRPr>
          </a:p>
        </p:txBody>
      </p:sp>
      <p:sp>
        <p:nvSpPr>
          <p:cNvPr id="149" name="Text 22"/>
          <p:cNvSpPr/>
          <p:nvPr/>
        </p:nvSpPr>
        <p:spPr>
          <a:xfrm>
            <a:off x="8229600" y="5308560"/>
            <a:ext cx="3017160" cy="50760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0" i="1" lang="en-US" sz="1400" strike="noStrike" u="none">
                <a:solidFill>
                  <a:srgbClr val="b8c4e0"/>
                </a:solidFill>
                <a:effectLst/>
                <a:uFillTx/>
                <a:latin typeface="Calibri"/>
                <a:ea typeface="Calibri"/>
              </a:rPr>
              <a:t>Does position predict injury risk?</a:t>
            </a:r>
            <a:endParaRPr b="0" lang="en-US" sz="1400" strike="noStrike" u="none">
              <a:solidFill>
                <a:srgbClr val="ffffff"/>
              </a:solidFill>
              <a:effectLst/>
              <a:uFillTx/>
              <a:latin typeface="Arial"/>
            </a:endParaRPr>
          </a:p>
        </p:txBody>
      </p:sp>
      <p:sp>
        <p:nvSpPr>
          <p:cNvPr id="150" name="Text 23"/>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a8b4d0"/>
                </a:solidFill>
                <a:effectLst/>
                <a:uFillTx/>
                <a:latin typeface="Calibri"/>
                <a:ea typeface="Calibri"/>
              </a:rPr>
              <a:t>05</a:t>
            </a:r>
            <a:endParaRPr b="0" lang="en-US" sz="1200" strike="noStrike" u="none">
              <a:solidFill>
                <a:srgbClr val="ffffff"/>
              </a:solidFill>
              <a:effectLst/>
              <a:uFillTx/>
              <a:latin typeface="Arial"/>
            </a:endParaRPr>
          </a:p>
        </p:txBody>
      </p:sp>
    </p:spTree>
  </p:cSld>
  <p:transition spd="med">
    <p:fade/>
  </p:transition>
  <p:timing>
    <p:tnLst>
      <p:par>
        <p:cTn id="232" dur="indefinite" restart="never" nodeType="tmRoot">
          <p:childTnLst>
            <p:seq>
              <p:cTn id="233" dur="indefinite" nodeType="mainSeq">
                <p:childTnLst>
                  <p:par>
                    <p:cTn id="234" fill="hold">
                      <p:stCondLst>
                        <p:cond delay="indefinite"/>
                      </p:stCondLst>
                      <p:childTnLst>
                        <p:par>
                          <p:cTn id="235" fill="hold">
                            <p:stCondLst>
                              <p:cond delay="0"/>
                            </p:stCondLst>
                            <p:childTnLst>
                              <p:par>
                                <p:cTn id="236" nodeType="clickEffect" fill="hold" presetClass="entr" presetID="10">
                                  <p:stCondLst>
                                    <p:cond delay="0"/>
                                  </p:stCondLst>
                                  <p:childTnLst>
                                    <p:set>
                                      <p:cBhvr>
                                        <p:cTn id="237" dur="1" fill="hold">
                                          <p:stCondLst>
                                            <p:cond delay="0"/>
                                          </p:stCondLst>
                                        </p:cTn>
                                        <p:tgtEl>
                                          <p:spTgt spid="132"/>
                                        </p:tgtEl>
                                        <p:attrNameLst>
                                          <p:attrName>style.visibility</p:attrName>
                                        </p:attrNameLst>
                                      </p:cBhvr>
                                      <p:to>
                                        <p:strVal val="visible"/>
                                      </p:to>
                                    </p:set>
                                    <p:animEffect filter="fade" transition="in">
                                      <p:cBhvr additive="repl">
                                        <p:cTn id="238" dur="450"/>
                                        <p:tgtEl>
                                          <p:spTgt spid="132"/>
                                        </p:tgtEl>
                                      </p:cBhvr>
                                    </p:animEffect>
                                  </p:childTnLst>
                                </p:cTn>
                              </p:par>
                              <p:par>
                                <p:cTn id="239" nodeType="withEffect" fill="hold" presetClass="entr" presetID="10">
                                  <p:stCondLst>
                                    <p:cond delay="0"/>
                                  </p:stCondLst>
                                  <p:childTnLst>
                                    <p:set>
                                      <p:cBhvr>
                                        <p:cTn id="240" dur="1" fill="hold">
                                          <p:stCondLst>
                                            <p:cond delay="0"/>
                                          </p:stCondLst>
                                        </p:cTn>
                                        <p:tgtEl>
                                          <p:spTgt spid="138"/>
                                        </p:tgtEl>
                                        <p:attrNameLst>
                                          <p:attrName>style.visibility</p:attrName>
                                        </p:attrNameLst>
                                      </p:cBhvr>
                                      <p:to>
                                        <p:strVal val="visible"/>
                                      </p:to>
                                    </p:set>
                                    <p:animEffect filter="fade" transition="in">
                                      <p:cBhvr additive="repl">
                                        <p:cTn id="241" dur="450"/>
                                        <p:tgtEl>
                                          <p:spTgt spid="138"/>
                                        </p:tgtEl>
                                      </p:cBhvr>
                                    </p:animEffect>
                                  </p:childTnLst>
                                </p:cTn>
                              </p:par>
                              <p:par>
                                <p:cTn id="242" nodeType="withEffect" fill="hold" presetClass="entr" presetID="10">
                                  <p:stCondLst>
                                    <p:cond delay="0"/>
                                  </p:stCondLst>
                                  <p:childTnLst>
                                    <p:set>
                                      <p:cBhvr>
                                        <p:cTn id="243" dur="1" fill="hold">
                                          <p:stCondLst>
                                            <p:cond delay="0"/>
                                          </p:stCondLst>
                                        </p:cTn>
                                        <p:tgtEl>
                                          <p:spTgt spid="144"/>
                                        </p:tgtEl>
                                        <p:attrNameLst>
                                          <p:attrName>style.visibility</p:attrName>
                                        </p:attrNameLst>
                                      </p:cBhvr>
                                      <p:to>
                                        <p:strVal val="visible"/>
                                      </p:to>
                                    </p:set>
                                    <p:animEffect filter="fade" transition="in">
                                      <p:cBhvr additive="repl">
                                        <p:cTn id="244" dur="450"/>
                                        <p:tgtEl>
                                          <p:spTgt spid="144"/>
                                        </p:tgtEl>
                                      </p:cBhvr>
                                    </p:animEffect>
                                  </p:childTnLst>
                                </p:cTn>
                              </p:par>
                              <p:par>
                                <p:cTn id="245" nodeType="withEffect" fill="hold" presetClass="entr" presetID="10">
                                  <p:stCondLst>
                                    <p:cond delay="0"/>
                                  </p:stCondLst>
                                  <p:childTnLst>
                                    <p:set>
                                      <p:cBhvr>
                                        <p:cTn id="246" dur="1" fill="hold">
                                          <p:stCondLst>
                                            <p:cond delay="0"/>
                                          </p:stCondLst>
                                        </p:cTn>
                                        <p:tgtEl>
                                          <p:spTgt spid="133"/>
                                        </p:tgtEl>
                                        <p:attrNameLst>
                                          <p:attrName>style.visibility</p:attrName>
                                        </p:attrNameLst>
                                      </p:cBhvr>
                                      <p:to>
                                        <p:strVal val="visible"/>
                                      </p:to>
                                    </p:set>
                                    <p:animEffect filter="fade" transition="in">
                                      <p:cBhvr additive="repl">
                                        <p:cTn id="247" dur="450"/>
                                        <p:tgtEl>
                                          <p:spTgt spid="133"/>
                                        </p:tgtEl>
                                      </p:cBhvr>
                                    </p:animEffect>
                                  </p:childTnLst>
                                </p:cTn>
                              </p:par>
                              <p:par>
                                <p:cTn id="248" nodeType="withEffect" fill="hold" presetClass="entr" presetID="10">
                                  <p:stCondLst>
                                    <p:cond delay="0"/>
                                  </p:stCondLst>
                                  <p:childTnLst>
                                    <p:set>
                                      <p:cBhvr>
                                        <p:cTn id="249" dur="1" fill="hold">
                                          <p:stCondLst>
                                            <p:cond delay="0"/>
                                          </p:stCondLst>
                                        </p:cTn>
                                        <p:tgtEl>
                                          <p:spTgt spid="139"/>
                                        </p:tgtEl>
                                        <p:attrNameLst>
                                          <p:attrName>style.visibility</p:attrName>
                                        </p:attrNameLst>
                                      </p:cBhvr>
                                      <p:to>
                                        <p:strVal val="visible"/>
                                      </p:to>
                                    </p:set>
                                    <p:animEffect filter="fade" transition="in">
                                      <p:cBhvr additive="repl">
                                        <p:cTn id="250" dur="450"/>
                                        <p:tgtEl>
                                          <p:spTgt spid="139"/>
                                        </p:tgtEl>
                                      </p:cBhvr>
                                    </p:animEffect>
                                  </p:childTnLst>
                                </p:cTn>
                              </p:par>
                              <p:par>
                                <p:cTn id="251" nodeType="withEffect" fill="hold" presetClass="entr" presetID="10">
                                  <p:stCondLst>
                                    <p:cond delay="0"/>
                                  </p:stCondLst>
                                  <p:childTnLst>
                                    <p:set>
                                      <p:cBhvr>
                                        <p:cTn id="252" dur="1" fill="hold">
                                          <p:stCondLst>
                                            <p:cond delay="0"/>
                                          </p:stCondLst>
                                        </p:cTn>
                                        <p:tgtEl>
                                          <p:spTgt spid="145"/>
                                        </p:tgtEl>
                                        <p:attrNameLst>
                                          <p:attrName>style.visibility</p:attrName>
                                        </p:attrNameLst>
                                      </p:cBhvr>
                                      <p:to>
                                        <p:strVal val="visible"/>
                                      </p:to>
                                    </p:set>
                                    <p:animEffect filter="fade" transition="in">
                                      <p:cBhvr additive="repl">
                                        <p:cTn id="253" dur="450"/>
                                        <p:tgtEl>
                                          <p:spTgt spid="145"/>
                                        </p:tgtEl>
                                      </p:cBhvr>
                                    </p:animEffect>
                                  </p:childTnLst>
                                </p:cTn>
                              </p:par>
                              <p:par>
                                <p:cTn id="254" nodeType="withEffect" fill="hold" presetClass="entr" presetID="10">
                                  <p:stCondLst>
                                    <p:cond delay="0"/>
                                  </p:stCondLst>
                                  <p:childTnLst>
                                    <p:set>
                                      <p:cBhvr>
                                        <p:cTn id="255" dur="1" fill="hold">
                                          <p:stCondLst>
                                            <p:cond delay="0"/>
                                          </p:stCondLst>
                                        </p:cTn>
                                        <p:tgtEl>
                                          <p:spTgt spid="134"/>
                                        </p:tgtEl>
                                        <p:attrNameLst>
                                          <p:attrName>style.visibility</p:attrName>
                                        </p:attrNameLst>
                                      </p:cBhvr>
                                      <p:to>
                                        <p:strVal val="visible"/>
                                      </p:to>
                                    </p:set>
                                    <p:animEffect filter="fade" transition="in">
                                      <p:cBhvr additive="repl">
                                        <p:cTn id="256" dur="450"/>
                                        <p:tgtEl>
                                          <p:spTgt spid="134"/>
                                        </p:tgtEl>
                                      </p:cBhvr>
                                    </p:animEffect>
                                  </p:childTnLst>
                                </p:cTn>
                              </p:par>
                              <p:par>
                                <p:cTn id="257" nodeType="withEffect" fill="hold" presetClass="entr" presetID="10">
                                  <p:stCondLst>
                                    <p:cond delay="0"/>
                                  </p:stCondLst>
                                  <p:childTnLst>
                                    <p:set>
                                      <p:cBhvr>
                                        <p:cTn id="258" dur="1" fill="hold">
                                          <p:stCondLst>
                                            <p:cond delay="0"/>
                                          </p:stCondLst>
                                        </p:cTn>
                                        <p:tgtEl>
                                          <p:spTgt spid="140"/>
                                        </p:tgtEl>
                                        <p:attrNameLst>
                                          <p:attrName>style.visibility</p:attrName>
                                        </p:attrNameLst>
                                      </p:cBhvr>
                                      <p:to>
                                        <p:strVal val="visible"/>
                                      </p:to>
                                    </p:set>
                                    <p:animEffect filter="fade" transition="in">
                                      <p:cBhvr additive="repl">
                                        <p:cTn id="259" dur="450"/>
                                        <p:tgtEl>
                                          <p:spTgt spid="140"/>
                                        </p:tgtEl>
                                      </p:cBhvr>
                                    </p:animEffect>
                                  </p:childTnLst>
                                </p:cTn>
                              </p:par>
                              <p:par>
                                <p:cTn id="260" nodeType="withEffect" fill="hold" presetClass="entr" presetID="10">
                                  <p:stCondLst>
                                    <p:cond delay="0"/>
                                  </p:stCondLst>
                                  <p:childTnLst>
                                    <p:set>
                                      <p:cBhvr>
                                        <p:cTn id="261" dur="1" fill="hold">
                                          <p:stCondLst>
                                            <p:cond delay="0"/>
                                          </p:stCondLst>
                                        </p:cTn>
                                        <p:tgtEl>
                                          <p:spTgt spid="146"/>
                                        </p:tgtEl>
                                        <p:attrNameLst>
                                          <p:attrName>style.visibility</p:attrName>
                                        </p:attrNameLst>
                                      </p:cBhvr>
                                      <p:to>
                                        <p:strVal val="visible"/>
                                      </p:to>
                                    </p:set>
                                    <p:animEffect filter="fade" transition="in">
                                      <p:cBhvr additive="repl">
                                        <p:cTn id="262" dur="450"/>
                                        <p:tgtEl>
                                          <p:spTgt spid="146"/>
                                        </p:tgtEl>
                                      </p:cBhvr>
                                    </p:animEffect>
                                  </p:childTnLst>
                                </p:cTn>
                              </p:par>
                              <p:par>
                                <p:cTn id="263" nodeType="withEffect" fill="hold" presetClass="entr" presetID="10">
                                  <p:stCondLst>
                                    <p:cond delay="0"/>
                                  </p:stCondLst>
                                  <p:childTnLst>
                                    <p:set>
                                      <p:cBhvr>
                                        <p:cTn id="264" dur="1" fill="hold">
                                          <p:stCondLst>
                                            <p:cond delay="0"/>
                                          </p:stCondLst>
                                        </p:cTn>
                                        <p:tgtEl>
                                          <p:spTgt spid="135"/>
                                        </p:tgtEl>
                                        <p:attrNameLst>
                                          <p:attrName>style.visibility</p:attrName>
                                        </p:attrNameLst>
                                      </p:cBhvr>
                                      <p:to>
                                        <p:strVal val="visible"/>
                                      </p:to>
                                    </p:set>
                                    <p:animEffect filter="fade" transition="in">
                                      <p:cBhvr additive="repl">
                                        <p:cTn id="265" dur="450"/>
                                        <p:tgtEl>
                                          <p:spTgt spid="135"/>
                                        </p:tgtEl>
                                      </p:cBhvr>
                                    </p:animEffect>
                                  </p:childTnLst>
                                </p:cTn>
                              </p:par>
                              <p:par>
                                <p:cTn id="266" nodeType="withEffect" fill="hold" presetClass="entr" presetID="10">
                                  <p:stCondLst>
                                    <p:cond delay="0"/>
                                  </p:stCondLst>
                                  <p:childTnLst>
                                    <p:set>
                                      <p:cBhvr>
                                        <p:cTn id="267" dur="1" fill="hold">
                                          <p:stCondLst>
                                            <p:cond delay="0"/>
                                          </p:stCondLst>
                                        </p:cTn>
                                        <p:tgtEl>
                                          <p:spTgt spid="141"/>
                                        </p:tgtEl>
                                        <p:attrNameLst>
                                          <p:attrName>style.visibility</p:attrName>
                                        </p:attrNameLst>
                                      </p:cBhvr>
                                      <p:to>
                                        <p:strVal val="visible"/>
                                      </p:to>
                                    </p:set>
                                    <p:animEffect filter="fade" transition="in">
                                      <p:cBhvr additive="repl">
                                        <p:cTn id="268" dur="450"/>
                                        <p:tgtEl>
                                          <p:spTgt spid="141"/>
                                        </p:tgtEl>
                                      </p:cBhvr>
                                    </p:animEffect>
                                  </p:childTnLst>
                                </p:cTn>
                              </p:par>
                              <p:par>
                                <p:cTn id="269" nodeType="withEffect" fill="hold" presetClass="entr" presetID="10">
                                  <p:stCondLst>
                                    <p:cond delay="0"/>
                                  </p:stCondLst>
                                  <p:childTnLst>
                                    <p:set>
                                      <p:cBhvr>
                                        <p:cTn id="270" dur="1" fill="hold">
                                          <p:stCondLst>
                                            <p:cond delay="0"/>
                                          </p:stCondLst>
                                        </p:cTn>
                                        <p:tgtEl>
                                          <p:spTgt spid="147"/>
                                        </p:tgtEl>
                                        <p:attrNameLst>
                                          <p:attrName>style.visibility</p:attrName>
                                        </p:attrNameLst>
                                      </p:cBhvr>
                                      <p:to>
                                        <p:strVal val="visible"/>
                                      </p:to>
                                    </p:set>
                                    <p:animEffect filter="fade" transition="in">
                                      <p:cBhvr additive="repl">
                                        <p:cTn id="271" dur="450"/>
                                        <p:tgtEl>
                                          <p:spTgt spid="147"/>
                                        </p:tgtEl>
                                      </p:cBhvr>
                                    </p:animEffect>
                                  </p:childTnLst>
                                </p:cTn>
                              </p:par>
                            </p:childTnLst>
                          </p:cTn>
                        </p:par>
                      </p:childTnLst>
                    </p:cTn>
                  </p:par>
                  <p:par>
                    <p:cTn id="272" fill="hold">
                      <p:stCondLst>
                        <p:cond delay="indefinite"/>
                      </p:stCondLst>
                      <p:childTnLst>
                        <p:par>
                          <p:cTn id="273" fill="hold">
                            <p:stCondLst>
                              <p:cond delay="0"/>
                            </p:stCondLst>
                            <p:childTnLst>
                              <p:par>
                                <p:cTn id="274" nodeType="clickEffect" fill="hold" presetClass="entr" presetID="10">
                                  <p:stCondLst>
                                    <p:cond delay="0"/>
                                  </p:stCondLst>
                                  <p:childTnLst>
                                    <p:set>
                                      <p:cBhvr>
                                        <p:cTn id="275" dur="1" fill="hold">
                                          <p:stCondLst>
                                            <p:cond delay="0"/>
                                          </p:stCondLst>
                                        </p:cTn>
                                        <p:tgtEl>
                                          <p:spTgt spid="136"/>
                                        </p:tgtEl>
                                        <p:attrNameLst>
                                          <p:attrName>style.visibility</p:attrName>
                                        </p:attrNameLst>
                                      </p:cBhvr>
                                      <p:to>
                                        <p:strVal val="visible"/>
                                      </p:to>
                                    </p:set>
                                    <p:animEffect filter="fade" transition="in">
                                      <p:cBhvr additive="repl">
                                        <p:cTn id="276" dur="450"/>
                                        <p:tgtEl>
                                          <p:spTgt spid="136"/>
                                        </p:tgtEl>
                                      </p:cBhvr>
                                    </p:animEffect>
                                  </p:childTnLst>
                                </p:cTn>
                              </p:par>
                              <p:par>
                                <p:cTn id="277" nodeType="withEffect" fill="hold" presetClass="entr" presetID="10">
                                  <p:stCondLst>
                                    <p:cond delay="0"/>
                                  </p:stCondLst>
                                  <p:childTnLst>
                                    <p:set>
                                      <p:cBhvr>
                                        <p:cTn id="278" dur="1" fill="hold">
                                          <p:stCondLst>
                                            <p:cond delay="0"/>
                                          </p:stCondLst>
                                        </p:cTn>
                                        <p:tgtEl>
                                          <p:spTgt spid="142"/>
                                        </p:tgtEl>
                                        <p:attrNameLst>
                                          <p:attrName>style.visibility</p:attrName>
                                        </p:attrNameLst>
                                      </p:cBhvr>
                                      <p:to>
                                        <p:strVal val="visible"/>
                                      </p:to>
                                    </p:set>
                                    <p:animEffect filter="fade" transition="in">
                                      <p:cBhvr additive="repl">
                                        <p:cTn id="279" dur="450"/>
                                        <p:tgtEl>
                                          <p:spTgt spid="142"/>
                                        </p:tgtEl>
                                      </p:cBhvr>
                                    </p:animEffect>
                                  </p:childTnLst>
                                </p:cTn>
                              </p:par>
                              <p:par>
                                <p:cTn id="280" nodeType="withEffect" fill="hold" presetClass="entr" presetID="10">
                                  <p:stCondLst>
                                    <p:cond delay="0"/>
                                  </p:stCondLst>
                                  <p:childTnLst>
                                    <p:set>
                                      <p:cBhvr>
                                        <p:cTn id="281" dur="1" fill="hold">
                                          <p:stCondLst>
                                            <p:cond delay="0"/>
                                          </p:stCondLst>
                                        </p:cTn>
                                        <p:tgtEl>
                                          <p:spTgt spid="148"/>
                                        </p:tgtEl>
                                        <p:attrNameLst>
                                          <p:attrName>style.visibility</p:attrName>
                                        </p:attrNameLst>
                                      </p:cBhvr>
                                      <p:to>
                                        <p:strVal val="visible"/>
                                      </p:to>
                                    </p:set>
                                    <p:animEffect filter="fade" transition="in">
                                      <p:cBhvr additive="repl">
                                        <p:cTn id="282" dur="450"/>
                                        <p:tgtEl>
                                          <p:spTgt spid="148"/>
                                        </p:tgtEl>
                                      </p:cBhvr>
                                    </p:animEffect>
                                  </p:childTnLst>
                                </p:cTn>
                              </p:par>
                              <p:par>
                                <p:cTn id="283" nodeType="withEffect" fill="hold" presetClass="entr" presetID="10">
                                  <p:stCondLst>
                                    <p:cond delay="0"/>
                                  </p:stCondLst>
                                  <p:childTnLst>
                                    <p:set>
                                      <p:cBhvr>
                                        <p:cTn id="284" dur="1" fill="hold">
                                          <p:stCondLst>
                                            <p:cond delay="0"/>
                                          </p:stCondLst>
                                        </p:cTn>
                                        <p:tgtEl>
                                          <p:spTgt spid="137"/>
                                        </p:tgtEl>
                                        <p:attrNameLst>
                                          <p:attrName>style.visibility</p:attrName>
                                        </p:attrNameLst>
                                      </p:cBhvr>
                                      <p:to>
                                        <p:strVal val="visible"/>
                                      </p:to>
                                    </p:set>
                                    <p:animEffect filter="fade" transition="in">
                                      <p:cBhvr additive="repl">
                                        <p:cTn id="285" dur="450"/>
                                        <p:tgtEl>
                                          <p:spTgt spid="137"/>
                                        </p:tgtEl>
                                      </p:cBhvr>
                                    </p:animEffect>
                                  </p:childTnLst>
                                </p:cTn>
                              </p:par>
                              <p:par>
                                <p:cTn id="286" nodeType="withEffect" fill="hold" presetClass="entr" presetID="10">
                                  <p:stCondLst>
                                    <p:cond delay="0"/>
                                  </p:stCondLst>
                                  <p:childTnLst>
                                    <p:set>
                                      <p:cBhvr>
                                        <p:cTn id="287" dur="1" fill="hold">
                                          <p:stCondLst>
                                            <p:cond delay="0"/>
                                          </p:stCondLst>
                                        </p:cTn>
                                        <p:tgtEl>
                                          <p:spTgt spid="143"/>
                                        </p:tgtEl>
                                        <p:attrNameLst>
                                          <p:attrName>style.visibility</p:attrName>
                                        </p:attrNameLst>
                                      </p:cBhvr>
                                      <p:to>
                                        <p:strVal val="visible"/>
                                      </p:to>
                                    </p:set>
                                    <p:animEffect filter="fade" transition="in">
                                      <p:cBhvr additive="repl">
                                        <p:cTn id="288" dur="450"/>
                                        <p:tgtEl>
                                          <p:spTgt spid="143"/>
                                        </p:tgtEl>
                                      </p:cBhvr>
                                    </p:animEffect>
                                  </p:childTnLst>
                                </p:cTn>
                              </p:par>
                              <p:par>
                                <p:cTn id="289" nodeType="withEffect" fill="hold" presetClass="entr" presetID="10">
                                  <p:stCondLst>
                                    <p:cond delay="0"/>
                                  </p:stCondLst>
                                  <p:childTnLst>
                                    <p:set>
                                      <p:cBhvr>
                                        <p:cTn id="290" dur="1" fill="hold">
                                          <p:stCondLst>
                                            <p:cond delay="0"/>
                                          </p:stCondLst>
                                        </p:cTn>
                                        <p:tgtEl>
                                          <p:spTgt spid="149"/>
                                        </p:tgtEl>
                                        <p:attrNameLst>
                                          <p:attrName>style.visibility</p:attrName>
                                        </p:attrNameLst>
                                      </p:cBhvr>
                                      <p:to>
                                        <p:strVal val="visible"/>
                                      </p:to>
                                    </p:set>
                                    <p:animEffect filter="fade" transition="in">
                                      <p:cBhvr additive="repl">
                                        <p:cTn id="291" dur="450"/>
                                        <p:tgtEl>
                                          <p:spTgt spid="14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151" name="Shape 0"/>
          <p:cNvSpPr/>
          <p:nvPr/>
        </p:nvSpPr>
        <p:spPr>
          <a:xfrm>
            <a:off x="697320" y="468720"/>
            <a:ext cx="754200" cy="75420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52" name="Shape 1"/>
          <p:cNvSpPr/>
          <p:nvPr/>
        </p:nvSpPr>
        <p:spPr>
          <a:xfrm>
            <a:off x="822960" y="594360"/>
            <a:ext cx="502560" cy="50256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53" name="Text 2"/>
          <p:cNvSpPr/>
          <p:nvPr/>
        </p:nvSpPr>
        <p:spPr>
          <a:xfrm>
            <a:off x="1481400" y="713160"/>
            <a:ext cx="4278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b8790c"/>
                </a:solidFill>
                <a:effectLst/>
                <a:uFillTx/>
                <a:latin typeface="Calibri"/>
                <a:ea typeface="Calibri"/>
              </a:rPr>
              <a:t>RECRUITMENT / SCOUTING</a:t>
            </a:r>
            <a:endParaRPr b="0" lang="en-US" sz="1400" strike="noStrike" u="none">
              <a:solidFill>
                <a:srgbClr val="000000"/>
              </a:solidFill>
              <a:effectLst/>
              <a:uFillTx/>
              <a:latin typeface="Arial"/>
            </a:endParaRPr>
          </a:p>
        </p:txBody>
      </p:sp>
      <p:sp>
        <p:nvSpPr>
          <p:cNvPr id="154" name="Text 3"/>
          <p:cNvSpPr/>
          <p:nvPr/>
        </p:nvSpPr>
        <p:spPr>
          <a:xfrm>
            <a:off x="822960" y="1188720"/>
            <a:ext cx="49374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mbria"/>
                <a:ea typeface="Cambria"/>
              </a:rPr>
              <a:t>Which rising-value targets carry hidden injury risk?</a:t>
            </a:r>
            <a:endParaRPr b="0" lang="en-US" sz="1800" strike="noStrike" u="none">
              <a:solidFill>
                <a:srgbClr val="000000"/>
              </a:solidFill>
              <a:effectLst/>
              <a:uFillTx/>
              <a:latin typeface="Arial"/>
            </a:endParaRPr>
          </a:p>
        </p:txBody>
      </p:sp>
      <p:sp>
        <p:nvSpPr>
          <p:cNvPr id="155" name="Shape 4"/>
          <p:cNvSpPr/>
          <p:nvPr/>
        </p:nvSpPr>
        <p:spPr>
          <a:xfrm>
            <a:off x="822960" y="2057400"/>
            <a:ext cx="4937400" cy="89568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56" name="Text 5"/>
          <p:cNvSpPr/>
          <p:nvPr/>
        </p:nvSpPr>
        <p:spPr>
          <a:xfrm>
            <a:off x="1024200" y="2148840"/>
            <a:ext cx="453492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9" strike="noStrike" u="none">
                <a:solidFill>
                  <a:srgbClr val="e8a33d"/>
                </a:solidFill>
                <a:effectLst/>
                <a:uFillTx/>
                <a:latin typeface="Calibri"/>
                <a:ea typeface="Calibri"/>
              </a:rPr>
              <a:t>HYPOTHESIS</a:t>
            </a:r>
            <a:endParaRPr b="0" lang="en-US" sz="1200" strike="noStrike" u="none">
              <a:solidFill>
                <a:srgbClr val="000000"/>
              </a:solidFill>
              <a:effectLst/>
              <a:uFillTx/>
              <a:latin typeface="Arial"/>
            </a:endParaRPr>
          </a:p>
        </p:txBody>
      </p:sp>
      <p:sp>
        <p:nvSpPr>
          <p:cNvPr id="157" name="Text 6"/>
          <p:cNvSpPr/>
          <p:nvPr/>
        </p:nvSpPr>
        <p:spPr>
          <a:xfrm>
            <a:off x="1024200" y="2377440"/>
            <a:ext cx="453492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trike="noStrike" u="none">
                <a:solidFill>
                  <a:srgbClr val="ffffff"/>
                </a:solidFill>
                <a:effectLst/>
                <a:uFillTx/>
                <a:latin typeface="Calibri"/>
                <a:ea typeface="Calibri"/>
              </a:rPr>
              <a:t>Injury recency predicts near-term value decline.</a:t>
            </a:r>
            <a:endParaRPr b="0" lang="en-US" sz="1400" strike="noStrike" u="none">
              <a:solidFill>
                <a:srgbClr val="000000"/>
              </a:solidFill>
              <a:effectLst/>
              <a:uFillTx/>
              <a:latin typeface="Arial"/>
            </a:endParaRPr>
          </a:p>
        </p:txBody>
      </p:sp>
      <p:sp>
        <p:nvSpPr>
          <p:cNvPr id="158" name="Shape 7"/>
          <p:cNvSpPr/>
          <p:nvPr/>
        </p:nvSpPr>
        <p:spPr>
          <a:xfrm>
            <a:off x="822960" y="3154680"/>
            <a:ext cx="4937400" cy="420120"/>
          </a:xfrm>
          <a:prstGeom prst="roundRect">
            <a:avLst>
              <a:gd name="adj" fmla="val 50000"/>
            </a:avLst>
          </a:prstGeom>
          <a:solidFill>
            <a:srgbClr val="b8790c"/>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159" name="Image 1" descr="preencoded.png"/>
          <p:cNvPicPr/>
          <p:nvPr/>
        </p:nvPicPr>
        <p:blipFill>
          <a:blip r:embed="rId1"/>
          <a:stretch/>
        </p:blipFill>
        <p:spPr>
          <a:xfrm>
            <a:off x="939960" y="3225960"/>
            <a:ext cx="253800" cy="253800"/>
          </a:xfrm>
          <a:prstGeom prst="rect">
            <a:avLst/>
          </a:prstGeom>
          <a:noFill/>
          <a:ln w="0">
            <a:noFill/>
          </a:ln>
        </p:spPr>
      </p:pic>
      <p:sp>
        <p:nvSpPr>
          <p:cNvPr id="160" name="Text 8"/>
          <p:cNvSpPr/>
          <p:nvPr/>
        </p:nvSpPr>
        <p:spPr>
          <a:xfrm>
            <a:off x="1280160" y="3154680"/>
            <a:ext cx="4388760" cy="420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ffffff"/>
                </a:solidFill>
                <a:effectLst/>
                <a:uFillTx/>
                <a:latin typeface="Calibri"/>
                <a:ea typeface="Calibri"/>
              </a:rPr>
              <a:t>MIXED: injury history matters more than recency</a:t>
            </a:r>
            <a:endParaRPr b="0" lang="en-US" sz="1350" strike="noStrike" u="none">
              <a:solidFill>
                <a:srgbClr val="000000"/>
              </a:solidFill>
              <a:effectLst/>
              <a:uFillTx/>
              <a:latin typeface="Arial"/>
            </a:endParaRPr>
          </a:p>
        </p:txBody>
      </p:sp>
      <p:pic>
        <p:nvPicPr>
          <p:cNvPr id="161" name="Image 2" descr="preencoded.png"/>
          <p:cNvPicPr/>
          <p:nvPr/>
        </p:nvPicPr>
        <p:blipFill>
          <a:blip r:embed="rId2"/>
          <a:stretch/>
        </p:blipFill>
        <p:spPr>
          <a:xfrm>
            <a:off x="800280" y="4013280"/>
            <a:ext cx="253800" cy="253800"/>
          </a:xfrm>
          <a:prstGeom prst="rect">
            <a:avLst/>
          </a:prstGeom>
          <a:noFill/>
          <a:ln w="0">
            <a:noFill/>
          </a:ln>
        </p:spPr>
      </p:pic>
      <p:sp>
        <p:nvSpPr>
          <p:cNvPr id="162" name="Text 9"/>
          <p:cNvSpPr/>
          <p:nvPr/>
        </p:nvSpPr>
        <p:spPr>
          <a:xfrm>
            <a:off x="1152000" y="396252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Recent, moderate, and distant injuries all show flat value growth.</a:t>
            </a:r>
            <a:endParaRPr b="0" lang="en-US" sz="1400" strike="noStrike" u="none">
              <a:solidFill>
                <a:srgbClr val="000000"/>
              </a:solidFill>
              <a:effectLst/>
              <a:uFillTx/>
              <a:latin typeface="Arial"/>
            </a:endParaRPr>
          </a:p>
        </p:txBody>
      </p:sp>
      <p:pic>
        <p:nvPicPr>
          <p:cNvPr id="163" name="Image 3" descr="preencoded.png"/>
          <p:cNvPicPr/>
          <p:nvPr/>
        </p:nvPicPr>
        <p:blipFill>
          <a:blip r:embed="rId3"/>
          <a:stretch/>
        </p:blipFill>
        <p:spPr>
          <a:xfrm>
            <a:off x="800280" y="4851360"/>
            <a:ext cx="253800" cy="253800"/>
          </a:xfrm>
          <a:prstGeom prst="rect">
            <a:avLst/>
          </a:prstGeom>
          <a:noFill/>
          <a:ln w="0">
            <a:noFill/>
          </a:ln>
        </p:spPr>
      </p:pic>
      <p:sp>
        <p:nvSpPr>
          <p:cNvPr id="164" name="Text 10"/>
          <p:cNvSpPr/>
          <p:nvPr/>
        </p:nvSpPr>
        <p:spPr>
          <a:xfrm>
            <a:off x="1152000" y="480060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Players with no injury history grow +4.35% in value, on average.</a:t>
            </a:r>
            <a:endParaRPr b="0" lang="en-US" sz="1400" strike="noStrike" u="none">
              <a:solidFill>
                <a:srgbClr val="000000"/>
              </a:solidFill>
              <a:effectLst/>
              <a:uFillTx/>
              <a:latin typeface="Arial"/>
            </a:endParaRPr>
          </a:p>
        </p:txBody>
      </p:sp>
      <p:pic>
        <p:nvPicPr>
          <p:cNvPr id="165" name="Image 4" descr="preencoded.png"/>
          <p:cNvPicPr/>
          <p:nvPr/>
        </p:nvPicPr>
        <p:blipFill>
          <a:blip r:embed="rId4"/>
          <a:stretch/>
        </p:blipFill>
        <p:spPr>
          <a:xfrm>
            <a:off x="800280" y="5689440"/>
            <a:ext cx="253800" cy="253800"/>
          </a:xfrm>
          <a:prstGeom prst="rect">
            <a:avLst/>
          </a:prstGeom>
          <a:noFill/>
          <a:ln w="0">
            <a:noFill/>
          </a:ln>
        </p:spPr>
      </p:pic>
      <p:sp>
        <p:nvSpPr>
          <p:cNvPr id="166" name="Text 11"/>
          <p:cNvSpPr/>
          <p:nvPr/>
        </p:nvSpPr>
        <p:spPr>
          <a:xfrm>
            <a:off x="1152000" y="563868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The real signal is having any injury history, not how recent it is.</a:t>
            </a:r>
            <a:endParaRPr b="0" lang="en-US" sz="1400" strike="noStrike" u="none">
              <a:solidFill>
                <a:srgbClr val="000000"/>
              </a:solidFill>
              <a:effectLst/>
              <a:uFillTx/>
              <a:latin typeface="Arial"/>
            </a:endParaRPr>
          </a:p>
        </p:txBody>
      </p:sp>
      <p:sp>
        <p:nvSpPr>
          <p:cNvPr id="167" name="Shape 12"/>
          <p:cNvSpPr/>
          <p:nvPr/>
        </p:nvSpPr>
        <p:spPr>
          <a:xfrm>
            <a:off x="6217920" y="594360"/>
            <a:ext cx="5147640" cy="562320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68" name="Text 13"/>
          <p:cNvSpPr/>
          <p:nvPr/>
        </p:nvSpPr>
        <p:spPr>
          <a:xfrm>
            <a:off x="6537960" y="822960"/>
            <a:ext cx="45075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1a1a1a"/>
                </a:solidFill>
                <a:effectLst/>
                <a:uFillTx/>
                <a:latin typeface="Calibri"/>
                <a:ea typeface="Calibri"/>
              </a:rPr>
              <a:t>Median value change, by injury history (%)</a:t>
            </a:r>
            <a:endParaRPr b="0" lang="en-US" sz="1350" strike="noStrike" u="none">
              <a:solidFill>
                <a:srgbClr val="000000"/>
              </a:solidFill>
              <a:effectLst/>
              <a:uFillTx/>
              <a:latin typeface="Arial"/>
            </a:endParaRPr>
          </a:p>
        </p:txBody>
      </p:sp>
      <p:sp>
        <p:nvSpPr>
          <p:cNvPr id="169" name="Text 14"/>
          <p:cNvSpPr/>
          <p:nvPr/>
        </p:nvSpPr>
        <p:spPr>
          <a:xfrm>
            <a:off x="6537960" y="5029200"/>
            <a:ext cx="450756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trike="noStrike" u="none">
                <a:solidFill>
                  <a:srgbClr val="44506b"/>
                </a:solidFill>
                <a:effectLst/>
                <a:uFillTx/>
                <a:latin typeface="Calibri"/>
                <a:ea typeface="Calibri"/>
              </a:rPr>
              <a:t>n = 29,324 player-valuation snapshots (10,478 no-injury vs. 18,846 with any injury history, pooled across recency bands). “No prior injury” figure excludes low-starting-valuation snapshots to remove a breakout-debut artifact.</a:t>
            </a:r>
            <a:endParaRPr b="0" lang="en-US" sz="1300" strike="noStrike" u="none">
              <a:solidFill>
                <a:srgbClr val="000000"/>
              </a:solidFill>
              <a:effectLst/>
              <a:uFillTx/>
              <a:latin typeface="Arial"/>
            </a:endParaRPr>
          </a:p>
        </p:txBody>
      </p:sp>
      <p:sp>
        <p:nvSpPr>
          <p:cNvPr id="170" name="Text 15"/>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5a6478"/>
                </a:solidFill>
                <a:effectLst/>
                <a:uFillTx/>
                <a:latin typeface="Calibri"/>
                <a:ea typeface="Calibri"/>
              </a:rPr>
              <a:t>06</a:t>
            </a:r>
            <a:endParaRPr b="0" lang="en-US" sz="1200" strike="noStrike" u="none">
              <a:solidFill>
                <a:srgbClr val="000000"/>
              </a:solidFill>
              <a:effectLst/>
              <a:uFillTx/>
              <a:latin typeface="Arial"/>
            </a:endParaRPr>
          </a:p>
        </p:txBody>
      </p:sp>
      <p:pic>
        <p:nvPicPr>
          <p:cNvPr id="171" name="Graphic 25" descr="Whistle icon"/>
          <p:cNvPicPr/>
          <p:nvPr/>
        </p:nvPicPr>
        <p:blipFill>
          <a:blip r:embed="rId5">
            <a:extLst>
              <a:ext uri="{96DAC541-7B7A-43D3-8B79-37D633B846F1}">
                <asvg:svgBlip xmlns:asvg="http://schemas.microsoft.com/office/drawing/2016/SVG/main" r:embed="rId6"/>
              </a:ext>
            </a:extLst>
          </a:blip>
          <a:stretch/>
        </p:blipFill>
        <p:spPr>
          <a:xfrm>
            <a:off x="896760" y="668160"/>
            <a:ext cx="355320" cy="355320"/>
          </a:xfrm>
          <a:prstGeom prst="rect">
            <a:avLst/>
          </a:prstGeom>
          <a:noFill/>
          <a:ln w="0">
            <a:noFill/>
          </a:ln>
        </p:spPr>
      </p:pic>
      <p:cxnSp>
        <p:nvCxnSpPr>
          <p:cNvPr id="172" name="Connector 62"/>
          <p:cNvCxnSpPr/>
          <p:nvPr/>
        </p:nvCxnSpPr>
        <p:spPr>
          <a:xfrm>
            <a:off x="8791920" y="1508760"/>
            <a:ext cx="360" cy="3109320"/>
          </a:xfrm>
          <a:prstGeom prst="straightConnector1">
            <a:avLst/>
          </a:prstGeom>
          <a:ln>
            <a:solidFill>
              <a:srgbClr val="e3e6ec"/>
            </a:solidFill>
          </a:ln>
        </p:spPr>
      </p:cxnSp>
      <p:sp>
        <p:nvSpPr>
          <p:cNvPr id="173" name="Isosceles Triangle 63"/>
          <p:cNvSpPr/>
          <p:nvPr/>
        </p:nvSpPr>
        <p:spPr>
          <a:xfrm>
            <a:off x="7550640" y="1430280"/>
            <a:ext cx="228240" cy="228240"/>
          </a:xfrm>
          <a:prstGeom prst="triangle">
            <a:avLst>
              <a:gd name="adj" fmla="val 50000"/>
            </a:avLst>
          </a:prstGeom>
          <a:solidFill>
            <a:srgbClr val="e8a33d"/>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174" name="TextBox 64"/>
          <p:cNvSpPr/>
          <p:nvPr/>
        </p:nvSpPr>
        <p:spPr>
          <a:xfrm>
            <a:off x="6537960" y="1840320"/>
            <a:ext cx="2253600" cy="899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5000" strike="noStrike" u="none">
                <a:solidFill>
                  <a:srgbClr val="e8a33d"/>
                </a:solidFill>
                <a:effectLst/>
                <a:uFillTx/>
                <a:latin typeface="Calibri"/>
              </a:rPr>
              <a:t>+4.35%</a:t>
            </a:r>
            <a:endParaRPr b="0" lang="en-US" sz="5000" strike="noStrike" u="none">
              <a:solidFill>
                <a:srgbClr val="000000"/>
              </a:solidFill>
              <a:effectLst/>
              <a:uFillTx/>
              <a:latin typeface="Arial"/>
            </a:endParaRPr>
          </a:p>
        </p:txBody>
      </p:sp>
      <p:sp>
        <p:nvSpPr>
          <p:cNvPr id="175" name="TextBox 65"/>
          <p:cNvSpPr/>
          <p:nvPr/>
        </p:nvSpPr>
        <p:spPr>
          <a:xfrm>
            <a:off x="6537960" y="2780280"/>
            <a:ext cx="2253600" cy="449640"/>
          </a:xfrm>
          <a:prstGeom prst="rect">
            <a:avLst/>
          </a:prstGeom>
          <a:noFill/>
          <a:ln w="0">
            <a:noFill/>
          </a:ln>
        </p:spPr>
        <p:style>
          <a:lnRef idx="0"/>
          <a:fillRef idx="0"/>
          <a:effectRef idx="0"/>
          <a:fontRef idx="minor"/>
        </p:style>
        <p:txBody>
          <a:bodyPr lIns="79920" rIns="79920" tIns="0" bIns="0" anchor="t">
            <a:spAutoFit/>
          </a:bodyPr>
          <a:p>
            <a:pPr algn="ctr" defTabSz="914400">
              <a:lnSpc>
                <a:spcPct val="100000"/>
              </a:lnSpc>
            </a:pPr>
            <a:r>
              <a:rPr b="1" lang="en-US" sz="1400" strike="noStrike" u="none">
                <a:solidFill>
                  <a:srgbClr val="1a1a1a"/>
                </a:solidFill>
                <a:effectLst/>
                <a:uFillTx/>
                <a:latin typeface="Calibri"/>
              </a:rPr>
              <a:t>No injury history</a:t>
            </a:r>
            <a:endParaRPr b="0" lang="en-US" sz="1400" strike="noStrike" u="none">
              <a:solidFill>
                <a:srgbClr val="000000"/>
              </a:solidFill>
              <a:effectLst/>
              <a:uFillTx/>
              <a:latin typeface="Arial"/>
            </a:endParaRPr>
          </a:p>
        </p:txBody>
      </p:sp>
      <p:sp>
        <p:nvSpPr>
          <p:cNvPr id="176" name="TextBox 66"/>
          <p:cNvSpPr/>
          <p:nvPr/>
        </p:nvSpPr>
        <p:spPr>
          <a:xfrm>
            <a:off x="6537960" y="3230280"/>
            <a:ext cx="2253600" cy="3495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100" strike="noStrike" u="none">
                <a:solidFill>
                  <a:srgbClr val="44506b"/>
                </a:solidFill>
                <a:effectLst/>
                <a:uFillTx/>
                <a:latin typeface="Calibri"/>
              </a:rPr>
              <a:t>n = 10,478</a:t>
            </a:r>
            <a:endParaRPr b="0" lang="en-US" sz="1100" strike="noStrike" u="none">
              <a:solidFill>
                <a:srgbClr val="000000"/>
              </a:solidFill>
              <a:effectLst/>
              <a:uFillTx/>
              <a:latin typeface="Arial"/>
            </a:endParaRPr>
          </a:p>
        </p:txBody>
      </p:sp>
      <p:sp>
        <p:nvSpPr>
          <p:cNvPr id="177" name="Rounded Rectangle 67"/>
          <p:cNvSpPr/>
          <p:nvPr/>
        </p:nvSpPr>
        <p:spPr>
          <a:xfrm>
            <a:off x="9768960" y="1508760"/>
            <a:ext cx="299520" cy="7452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p:style>
        <p:txBody>
          <a:bodyPr lIns="90000" rIns="90000" tIns="7920" bIns="7920" anchor="ctr">
            <a:noAutofit/>
          </a:bodyPr>
          <a:p>
            <a:pPr algn="ctr" defTabSz="914400">
              <a:lnSpc>
                <a:spcPct val="100000"/>
              </a:lnSpc>
            </a:pPr>
            <a:endParaRPr b="0" lang="en-US" sz="1800" strike="noStrike" u="none">
              <a:solidFill>
                <a:schemeClr val="lt1"/>
              </a:solidFill>
              <a:effectLst/>
              <a:uFillTx/>
              <a:latin typeface="Calibri"/>
            </a:endParaRPr>
          </a:p>
        </p:txBody>
      </p:sp>
      <p:sp>
        <p:nvSpPr>
          <p:cNvPr id="178" name="TextBox 68"/>
          <p:cNvSpPr/>
          <p:nvPr/>
        </p:nvSpPr>
        <p:spPr>
          <a:xfrm>
            <a:off x="8791920" y="1840320"/>
            <a:ext cx="2253600" cy="89964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1" lang="en-US" sz="5000" strike="noStrike" u="none">
                <a:solidFill>
                  <a:srgbClr val="5a6478"/>
                </a:solidFill>
                <a:effectLst/>
                <a:uFillTx/>
                <a:latin typeface="Calibri"/>
              </a:rPr>
              <a:t>0.0%</a:t>
            </a:r>
            <a:endParaRPr b="0" lang="en-US" sz="5000" strike="noStrike" u="none">
              <a:solidFill>
                <a:srgbClr val="000000"/>
              </a:solidFill>
              <a:effectLst/>
              <a:uFillTx/>
              <a:latin typeface="Arial"/>
            </a:endParaRPr>
          </a:p>
        </p:txBody>
      </p:sp>
      <p:sp>
        <p:nvSpPr>
          <p:cNvPr id="179" name="TextBox 69"/>
          <p:cNvSpPr/>
          <p:nvPr/>
        </p:nvSpPr>
        <p:spPr>
          <a:xfrm>
            <a:off x="8791920" y="2780280"/>
            <a:ext cx="2253600" cy="449640"/>
          </a:xfrm>
          <a:prstGeom prst="rect">
            <a:avLst/>
          </a:prstGeom>
          <a:noFill/>
          <a:ln w="0">
            <a:noFill/>
          </a:ln>
        </p:spPr>
        <p:style>
          <a:lnRef idx="0"/>
          <a:fillRef idx="0"/>
          <a:effectRef idx="0"/>
          <a:fontRef idx="minor"/>
        </p:style>
        <p:txBody>
          <a:bodyPr lIns="79920" rIns="79920" tIns="0" bIns="0" anchor="t">
            <a:spAutoFit/>
          </a:bodyPr>
          <a:p>
            <a:pPr algn="ctr" defTabSz="914400">
              <a:lnSpc>
                <a:spcPct val="100000"/>
              </a:lnSpc>
            </a:pPr>
            <a:r>
              <a:rPr b="1" lang="en-US" sz="1400" strike="noStrike" u="none">
                <a:solidFill>
                  <a:srgbClr val="1a1a1a"/>
                </a:solidFill>
                <a:effectLst/>
                <a:uFillTx/>
                <a:latin typeface="Calibri"/>
              </a:rPr>
              <a:t>Any injury history</a:t>
            </a:r>
            <a:endParaRPr b="0" lang="en-US" sz="1400" strike="noStrike" u="none">
              <a:solidFill>
                <a:srgbClr val="000000"/>
              </a:solidFill>
              <a:effectLst/>
              <a:uFillTx/>
              <a:latin typeface="Arial"/>
            </a:endParaRPr>
          </a:p>
        </p:txBody>
      </p:sp>
      <p:sp>
        <p:nvSpPr>
          <p:cNvPr id="180" name="TextBox 70"/>
          <p:cNvSpPr/>
          <p:nvPr/>
        </p:nvSpPr>
        <p:spPr>
          <a:xfrm>
            <a:off x="8791920" y="3230280"/>
            <a:ext cx="2253600" cy="349560"/>
          </a:xfrm>
          <a:prstGeom prst="rect">
            <a:avLst/>
          </a:prstGeom>
          <a:noFill/>
          <a:ln w="0">
            <a:noFill/>
          </a:ln>
        </p:spPr>
        <p:style>
          <a:lnRef idx="0"/>
          <a:fillRef idx="0"/>
          <a:effectRef idx="0"/>
          <a:fontRef idx="minor"/>
        </p:style>
        <p:txBody>
          <a:bodyPr lIns="0" rIns="0" tIns="0" bIns="0" anchor="t">
            <a:spAutoFit/>
          </a:bodyPr>
          <a:p>
            <a:pPr algn="ctr" defTabSz="914400">
              <a:lnSpc>
                <a:spcPct val="100000"/>
              </a:lnSpc>
            </a:pPr>
            <a:r>
              <a:rPr b="0" i="1" lang="en-US" sz="1100" strike="noStrike" u="none">
                <a:solidFill>
                  <a:srgbClr val="44506b"/>
                </a:solidFill>
                <a:effectLst/>
                <a:uFillTx/>
                <a:latin typeface="Calibri"/>
              </a:rPr>
              <a:t>n = 18,846</a:t>
            </a:r>
            <a:endParaRPr b="0" lang="en-US" sz="1100" strike="noStrike" u="none">
              <a:solidFill>
                <a:srgbClr val="000000"/>
              </a:solidFill>
              <a:effectLst/>
              <a:uFillTx/>
              <a:latin typeface="Arial"/>
            </a:endParaRPr>
          </a:p>
        </p:txBody>
      </p:sp>
      <p:sp>
        <p:nvSpPr>
          <p:cNvPr id="181" name="TextBox 71"/>
          <p:cNvSpPr/>
          <p:nvPr/>
        </p:nvSpPr>
        <p:spPr>
          <a:xfrm>
            <a:off x="822960" y="6180120"/>
            <a:ext cx="4937400" cy="2095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trike="noStrike" u="none">
                <a:solidFill>
                  <a:srgbClr val="44506b"/>
                </a:solidFill>
                <a:effectLst/>
                <a:uFillTx/>
                <a:latin typeface="Calibri"/>
              </a:rPr>
              <a:t>Note: </a:t>
            </a:r>
            <a:r>
              <a:rPr b="0" i="1" lang="en-US" sz="1000" strike="noStrike" u="none">
                <a:solidFill>
                  <a:srgbClr val="44506b"/>
                </a:solidFill>
                <a:effectLst/>
                <a:uFillTx/>
                <a:latin typeface="Calibri"/>
              </a:rPr>
              <a:t>“value” = Transfermarkt market valuation, not on-pitch performance.</a:t>
            </a:r>
            <a:endParaRPr b="0" lang="en-US" sz="1000" strike="noStrike" u="none">
              <a:solidFill>
                <a:srgbClr val="000000"/>
              </a:solidFill>
              <a:effectLst/>
              <a:uFillTx/>
              <a:latin typeface="Arial"/>
            </a:endParaRPr>
          </a:p>
        </p:txBody>
      </p:sp>
    </p:spTree>
  </p:cSld>
  <p:transition spd="med">
    <p:fade/>
  </p:transition>
  <p:timing>
    <p:tnLst>
      <p:par>
        <p:cTn id="292" dur="indefinite" restart="never" nodeType="tmRoot">
          <p:childTnLst>
            <p:seq>
              <p:cTn id="293" dur="indefinite" nodeType="mainSeq">
                <p:childTnLst>
                  <p:par>
                    <p:cTn id="294" fill="hold">
                      <p:stCondLst>
                        <p:cond delay="indefinite"/>
                      </p:stCondLst>
                      <p:childTnLst>
                        <p:par>
                          <p:cTn id="295" fill="hold">
                            <p:stCondLst>
                              <p:cond delay="0"/>
                            </p:stCondLst>
                            <p:childTnLst>
                              <p:par>
                                <p:cTn id="296" nodeType="clickEffect" fill="hold" presetClass="entr" presetID="10">
                                  <p:stCondLst>
                                    <p:cond delay="0"/>
                                  </p:stCondLst>
                                  <p:childTnLst>
                                    <p:set>
                                      <p:cBhvr>
                                        <p:cTn id="297" dur="1" fill="hold">
                                          <p:stCondLst>
                                            <p:cond delay="0"/>
                                          </p:stCondLst>
                                        </p:cTn>
                                        <p:tgtEl>
                                          <p:spTgt spid="155"/>
                                        </p:tgtEl>
                                        <p:attrNameLst>
                                          <p:attrName>style.visibility</p:attrName>
                                        </p:attrNameLst>
                                      </p:cBhvr>
                                      <p:to>
                                        <p:strVal val="visible"/>
                                      </p:to>
                                    </p:set>
                                    <p:animEffect filter="fade" transition="in">
                                      <p:cBhvr additive="repl">
                                        <p:cTn id="298" dur="450"/>
                                        <p:tgtEl>
                                          <p:spTgt spid="155"/>
                                        </p:tgtEl>
                                      </p:cBhvr>
                                    </p:animEffect>
                                  </p:childTnLst>
                                </p:cTn>
                              </p:par>
                              <p:par>
                                <p:cTn id="299" nodeType="withEffect" fill="hold" presetClass="entr" presetID="10">
                                  <p:stCondLst>
                                    <p:cond delay="0"/>
                                  </p:stCondLst>
                                  <p:childTnLst>
                                    <p:set>
                                      <p:cBhvr>
                                        <p:cTn id="300" dur="1" fill="hold">
                                          <p:stCondLst>
                                            <p:cond delay="0"/>
                                          </p:stCondLst>
                                        </p:cTn>
                                        <p:tgtEl>
                                          <p:spTgt spid="156"/>
                                        </p:tgtEl>
                                        <p:attrNameLst>
                                          <p:attrName>style.visibility</p:attrName>
                                        </p:attrNameLst>
                                      </p:cBhvr>
                                      <p:to>
                                        <p:strVal val="visible"/>
                                      </p:to>
                                    </p:set>
                                    <p:animEffect filter="fade" transition="in">
                                      <p:cBhvr additive="repl">
                                        <p:cTn id="301" dur="450"/>
                                        <p:tgtEl>
                                          <p:spTgt spid="156"/>
                                        </p:tgtEl>
                                      </p:cBhvr>
                                    </p:animEffect>
                                  </p:childTnLst>
                                </p:cTn>
                              </p:par>
                              <p:par>
                                <p:cTn id="302" nodeType="withEffect" fill="hold" presetClass="entr" presetID="10">
                                  <p:stCondLst>
                                    <p:cond delay="0"/>
                                  </p:stCondLst>
                                  <p:childTnLst>
                                    <p:set>
                                      <p:cBhvr>
                                        <p:cTn id="303" dur="1" fill="hold">
                                          <p:stCondLst>
                                            <p:cond delay="0"/>
                                          </p:stCondLst>
                                        </p:cTn>
                                        <p:tgtEl>
                                          <p:spTgt spid="157"/>
                                        </p:tgtEl>
                                        <p:attrNameLst>
                                          <p:attrName>style.visibility</p:attrName>
                                        </p:attrNameLst>
                                      </p:cBhvr>
                                      <p:to>
                                        <p:strVal val="visible"/>
                                      </p:to>
                                    </p:set>
                                    <p:animEffect filter="fade" transition="in">
                                      <p:cBhvr additive="repl">
                                        <p:cTn id="304" dur="450"/>
                                        <p:tgtEl>
                                          <p:spTgt spid="157"/>
                                        </p:tgtEl>
                                      </p:cBhvr>
                                    </p:animEffect>
                                  </p:childTnLst>
                                </p:cTn>
                              </p:par>
                            </p:childTnLst>
                          </p:cTn>
                        </p:par>
                      </p:childTnLst>
                    </p:cTn>
                  </p:par>
                  <p:par>
                    <p:cTn id="305" fill="hold">
                      <p:stCondLst>
                        <p:cond delay="indefinite"/>
                      </p:stCondLst>
                      <p:childTnLst>
                        <p:par>
                          <p:cTn id="306" fill="hold">
                            <p:stCondLst>
                              <p:cond delay="0"/>
                            </p:stCondLst>
                            <p:childTnLst>
                              <p:par>
                                <p:cTn id="307" nodeType="clickEffect" fill="hold" presetClass="entr" presetID="10">
                                  <p:stCondLst>
                                    <p:cond delay="0"/>
                                  </p:stCondLst>
                                  <p:childTnLst>
                                    <p:set>
                                      <p:cBhvr>
                                        <p:cTn id="308" dur="1" fill="hold">
                                          <p:stCondLst>
                                            <p:cond delay="0"/>
                                          </p:stCondLst>
                                        </p:cTn>
                                        <p:tgtEl>
                                          <p:spTgt spid="158"/>
                                        </p:tgtEl>
                                        <p:attrNameLst>
                                          <p:attrName>style.visibility</p:attrName>
                                        </p:attrNameLst>
                                      </p:cBhvr>
                                      <p:to>
                                        <p:strVal val="visible"/>
                                      </p:to>
                                    </p:set>
                                    <p:animEffect filter="fade" transition="in">
                                      <p:cBhvr additive="repl">
                                        <p:cTn id="309" dur="450"/>
                                        <p:tgtEl>
                                          <p:spTgt spid="158"/>
                                        </p:tgtEl>
                                      </p:cBhvr>
                                    </p:animEffect>
                                  </p:childTnLst>
                                </p:cTn>
                              </p:par>
                              <p:par>
                                <p:cTn id="310" nodeType="withEffect" fill="hold" presetClass="entr" presetID="10">
                                  <p:stCondLst>
                                    <p:cond delay="0"/>
                                  </p:stCondLst>
                                  <p:childTnLst>
                                    <p:set>
                                      <p:cBhvr>
                                        <p:cTn id="311" dur="1" fill="hold">
                                          <p:stCondLst>
                                            <p:cond delay="0"/>
                                          </p:stCondLst>
                                        </p:cTn>
                                        <p:tgtEl>
                                          <p:spTgt spid="159"/>
                                        </p:tgtEl>
                                        <p:attrNameLst>
                                          <p:attrName>style.visibility</p:attrName>
                                        </p:attrNameLst>
                                      </p:cBhvr>
                                      <p:to>
                                        <p:strVal val="visible"/>
                                      </p:to>
                                    </p:set>
                                    <p:animEffect filter="fade" transition="in">
                                      <p:cBhvr additive="repl">
                                        <p:cTn id="312" dur="450"/>
                                        <p:tgtEl>
                                          <p:spTgt spid="159"/>
                                        </p:tgtEl>
                                      </p:cBhvr>
                                    </p:animEffect>
                                  </p:childTnLst>
                                </p:cTn>
                              </p:par>
                              <p:par>
                                <p:cTn id="313" nodeType="withEffect" fill="hold" presetClass="entr" presetID="10">
                                  <p:stCondLst>
                                    <p:cond delay="0"/>
                                  </p:stCondLst>
                                  <p:childTnLst>
                                    <p:set>
                                      <p:cBhvr>
                                        <p:cTn id="314" dur="1" fill="hold">
                                          <p:stCondLst>
                                            <p:cond delay="0"/>
                                          </p:stCondLst>
                                        </p:cTn>
                                        <p:tgtEl>
                                          <p:spTgt spid="160"/>
                                        </p:tgtEl>
                                        <p:attrNameLst>
                                          <p:attrName>style.visibility</p:attrName>
                                        </p:attrNameLst>
                                      </p:cBhvr>
                                      <p:to>
                                        <p:strVal val="visible"/>
                                      </p:to>
                                    </p:set>
                                    <p:animEffect filter="fade" transition="in">
                                      <p:cBhvr additive="repl">
                                        <p:cTn id="315" dur="450"/>
                                        <p:tgtEl>
                                          <p:spTgt spid="160"/>
                                        </p:tgtEl>
                                      </p:cBhvr>
                                    </p:animEffect>
                                  </p:childTnLst>
                                </p:cTn>
                              </p:par>
                            </p:childTnLst>
                          </p:cTn>
                        </p:par>
                      </p:childTnLst>
                    </p:cTn>
                  </p:par>
                  <p:par>
                    <p:cTn id="316" fill="hold">
                      <p:stCondLst>
                        <p:cond delay="indefinite"/>
                      </p:stCondLst>
                      <p:childTnLst>
                        <p:par>
                          <p:cTn id="317" fill="hold">
                            <p:stCondLst>
                              <p:cond delay="0"/>
                            </p:stCondLst>
                            <p:childTnLst>
                              <p:par>
                                <p:cTn id="318" nodeType="clickEffect" fill="hold" presetClass="entr" presetID="10">
                                  <p:stCondLst>
                                    <p:cond delay="0"/>
                                  </p:stCondLst>
                                  <p:childTnLst>
                                    <p:set>
                                      <p:cBhvr>
                                        <p:cTn id="319" dur="1" fill="hold">
                                          <p:stCondLst>
                                            <p:cond delay="0"/>
                                          </p:stCondLst>
                                        </p:cTn>
                                        <p:tgtEl>
                                          <p:spTgt spid="161"/>
                                        </p:tgtEl>
                                        <p:attrNameLst>
                                          <p:attrName>style.visibility</p:attrName>
                                        </p:attrNameLst>
                                      </p:cBhvr>
                                      <p:to>
                                        <p:strVal val="visible"/>
                                      </p:to>
                                    </p:set>
                                    <p:animEffect filter="fade" transition="in">
                                      <p:cBhvr additive="repl">
                                        <p:cTn id="320" dur="450"/>
                                        <p:tgtEl>
                                          <p:spTgt spid="161"/>
                                        </p:tgtEl>
                                      </p:cBhvr>
                                    </p:animEffect>
                                  </p:childTnLst>
                                </p:cTn>
                              </p:par>
                              <p:par>
                                <p:cTn id="321" nodeType="withEffect" fill="hold" presetClass="entr" presetID="10">
                                  <p:stCondLst>
                                    <p:cond delay="0"/>
                                  </p:stCondLst>
                                  <p:childTnLst>
                                    <p:set>
                                      <p:cBhvr>
                                        <p:cTn id="322" dur="1" fill="hold">
                                          <p:stCondLst>
                                            <p:cond delay="0"/>
                                          </p:stCondLst>
                                        </p:cTn>
                                        <p:tgtEl>
                                          <p:spTgt spid="162"/>
                                        </p:tgtEl>
                                        <p:attrNameLst>
                                          <p:attrName>style.visibility</p:attrName>
                                        </p:attrNameLst>
                                      </p:cBhvr>
                                      <p:to>
                                        <p:strVal val="visible"/>
                                      </p:to>
                                    </p:set>
                                    <p:animEffect filter="fade" transition="in">
                                      <p:cBhvr additive="repl">
                                        <p:cTn id="323" dur="450"/>
                                        <p:tgtEl>
                                          <p:spTgt spid="162"/>
                                        </p:tgtEl>
                                      </p:cBhvr>
                                    </p:animEffect>
                                  </p:childTnLst>
                                </p:cTn>
                              </p:par>
                            </p:childTnLst>
                          </p:cTn>
                        </p:par>
                      </p:childTnLst>
                    </p:cTn>
                  </p:par>
                  <p:par>
                    <p:cTn id="324" fill="hold">
                      <p:stCondLst>
                        <p:cond delay="indefinite"/>
                      </p:stCondLst>
                      <p:childTnLst>
                        <p:par>
                          <p:cTn id="325" fill="hold">
                            <p:stCondLst>
                              <p:cond delay="0"/>
                            </p:stCondLst>
                            <p:childTnLst>
                              <p:par>
                                <p:cTn id="326" nodeType="clickEffect" fill="hold" presetClass="entr" presetID="10">
                                  <p:stCondLst>
                                    <p:cond delay="0"/>
                                  </p:stCondLst>
                                  <p:childTnLst>
                                    <p:set>
                                      <p:cBhvr>
                                        <p:cTn id="327" dur="1" fill="hold">
                                          <p:stCondLst>
                                            <p:cond delay="0"/>
                                          </p:stCondLst>
                                        </p:cTn>
                                        <p:tgtEl>
                                          <p:spTgt spid="163"/>
                                        </p:tgtEl>
                                        <p:attrNameLst>
                                          <p:attrName>style.visibility</p:attrName>
                                        </p:attrNameLst>
                                      </p:cBhvr>
                                      <p:to>
                                        <p:strVal val="visible"/>
                                      </p:to>
                                    </p:set>
                                    <p:animEffect filter="fade" transition="in">
                                      <p:cBhvr additive="repl">
                                        <p:cTn id="328" dur="450"/>
                                        <p:tgtEl>
                                          <p:spTgt spid="163"/>
                                        </p:tgtEl>
                                      </p:cBhvr>
                                    </p:animEffect>
                                  </p:childTnLst>
                                </p:cTn>
                              </p:par>
                              <p:par>
                                <p:cTn id="329" nodeType="withEffect" fill="hold" presetClass="entr" presetID="10">
                                  <p:stCondLst>
                                    <p:cond delay="0"/>
                                  </p:stCondLst>
                                  <p:childTnLst>
                                    <p:set>
                                      <p:cBhvr>
                                        <p:cTn id="330" dur="1" fill="hold">
                                          <p:stCondLst>
                                            <p:cond delay="0"/>
                                          </p:stCondLst>
                                        </p:cTn>
                                        <p:tgtEl>
                                          <p:spTgt spid="164"/>
                                        </p:tgtEl>
                                        <p:attrNameLst>
                                          <p:attrName>style.visibility</p:attrName>
                                        </p:attrNameLst>
                                      </p:cBhvr>
                                      <p:to>
                                        <p:strVal val="visible"/>
                                      </p:to>
                                    </p:set>
                                    <p:animEffect filter="fade" transition="in">
                                      <p:cBhvr additive="repl">
                                        <p:cTn id="331" dur="450"/>
                                        <p:tgtEl>
                                          <p:spTgt spid="164"/>
                                        </p:tgtEl>
                                      </p:cBhvr>
                                    </p:animEffect>
                                  </p:childTnLst>
                                </p:cTn>
                              </p:par>
                            </p:childTnLst>
                          </p:cTn>
                        </p:par>
                      </p:childTnLst>
                    </p:cTn>
                  </p:par>
                  <p:par>
                    <p:cTn id="332" fill="hold">
                      <p:stCondLst>
                        <p:cond delay="indefinite"/>
                      </p:stCondLst>
                      <p:childTnLst>
                        <p:par>
                          <p:cTn id="333" fill="hold">
                            <p:stCondLst>
                              <p:cond delay="0"/>
                            </p:stCondLst>
                            <p:childTnLst>
                              <p:par>
                                <p:cTn id="334" nodeType="clickEffect" fill="hold" presetClass="entr" presetID="10">
                                  <p:stCondLst>
                                    <p:cond delay="0"/>
                                  </p:stCondLst>
                                  <p:childTnLst>
                                    <p:set>
                                      <p:cBhvr>
                                        <p:cTn id="335" dur="1" fill="hold">
                                          <p:stCondLst>
                                            <p:cond delay="0"/>
                                          </p:stCondLst>
                                        </p:cTn>
                                        <p:tgtEl>
                                          <p:spTgt spid="165"/>
                                        </p:tgtEl>
                                        <p:attrNameLst>
                                          <p:attrName>style.visibility</p:attrName>
                                        </p:attrNameLst>
                                      </p:cBhvr>
                                      <p:to>
                                        <p:strVal val="visible"/>
                                      </p:to>
                                    </p:set>
                                    <p:animEffect filter="fade" transition="in">
                                      <p:cBhvr additive="repl">
                                        <p:cTn id="336" dur="450"/>
                                        <p:tgtEl>
                                          <p:spTgt spid="165"/>
                                        </p:tgtEl>
                                      </p:cBhvr>
                                    </p:animEffect>
                                  </p:childTnLst>
                                </p:cTn>
                              </p:par>
                              <p:par>
                                <p:cTn id="337" nodeType="withEffect" fill="hold" presetClass="entr" presetID="10">
                                  <p:stCondLst>
                                    <p:cond delay="0"/>
                                  </p:stCondLst>
                                  <p:childTnLst>
                                    <p:set>
                                      <p:cBhvr>
                                        <p:cTn id="338" dur="1" fill="hold">
                                          <p:stCondLst>
                                            <p:cond delay="0"/>
                                          </p:stCondLst>
                                        </p:cTn>
                                        <p:tgtEl>
                                          <p:spTgt spid="166"/>
                                        </p:tgtEl>
                                        <p:attrNameLst>
                                          <p:attrName>style.visibility</p:attrName>
                                        </p:attrNameLst>
                                      </p:cBhvr>
                                      <p:to>
                                        <p:strVal val="visible"/>
                                      </p:to>
                                    </p:set>
                                    <p:animEffect filter="fade" transition="in">
                                      <p:cBhvr additive="repl">
                                        <p:cTn id="339" dur="450"/>
                                        <p:tgtEl>
                                          <p:spTgt spid="166"/>
                                        </p:tgtEl>
                                      </p:cBhvr>
                                    </p:animEffect>
                                  </p:childTnLst>
                                </p:cTn>
                              </p:par>
                            </p:childTnLst>
                          </p:cTn>
                        </p:par>
                      </p:childTnLst>
                    </p:cTn>
                  </p:par>
                  <p:par>
                    <p:cTn id="340" fill="hold">
                      <p:stCondLst>
                        <p:cond delay="indefinite"/>
                      </p:stCondLst>
                      <p:childTnLst>
                        <p:par>
                          <p:cTn id="341" fill="hold">
                            <p:stCondLst>
                              <p:cond delay="0"/>
                            </p:stCondLst>
                            <p:childTnLst>
                              <p:par>
                                <p:cTn id="342" nodeType="clickEffect" fill="hold" presetClass="entr" presetID="10">
                                  <p:stCondLst>
                                    <p:cond delay="0"/>
                                  </p:stCondLst>
                                  <p:childTnLst>
                                    <p:set>
                                      <p:cBhvr>
                                        <p:cTn id="343" dur="1" fill="hold">
                                          <p:stCondLst>
                                            <p:cond delay="0"/>
                                          </p:stCondLst>
                                        </p:cTn>
                                        <p:tgtEl>
                                          <p:spTgt spid="167"/>
                                        </p:tgtEl>
                                        <p:attrNameLst>
                                          <p:attrName>style.visibility</p:attrName>
                                        </p:attrNameLst>
                                      </p:cBhvr>
                                      <p:to>
                                        <p:strVal val="visible"/>
                                      </p:to>
                                    </p:set>
                                    <p:animEffect filter="fade" transition="in">
                                      <p:cBhvr additive="repl">
                                        <p:cTn id="344" dur="450"/>
                                        <p:tgtEl>
                                          <p:spTgt spid="167"/>
                                        </p:tgtEl>
                                      </p:cBhvr>
                                    </p:animEffect>
                                  </p:childTnLst>
                                </p:cTn>
                              </p:par>
                              <p:par>
                                <p:cTn id="345" nodeType="withEffect" fill="hold" presetClass="entr" presetID="10">
                                  <p:stCondLst>
                                    <p:cond delay="0"/>
                                  </p:stCondLst>
                                  <p:childTnLst>
                                    <p:set>
                                      <p:cBhvr>
                                        <p:cTn id="346" dur="1" fill="hold">
                                          <p:stCondLst>
                                            <p:cond delay="0"/>
                                          </p:stCondLst>
                                        </p:cTn>
                                        <p:tgtEl>
                                          <p:spTgt spid="168"/>
                                        </p:tgtEl>
                                        <p:attrNameLst>
                                          <p:attrName>style.visibility</p:attrName>
                                        </p:attrNameLst>
                                      </p:cBhvr>
                                      <p:to>
                                        <p:strVal val="visible"/>
                                      </p:to>
                                    </p:set>
                                    <p:animEffect filter="fade" transition="in">
                                      <p:cBhvr additive="repl">
                                        <p:cTn id="347" dur="450"/>
                                        <p:tgtEl>
                                          <p:spTgt spid="168"/>
                                        </p:tgtEl>
                                      </p:cBhvr>
                                    </p:animEffect>
                                  </p:childTnLst>
                                </p:cTn>
                              </p:par>
                              <p:par>
                                <p:cTn id="348" nodeType="withEffect" fill="hold" presetClass="entr" presetID="10">
                                  <p:stCondLst>
                                    <p:cond delay="0"/>
                                  </p:stCondLst>
                                  <p:childTnLst>
                                    <p:set>
                                      <p:cBhvr>
                                        <p:cTn id="349" dur="1" fill="hold">
                                          <p:stCondLst>
                                            <p:cond delay="0"/>
                                          </p:stCondLst>
                                        </p:cTn>
                                        <p:tgtEl>
                                          <p:spTgt spid="169"/>
                                        </p:tgtEl>
                                        <p:attrNameLst>
                                          <p:attrName>style.visibility</p:attrName>
                                        </p:attrNameLst>
                                      </p:cBhvr>
                                      <p:to>
                                        <p:strVal val="visible"/>
                                      </p:to>
                                    </p:set>
                                    <p:animEffect filter="fade" transition="in">
                                      <p:cBhvr additive="repl">
                                        <p:cTn id="350" dur="450"/>
                                        <p:tgtEl>
                                          <p:spTgt spid="1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182" name="Shape 0"/>
          <p:cNvSpPr/>
          <p:nvPr/>
        </p:nvSpPr>
        <p:spPr>
          <a:xfrm>
            <a:off x="6302520" y="468720"/>
            <a:ext cx="754200" cy="75420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83" name="Shape 1"/>
          <p:cNvSpPr/>
          <p:nvPr/>
        </p:nvSpPr>
        <p:spPr>
          <a:xfrm>
            <a:off x="6428160" y="594360"/>
            <a:ext cx="502560" cy="50256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84" name="Text 2"/>
          <p:cNvSpPr/>
          <p:nvPr/>
        </p:nvSpPr>
        <p:spPr>
          <a:xfrm>
            <a:off x="7086600" y="713160"/>
            <a:ext cx="4278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pc="201" strike="noStrike" u="none">
                <a:solidFill>
                  <a:srgbClr val="1f7a4d"/>
                </a:solidFill>
                <a:effectLst/>
                <a:uFillTx/>
                <a:latin typeface="Calibri"/>
                <a:ea typeface="Calibri"/>
              </a:rPr>
              <a:t>SPORTING DIRECTORS / FRONT OFFICE</a:t>
            </a:r>
            <a:endParaRPr b="0" lang="en-US" sz="1350" strike="noStrike" u="none">
              <a:solidFill>
                <a:srgbClr val="000000"/>
              </a:solidFill>
              <a:effectLst/>
              <a:uFillTx/>
              <a:latin typeface="Arial"/>
            </a:endParaRPr>
          </a:p>
        </p:txBody>
      </p:sp>
      <p:sp>
        <p:nvSpPr>
          <p:cNvPr id="185" name="Text 3"/>
          <p:cNvSpPr/>
          <p:nvPr/>
        </p:nvSpPr>
        <p:spPr>
          <a:xfrm>
            <a:off x="6428160" y="1188720"/>
            <a:ext cx="49374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mbria"/>
                <a:ea typeface="Cambria"/>
              </a:rPr>
              <a:t>How does injury risk change the investment case for a transfer?</a:t>
            </a:r>
            <a:endParaRPr b="0" lang="en-US" sz="1800" strike="noStrike" u="none">
              <a:solidFill>
                <a:srgbClr val="000000"/>
              </a:solidFill>
              <a:effectLst/>
              <a:uFillTx/>
              <a:latin typeface="Arial"/>
            </a:endParaRPr>
          </a:p>
        </p:txBody>
      </p:sp>
      <p:sp>
        <p:nvSpPr>
          <p:cNvPr id="186" name="Shape 4"/>
          <p:cNvSpPr/>
          <p:nvPr/>
        </p:nvSpPr>
        <p:spPr>
          <a:xfrm>
            <a:off x="6428160" y="2057400"/>
            <a:ext cx="4937400" cy="89568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87" name="Text 5"/>
          <p:cNvSpPr/>
          <p:nvPr/>
        </p:nvSpPr>
        <p:spPr>
          <a:xfrm>
            <a:off x="6629400" y="2148840"/>
            <a:ext cx="453492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9" strike="noStrike" u="none">
                <a:solidFill>
                  <a:srgbClr val="e8a33d"/>
                </a:solidFill>
                <a:effectLst/>
                <a:uFillTx/>
                <a:latin typeface="Calibri"/>
                <a:ea typeface="Calibri"/>
              </a:rPr>
              <a:t>HYPOTHESIS</a:t>
            </a:r>
            <a:endParaRPr b="0" lang="en-US" sz="1200" strike="noStrike" u="none">
              <a:solidFill>
                <a:srgbClr val="000000"/>
              </a:solidFill>
              <a:effectLst/>
              <a:uFillTx/>
              <a:latin typeface="Arial"/>
            </a:endParaRPr>
          </a:p>
        </p:txBody>
      </p:sp>
      <p:sp>
        <p:nvSpPr>
          <p:cNvPr id="188" name="Text 6"/>
          <p:cNvSpPr/>
          <p:nvPr/>
        </p:nvSpPr>
        <p:spPr>
          <a:xfrm>
            <a:off x="6629400" y="2377440"/>
            <a:ext cx="453492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trike="noStrike" u="none">
                <a:solidFill>
                  <a:srgbClr val="ffffff"/>
                </a:solidFill>
                <a:effectLst/>
                <a:uFillTx/>
                <a:latin typeface="Calibri"/>
                <a:ea typeface="Calibri"/>
              </a:rPr>
              <a:t>Younger players show a better value-risk tradeoff than veterans.</a:t>
            </a:r>
            <a:endParaRPr b="0" lang="en-US" sz="1400" strike="noStrike" u="none">
              <a:solidFill>
                <a:srgbClr val="000000"/>
              </a:solidFill>
              <a:effectLst/>
              <a:uFillTx/>
              <a:latin typeface="Arial"/>
            </a:endParaRPr>
          </a:p>
        </p:txBody>
      </p:sp>
      <p:sp>
        <p:nvSpPr>
          <p:cNvPr id="189" name="Shape 7"/>
          <p:cNvSpPr/>
          <p:nvPr/>
        </p:nvSpPr>
        <p:spPr>
          <a:xfrm>
            <a:off x="6428160" y="3154680"/>
            <a:ext cx="4937400" cy="420120"/>
          </a:xfrm>
          <a:prstGeom prst="roundRect">
            <a:avLst>
              <a:gd name="adj" fmla="val 50000"/>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190" name="Image 1" descr="preencoded.png"/>
          <p:cNvPicPr/>
          <p:nvPr/>
        </p:nvPicPr>
        <p:blipFill>
          <a:blip r:embed="rId1"/>
          <a:stretch/>
        </p:blipFill>
        <p:spPr>
          <a:xfrm>
            <a:off x="6553080" y="3225960"/>
            <a:ext cx="253800" cy="253800"/>
          </a:xfrm>
          <a:prstGeom prst="rect">
            <a:avLst/>
          </a:prstGeom>
          <a:noFill/>
          <a:ln w="0">
            <a:noFill/>
          </a:ln>
        </p:spPr>
      </p:pic>
      <p:sp>
        <p:nvSpPr>
          <p:cNvPr id="191" name="Text 8"/>
          <p:cNvSpPr/>
          <p:nvPr/>
        </p:nvSpPr>
        <p:spPr>
          <a:xfrm>
            <a:off x="6885360" y="3154680"/>
            <a:ext cx="4388760" cy="420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ffffff"/>
                </a:solidFill>
                <a:effectLst/>
                <a:uFillTx/>
                <a:latin typeface="Calibri"/>
                <a:ea typeface="Calibri"/>
              </a:rPr>
              <a:t>SPLIT: risk confirmed, value tells a different story</a:t>
            </a:r>
            <a:endParaRPr b="0" lang="en-US" sz="1350" strike="noStrike" u="none">
              <a:solidFill>
                <a:srgbClr val="000000"/>
              </a:solidFill>
              <a:effectLst/>
              <a:uFillTx/>
              <a:latin typeface="Arial"/>
            </a:endParaRPr>
          </a:p>
        </p:txBody>
      </p:sp>
      <p:pic>
        <p:nvPicPr>
          <p:cNvPr id="192" name="Image 2" descr="preencoded.png"/>
          <p:cNvPicPr/>
          <p:nvPr/>
        </p:nvPicPr>
        <p:blipFill>
          <a:blip r:embed="rId2"/>
          <a:stretch/>
        </p:blipFill>
        <p:spPr>
          <a:xfrm>
            <a:off x="6400800" y="4013280"/>
            <a:ext cx="253800" cy="253800"/>
          </a:xfrm>
          <a:prstGeom prst="rect">
            <a:avLst/>
          </a:prstGeom>
          <a:noFill/>
          <a:ln w="0">
            <a:noFill/>
          </a:ln>
        </p:spPr>
      </p:pic>
      <p:sp>
        <p:nvSpPr>
          <p:cNvPr id="193" name="Text 9"/>
          <p:cNvSpPr/>
          <p:nvPr/>
        </p:nvSpPr>
        <p:spPr>
          <a:xfrm>
            <a:off x="6757560" y="396252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Injury rate climbs steadily with age: 2.5 up to 6.0 per 1,000 90s.</a:t>
            </a:r>
            <a:endParaRPr b="0" lang="en-US" sz="1400" strike="noStrike" u="none">
              <a:solidFill>
                <a:srgbClr val="000000"/>
              </a:solidFill>
              <a:effectLst/>
              <a:uFillTx/>
              <a:latin typeface="Arial"/>
            </a:endParaRPr>
          </a:p>
        </p:txBody>
      </p:sp>
      <p:pic>
        <p:nvPicPr>
          <p:cNvPr id="194" name="Image 3" descr="preencoded.png"/>
          <p:cNvPicPr/>
          <p:nvPr/>
        </p:nvPicPr>
        <p:blipFill>
          <a:blip r:embed="rId3"/>
          <a:stretch/>
        </p:blipFill>
        <p:spPr>
          <a:xfrm>
            <a:off x="6400800" y="4851360"/>
            <a:ext cx="253800" cy="253800"/>
          </a:xfrm>
          <a:prstGeom prst="rect">
            <a:avLst/>
          </a:prstGeom>
          <a:noFill/>
          <a:ln w="0">
            <a:noFill/>
          </a:ln>
        </p:spPr>
      </p:pic>
      <p:sp>
        <p:nvSpPr>
          <p:cNvPr id="195" name="Text 10"/>
          <p:cNvSpPr/>
          <p:nvPr/>
        </p:nvSpPr>
        <p:spPr>
          <a:xfrm>
            <a:off x="6757560" y="480060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Only the 21–24 emerging band shows real value growth: +7.1%.</a:t>
            </a:r>
            <a:endParaRPr b="0" lang="en-US" sz="1400" strike="noStrike" u="none">
              <a:solidFill>
                <a:srgbClr val="000000"/>
              </a:solidFill>
              <a:effectLst/>
              <a:uFillTx/>
              <a:latin typeface="Arial"/>
            </a:endParaRPr>
          </a:p>
        </p:txBody>
      </p:sp>
      <p:pic>
        <p:nvPicPr>
          <p:cNvPr id="196" name="Image 4" descr="preencoded.png"/>
          <p:cNvPicPr/>
          <p:nvPr/>
        </p:nvPicPr>
        <p:blipFill>
          <a:blip r:embed="rId4"/>
          <a:stretch/>
        </p:blipFill>
        <p:spPr>
          <a:xfrm>
            <a:off x="6400800" y="5689440"/>
            <a:ext cx="253800" cy="253800"/>
          </a:xfrm>
          <a:prstGeom prst="rect">
            <a:avLst/>
          </a:prstGeom>
          <a:noFill/>
          <a:ln w="0">
            <a:noFill/>
          </a:ln>
        </p:spPr>
      </p:pic>
      <p:sp>
        <p:nvSpPr>
          <p:cNvPr id="197" name="Text 11"/>
          <p:cNvSpPr/>
          <p:nvPr/>
        </p:nvSpPr>
        <p:spPr>
          <a:xfrm>
            <a:off x="6757560" y="563868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That band uniquely pairs strong growth with the lowest risk.</a:t>
            </a:r>
            <a:endParaRPr b="0" lang="en-US" sz="1400" strike="noStrike" u="none">
              <a:solidFill>
                <a:srgbClr val="000000"/>
              </a:solidFill>
              <a:effectLst/>
              <a:uFillTx/>
              <a:latin typeface="Arial"/>
            </a:endParaRPr>
          </a:p>
        </p:txBody>
      </p:sp>
      <p:sp>
        <p:nvSpPr>
          <p:cNvPr id="198" name="Shape 12"/>
          <p:cNvSpPr/>
          <p:nvPr/>
        </p:nvSpPr>
        <p:spPr>
          <a:xfrm>
            <a:off x="822960" y="594360"/>
            <a:ext cx="5147640" cy="562320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199" name="Text 13"/>
          <p:cNvSpPr/>
          <p:nvPr/>
        </p:nvSpPr>
        <p:spPr>
          <a:xfrm>
            <a:off x="1143000" y="822960"/>
            <a:ext cx="45075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1a1a1a"/>
                </a:solidFill>
                <a:effectLst/>
                <a:uFillTx/>
                <a:latin typeface="Calibri"/>
                <a:ea typeface="Calibri"/>
              </a:rPr>
              <a:t>Median injury rate by age bracket (per 1,000 90s)</a:t>
            </a:r>
            <a:endParaRPr b="0" lang="en-US" sz="1350" strike="noStrike" u="none">
              <a:solidFill>
                <a:srgbClr val="000000"/>
              </a:solidFill>
              <a:effectLst/>
              <a:uFillTx/>
              <a:latin typeface="Arial"/>
            </a:endParaRPr>
          </a:p>
        </p:txBody>
      </p:sp>
      <p:sp>
        <p:nvSpPr>
          <p:cNvPr id="200" name="Text 14"/>
          <p:cNvSpPr/>
          <p:nvPr/>
        </p:nvSpPr>
        <p:spPr>
          <a:xfrm>
            <a:off x="1143000" y="5029200"/>
            <a:ext cx="450756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trike="noStrike" u="none">
                <a:solidFill>
                  <a:srgbClr val="44506b"/>
                </a:solidFill>
                <a:effectLst/>
                <a:uFillTx/>
                <a:latin typeface="Calibri"/>
                <a:ea typeface="Calibri"/>
              </a:rPr>
              <a:t>n = 582 players with usable playing-time data. Under-21 bucket (n=4) omitted, too small to plot reliably.</a:t>
            </a:r>
            <a:endParaRPr b="0" lang="en-US" sz="1300" strike="noStrike" u="none">
              <a:solidFill>
                <a:srgbClr val="000000"/>
              </a:solidFill>
              <a:effectLst/>
              <a:uFillTx/>
              <a:latin typeface="Arial"/>
            </a:endParaRPr>
          </a:p>
        </p:txBody>
      </p:sp>
      <p:sp>
        <p:nvSpPr>
          <p:cNvPr id="201" name="Text 15"/>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5a6478"/>
                </a:solidFill>
                <a:effectLst/>
                <a:uFillTx/>
                <a:latin typeface="Calibri"/>
                <a:ea typeface="Calibri"/>
              </a:rPr>
              <a:t>07</a:t>
            </a:r>
            <a:endParaRPr b="0" lang="en-US" sz="1200" strike="noStrike" u="none">
              <a:solidFill>
                <a:srgbClr val="000000"/>
              </a:solidFill>
              <a:effectLst/>
              <a:uFillTx/>
              <a:latin typeface="Arial"/>
            </a:endParaRPr>
          </a:p>
        </p:txBody>
      </p:sp>
      <p:pic>
        <p:nvPicPr>
          <p:cNvPr id="202" name="Graphic 25" descr="Soccer ball icon"/>
          <p:cNvPicPr/>
          <p:nvPr/>
        </p:nvPicPr>
        <p:blipFill>
          <a:blip r:embed="rId5">
            <a:extLst>
              <a:ext uri="{96DAC541-7B7A-43D3-8B79-37D633B846F1}">
                <asvg:svgBlip xmlns:asvg="http://schemas.microsoft.com/office/drawing/2016/SVG/main" r:embed="rId6"/>
              </a:ext>
            </a:extLst>
          </a:blip>
          <a:stretch/>
        </p:blipFill>
        <p:spPr>
          <a:xfrm>
            <a:off x="6502320" y="660240"/>
            <a:ext cx="355320" cy="355320"/>
          </a:xfrm>
          <a:prstGeom prst="rect">
            <a:avLst/>
          </a:prstGeom>
          <a:noFill/>
          <a:ln w="0">
            <a:noFill/>
          </a:ln>
        </p:spPr>
      </p:pic>
      <p:sp>
        <p:nvSpPr>
          <p:cNvPr id="203" name="TextBox 63"/>
          <p:cNvSpPr/>
          <p:nvPr/>
        </p:nvSpPr>
        <p:spPr>
          <a:xfrm>
            <a:off x="6757560" y="6099840"/>
            <a:ext cx="4608360" cy="279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trike="noStrike" u="none">
                <a:solidFill>
                  <a:srgbClr val="44506b"/>
                </a:solidFill>
                <a:effectLst/>
                <a:uFillTx/>
                <a:latin typeface="Calibri"/>
              </a:rPr>
              <a:t>Note: </a:t>
            </a:r>
            <a:r>
              <a:rPr b="0" i="1" lang="en-US" sz="1000" strike="noStrike" u="none">
                <a:solidFill>
                  <a:srgbClr val="44506b"/>
                </a:solidFill>
                <a:effectLst/>
                <a:uFillTx/>
                <a:latin typeface="Calibri"/>
              </a:rPr>
              <a:t>a “90” = one full match played. Rate is per 1,000 to compare players fairly, regardless of playing time.</a:t>
            </a:r>
            <a:endParaRPr b="0" lang="en-US" sz="1000" strike="noStrike" u="none">
              <a:solidFill>
                <a:srgbClr val="000000"/>
              </a:solidFill>
              <a:effectLst/>
              <a:uFillTx/>
              <a:latin typeface="Arial"/>
            </a:endParaRPr>
          </a:p>
        </p:txBody>
      </p:sp>
      <p:graphicFrame>
        <p:nvGraphicFramePr>
          <p:cNvPr id="204" name="Chart 64"/>
          <p:cNvGraphicFramePr/>
          <p:nvPr/>
        </p:nvGraphicFramePr>
        <p:xfrm>
          <a:off x="1143000" y="1280160"/>
          <a:ext cx="4507560" cy="3565800"/>
        </p:xfrm>
        <a:graphic>
          <a:graphicData uri="http://schemas.openxmlformats.org/drawingml/2006/chart">
            <c:chart xmlns:c="http://schemas.openxmlformats.org/drawingml/2006/chart" xmlns:r="http://schemas.openxmlformats.org/officeDocument/2006/relationships" r:id="rId7"/>
          </a:graphicData>
        </a:graphic>
      </p:graphicFrame>
    </p:spTree>
  </p:cSld>
  <p:transition spd="med">
    <p:fade/>
  </p:transition>
  <p:timing>
    <p:tnLst>
      <p:par>
        <p:cTn id="351" dur="indefinite" restart="never" nodeType="tmRoot">
          <p:childTnLst>
            <p:seq>
              <p:cTn id="352" dur="indefinite" nodeType="mainSeq">
                <p:childTnLst>
                  <p:par>
                    <p:cTn id="353" fill="hold">
                      <p:stCondLst>
                        <p:cond delay="indefinite"/>
                      </p:stCondLst>
                      <p:childTnLst>
                        <p:par>
                          <p:cTn id="354" fill="hold">
                            <p:stCondLst>
                              <p:cond delay="0"/>
                            </p:stCondLst>
                            <p:childTnLst>
                              <p:par>
                                <p:cTn id="355" nodeType="clickEffect" fill="hold" presetClass="entr" presetID="10">
                                  <p:stCondLst>
                                    <p:cond delay="0"/>
                                  </p:stCondLst>
                                  <p:childTnLst>
                                    <p:set>
                                      <p:cBhvr>
                                        <p:cTn id="356" dur="1" fill="hold">
                                          <p:stCondLst>
                                            <p:cond delay="0"/>
                                          </p:stCondLst>
                                        </p:cTn>
                                        <p:tgtEl>
                                          <p:spTgt spid="186"/>
                                        </p:tgtEl>
                                        <p:attrNameLst>
                                          <p:attrName>style.visibility</p:attrName>
                                        </p:attrNameLst>
                                      </p:cBhvr>
                                      <p:to>
                                        <p:strVal val="visible"/>
                                      </p:to>
                                    </p:set>
                                    <p:animEffect filter="fade" transition="in">
                                      <p:cBhvr additive="repl">
                                        <p:cTn id="357" dur="450"/>
                                        <p:tgtEl>
                                          <p:spTgt spid="186"/>
                                        </p:tgtEl>
                                      </p:cBhvr>
                                    </p:animEffect>
                                  </p:childTnLst>
                                </p:cTn>
                              </p:par>
                              <p:par>
                                <p:cTn id="358" nodeType="withEffect" fill="hold" presetClass="entr" presetID="10">
                                  <p:stCondLst>
                                    <p:cond delay="0"/>
                                  </p:stCondLst>
                                  <p:childTnLst>
                                    <p:set>
                                      <p:cBhvr>
                                        <p:cTn id="359" dur="1" fill="hold">
                                          <p:stCondLst>
                                            <p:cond delay="0"/>
                                          </p:stCondLst>
                                        </p:cTn>
                                        <p:tgtEl>
                                          <p:spTgt spid="187"/>
                                        </p:tgtEl>
                                        <p:attrNameLst>
                                          <p:attrName>style.visibility</p:attrName>
                                        </p:attrNameLst>
                                      </p:cBhvr>
                                      <p:to>
                                        <p:strVal val="visible"/>
                                      </p:to>
                                    </p:set>
                                    <p:animEffect filter="fade" transition="in">
                                      <p:cBhvr additive="repl">
                                        <p:cTn id="360" dur="450"/>
                                        <p:tgtEl>
                                          <p:spTgt spid="187"/>
                                        </p:tgtEl>
                                      </p:cBhvr>
                                    </p:animEffect>
                                  </p:childTnLst>
                                </p:cTn>
                              </p:par>
                              <p:par>
                                <p:cTn id="361" nodeType="withEffect" fill="hold" presetClass="entr" presetID="10">
                                  <p:stCondLst>
                                    <p:cond delay="0"/>
                                  </p:stCondLst>
                                  <p:childTnLst>
                                    <p:set>
                                      <p:cBhvr>
                                        <p:cTn id="362" dur="1" fill="hold">
                                          <p:stCondLst>
                                            <p:cond delay="0"/>
                                          </p:stCondLst>
                                        </p:cTn>
                                        <p:tgtEl>
                                          <p:spTgt spid="188"/>
                                        </p:tgtEl>
                                        <p:attrNameLst>
                                          <p:attrName>style.visibility</p:attrName>
                                        </p:attrNameLst>
                                      </p:cBhvr>
                                      <p:to>
                                        <p:strVal val="visible"/>
                                      </p:to>
                                    </p:set>
                                    <p:animEffect filter="fade" transition="in">
                                      <p:cBhvr additive="repl">
                                        <p:cTn id="363" dur="450"/>
                                        <p:tgtEl>
                                          <p:spTgt spid="188"/>
                                        </p:tgtEl>
                                      </p:cBhvr>
                                    </p:animEffect>
                                  </p:childTnLst>
                                </p:cTn>
                              </p:par>
                            </p:childTnLst>
                          </p:cTn>
                        </p:par>
                      </p:childTnLst>
                    </p:cTn>
                  </p:par>
                  <p:par>
                    <p:cTn id="364" fill="hold">
                      <p:stCondLst>
                        <p:cond delay="indefinite"/>
                      </p:stCondLst>
                      <p:childTnLst>
                        <p:par>
                          <p:cTn id="365" fill="hold">
                            <p:stCondLst>
                              <p:cond delay="0"/>
                            </p:stCondLst>
                            <p:childTnLst>
                              <p:par>
                                <p:cTn id="366" nodeType="clickEffect" fill="hold" presetClass="entr" presetID="10">
                                  <p:stCondLst>
                                    <p:cond delay="0"/>
                                  </p:stCondLst>
                                  <p:childTnLst>
                                    <p:set>
                                      <p:cBhvr>
                                        <p:cTn id="367" dur="1" fill="hold">
                                          <p:stCondLst>
                                            <p:cond delay="0"/>
                                          </p:stCondLst>
                                        </p:cTn>
                                        <p:tgtEl>
                                          <p:spTgt spid="189"/>
                                        </p:tgtEl>
                                        <p:attrNameLst>
                                          <p:attrName>style.visibility</p:attrName>
                                        </p:attrNameLst>
                                      </p:cBhvr>
                                      <p:to>
                                        <p:strVal val="visible"/>
                                      </p:to>
                                    </p:set>
                                    <p:animEffect filter="fade" transition="in">
                                      <p:cBhvr additive="repl">
                                        <p:cTn id="368" dur="450"/>
                                        <p:tgtEl>
                                          <p:spTgt spid="189"/>
                                        </p:tgtEl>
                                      </p:cBhvr>
                                    </p:animEffect>
                                  </p:childTnLst>
                                </p:cTn>
                              </p:par>
                              <p:par>
                                <p:cTn id="369" nodeType="withEffect" fill="hold" presetClass="entr" presetID="10">
                                  <p:stCondLst>
                                    <p:cond delay="0"/>
                                  </p:stCondLst>
                                  <p:childTnLst>
                                    <p:set>
                                      <p:cBhvr>
                                        <p:cTn id="370" dur="1" fill="hold">
                                          <p:stCondLst>
                                            <p:cond delay="0"/>
                                          </p:stCondLst>
                                        </p:cTn>
                                        <p:tgtEl>
                                          <p:spTgt spid="190"/>
                                        </p:tgtEl>
                                        <p:attrNameLst>
                                          <p:attrName>style.visibility</p:attrName>
                                        </p:attrNameLst>
                                      </p:cBhvr>
                                      <p:to>
                                        <p:strVal val="visible"/>
                                      </p:to>
                                    </p:set>
                                    <p:animEffect filter="fade" transition="in">
                                      <p:cBhvr additive="repl">
                                        <p:cTn id="371" dur="450"/>
                                        <p:tgtEl>
                                          <p:spTgt spid="190"/>
                                        </p:tgtEl>
                                      </p:cBhvr>
                                    </p:animEffect>
                                  </p:childTnLst>
                                </p:cTn>
                              </p:par>
                              <p:par>
                                <p:cTn id="372" nodeType="withEffect" fill="hold" presetClass="entr" presetID="10">
                                  <p:stCondLst>
                                    <p:cond delay="0"/>
                                  </p:stCondLst>
                                  <p:childTnLst>
                                    <p:set>
                                      <p:cBhvr>
                                        <p:cTn id="373" dur="1" fill="hold">
                                          <p:stCondLst>
                                            <p:cond delay="0"/>
                                          </p:stCondLst>
                                        </p:cTn>
                                        <p:tgtEl>
                                          <p:spTgt spid="191"/>
                                        </p:tgtEl>
                                        <p:attrNameLst>
                                          <p:attrName>style.visibility</p:attrName>
                                        </p:attrNameLst>
                                      </p:cBhvr>
                                      <p:to>
                                        <p:strVal val="visible"/>
                                      </p:to>
                                    </p:set>
                                    <p:animEffect filter="fade" transition="in">
                                      <p:cBhvr additive="repl">
                                        <p:cTn id="374" dur="450"/>
                                        <p:tgtEl>
                                          <p:spTgt spid="191"/>
                                        </p:tgtEl>
                                      </p:cBhvr>
                                    </p:animEffect>
                                  </p:childTnLst>
                                </p:cTn>
                              </p:par>
                            </p:childTnLst>
                          </p:cTn>
                        </p:par>
                      </p:childTnLst>
                    </p:cTn>
                  </p:par>
                  <p:par>
                    <p:cTn id="375" fill="hold">
                      <p:stCondLst>
                        <p:cond delay="indefinite"/>
                      </p:stCondLst>
                      <p:childTnLst>
                        <p:par>
                          <p:cTn id="376" fill="hold">
                            <p:stCondLst>
                              <p:cond delay="0"/>
                            </p:stCondLst>
                            <p:childTnLst>
                              <p:par>
                                <p:cTn id="377" nodeType="clickEffect" fill="hold" presetClass="entr" presetID="10">
                                  <p:stCondLst>
                                    <p:cond delay="0"/>
                                  </p:stCondLst>
                                  <p:childTnLst>
                                    <p:set>
                                      <p:cBhvr>
                                        <p:cTn id="378" dur="1" fill="hold">
                                          <p:stCondLst>
                                            <p:cond delay="0"/>
                                          </p:stCondLst>
                                        </p:cTn>
                                        <p:tgtEl>
                                          <p:spTgt spid="192"/>
                                        </p:tgtEl>
                                        <p:attrNameLst>
                                          <p:attrName>style.visibility</p:attrName>
                                        </p:attrNameLst>
                                      </p:cBhvr>
                                      <p:to>
                                        <p:strVal val="visible"/>
                                      </p:to>
                                    </p:set>
                                    <p:animEffect filter="fade" transition="in">
                                      <p:cBhvr additive="repl">
                                        <p:cTn id="379" dur="450"/>
                                        <p:tgtEl>
                                          <p:spTgt spid="192"/>
                                        </p:tgtEl>
                                      </p:cBhvr>
                                    </p:animEffect>
                                  </p:childTnLst>
                                </p:cTn>
                              </p:par>
                              <p:par>
                                <p:cTn id="380" nodeType="withEffect" fill="hold" presetClass="entr" presetID="10">
                                  <p:stCondLst>
                                    <p:cond delay="0"/>
                                  </p:stCondLst>
                                  <p:childTnLst>
                                    <p:set>
                                      <p:cBhvr>
                                        <p:cTn id="381" dur="1" fill="hold">
                                          <p:stCondLst>
                                            <p:cond delay="0"/>
                                          </p:stCondLst>
                                        </p:cTn>
                                        <p:tgtEl>
                                          <p:spTgt spid="193"/>
                                        </p:tgtEl>
                                        <p:attrNameLst>
                                          <p:attrName>style.visibility</p:attrName>
                                        </p:attrNameLst>
                                      </p:cBhvr>
                                      <p:to>
                                        <p:strVal val="visible"/>
                                      </p:to>
                                    </p:set>
                                    <p:animEffect filter="fade" transition="in">
                                      <p:cBhvr additive="repl">
                                        <p:cTn id="382" dur="450"/>
                                        <p:tgtEl>
                                          <p:spTgt spid="193"/>
                                        </p:tgtEl>
                                      </p:cBhvr>
                                    </p:animEffect>
                                  </p:childTnLst>
                                </p:cTn>
                              </p:par>
                            </p:childTnLst>
                          </p:cTn>
                        </p:par>
                      </p:childTnLst>
                    </p:cTn>
                  </p:par>
                  <p:par>
                    <p:cTn id="383" fill="hold">
                      <p:stCondLst>
                        <p:cond delay="indefinite"/>
                      </p:stCondLst>
                      <p:childTnLst>
                        <p:par>
                          <p:cTn id="384" fill="hold">
                            <p:stCondLst>
                              <p:cond delay="0"/>
                            </p:stCondLst>
                            <p:childTnLst>
                              <p:par>
                                <p:cTn id="385" nodeType="clickEffect" fill="hold" presetClass="entr" presetID="10">
                                  <p:stCondLst>
                                    <p:cond delay="0"/>
                                  </p:stCondLst>
                                  <p:childTnLst>
                                    <p:set>
                                      <p:cBhvr>
                                        <p:cTn id="386" dur="1" fill="hold">
                                          <p:stCondLst>
                                            <p:cond delay="0"/>
                                          </p:stCondLst>
                                        </p:cTn>
                                        <p:tgtEl>
                                          <p:spTgt spid="194"/>
                                        </p:tgtEl>
                                        <p:attrNameLst>
                                          <p:attrName>style.visibility</p:attrName>
                                        </p:attrNameLst>
                                      </p:cBhvr>
                                      <p:to>
                                        <p:strVal val="visible"/>
                                      </p:to>
                                    </p:set>
                                    <p:animEffect filter="fade" transition="in">
                                      <p:cBhvr additive="repl">
                                        <p:cTn id="387" dur="450"/>
                                        <p:tgtEl>
                                          <p:spTgt spid="194"/>
                                        </p:tgtEl>
                                      </p:cBhvr>
                                    </p:animEffect>
                                  </p:childTnLst>
                                </p:cTn>
                              </p:par>
                              <p:par>
                                <p:cTn id="388" nodeType="withEffect" fill="hold" presetClass="entr" presetID="10">
                                  <p:stCondLst>
                                    <p:cond delay="0"/>
                                  </p:stCondLst>
                                  <p:childTnLst>
                                    <p:set>
                                      <p:cBhvr>
                                        <p:cTn id="389" dur="1" fill="hold">
                                          <p:stCondLst>
                                            <p:cond delay="0"/>
                                          </p:stCondLst>
                                        </p:cTn>
                                        <p:tgtEl>
                                          <p:spTgt spid="195"/>
                                        </p:tgtEl>
                                        <p:attrNameLst>
                                          <p:attrName>style.visibility</p:attrName>
                                        </p:attrNameLst>
                                      </p:cBhvr>
                                      <p:to>
                                        <p:strVal val="visible"/>
                                      </p:to>
                                    </p:set>
                                    <p:animEffect filter="fade" transition="in">
                                      <p:cBhvr additive="repl">
                                        <p:cTn id="390" dur="450"/>
                                        <p:tgtEl>
                                          <p:spTgt spid="195"/>
                                        </p:tgtEl>
                                      </p:cBhvr>
                                    </p:animEffect>
                                  </p:childTnLst>
                                </p:cTn>
                              </p:par>
                            </p:childTnLst>
                          </p:cTn>
                        </p:par>
                      </p:childTnLst>
                    </p:cTn>
                  </p:par>
                  <p:par>
                    <p:cTn id="391" fill="hold">
                      <p:stCondLst>
                        <p:cond delay="indefinite"/>
                      </p:stCondLst>
                      <p:childTnLst>
                        <p:par>
                          <p:cTn id="392" fill="hold">
                            <p:stCondLst>
                              <p:cond delay="0"/>
                            </p:stCondLst>
                            <p:childTnLst>
                              <p:par>
                                <p:cTn id="393" nodeType="clickEffect" fill="hold" presetClass="entr" presetID="10">
                                  <p:stCondLst>
                                    <p:cond delay="0"/>
                                  </p:stCondLst>
                                  <p:childTnLst>
                                    <p:set>
                                      <p:cBhvr>
                                        <p:cTn id="394" dur="1" fill="hold">
                                          <p:stCondLst>
                                            <p:cond delay="0"/>
                                          </p:stCondLst>
                                        </p:cTn>
                                        <p:tgtEl>
                                          <p:spTgt spid="196"/>
                                        </p:tgtEl>
                                        <p:attrNameLst>
                                          <p:attrName>style.visibility</p:attrName>
                                        </p:attrNameLst>
                                      </p:cBhvr>
                                      <p:to>
                                        <p:strVal val="visible"/>
                                      </p:to>
                                    </p:set>
                                    <p:animEffect filter="fade" transition="in">
                                      <p:cBhvr additive="repl">
                                        <p:cTn id="395" dur="450"/>
                                        <p:tgtEl>
                                          <p:spTgt spid="196"/>
                                        </p:tgtEl>
                                      </p:cBhvr>
                                    </p:animEffect>
                                  </p:childTnLst>
                                </p:cTn>
                              </p:par>
                              <p:par>
                                <p:cTn id="396" nodeType="withEffect" fill="hold" presetClass="entr" presetID="10">
                                  <p:stCondLst>
                                    <p:cond delay="0"/>
                                  </p:stCondLst>
                                  <p:childTnLst>
                                    <p:set>
                                      <p:cBhvr>
                                        <p:cTn id="397" dur="1" fill="hold">
                                          <p:stCondLst>
                                            <p:cond delay="0"/>
                                          </p:stCondLst>
                                        </p:cTn>
                                        <p:tgtEl>
                                          <p:spTgt spid="197"/>
                                        </p:tgtEl>
                                        <p:attrNameLst>
                                          <p:attrName>style.visibility</p:attrName>
                                        </p:attrNameLst>
                                      </p:cBhvr>
                                      <p:to>
                                        <p:strVal val="visible"/>
                                      </p:to>
                                    </p:set>
                                    <p:animEffect filter="fade" transition="in">
                                      <p:cBhvr additive="repl">
                                        <p:cTn id="398" dur="450"/>
                                        <p:tgtEl>
                                          <p:spTgt spid="197"/>
                                        </p:tgtEl>
                                      </p:cBhvr>
                                    </p:animEffect>
                                  </p:childTnLst>
                                </p:cTn>
                              </p:par>
                            </p:childTnLst>
                          </p:cTn>
                        </p:par>
                      </p:childTnLst>
                    </p:cTn>
                  </p:par>
                  <p:par>
                    <p:cTn id="399" fill="hold">
                      <p:stCondLst>
                        <p:cond delay="indefinite"/>
                      </p:stCondLst>
                      <p:childTnLst>
                        <p:par>
                          <p:cTn id="400" fill="hold">
                            <p:stCondLst>
                              <p:cond delay="0"/>
                            </p:stCondLst>
                            <p:childTnLst>
                              <p:par>
                                <p:cTn id="401" nodeType="clickEffect" fill="hold" presetClass="entr" presetID="10">
                                  <p:stCondLst>
                                    <p:cond delay="0"/>
                                  </p:stCondLst>
                                  <p:childTnLst>
                                    <p:set>
                                      <p:cBhvr>
                                        <p:cTn id="402" dur="1" fill="hold">
                                          <p:stCondLst>
                                            <p:cond delay="0"/>
                                          </p:stCondLst>
                                        </p:cTn>
                                        <p:tgtEl>
                                          <p:spTgt spid="198"/>
                                        </p:tgtEl>
                                        <p:attrNameLst>
                                          <p:attrName>style.visibility</p:attrName>
                                        </p:attrNameLst>
                                      </p:cBhvr>
                                      <p:to>
                                        <p:strVal val="visible"/>
                                      </p:to>
                                    </p:set>
                                    <p:animEffect filter="fade" transition="in">
                                      <p:cBhvr additive="repl">
                                        <p:cTn id="403" dur="450"/>
                                        <p:tgtEl>
                                          <p:spTgt spid="198"/>
                                        </p:tgtEl>
                                      </p:cBhvr>
                                    </p:animEffect>
                                  </p:childTnLst>
                                </p:cTn>
                              </p:par>
                              <p:par>
                                <p:cTn id="404" nodeType="withEffect" fill="hold" presetClass="entr" presetID="10">
                                  <p:stCondLst>
                                    <p:cond delay="0"/>
                                  </p:stCondLst>
                                  <p:childTnLst>
                                    <p:set>
                                      <p:cBhvr>
                                        <p:cTn id="405" dur="1" fill="hold">
                                          <p:stCondLst>
                                            <p:cond delay="0"/>
                                          </p:stCondLst>
                                        </p:cTn>
                                        <p:tgtEl>
                                          <p:spTgt spid="199"/>
                                        </p:tgtEl>
                                        <p:attrNameLst>
                                          <p:attrName>style.visibility</p:attrName>
                                        </p:attrNameLst>
                                      </p:cBhvr>
                                      <p:to>
                                        <p:strVal val="visible"/>
                                      </p:to>
                                    </p:set>
                                    <p:animEffect filter="fade" transition="in">
                                      <p:cBhvr additive="repl">
                                        <p:cTn id="406" dur="450"/>
                                        <p:tgtEl>
                                          <p:spTgt spid="199"/>
                                        </p:tgtEl>
                                      </p:cBhvr>
                                    </p:animEffect>
                                  </p:childTnLst>
                                </p:cTn>
                              </p:par>
                              <p:par>
                                <p:cTn id="407" nodeType="withEffect" fill="hold" presetClass="entr" presetID="10">
                                  <p:stCondLst>
                                    <p:cond delay="0"/>
                                  </p:stCondLst>
                                  <p:childTnLst>
                                    <p:set>
                                      <p:cBhvr>
                                        <p:cTn id="408" dur="1" fill="hold">
                                          <p:stCondLst>
                                            <p:cond delay="0"/>
                                          </p:stCondLst>
                                        </p:cTn>
                                        <p:tgtEl>
                                          <p:spTgt spid="200"/>
                                        </p:tgtEl>
                                        <p:attrNameLst>
                                          <p:attrName>style.visibility</p:attrName>
                                        </p:attrNameLst>
                                      </p:cBhvr>
                                      <p:to>
                                        <p:strVal val="visible"/>
                                      </p:to>
                                    </p:set>
                                    <p:animEffect filter="fade" transition="in">
                                      <p:cBhvr additive="repl">
                                        <p:cTn id="409" dur="450"/>
                                        <p:tgtEl>
                                          <p:spTgt spid="20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205" name="Shape 0"/>
          <p:cNvSpPr/>
          <p:nvPr/>
        </p:nvSpPr>
        <p:spPr>
          <a:xfrm>
            <a:off x="697320" y="468720"/>
            <a:ext cx="754200" cy="75420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06" name="Shape 1"/>
          <p:cNvSpPr/>
          <p:nvPr/>
        </p:nvSpPr>
        <p:spPr>
          <a:xfrm>
            <a:off x="822960" y="594360"/>
            <a:ext cx="502560" cy="50256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07" name="Text 2"/>
          <p:cNvSpPr/>
          <p:nvPr/>
        </p:nvSpPr>
        <p:spPr>
          <a:xfrm>
            <a:off x="1481400" y="713160"/>
            <a:ext cx="4278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c0392b"/>
                </a:solidFill>
                <a:effectLst/>
                <a:uFillTx/>
                <a:latin typeface="Calibri"/>
                <a:ea typeface="Calibri"/>
              </a:rPr>
              <a:t>MEDICAL / PERFORMANCE STAFF</a:t>
            </a:r>
            <a:endParaRPr b="0" lang="en-US" sz="1400" strike="noStrike" u="none">
              <a:solidFill>
                <a:srgbClr val="000000"/>
              </a:solidFill>
              <a:effectLst/>
              <a:uFillTx/>
              <a:latin typeface="Arial"/>
            </a:endParaRPr>
          </a:p>
        </p:txBody>
      </p:sp>
      <p:sp>
        <p:nvSpPr>
          <p:cNvPr id="208" name="Text 3"/>
          <p:cNvSpPr/>
          <p:nvPr/>
        </p:nvSpPr>
        <p:spPr>
          <a:xfrm>
            <a:off x="822960" y="1188720"/>
            <a:ext cx="49374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mbria"/>
                <a:ea typeface="Cambria"/>
              </a:rPr>
              <a:t>Which workload patterns are worth flagging before signing a player?</a:t>
            </a:r>
            <a:endParaRPr b="0" lang="en-US" sz="1800" strike="noStrike" u="none">
              <a:solidFill>
                <a:srgbClr val="000000"/>
              </a:solidFill>
              <a:effectLst/>
              <a:uFillTx/>
              <a:latin typeface="Arial"/>
            </a:endParaRPr>
          </a:p>
        </p:txBody>
      </p:sp>
      <p:sp>
        <p:nvSpPr>
          <p:cNvPr id="209" name="Shape 4"/>
          <p:cNvSpPr/>
          <p:nvPr/>
        </p:nvSpPr>
        <p:spPr>
          <a:xfrm>
            <a:off x="822960" y="2057400"/>
            <a:ext cx="4937400" cy="89568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10" name="Text 5"/>
          <p:cNvSpPr/>
          <p:nvPr/>
        </p:nvSpPr>
        <p:spPr>
          <a:xfrm>
            <a:off x="1024200" y="2148840"/>
            <a:ext cx="453492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9" strike="noStrike" u="none">
                <a:solidFill>
                  <a:srgbClr val="e8a33d"/>
                </a:solidFill>
                <a:effectLst/>
                <a:uFillTx/>
                <a:latin typeface="Calibri"/>
                <a:ea typeface="Calibri"/>
              </a:rPr>
              <a:t>HYPOTHESIS</a:t>
            </a:r>
            <a:endParaRPr b="0" lang="en-US" sz="1200" strike="noStrike" u="none">
              <a:solidFill>
                <a:srgbClr val="000000"/>
              </a:solidFill>
              <a:effectLst/>
              <a:uFillTx/>
              <a:latin typeface="Arial"/>
            </a:endParaRPr>
          </a:p>
        </p:txBody>
      </p:sp>
      <p:sp>
        <p:nvSpPr>
          <p:cNvPr id="211" name="Text 6"/>
          <p:cNvSpPr/>
          <p:nvPr/>
        </p:nvSpPr>
        <p:spPr>
          <a:xfrm>
            <a:off x="1024200" y="2377440"/>
            <a:ext cx="453492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trike="noStrike" u="none">
                <a:solidFill>
                  <a:srgbClr val="ffffff"/>
                </a:solidFill>
                <a:effectLst/>
                <a:uFillTx/>
                <a:latin typeface="Calibri"/>
                <a:ea typeface="Calibri"/>
              </a:rPr>
              <a:t>Position predicts injury and workload risk.</a:t>
            </a:r>
            <a:endParaRPr b="0" lang="en-US" sz="1400" strike="noStrike" u="none">
              <a:solidFill>
                <a:srgbClr val="000000"/>
              </a:solidFill>
              <a:effectLst/>
              <a:uFillTx/>
              <a:latin typeface="Arial"/>
            </a:endParaRPr>
          </a:p>
        </p:txBody>
      </p:sp>
      <p:sp>
        <p:nvSpPr>
          <p:cNvPr id="212" name="Shape 7"/>
          <p:cNvSpPr/>
          <p:nvPr/>
        </p:nvSpPr>
        <p:spPr>
          <a:xfrm>
            <a:off x="822960" y="3154680"/>
            <a:ext cx="4937400" cy="420120"/>
          </a:xfrm>
          <a:prstGeom prst="roundRect">
            <a:avLst>
              <a:gd name="adj" fmla="val 50000"/>
            </a:avLst>
          </a:prstGeom>
          <a:solidFill>
            <a:srgbClr val="6b7280"/>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213" name="Image 1" descr="preencoded.png"/>
          <p:cNvPicPr/>
          <p:nvPr/>
        </p:nvPicPr>
        <p:blipFill>
          <a:blip r:embed="rId1"/>
          <a:stretch/>
        </p:blipFill>
        <p:spPr>
          <a:xfrm>
            <a:off x="939960" y="3225960"/>
            <a:ext cx="253800" cy="253800"/>
          </a:xfrm>
          <a:prstGeom prst="rect">
            <a:avLst/>
          </a:prstGeom>
          <a:noFill/>
          <a:ln w="0">
            <a:noFill/>
          </a:ln>
        </p:spPr>
      </p:pic>
      <p:sp>
        <p:nvSpPr>
          <p:cNvPr id="214" name="Text 8"/>
          <p:cNvSpPr/>
          <p:nvPr/>
        </p:nvSpPr>
        <p:spPr>
          <a:xfrm>
            <a:off x="1280160" y="3154680"/>
            <a:ext cx="4388760" cy="420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ffffff"/>
                </a:solidFill>
                <a:effectLst/>
                <a:uFillTx/>
                <a:latin typeface="Calibri"/>
                <a:ea typeface="Calibri"/>
              </a:rPr>
              <a:t>NOT CONFIRMED, but goalkeepers stand out</a:t>
            </a:r>
            <a:endParaRPr b="0" lang="en-US" sz="1350" strike="noStrike" u="none">
              <a:solidFill>
                <a:srgbClr val="000000"/>
              </a:solidFill>
              <a:effectLst/>
              <a:uFillTx/>
              <a:latin typeface="Arial"/>
            </a:endParaRPr>
          </a:p>
        </p:txBody>
      </p:sp>
      <p:pic>
        <p:nvPicPr>
          <p:cNvPr id="215" name="Image 2" descr="preencoded.png"/>
          <p:cNvPicPr/>
          <p:nvPr/>
        </p:nvPicPr>
        <p:blipFill>
          <a:blip r:embed="rId2"/>
          <a:stretch/>
        </p:blipFill>
        <p:spPr>
          <a:xfrm>
            <a:off x="800280" y="4025880"/>
            <a:ext cx="253800" cy="253800"/>
          </a:xfrm>
          <a:prstGeom prst="rect">
            <a:avLst/>
          </a:prstGeom>
          <a:noFill/>
          <a:ln w="0">
            <a:noFill/>
          </a:ln>
        </p:spPr>
      </p:pic>
      <p:sp>
        <p:nvSpPr>
          <p:cNvPr id="216" name="Text 9"/>
          <p:cNvSpPr/>
          <p:nvPr/>
        </p:nvSpPr>
        <p:spPr>
          <a:xfrm>
            <a:off x="1152000" y="396252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Position alone does not statistically predict injury risk.</a:t>
            </a:r>
            <a:endParaRPr b="0" lang="en-US" sz="1400" strike="noStrike" u="none">
              <a:solidFill>
                <a:srgbClr val="000000"/>
              </a:solidFill>
              <a:effectLst/>
              <a:uFillTx/>
              <a:latin typeface="Arial"/>
            </a:endParaRPr>
          </a:p>
        </p:txBody>
      </p:sp>
      <p:pic>
        <p:nvPicPr>
          <p:cNvPr id="217" name="Image 3" descr="preencoded.png"/>
          <p:cNvPicPr/>
          <p:nvPr/>
        </p:nvPicPr>
        <p:blipFill>
          <a:blip r:embed="rId3"/>
          <a:stretch/>
        </p:blipFill>
        <p:spPr>
          <a:xfrm>
            <a:off x="800280" y="4863960"/>
            <a:ext cx="253800" cy="253800"/>
          </a:xfrm>
          <a:prstGeom prst="rect">
            <a:avLst/>
          </a:prstGeom>
          <a:noFill/>
          <a:ln w="0">
            <a:noFill/>
          </a:ln>
        </p:spPr>
      </p:pic>
      <p:sp>
        <p:nvSpPr>
          <p:cNvPr id="218" name="Text 10"/>
          <p:cNvSpPr/>
          <p:nvPr/>
        </p:nvSpPr>
        <p:spPr>
          <a:xfrm>
            <a:off x="1152000" y="480060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Goalkeepers still trend lower: 2.3 vs. about 4.2 for outfield.</a:t>
            </a:r>
            <a:endParaRPr b="0" lang="en-US" sz="1400" strike="noStrike" u="none">
              <a:solidFill>
                <a:srgbClr val="000000"/>
              </a:solidFill>
              <a:effectLst/>
              <a:uFillTx/>
              <a:latin typeface="Arial"/>
            </a:endParaRPr>
          </a:p>
        </p:txBody>
      </p:sp>
      <p:pic>
        <p:nvPicPr>
          <p:cNvPr id="219" name="Image 4" descr="preencoded.png"/>
          <p:cNvPicPr/>
          <p:nvPr/>
        </p:nvPicPr>
        <p:blipFill>
          <a:blip r:embed="rId4"/>
          <a:stretch/>
        </p:blipFill>
        <p:spPr>
          <a:xfrm>
            <a:off x="800280" y="5702400"/>
            <a:ext cx="253800" cy="253800"/>
          </a:xfrm>
          <a:prstGeom prst="rect">
            <a:avLst/>
          </a:prstGeom>
          <a:noFill/>
          <a:ln w="0">
            <a:noFill/>
          </a:ln>
        </p:spPr>
      </p:pic>
      <p:sp>
        <p:nvSpPr>
          <p:cNvPr id="220" name="Text 11"/>
          <p:cNvSpPr/>
          <p:nvPr/>
        </p:nvSpPr>
        <p:spPr>
          <a:xfrm>
            <a:off x="1152000" y="563868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Too few goalkeepers in the data (52) to call this confirmed.</a:t>
            </a:r>
            <a:endParaRPr b="0" lang="en-US" sz="1400" strike="noStrike" u="none">
              <a:solidFill>
                <a:srgbClr val="000000"/>
              </a:solidFill>
              <a:effectLst/>
              <a:uFillTx/>
              <a:latin typeface="Arial"/>
            </a:endParaRPr>
          </a:p>
        </p:txBody>
      </p:sp>
      <p:sp>
        <p:nvSpPr>
          <p:cNvPr id="221" name="Shape 12"/>
          <p:cNvSpPr/>
          <p:nvPr/>
        </p:nvSpPr>
        <p:spPr>
          <a:xfrm>
            <a:off x="6217920" y="594360"/>
            <a:ext cx="5147640" cy="562320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22" name="Text 13"/>
          <p:cNvSpPr/>
          <p:nvPr/>
        </p:nvSpPr>
        <p:spPr>
          <a:xfrm>
            <a:off x="6537960" y="822960"/>
            <a:ext cx="45075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1a1a1a"/>
                </a:solidFill>
                <a:effectLst/>
                <a:uFillTx/>
                <a:latin typeface="Calibri"/>
                <a:ea typeface="Calibri"/>
              </a:rPr>
              <a:t>Median injuries per 1,000 90s, by position</a:t>
            </a:r>
            <a:endParaRPr b="0" lang="en-US" sz="1350" strike="noStrike" u="none">
              <a:solidFill>
                <a:srgbClr val="000000"/>
              </a:solidFill>
              <a:effectLst/>
              <a:uFillTx/>
              <a:latin typeface="Arial"/>
            </a:endParaRPr>
          </a:p>
        </p:txBody>
      </p:sp>
      <p:sp>
        <p:nvSpPr>
          <p:cNvPr id="223" name="Text 14"/>
          <p:cNvSpPr/>
          <p:nvPr/>
        </p:nvSpPr>
        <p:spPr>
          <a:xfrm>
            <a:off x="6537960" y="5029200"/>
            <a:ext cx="450756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trike="noStrike" u="none">
                <a:solidFill>
                  <a:srgbClr val="44506b"/>
                </a:solidFill>
                <a:effectLst/>
                <a:uFillTx/>
                <a:latin typeface="Calibri"/>
                <a:ea typeface="Calibri"/>
              </a:rPr>
              <a:t>n = 582 players (Goalkeeper n=52, Defender n=217, Midfield n=182, Attack n=131).</a:t>
            </a:r>
            <a:endParaRPr b="0" lang="en-US" sz="1300" strike="noStrike" u="none">
              <a:solidFill>
                <a:srgbClr val="000000"/>
              </a:solidFill>
              <a:effectLst/>
              <a:uFillTx/>
              <a:latin typeface="Arial"/>
            </a:endParaRPr>
          </a:p>
        </p:txBody>
      </p:sp>
      <p:sp>
        <p:nvSpPr>
          <p:cNvPr id="224" name="Text 15"/>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5a6478"/>
                </a:solidFill>
                <a:effectLst/>
                <a:uFillTx/>
                <a:latin typeface="Calibri"/>
                <a:ea typeface="Calibri"/>
              </a:rPr>
              <a:t>08</a:t>
            </a:r>
            <a:endParaRPr b="0" lang="en-US" sz="1200" strike="noStrike" u="none">
              <a:solidFill>
                <a:srgbClr val="000000"/>
              </a:solidFill>
              <a:effectLst/>
              <a:uFillTx/>
              <a:latin typeface="Arial"/>
            </a:endParaRPr>
          </a:p>
        </p:txBody>
      </p:sp>
      <p:pic>
        <p:nvPicPr>
          <p:cNvPr id="225" name="Graphic 25" descr="Soccer goal icon"/>
          <p:cNvPicPr/>
          <p:nvPr/>
        </p:nvPicPr>
        <p:blipFill>
          <a:blip r:embed="rId5">
            <a:extLst>
              <a:ext uri="{96DAC541-7B7A-43D3-8B79-37D633B846F1}">
                <asvg:svgBlip xmlns:asvg="http://schemas.microsoft.com/office/drawing/2016/SVG/main" r:embed="rId6"/>
              </a:ext>
            </a:extLst>
          </a:blip>
          <a:stretch/>
        </p:blipFill>
        <p:spPr>
          <a:xfrm>
            <a:off x="914400" y="685800"/>
            <a:ext cx="304560" cy="304560"/>
          </a:xfrm>
          <a:prstGeom prst="rect">
            <a:avLst/>
          </a:prstGeom>
          <a:noFill/>
          <a:ln w="0">
            <a:noFill/>
          </a:ln>
        </p:spPr>
      </p:pic>
      <p:sp>
        <p:nvSpPr>
          <p:cNvPr id="226" name="TextBox 63"/>
          <p:cNvSpPr/>
          <p:nvPr/>
        </p:nvSpPr>
        <p:spPr>
          <a:xfrm>
            <a:off x="822960" y="6099840"/>
            <a:ext cx="4937400" cy="279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trike="noStrike" u="none">
                <a:solidFill>
                  <a:srgbClr val="44506b"/>
                </a:solidFill>
                <a:effectLst/>
                <a:uFillTx/>
                <a:latin typeface="Calibri"/>
              </a:rPr>
              <a:t>Reminder: </a:t>
            </a:r>
            <a:r>
              <a:rPr b="0" i="1" lang="en-US" sz="1000" strike="noStrike" u="none">
                <a:solidFill>
                  <a:srgbClr val="44506b"/>
                </a:solidFill>
                <a:effectLst/>
                <a:uFillTx/>
                <a:latin typeface="Calibri"/>
              </a:rPr>
              <a:t>“90s” = full matches played; injuries are counted per 1,000 to stay fair across playing time (see slide 07).</a:t>
            </a:r>
            <a:endParaRPr b="0" lang="en-US" sz="1000" strike="noStrike" u="none">
              <a:solidFill>
                <a:srgbClr val="000000"/>
              </a:solidFill>
              <a:effectLst/>
              <a:uFillTx/>
              <a:latin typeface="Arial"/>
            </a:endParaRPr>
          </a:p>
        </p:txBody>
      </p:sp>
      <p:graphicFrame>
        <p:nvGraphicFramePr>
          <p:cNvPr id="227" name="Chart 64"/>
          <p:cNvGraphicFramePr/>
          <p:nvPr/>
        </p:nvGraphicFramePr>
        <p:xfrm>
          <a:off x="6537960" y="1280160"/>
          <a:ext cx="4507560" cy="3565800"/>
        </p:xfrm>
        <a:graphic>
          <a:graphicData uri="http://schemas.openxmlformats.org/drawingml/2006/chart">
            <c:chart xmlns:c="http://schemas.openxmlformats.org/drawingml/2006/chart" xmlns:r="http://schemas.openxmlformats.org/officeDocument/2006/relationships" r:id="rId7"/>
          </a:graphicData>
        </a:graphic>
      </p:graphicFrame>
    </p:spTree>
  </p:cSld>
  <p:transition spd="med">
    <p:fade/>
  </p:transition>
  <p:timing>
    <p:tnLst>
      <p:par>
        <p:cTn id="410" dur="indefinite" restart="never" nodeType="tmRoot">
          <p:childTnLst>
            <p:seq>
              <p:cTn id="411" dur="indefinite" nodeType="mainSeq">
                <p:childTnLst>
                  <p:par>
                    <p:cTn id="412" fill="hold">
                      <p:stCondLst>
                        <p:cond delay="indefinite"/>
                      </p:stCondLst>
                      <p:childTnLst>
                        <p:par>
                          <p:cTn id="413" fill="hold">
                            <p:stCondLst>
                              <p:cond delay="0"/>
                            </p:stCondLst>
                            <p:childTnLst>
                              <p:par>
                                <p:cTn id="414" nodeType="clickEffect" fill="hold" presetClass="entr" presetID="10">
                                  <p:stCondLst>
                                    <p:cond delay="0"/>
                                  </p:stCondLst>
                                  <p:childTnLst>
                                    <p:set>
                                      <p:cBhvr>
                                        <p:cTn id="415" dur="1" fill="hold">
                                          <p:stCondLst>
                                            <p:cond delay="0"/>
                                          </p:stCondLst>
                                        </p:cTn>
                                        <p:tgtEl>
                                          <p:spTgt spid="209"/>
                                        </p:tgtEl>
                                        <p:attrNameLst>
                                          <p:attrName>style.visibility</p:attrName>
                                        </p:attrNameLst>
                                      </p:cBhvr>
                                      <p:to>
                                        <p:strVal val="visible"/>
                                      </p:to>
                                    </p:set>
                                    <p:animEffect filter="fade" transition="in">
                                      <p:cBhvr additive="repl">
                                        <p:cTn id="416" dur="450"/>
                                        <p:tgtEl>
                                          <p:spTgt spid="209"/>
                                        </p:tgtEl>
                                      </p:cBhvr>
                                    </p:animEffect>
                                  </p:childTnLst>
                                </p:cTn>
                              </p:par>
                              <p:par>
                                <p:cTn id="417" nodeType="withEffect" fill="hold" presetClass="entr" presetID="10">
                                  <p:stCondLst>
                                    <p:cond delay="0"/>
                                  </p:stCondLst>
                                  <p:childTnLst>
                                    <p:set>
                                      <p:cBhvr>
                                        <p:cTn id="418" dur="1" fill="hold">
                                          <p:stCondLst>
                                            <p:cond delay="0"/>
                                          </p:stCondLst>
                                        </p:cTn>
                                        <p:tgtEl>
                                          <p:spTgt spid="210"/>
                                        </p:tgtEl>
                                        <p:attrNameLst>
                                          <p:attrName>style.visibility</p:attrName>
                                        </p:attrNameLst>
                                      </p:cBhvr>
                                      <p:to>
                                        <p:strVal val="visible"/>
                                      </p:to>
                                    </p:set>
                                    <p:animEffect filter="fade" transition="in">
                                      <p:cBhvr additive="repl">
                                        <p:cTn id="419" dur="450"/>
                                        <p:tgtEl>
                                          <p:spTgt spid="210"/>
                                        </p:tgtEl>
                                      </p:cBhvr>
                                    </p:animEffect>
                                  </p:childTnLst>
                                </p:cTn>
                              </p:par>
                              <p:par>
                                <p:cTn id="420" nodeType="withEffect" fill="hold" presetClass="entr" presetID="10">
                                  <p:stCondLst>
                                    <p:cond delay="0"/>
                                  </p:stCondLst>
                                  <p:childTnLst>
                                    <p:set>
                                      <p:cBhvr>
                                        <p:cTn id="421" dur="1" fill="hold">
                                          <p:stCondLst>
                                            <p:cond delay="0"/>
                                          </p:stCondLst>
                                        </p:cTn>
                                        <p:tgtEl>
                                          <p:spTgt spid="211"/>
                                        </p:tgtEl>
                                        <p:attrNameLst>
                                          <p:attrName>style.visibility</p:attrName>
                                        </p:attrNameLst>
                                      </p:cBhvr>
                                      <p:to>
                                        <p:strVal val="visible"/>
                                      </p:to>
                                    </p:set>
                                    <p:animEffect filter="fade" transition="in">
                                      <p:cBhvr additive="repl">
                                        <p:cTn id="422" dur="450"/>
                                        <p:tgtEl>
                                          <p:spTgt spid="211"/>
                                        </p:tgtEl>
                                      </p:cBhvr>
                                    </p:animEffect>
                                  </p:childTnLst>
                                </p:cTn>
                              </p:par>
                            </p:childTnLst>
                          </p:cTn>
                        </p:par>
                      </p:childTnLst>
                    </p:cTn>
                  </p:par>
                  <p:par>
                    <p:cTn id="423" fill="hold">
                      <p:stCondLst>
                        <p:cond delay="indefinite"/>
                      </p:stCondLst>
                      <p:childTnLst>
                        <p:par>
                          <p:cTn id="424" fill="hold">
                            <p:stCondLst>
                              <p:cond delay="0"/>
                            </p:stCondLst>
                            <p:childTnLst>
                              <p:par>
                                <p:cTn id="425" nodeType="clickEffect" fill="hold" presetClass="entr" presetID="10">
                                  <p:stCondLst>
                                    <p:cond delay="0"/>
                                  </p:stCondLst>
                                  <p:childTnLst>
                                    <p:set>
                                      <p:cBhvr>
                                        <p:cTn id="426" dur="1" fill="hold">
                                          <p:stCondLst>
                                            <p:cond delay="0"/>
                                          </p:stCondLst>
                                        </p:cTn>
                                        <p:tgtEl>
                                          <p:spTgt spid="212"/>
                                        </p:tgtEl>
                                        <p:attrNameLst>
                                          <p:attrName>style.visibility</p:attrName>
                                        </p:attrNameLst>
                                      </p:cBhvr>
                                      <p:to>
                                        <p:strVal val="visible"/>
                                      </p:to>
                                    </p:set>
                                    <p:animEffect filter="fade" transition="in">
                                      <p:cBhvr additive="repl">
                                        <p:cTn id="427" dur="450"/>
                                        <p:tgtEl>
                                          <p:spTgt spid="212"/>
                                        </p:tgtEl>
                                      </p:cBhvr>
                                    </p:animEffect>
                                  </p:childTnLst>
                                </p:cTn>
                              </p:par>
                              <p:par>
                                <p:cTn id="428" nodeType="withEffect" fill="hold" presetClass="entr" presetID="10">
                                  <p:stCondLst>
                                    <p:cond delay="0"/>
                                  </p:stCondLst>
                                  <p:childTnLst>
                                    <p:set>
                                      <p:cBhvr>
                                        <p:cTn id="429" dur="1" fill="hold">
                                          <p:stCondLst>
                                            <p:cond delay="0"/>
                                          </p:stCondLst>
                                        </p:cTn>
                                        <p:tgtEl>
                                          <p:spTgt spid="213"/>
                                        </p:tgtEl>
                                        <p:attrNameLst>
                                          <p:attrName>style.visibility</p:attrName>
                                        </p:attrNameLst>
                                      </p:cBhvr>
                                      <p:to>
                                        <p:strVal val="visible"/>
                                      </p:to>
                                    </p:set>
                                    <p:animEffect filter="fade" transition="in">
                                      <p:cBhvr additive="repl">
                                        <p:cTn id="430" dur="450"/>
                                        <p:tgtEl>
                                          <p:spTgt spid="213"/>
                                        </p:tgtEl>
                                      </p:cBhvr>
                                    </p:animEffect>
                                  </p:childTnLst>
                                </p:cTn>
                              </p:par>
                              <p:par>
                                <p:cTn id="431" nodeType="withEffect" fill="hold" presetClass="entr" presetID="10">
                                  <p:stCondLst>
                                    <p:cond delay="0"/>
                                  </p:stCondLst>
                                  <p:childTnLst>
                                    <p:set>
                                      <p:cBhvr>
                                        <p:cTn id="432" dur="1" fill="hold">
                                          <p:stCondLst>
                                            <p:cond delay="0"/>
                                          </p:stCondLst>
                                        </p:cTn>
                                        <p:tgtEl>
                                          <p:spTgt spid="214"/>
                                        </p:tgtEl>
                                        <p:attrNameLst>
                                          <p:attrName>style.visibility</p:attrName>
                                        </p:attrNameLst>
                                      </p:cBhvr>
                                      <p:to>
                                        <p:strVal val="visible"/>
                                      </p:to>
                                    </p:set>
                                    <p:animEffect filter="fade" transition="in">
                                      <p:cBhvr additive="repl">
                                        <p:cTn id="433" dur="450"/>
                                        <p:tgtEl>
                                          <p:spTgt spid="214"/>
                                        </p:tgtEl>
                                      </p:cBhvr>
                                    </p:animEffect>
                                  </p:childTnLst>
                                </p:cTn>
                              </p:par>
                            </p:childTnLst>
                          </p:cTn>
                        </p:par>
                      </p:childTnLst>
                    </p:cTn>
                  </p:par>
                  <p:par>
                    <p:cTn id="434" fill="hold">
                      <p:stCondLst>
                        <p:cond delay="indefinite"/>
                      </p:stCondLst>
                      <p:childTnLst>
                        <p:par>
                          <p:cTn id="435" fill="hold">
                            <p:stCondLst>
                              <p:cond delay="0"/>
                            </p:stCondLst>
                            <p:childTnLst>
                              <p:par>
                                <p:cTn id="436" nodeType="clickEffect" fill="hold" presetClass="entr" presetID="10">
                                  <p:stCondLst>
                                    <p:cond delay="0"/>
                                  </p:stCondLst>
                                  <p:childTnLst>
                                    <p:set>
                                      <p:cBhvr>
                                        <p:cTn id="437" dur="1" fill="hold">
                                          <p:stCondLst>
                                            <p:cond delay="0"/>
                                          </p:stCondLst>
                                        </p:cTn>
                                        <p:tgtEl>
                                          <p:spTgt spid="215"/>
                                        </p:tgtEl>
                                        <p:attrNameLst>
                                          <p:attrName>style.visibility</p:attrName>
                                        </p:attrNameLst>
                                      </p:cBhvr>
                                      <p:to>
                                        <p:strVal val="visible"/>
                                      </p:to>
                                    </p:set>
                                    <p:animEffect filter="fade" transition="in">
                                      <p:cBhvr additive="repl">
                                        <p:cTn id="438" dur="450"/>
                                        <p:tgtEl>
                                          <p:spTgt spid="215"/>
                                        </p:tgtEl>
                                      </p:cBhvr>
                                    </p:animEffect>
                                  </p:childTnLst>
                                </p:cTn>
                              </p:par>
                              <p:par>
                                <p:cTn id="439" nodeType="withEffect" fill="hold" presetClass="entr" presetID="10">
                                  <p:stCondLst>
                                    <p:cond delay="0"/>
                                  </p:stCondLst>
                                  <p:childTnLst>
                                    <p:set>
                                      <p:cBhvr>
                                        <p:cTn id="440" dur="1" fill="hold">
                                          <p:stCondLst>
                                            <p:cond delay="0"/>
                                          </p:stCondLst>
                                        </p:cTn>
                                        <p:tgtEl>
                                          <p:spTgt spid="216"/>
                                        </p:tgtEl>
                                        <p:attrNameLst>
                                          <p:attrName>style.visibility</p:attrName>
                                        </p:attrNameLst>
                                      </p:cBhvr>
                                      <p:to>
                                        <p:strVal val="visible"/>
                                      </p:to>
                                    </p:set>
                                    <p:animEffect filter="fade" transition="in">
                                      <p:cBhvr additive="repl">
                                        <p:cTn id="441" dur="450"/>
                                        <p:tgtEl>
                                          <p:spTgt spid="216"/>
                                        </p:tgtEl>
                                      </p:cBhvr>
                                    </p:animEffect>
                                  </p:childTnLst>
                                </p:cTn>
                              </p:par>
                            </p:childTnLst>
                          </p:cTn>
                        </p:par>
                      </p:childTnLst>
                    </p:cTn>
                  </p:par>
                  <p:par>
                    <p:cTn id="442" fill="hold">
                      <p:stCondLst>
                        <p:cond delay="indefinite"/>
                      </p:stCondLst>
                      <p:childTnLst>
                        <p:par>
                          <p:cTn id="443" fill="hold">
                            <p:stCondLst>
                              <p:cond delay="0"/>
                            </p:stCondLst>
                            <p:childTnLst>
                              <p:par>
                                <p:cTn id="444" nodeType="clickEffect" fill="hold" presetClass="entr" presetID="10">
                                  <p:stCondLst>
                                    <p:cond delay="0"/>
                                  </p:stCondLst>
                                  <p:childTnLst>
                                    <p:set>
                                      <p:cBhvr>
                                        <p:cTn id="445" dur="1" fill="hold">
                                          <p:stCondLst>
                                            <p:cond delay="0"/>
                                          </p:stCondLst>
                                        </p:cTn>
                                        <p:tgtEl>
                                          <p:spTgt spid="217"/>
                                        </p:tgtEl>
                                        <p:attrNameLst>
                                          <p:attrName>style.visibility</p:attrName>
                                        </p:attrNameLst>
                                      </p:cBhvr>
                                      <p:to>
                                        <p:strVal val="visible"/>
                                      </p:to>
                                    </p:set>
                                    <p:animEffect filter="fade" transition="in">
                                      <p:cBhvr additive="repl">
                                        <p:cTn id="446" dur="450"/>
                                        <p:tgtEl>
                                          <p:spTgt spid="217"/>
                                        </p:tgtEl>
                                      </p:cBhvr>
                                    </p:animEffect>
                                  </p:childTnLst>
                                </p:cTn>
                              </p:par>
                              <p:par>
                                <p:cTn id="447" nodeType="withEffect" fill="hold" presetClass="entr" presetID="10">
                                  <p:stCondLst>
                                    <p:cond delay="0"/>
                                  </p:stCondLst>
                                  <p:childTnLst>
                                    <p:set>
                                      <p:cBhvr>
                                        <p:cTn id="448" dur="1" fill="hold">
                                          <p:stCondLst>
                                            <p:cond delay="0"/>
                                          </p:stCondLst>
                                        </p:cTn>
                                        <p:tgtEl>
                                          <p:spTgt spid="218"/>
                                        </p:tgtEl>
                                        <p:attrNameLst>
                                          <p:attrName>style.visibility</p:attrName>
                                        </p:attrNameLst>
                                      </p:cBhvr>
                                      <p:to>
                                        <p:strVal val="visible"/>
                                      </p:to>
                                    </p:set>
                                    <p:animEffect filter="fade" transition="in">
                                      <p:cBhvr additive="repl">
                                        <p:cTn id="449" dur="450"/>
                                        <p:tgtEl>
                                          <p:spTgt spid="218"/>
                                        </p:tgtEl>
                                      </p:cBhvr>
                                    </p:animEffect>
                                  </p:childTnLst>
                                </p:cTn>
                              </p:par>
                            </p:childTnLst>
                          </p:cTn>
                        </p:par>
                      </p:childTnLst>
                    </p:cTn>
                  </p:par>
                  <p:par>
                    <p:cTn id="450" fill="hold">
                      <p:stCondLst>
                        <p:cond delay="indefinite"/>
                      </p:stCondLst>
                      <p:childTnLst>
                        <p:par>
                          <p:cTn id="451" fill="hold">
                            <p:stCondLst>
                              <p:cond delay="0"/>
                            </p:stCondLst>
                            <p:childTnLst>
                              <p:par>
                                <p:cTn id="452" nodeType="clickEffect" fill="hold" presetClass="entr" presetID="10">
                                  <p:stCondLst>
                                    <p:cond delay="0"/>
                                  </p:stCondLst>
                                  <p:childTnLst>
                                    <p:set>
                                      <p:cBhvr>
                                        <p:cTn id="453" dur="1" fill="hold">
                                          <p:stCondLst>
                                            <p:cond delay="0"/>
                                          </p:stCondLst>
                                        </p:cTn>
                                        <p:tgtEl>
                                          <p:spTgt spid="219"/>
                                        </p:tgtEl>
                                        <p:attrNameLst>
                                          <p:attrName>style.visibility</p:attrName>
                                        </p:attrNameLst>
                                      </p:cBhvr>
                                      <p:to>
                                        <p:strVal val="visible"/>
                                      </p:to>
                                    </p:set>
                                    <p:animEffect filter="fade" transition="in">
                                      <p:cBhvr additive="repl">
                                        <p:cTn id="454" dur="450"/>
                                        <p:tgtEl>
                                          <p:spTgt spid="219"/>
                                        </p:tgtEl>
                                      </p:cBhvr>
                                    </p:animEffect>
                                  </p:childTnLst>
                                </p:cTn>
                              </p:par>
                              <p:par>
                                <p:cTn id="455" nodeType="withEffect" fill="hold" presetClass="entr" presetID="10">
                                  <p:stCondLst>
                                    <p:cond delay="0"/>
                                  </p:stCondLst>
                                  <p:childTnLst>
                                    <p:set>
                                      <p:cBhvr>
                                        <p:cTn id="456" dur="1" fill="hold">
                                          <p:stCondLst>
                                            <p:cond delay="0"/>
                                          </p:stCondLst>
                                        </p:cTn>
                                        <p:tgtEl>
                                          <p:spTgt spid="220"/>
                                        </p:tgtEl>
                                        <p:attrNameLst>
                                          <p:attrName>style.visibility</p:attrName>
                                        </p:attrNameLst>
                                      </p:cBhvr>
                                      <p:to>
                                        <p:strVal val="visible"/>
                                      </p:to>
                                    </p:set>
                                    <p:animEffect filter="fade" transition="in">
                                      <p:cBhvr additive="repl">
                                        <p:cTn id="457" dur="450"/>
                                        <p:tgtEl>
                                          <p:spTgt spid="220"/>
                                        </p:tgtEl>
                                      </p:cBhvr>
                                    </p:animEffect>
                                  </p:childTnLst>
                                </p:cTn>
                              </p:par>
                            </p:childTnLst>
                          </p:cTn>
                        </p:par>
                      </p:childTnLst>
                    </p:cTn>
                  </p:par>
                  <p:par>
                    <p:cTn id="458" fill="hold">
                      <p:stCondLst>
                        <p:cond delay="indefinite"/>
                      </p:stCondLst>
                      <p:childTnLst>
                        <p:par>
                          <p:cTn id="459" fill="hold">
                            <p:stCondLst>
                              <p:cond delay="0"/>
                            </p:stCondLst>
                            <p:childTnLst>
                              <p:par>
                                <p:cTn id="460" nodeType="clickEffect" fill="hold" presetClass="entr" presetID="10">
                                  <p:stCondLst>
                                    <p:cond delay="0"/>
                                  </p:stCondLst>
                                  <p:childTnLst>
                                    <p:set>
                                      <p:cBhvr>
                                        <p:cTn id="461" dur="1" fill="hold">
                                          <p:stCondLst>
                                            <p:cond delay="0"/>
                                          </p:stCondLst>
                                        </p:cTn>
                                        <p:tgtEl>
                                          <p:spTgt spid="221"/>
                                        </p:tgtEl>
                                        <p:attrNameLst>
                                          <p:attrName>style.visibility</p:attrName>
                                        </p:attrNameLst>
                                      </p:cBhvr>
                                      <p:to>
                                        <p:strVal val="visible"/>
                                      </p:to>
                                    </p:set>
                                    <p:animEffect filter="fade" transition="in">
                                      <p:cBhvr additive="repl">
                                        <p:cTn id="462" dur="450"/>
                                        <p:tgtEl>
                                          <p:spTgt spid="221"/>
                                        </p:tgtEl>
                                      </p:cBhvr>
                                    </p:animEffect>
                                  </p:childTnLst>
                                </p:cTn>
                              </p:par>
                              <p:par>
                                <p:cTn id="463" nodeType="withEffect" fill="hold" presetClass="entr" presetID="10">
                                  <p:stCondLst>
                                    <p:cond delay="0"/>
                                  </p:stCondLst>
                                  <p:childTnLst>
                                    <p:set>
                                      <p:cBhvr>
                                        <p:cTn id="464" dur="1" fill="hold">
                                          <p:stCondLst>
                                            <p:cond delay="0"/>
                                          </p:stCondLst>
                                        </p:cTn>
                                        <p:tgtEl>
                                          <p:spTgt spid="222"/>
                                        </p:tgtEl>
                                        <p:attrNameLst>
                                          <p:attrName>style.visibility</p:attrName>
                                        </p:attrNameLst>
                                      </p:cBhvr>
                                      <p:to>
                                        <p:strVal val="visible"/>
                                      </p:to>
                                    </p:set>
                                    <p:animEffect filter="fade" transition="in">
                                      <p:cBhvr additive="repl">
                                        <p:cTn id="465" dur="450"/>
                                        <p:tgtEl>
                                          <p:spTgt spid="222"/>
                                        </p:tgtEl>
                                      </p:cBhvr>
                                    </p:animEffect>
                                  </p:childTnLst>
                                </p:cTn>
                              </p:par>
                              <p:par>
                                <p:cTn id="466" nodeType="withEffect" fill="hold" presetClass="entr" presetID="10">
                                  <p:stCondLst>
                                    <p:cond delay="0"/>
                                  </p:stCondLst>
                                  <p:childTnLst>
                                    <p:set>
                                      <p:cBhvr>
                                        <p:cTn id="467" dur="1" fill="hold">
                                          <p:stCondLst>
                                            <p:cond delay="0"/>
                                          </p:stCondLst>
                                        </p:cTn>
                                        <p:tgtEl>
                                          <p:spTgt spid="223"/>
                                        </p:tgtEl>
                                        <p:attrNameLst>
                                          <p:attrName>style.visibility</p:attrName>
                                        </p:attrNameLst>
                                      </p:cBhvr>
                                      <p:to>
                                        <p:strVal val="visible"/>
                                      </p:to>
                                    </p:set>
                                    <p:animEffect filter="fade" transition="in">
                                      <p:cBhvr additive="repl">
                                        <p:cTn id="468" dur="450"/>
                                        <p:tgtEl>
                                          <p:spTgt spid="22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Shape 0"/>
          <p:cNvSpPr/>
          <p:nvPr/>
        </p:nvSpPr>
        <p:spPr>
          <a:xfrm>
            <a:off x="697320" y="468720"/>
            <a:ext cx="754200" cy="754200"/>
          </a:xfrm>
          <a:prstGeom prst="ellipse">
            <a:avLst/>
          </a:prstGeom>
          <a:solidFill>
            <a:srgbClr val="0f1b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29" name="Shape 1"/>
          <p:cNvSpPr/>
          <p:nvPr/>
        </p:nvSpPr>
        <p:spPr>
          <a:xfrm>
            <a:off x="822960" y="594360"/>
            <a:ext cx="502560" cy="502560"/>
          </a:xfrm>
          <a:prstGeom prst="ellipse">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230" name="Image 0" descr="preencoded.png"/>
          <p:cNvPicPr/>
          <p:nvPr/>
        </p:nvPicPr>
        <p:blipFill>
          <a:blip r:embed="rId1"/>
          <a:stretch/>
        </p:blipFill>
        <p:spPr>
          <a:xfrm>
            <a:off x="969120" y="740520"/>
            <a:ext cx="209880" cy="209880"/>
          </a:xfrm>
          <a:prstGeom prst="rect">
            <a:avLst/>
          </a:prstGeom>
          <a:noFill/>
          <a:ln w="0">
            <a:noFill/>
          </a:ln>
        </p:spPr>
      </p:pic>
      <p:sp>
        <p:nvSpPr>
          <p:cNvPr id="231" name="Text 2"/>
          <p:cNvSpPr/>
          <p:nvPr/>
        </p:nvSpPr>
        <p:spPr>
          <a:xfrm>
            <a:off x="1481400" y="713160"/>
            <a:ext cx="427896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0f1b3d"/>
                </a:solidFill>
                <a:effectLst/>
                <a:uFillTx/>
                <a:latin typeface="Calibri"/>
                <a:ea typeface="Calibri"/>
              </a:rPr>
              <a:t>VALUE FORECAST VALIDATION</a:t>
            </a:r>
            <a:endParaRPr b="0" lang="en-US" sz="1400" strike="noStrike" u="none">
              <a:solidFill>
                <a:srgbClr val="000000"/>
              </a:solidFill>
              <a:effectLst/>
              <a:uFillTx/>
              <a:latin typeface="Arial"/>
            </a:endParaRPr>
          </a:p>
        </p:txBody>
      </p:sp>
      <p:sp>
        <p:nvSpPr>
          <p:cNvPr id="232" name="Text 3"/>
          <p:cNvSpPr/>
          <p:nvPr/>
        </p:nvSpPr>
        <p:spPr>
          <a:xfrm>
            <a:off x="822960" y="1188720"/>
            <a:ext cx="4937400" cy="7768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800" strike="noStrike" u="none">
                <a:solidFill>
                  <a:srgbClr val="1a1a1a"/>
                </a:solidFill>
                <a:effectLst/>
                <a:uFillTx/>
                <a:latin typeface="Cambria"/>
                <a:ea typeface="Cambria"/>
              </a:rPr>
              <a:t>Does the value-trend forecast actually work?</a:t>
            </a:r>
            <a:endParaRPr b="0" lang="en-US" sz="1800" strike="noStrike" u="none">
              <a:solidFill>
                <a:srgbClr val="000000"/>
              </a:solidFill>
              <a:effectLst/>
              <a:uFillTx/>
              <a:latin typeface="Arial"/>
            </a:endParaRPr>
          </a:p>
        </p:txBody>
      </p:sp>
      <p:sp>
        <p:nvSpPr>
          <p:cNvPr id="233" name="Shape 4"/>
          <p:cNvSpPr/>
          <p:nvPr/>
        </p:nvSpPr>
        <p:spPr>
          <a:xfrm>
            <a:off x="822960" y="2057400"/>
            <a:ext cx="4937400" cy="895680"/>
          </a:xfrm>
          <a:prstGeom prst="roundRect">
            <a:avLst>
              <a:gd name="adj" fmla="val 7143"/>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34" name="Text 5"/>
          <p:cNvSpPr/>
          <p:nvPr/>
        </p:nvSpPr>
        <p:spPr>
          <a:xfrm>
            <a:off x="1024200" y="2148840"/>
            <a:ext cx="4534920" cy="2282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200" spc="99" strike="noStrike" u="none">
                <a:solidFill>
                  <a:srgbClr val="e8a33d"/>
                </a:solidFill>
                <a:effectLst/>
                <a:uFillTx/>
                <a:latin typeface="Calibri"/>
                <a:ea typeface="Calibri"/>
              </a:rPr>
              <a:t>HYPOTHESIS</a:t>
            </a:r>
            <a:endParaRPr b="0" lang="en-US" sz="1200" strike="noStrike" u="none">
              <a:solidFill>
                <a:srgbClr val="000000"/>
              </a:solidFill>
              <a:effectLst/>
              <a:uFillTx/>
              <a:latin typeface="Arial"/>
            </a:endParaRPr>
          </a:p>
        </p:txBody>
      </p:sp>
      <p:sp>
        <p:nvSpPr>
          <p:cNvPr id="235" name="Text 6"/>
          <p:cNvSpPr/>
          <p:nvPr/>
        </p:nvSpPr>
        <p:spPr>
          <a:xfrm>
            <a:off x="1024200" y="2377440"/>
            <a:ext cx="4534920" cy="529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400" strike="noStrike" u="none">
                <a:solidFill>
                  <a:srgbClr val="ffffff"/>
                </a:solidFill>
                <a:effectLst/>
                <a:uFillTx/>
                <a:latin typeface="Calibri"/>
                <a:ea typeface="Calibri"/>
              </a:rPr>
              <a:t>A player's market value trend can be forecast from historical valuation snapshots alone.</a:t>
            </a:r>
            <a:endParaRPr b="0" lang="en-US" sz="1400" strike="noStrike" u="none">
              <a:solidFill>
                <a:srgbClr val="000000"/>
              </a:solidFill>
              <a:effectLst/>
              <a:uFillTx/>
              <a:latin typeface="Arial"/>
            </a:endParaRPr>
          </a:p>
        </p:txBody>
      </p:sp>
      <p:sp>
        <p:nvSpPr>
          <p:cNvPr id="236" name="Shape 7"/>
          <p:cNvSpPr/>
          <p:nvPr/>
        </p:nvSpPr>
        <p:spPr>
          <a:xfrm>
            <a:off x="822960" y="3154680"/>
            <a:ext cx="4937400" cy="420120"/>
          </a:xfrm>
          <a:prstGeom prst="roundRect">
            <a:avLst>
              <a:gd name="adj" fmla="val 50000"/>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237" name="Image 1" descr="preencoded.png"/>
          <p:cNvPicPr/>
          <p:nvPr/>
        </p:nvPicPr>
        <p:blipFill>
          <a:blip r:embed="rId2"/>
          <a:stretch/>
        </p:blipFill>
        <p:spPr>
          <a:xfrm>
            <a:off x="969120" y="3255120"/>
            <a:ext cx="219240" cy="219240"/>
          </a:xfrm>
          <a:prstGeom prst="rect">
            <a:avLst/>
          </a:prstGeom>
          <a:noFill/>
          <a:ln w="0">
            <a:noFill/>
          </a:ln>
        </p:spPr>
      </p:pic>
      <p:sp>
        <p:nvSpPr>
          <p:cNvPr id="238" name="Text 8"/>
          <p:cNvSpPr/>
          <p:nvPr/>
        </p:nvSpPr>
        <p:spPr>
          <a:xfrm>
            <a:off x="1280160" y="3154680"/>
            <a:ext cx="4388760" cy="420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ffffff"/>
                </a:solidFill>
                <a:effectLst/>
                <a:uFillTx/>
                <a:latin typeface="Calibri"/>
                <a:ea typeface="Calibri"/>
              </a:rPr>
              <a:t>NOT RELIABLE: worse than a coin flip</a:t>
            </a:r>
            <a:endParaRPr b="0" lang="en-US" sz="1350" strike="noStrike" u="none">
              <a:solidFill>
                <a:srgbClr val="000000"/>
              </a:solidFill>
              <a:effectLst/>
              <a:uFillTx/>
              <a:latin typeface="Arial"/>
            </a:endParaRPr>
          </a:p>
        </p:txBody>
      </p:sp>
      <p:pic>
        <p:nvPicPr>
          <p:cNvPr id="239" name="Image 2" descr="preencoded.png"/>
          <p:cNvPicPr/>
          <p:nvPr/>
        </p:nvPicPr>
        <p:blipFill>
          <a:blip r:embed="rId3"/>
          <a:stretch/>
        </p:blipFill>
        <p:spPr>
          <a:xfrm>
            <a:off x="822960" y="3904560"/>
            <a:ext cx="219240" cy="219240"/>
          </a:xfrm>
          <a:prstGeom prst="rect">
            <a:avLst/>
          </a:prstGeom>
          <a:noFill/>
          <a:ln w="0">
            <a:noFill/>
          </a:ln>
        </p:spPr>
      </p:pic>
      <p:sp>
        <p:nvSpPr>
          <p:cNvPr id="240" name="Text 9"/>
          <p:cNvSpPr/>
          <p:nvPr/>
        </p:nvSpPr>
        <p:spPr>
          <a:xfrm>
            <a:off x="1152000" y="382212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Backtested on 150 players: forecast gets the direction right only 22.7% of the time.</a:t>
            </a:r>
            <a:endParaRPr b="0" lang="en-US" sz="1400" strike="noStrike" u="none">
              <a:solidFill>
                <a:srgbClr val="000000"/>
              </a:solidFill>
              <a:effectLst/>
              <a:uFillTx/>
              <a:latin typeface="Arial"/>
            </a:endParaRPr>
          </a:p>
        </p:txBody>
      </p:sp>
      <p:pic>
        <p:nvPicPr>
          <p:cNvPr id="241" name="Image 3" descr="preencoded.png"/>
          <p:cNvPicPr/>
          <p:nvPr/>
        </p:nvPicPr>
        <p:blipFill>
          <a:blip r:embed="rId4"/>
          <a:stretch/>
        </p:blipFill>
        <p:spPr>
          <a:xfrm>
            <a:off x="822960" y="4617720"/>
            <a:ext cx="219240" cy="219240"/>
          </a:xfrm>
          <a:prstGeom prst="rect">
            <a:avLst/>
          </a:prstGeom>
          <a:noFill/>
          <a:ln w="0">
            <a:noFill/>
          </a:ln>
        </p:spPr>
      </p:pic>
      <p:sp>
        <p:nvSpPr>
          <p:cNvPr id="242" name="Text 10"/>
          <p:cNvSpPr/>
          <p:nvPr/>
        </p:nvSpPr>
        <p:spPr>
          <a:xfrm>
            <a:off x="1152000" y="453528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A coin flip would score about 50%. This model is confidently wrong, not just noisy.</a:t>
            </a:r>
            <a:endParaRPr b="0" lang="en-US" sz="1400" strike="noStrike" u="none">
              <a:solidFill>
                <a:srgbClr val="000000"/>
              </a:solidFill>
              <a:effectLst/>
              <a:uFillTx/>
              <a:latin typeface="Arial"/>
            </a:endParaRPr>
          </a:p>
        </p:txBody>
      </p:sp>
      <p:pic>
        <p:nvPicPr>
          <p:cNvPr id="243" name="Image 4" descr="preencoded.png"/>
          <p:cNvPicPr/>
          <p:nvPr/>
        </p:nvPicPr>
        <p:blipFill>
          <a:blip r:embed="rId5"/>
          <a:stretch/>
        </p:blipFill>
        <p:spPr>
          <a:xfrm>
            <a:off x="822960" y="5330880"/>
            <a:ext cx="219240" cy="219240"/>
          </a:xfrm>
          <a:prstGeom prst="rect">
            <a:avLst/>
          </a:prstGeom>
          <a:noFill/>
          <a:ln w="0">
            <a:noFill/>
          </a:ln>
        </p:spPr>
      </p:pic>
      <p:sp>
        <p:nvSpPr>
          <p:cNvPr id="244" name="Text 11"/>
          <p:cNvSpPr/>
          <p:nvPr/>
        </p:nvSpPr>
        <p:spPr>
          <a:xfrm>
            <a:off x="1152000" y="5248800"/>
            <a:ext cx="4608360" cy="52992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1a1a1a"/>
                </a:solidFill>
                <a:effectLst/>
                <a:uFillTx/>
                <a:latin typeface="Calibri"/>
                <a:ea typeface="Calibri"/>
              </a:rPr>
              <a:t>Magnitude error is high too: 149% median error against real held-out values.</a:t>
            </a:r>
            <a:endParaRPr b="0" lang="en-US" sz="1400" strike="noStrike" u="none">
              <a:solidFill>
                <a:srgbClr val="000000"/>
              </a:solidFill>
              <a:effectLst/>
              <a:uFillTx/>
              <a:latin typeface="Arial"/>
            </a:endParaRPr>
          </a:p>
        </p:txBody>
      </p:sp>
      <p:sp>
        <p:nvSpPr>
          <p:cNvPr id="245" name="Shape 12"/>
          <p:cNvSpPr/>
          <p:nvPr/>
        </p:nvSpPr>
        <p:spPr>
          <a:xfrm>
            <a:off x="6217920" y="594360"/>
            <a:ext cx="5147640" cy="5623200"/>
          </a:xfrm>
          <a:prstGeom prst="roundRect">
            <a:avLst>
              <a:gd name="adj" fmla="val 159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46" name="Text 13"/>
          <p:cNvSpPr/>
          <p:nvPr/>
        </p:nvSpPr>
        <p:spPr>
          <a:xfrm>
            <a:off x="6537960" y="822960"/>
            <a:ext cx="45075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1a1a1a"/>
                </a:solidFill>
                <a:effectLst/>
                <a:uFillTx/>
                <a:latin typeface="Calibri"/>
                <a:ea typeface="Calibri"/>
              </a:rPr>
              <a:t>Directional accuracy vs. a coin-flip baseline (%)</a:t>
            </a:r>
            <a:endParaRPr b="0" lang="en-US" sz="1350" strike="noStrike" u="none">
              <a:solidFill>
                <a:srgbClr val="000000"/>
              </a:solidFill>
              <a:effectLst/>
              <a:uFillTx/>
              <a:latin typeface="Arial"/>
            </a:endParaRPr>
          </a:p>
        </p:txBody>
      </p:sp>
      <p:sp>
        <p:nvSpPr>
          <p:cNvPr id="247" name="Text 14"/>
          <p:cNvSpPr/>
          <p:nvPr/>
        </p:nvSpPr>
        <p:spPr>
          <a:xfrm>
            <a:off x="6537960" y="5029200"/>
            <a:ext cx="4507560" cy="95976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00" strike="noStrike" u="none">
                <a:solidFill>
                  <a:srgbClr val="6b7280"/>
                </a:solidFill>
                <a:effectLst/>
                <a:uFillTx/>
                <a:latin typeface="Calibri"/>
                <a:ea typeface="Calibri"/>
              </a:rPr>
              <a:t>n = 150 players sampled from 1,518 eligible (6+ valuation snapshots). Prophet model, log-space fit, last 2 snapshots per player held out.</a:t>
            </a:r>
            <a:endParaRPr b="0" lang="en-US" sz="1300" strike="noStrike" u="none">
              <a:solidFill>
                <a:srgbClr val="000000"/>
              </a:solidFill>
              <a:effectLst/>
              <a:uFillTx/>
              <a:latin typeface="Arial"/>
            </a:endParaRPr>
          </a:p>
        </p:txBody>
      </p:sp>
      <p:sp>
        <p:nvSpPr>
          <p:cNvPr id="248" name="Text 15"/>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trike="noStrike" u="none">
                <a:solidFill>
                  <a:srgbClr val="a3a9b5"/>
                </a:solidFill>
                <a:effectLst/>
                <a:uFillTx/>
                <a:latin typeface="Calibri"/>
                <a:ea typeface="Calibri"/>
              </a:rPr>
              <a:t>09</a:t>
            </a:r>
            <a:endParaRPr b="0" lang="en-US" sz="1000" strike="noStrike" u="none">
              <a:solidFill>
                <a:srgbClr val="000000"/>
              </a:solidFill>
              <a:effectLst/>
              <a:uFillTx/>
              <a:latin typeface="Arial"/>
            </a:endParaRPr>
          </a:p>
        </p:txBody>
      </p:sp>
      <p:sp>
        <p:nvSpPr>
          <p:cNvPr id="249" name="TextBox 25"/>
          <p:cNvSpPr/>
          <p:nvPr/>
        </p:nvSpPr>
        <p:spPr>
          <a:xfrm>
            <a:off x="1152000" y="5820120"/>
            <a:ext cx="4608360" cy="549720"/>
          </a:xfrm>
          <a:prstGeom prst="rect">
            <a:avLst/>
          </a:prstGeom>
          <a:noFill/>
          <a:ln w="0">
            <a:noFill/>
          </a:ln>
        </p:spPr>
        <p:style>
          <a:lnRef idx="0"/>
          <a:fillRef idx="0"/>
          <a:effectRef idx="0"/>
          <a:fontRef idx="minor"/>
        </p:style>
        <p:txBody>
          <a:bodyPr lIns="0" rIns="0" tIns="0" bIns="0" anchor="t">
            <a:spAutoFit/>
          </a:bodyPr>
          <a:p>
            <a:pPr defTabSz="914400">
              <a:lnSpc>
                <a:spcPct val="100000"/>
              </a:lnSpc>
            </a:pPr>
            <a:r>
              <a:rPr b="1" i="1" lang="en-US" sz="1000" strike="noStrike" u="none">
                <a:solidFill>
                  <a:srgbClr val="44506b"/>
                </a:solidFill>
                <a:effectLst/>
                <a:uFillTx/>
                <a:latin typeface="Calibri"/>
              </a:rPr>
              <a:t>Term check: </a:t>
            </a:r>
            <a:r>
              <a:rPr b="0" i="1" lang="en-US" sz="1000" strike="noStrike" u="none">
                <a:solidFill>
                  <a:srgbClr val="44506b"/>
                </a:solidFill>
                <a:effectLst/>
                <a:uFillTx/>
                <a:latin typeface="Calibri"/>
              </a:rPr>
              <a:t>“directional accuracy” = did the forecast get up-vs-down right (not the exact number). “Backtested” = tested against real past outcomes the model never saw during training.</a:t>
            </a:r>
            <a:endParaRPr b="0" lang="en-US" sz="1000" strike="noStrike" u="none">
              <a:solidFill>
                <a:srgbClr val="000000"/>
              </a:solidFill>
              <a:effectLst/>
              <a:uFillTx/>
              <a:latin typeface="Arial"/>
            </a:endParaRPr>
          </a:p>
        </p:txBody>
      </p:sp>
      <p:graphicFrame>
        <p:nvGraphicFramePr>
          <p:cNvPr id="250" name="Chart 26"/>
          <p:cNvGraphicFramePr/>
          <p:nvPr/>
        </p:nvGraphicFramePr>
        <p:xfrm>
          <a:off x="6537960" y="1280160"/>
          <a:ext cx="4507560" cy="3565800"/>
        </p:xfrm>
        <a:graphic>
          <a:graphicData uri="http://schemas.openxmlformats.org/drawingml/2006/chart">
            <c:chart xmlns:c="http://schemas.openxmlformats.org/drawingml/2006/chart" xmlns:r="http://schemas.openxmlformats.org/officeDocument/2006/relationships" r:id="rId6"/>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251" name="Shape 0"/>
          <p:cNvSpPr/>
          <p:nvPr/>
        </p:nvSpPr>
        <p:spPr>
          <a:xfrm>
            <a:off x="-36576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2" name="Shape 1"/>
          <p:cNvSpPr/>
          <p:nvPr/>
        </p:nvSpPr>
        <p:spPr>
          <a:xfrm>
            <a:off x="1182600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3" name="Shape 2"/>
          <p:cNvSpPr/>
          <p:nvPr/>
        </p:nvSpPr>
        <p:spPr>
          <a:xfrm>
            <a:off x="-36576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4" name="Shape 3"/>
          <p:cNvSpPr/>
          <p:nvPr/>
        </p:nvSpPr>
        <p:spPr>
          <a:xfrm>
            <a:off x="1182600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5" name="Shape 4"/>
          <p:cNvSpPr/>
          <p:nvPr/>
        </p:nvSpPr>
        <p:spPr>
          <a:xfrm>
            <a:off x="-1371600" y="6217920"/>
            <a:ext cx="3657240" cy="365724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6" name="Shape 5"/>
          <p:cNvSpPr/>
          <p:nvPr/>
        </p:nvSpPr>
        <p:spPr>
          <a:xfrm>
            <a:off x="411480" y="800100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257" name="Shape 6"/>
          <p:cNvSpPr/>
          <p:nvPr/>
        </p:nvSpPr>
        <p:spPr>
          <a:xfrm>
            <a:off x="685800" y="502920"/>
            <a:ext cx="822600" cy="82260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8" name="Shape 7"/>
          <p:cNvSpPr/>
          <p:nvPr/>
        </p:nvSpPr>
        <p:spPr>
          <a:xfrm>
            <a:off x="822960" y="640080"/>
            <a:ext cx="548280" cy="54828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59" name="Text 8"/>
          <p:cNvSpPr/>
          <p:nvPr/>
        </p:nvSpPr>
        <p:spPr>
          <a:xfrm>
            <a:off x="1536120" y="777240"/>
            <a:ext cx="548604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e8a33d"/>
                </a:solidFill>
                <a:effectLst/>
                <a:uFillTx/>
                <a:latin typeface="Calibri"/>
                <a:ea typeface="Calibri"/>
              </a:rPr>
              <a:t>THE HONEST CAVEAT</a:t>
            </a:r>
            <a:endParaRPr b="0" lang="en-US" sz="1400" strike="noStrike" u="none">
              <a:solidFill>
                <a:srgbClr val="ffffff"/>
              </a:solidFill>
              <a:effectLst/>
              <a:uFillTx/>
              <a:latin typeface="Arial"/>
            </a:endParaRPr>
          </a:p>
        </p:txBody>
      </p:sp>
      <p:graphicFrame>
        <p:nvGraphicFramePr>
          <p:cNvPr id="260" name="Chart 0"/>
          <p:cNvGraphicFramePr/>
          <p:nvPr/>
        </p:nvGraphicFramePr>
        <p:xfrm>
          <a:off x="1051560" y="1417320"/>
          <a:ext cx="3062880" cy="3062880"/>
        </p:xfrm>
        <a:graphic>
          <a:graphicData uri="http://schemas.openxmlformats.org/drawingml/2006/chart">
            <c:chart xmlns:c="http://schemas.openxmlformats.org/drawingml/2006/chart" xmlns:r="http://schemas.openxmlformats.org/officeDocument/2006/relationships" r:id="rId1"/>
          </a:graphicData>
        </a:graphic>
      </p:graphicFrame>
      <p:sp>
        <p:nvSpPr>
          <p:cNvPr id="261" name="Text 9"/>
          <p:cNvSpPr/>
          <p:nvPr/>
        </p:nvSpPr>
        <p:spPr>
          <a:xfrm>
            <a:off x="1051560" y="2446200"/>
            <a:ext cx="3062880" cy="7768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4400" strike="noStrike" u="none">
                <a:solidFill>
                  <a:srgbClr val="ffffff"/>
                </a:solidFill>
                <a:effectLst/>
                <a:uFillTx/>
                <a:latin typeface="Cambria"/>
                <a:ea typeface="Cambria"/>
              </a:rPr>
              <a:t>67%</a:t>
            </a:r>
            <a:endParaRPr b="0" lang="en-US" sz="4400" strike="noStrike" u="none">
              <a:solidFill>
                <a:srgbClr val="ffffff"/>
              </a:solidFill>
              <a:effectLst/>
              <a:uFillTx/>
              <a:latin typeface="Arial"/>
            </a:endParaRPr>
          </a:p>
        </p:txBody>
      </p:sp>
      <p:sp>
        <p:nvSpPr>
          <p:cNvPr id="262" name="Text 10"/>
          <p:cNvSpPr/>
          <p:nvPr/>
        </p:nvSpPr>
        <p:spPr>
          <a:xfrm>
            <a:off x="1051560" y="3150000"/>
            <a:ext cx="3062880" cy="319680"/>
          </a:xfrm>
          <a:prstGeom prst="rect">
            <a:avLst/>
          </a:prstGeom>
          <a:noFill/>
          <a:ln w="0">
            <a:noFill/>
          </a:ln>
        </p:spPr>
        <p:style>
          <a:lnRef idx="0"/>
          <a:fillRef idx="0"/>
          <a:effectRef idx="0"/>
          <a:fontRef idx="minor"/>
        </p:style>
        <p:txBody>
          <a:bodyPr lIns="0" rIns="0" tIns="0" bIns="0" anchor="ctr">
            <a:noAutofit/>
          </a:bodyPr>
          <a:p>
            <a:pPr algn="ctr" defTabSz="914400">
              <a:lnSpc>
                <a:spcPct val="100000"/>
              </a:lnSpc>
              <a:tabLst>
                <a:tab algn="l" pos="0"/>
              </a:tabLst>
            </a:pPr>
            <a:r>
              <a:rPr b="1" lang="en-US" sz="1200" spc="201" strike="noStrike" u="none">
                <a:solidFill>
                  <a:srgbClr val="e8a33d"/>
                </a:solidFill>
                <a:effectLst/>
                <a:uFillTx/>
                <a:latin typeface="Calibri"/>
                <a:ea typeface="Calibri"/>
              </a:rPr>
              <a:t>EXCLUDED</a:t>
            </a:r>
            <a:endParaRPr b="0" lang="en-US" sz="1200" strike="noStrike" u="none">
              <a:solidFill>
                <a:srgbClr val="ffffff"/>
              </a:solidFill>
              <a:effectLst/>
              <a:uFillTx/>
              <a:latin typeface="Arial"/>
            </a:endParaRPr>
          </a:p>
        </p:txBody>
      </p:sp>
      <p:sp>
        <p:nvSpPr>
          <p:cNvPr id="263" name="Shape 11"/>
          <p:cNvSpPr/>
          <p:nvPr/>
        </p:nvSpPr>
        <p:spPr>
          <a:xfrm>
            <a:off x="1051560" y="5156280"/>
            <a:ext cx="145800" cy="1458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64" name="Text 12"/>
          <p:cNvSpPr/>
          <p:nvPr/>
        </p:nvSpPr>
        <p:spPr>
          <a:xfrm>
            <a:off x="1298520" y="5110560"/>
            <a:ext cx="406368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e8ecf5"/>
                </a:solidFill>
                <a:effectLst/>
                <a:uFillTx/>
                <a:latin typeface="Calibri"/>
                <a:ea typeface="Calibri"/>
              </a:rPr>
              <a:t>1,310 players excluded, zero recorded FBref playing time</a:t>
            </a:r>
            <a:endParaRPr b="0" lang="en-US" sz="1400" strike="noStrike" u="none">
              <a:solidFill>
                <a:srgbClr val="ffffff"/>
              </a:solidFill>
              <a:effectLst/>
              <a:uFillTx/>
              <a:latin typeface="Arial"/>
            </a:endParaRPr>
          </a:p>
        </p:txBody>
      </p:sp>
      <p:sp>
        <p:nvSpPr>
          <p:cNvPr id="265" name="Shape 13"/>
          <p:cNvSpPr/>
          <p:nvPr/>
        </p:nvSpPr>
        <p:spPr>
          <a:xfrm>
            <a:off x="1051560" y="5664240"/>
            <a:ext cx="145800" cy="145800"/>
          </a:xfrm>
          <a:prstGeom prst="ellipse">
            <a:avLst/>
          </a:prstGeom>
          <a:solidFill>
            <a:srgbClr val="8494c4"/>
          </a:solidFill>
          <a:ln w="9525">
            <a:solidFill>
              <a:srgbClr val="3c4a73"/>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66" name="Text 14"/>
          <p:cNvSpPr/>
          <p:nvPr/>
        </p:nvSpPr>
        <p:spPr>
          <a:xfrm>
            <a:off x="1298520" y="5618520"/>
            <a:ext cx="4063680" cy="45684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e8ecf5"/>
                </a:solidFill>
                <a:effectLst/>
                <a:uFillTx/>
                <a:latin typeface="Calibri"/>
                <a:ea typeface="Calibri"/>
              </a:rPr>
              <a:t>649 players included, usable playing-time data</a:t>
            </a:r>
            <a:endParaRPr b="0" lang="en-US" sz="1400" strike="noStrike" u="none">
              <a:solidFill>
                <a:srgbClr val="ffffff"/>
              </a:solidFill>
              <a:effectLst/>
              <a:uFillTx/>
              <a:latin typeface="Arial"/>
            </a:endParaRPr>
          </a:p>
        </p:txBody>
      </p:sp>
      <p:sp>
        <p:nvSpPr>
          <p:cNvPr id="267" name="Shape 15"/>
          <p:cNvSpPr/>
          <p:nvPr/>
        </p:nvSpPr>
        <p:spPr>
          <a:xfrm>
            <a:off x="5440680" y="777240"/>
            <a:ext cx="5943240" cy="5394600"/>
          </a:xfrm>
          <a:prstGeom prst="roundRect">
            <a:avLst>
              <a:gd name="adj" fmla="val 1525"/>
            </a:avLst>
          </a:prstGeom>
          <a:solidFill>
            <a:srgbClr val="1626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68" name="Text 16"/>
          <p:cNvSpPr/>
          <p:nvPr/>
        </p:nvSpPr>
        <p:spPr>
          <a:xfrm>
            <a:off x="5760720" y="1005840"/>
            <a:ext cx="5303160" cy="456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50" strike="noStrike" u="none">
                <a:solidFill>
                  <a:srgbClr val="e8a33d"/>
                </a:solidFill>
                <a:effectLst/>
                <a:uFillTx/>
                <a:latin typeface="Calibri"/>
                <a:ea typeface="Calibri"/>
              </a:rPr>
              <a:t>Confirmed: a real coverage gap, not a matching bug</a:t>
            </a:r>
            <a:endParaRPr b="0" lang="en-US" sz="1450" strike="noStrike" u="none">
              <a:solidFill>
                <a:srgbClr val="ffffff"/>
              </a:solidFill>
              <a:effectLst/>
              <a:uFillTx/>
              <a:latin typeface="Arial"/>
            </a:endParaRPr>
          </a:p>
        </p:txBody>
      </p:sp>
      <p:pic>
        <p:nvPicPr>
          <p:cNvPr id="269" name="Image 1" descr="preencoded.png"/>
          <p:cNvPicPr/>
          <p:nvPr/>
        </p:nvPicPr>
        <p:blipFill>
          <a:blip r:embed="rId2"/>
          <a:stretch/>
        </p:blipFill>
        <p:spPr>
          <a:xfrm>
            <a:off x="5740560" y="1816200"/>
            <a:ext cx="253800" cy="253800"/>
          </a:xfrm>
          <a:prstGeom prst="rect">
            <a:avLst/>
          </a:prstGeom>
          <a:noFill/>
          <a:ln w="0">
            <a:noFill/>
          </a:ln>
        </p:spPr>
      </p:pic>
      <p:sp>
        <p:nvSpPr>
          <p:cNvPr id="270" name="Text 17"/>
          <p:cNvSpPr/>
          <p:nvPr/>
        </p:nvSpPr>
        <p:spPr>
          <a:xfrm>
            <a:off x="6089760" y="1752480"/>
            <a:ext cx="497412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cadcfc"/>
                </a:solidFill>
                <a:effectLst/>
                <a:uFillTx/>
                <a:latin typeface="Calibri"/>
                <a:ea typeface="Calibri"/>
              </a:rPr>
              <a:t>Zero of the 1,310 have any exact FBref name match. That rules out a silent matching bug.</a:t>
            </a:r>
            <a:endParaRPr b="0" lang="en-US" sz="1400" strike="noStrike" u="none">
              <a:solidFill>
                <a:srgbClr val="ffffff"/>
              </a:solidFill>
              <a:effectLst/>
              <a:uFillTx/>
              <a:latin typeface="Arial"/>
            </a:endParaRPr>
          </a:p>
        </p:txBody>
      </p:sp>
      <p:pic>
        <p:nvPicPr>
          <p:cNvPr id="271" name="Image 2" descr="preencoded.png"/>
          <p:cNvPicPr/>
          <p:nvPr/>
        </p:nvPicPr>
        <p:blipFill>
          <a:blip r:embed="rId3"/>
          <a:stretch/>
        </p:blipFill>
        <p:spPr>
          <a:xfrm>
            <a:off x="5740560" y="2882880"/>
            <a:ext cx="253800" cy="253800"/>
          </a:xfrm>
          <a:prstGeom prst="rect">
            <a:avLst/>
          </a:prstGeom>
          <a:noFill/>
          <a:ln w="0">
            <a:noFill/>
          </a:ln>
        </p:spPr>
      </p:pic>
      <p:sp>
        <p:nvSpPr>
          <p:cNvPr id="272" name="Text 18"/>
          <p:cNvSpPr/>
          <p:nvPr/>
        </p:nvSpPr>
        <p:spPr>
          <a:xfrm>
            <a:off x="6089760" y="2819520"/>
            <a:ext cx="497412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cadcfc"/>
                </a:solidFill>
                <a:effectLst/>
                <a:uFillTx/>
                <a:latin typeface="Calibri"/>
                <a:ea typeface="Calibri"/>
              </a:rPr>
              <a:t>257 simply had no valuation yet during FBref's 2017–2024 window.</a:t>
            </a:r>
            <a:endParaRPr b="0" lang="en-US" sz="1400" strike="noStrike" u="none">
              <a:solidFill>
                <a:srgbClr val="ffffff"/>
              </a:solidFill>
              <a:effectLst/>
              <a:uFillTx/>
              <a:latin typeface="Arial"/>
            </a:endParaRPr>
          </a:p>
        </p:txBody>
      </p:sp>
      <p:pic>
        <p:nvPicPr>
          <p:cNvPr id="273" name="Image 3" descr="preencoded.png"/>
          <p:cNvPicPr/>
          <p:nvPr/>
        </p:nvPicPr>
        <p:blipFill>
          <a:blip r:embed="rId4"/>
          <a:stretch/>
        </p:blipFill>
        <p:spPr>
          <a:xfrm>
            <a:off x="5740560" y="3949560"/>
            <a:ext cx="253800" cy="253800"/>
          </a:xfrm>
          <a:prstGeom prst="rect">
            <a:avLst/>
          </a:prstGeom>
          <a:noFill/>
          <a:ln w="0">
            <a:noFill/>
          </a:ln>
        </p:spPr>
      </p:pic>
      <p:sp>
        <p:nvSpPr>
          <p:cNvPr id="274" name="Text 19"/>
          <p:cNvSpPr/>
          <p:nvPr/>
        </p:nvSpPr>
        <p:spPr>
          <a:xfrm>
            <a:off x="6089760" y="3886200"/>
            <a:ext cx="497412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cadcfc"/>
                </a:solidFill>
                <a:effectLst/>
                <a:uFillTx/>
                <a:latin typeface="Calibri"/>
                <a:ea typeface="Calibri"/>
              </a:rPr>
              <a:t>269 more looked like possible matches. Manual review found none, just shared surnames.</a:t>
            </a:r>
            <a:endParaRPr b="0" lang="en-US" sz="1400" strike="noStrike" u="none">
              <a:solidFill>
                <a:srgbClr val="ffffff"/>
              </a:solidFill>
              <a:effectLst/>
              <a:uFillTx/>
              <a:latin typeface="Arial"/>
            </a:endParaRPr>
          </a:p>
        </p:txBody>
      </p:sp>
      <p:pic>
        <p:nvPicPr>
          <p:cNvPr id="275" name="Image 4" descr="preencoded.png"/>
          <p:cNvPicPr/>
          <p:nvPr/>
        </p:nvPicPr>
        <p:blipFill>
          <a:blip r:embed="rId5"/>
          <a:stretch/>
        </p:blipFill>
        <p:spPr>
          <a:xfrm>
            <a:off x="5740560" y="5016600"/>
            <a:ext cx="253800" cy="253800"/>
          </a:xfrm>
          <a:prstGeom prst="rect">
            <a:avLst/>
          </a:prstGeom>
          <a:noFill/>
          <a:ln w="0">
            <a:noFill/>
          </a:ln>
        </p:spPr>
      </p:pic>
      <p:sp>
        <p:nvSpPr>
          <p:cNvPr id="276" name="Text 20"/>
          <p:cNvSpPr/>
          <p:nvPr/>
        </p:nvSpPr>
        <p:spPr>
          <a:xfrm>
            <a:off x="6089760" y="4952880"/>
            <a:ext cx="497412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cadcfc"/>
                </a:solidFill>
                <a:effectLst/>
                <a:uFillTx/>
                <a:latin typeface="Calibri"/>
                <a:ea typeface="Calibri"/>
              </a:rPr>
              <a:t>Some, like Donnarumma and Zubimendi, genuinely were not in the Premier League yet.</a:t>
            </a:r>
            <a:endParaRPr b="0" lang="en-US" sz="1400" strike="noStrike" u="none">
              <a:solidFill>
                <a:srgbClr val="ffffff"/>
              </a:solidFill>
              <a:effectLst/>
              <a:uFillTx/>
              <a:latin typeface="Arial"/>
            </a:endParaRPr>
          </a:p>
        </p:txBody>
      </p:sp>
      <p:sp>
        <p:nvSpPr>
          <p:cNvPr id="277" name="Text 21"/>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a8b4d0"/>
                </a:solidFill>
                <a:effectLst/>
                <a:uFillTx/>
                <a:latin typeface="Calibri"/>
                <a:ea typeface="Calibri"/>
              </a:rPr>
              <a:t>10</a:t>
            </a:r>
            <a:endParaRPr b="0" lang="en-US" sz="1200" strike="noStrike" u="none">
              <a:solidFill>
                <a:srgbClr val="ffffff"/>
              </a:solidFill>
              <a:effectLst/>
              <a:uFillTx/>
              <a:latin typeface="Arial"/>
            </a:endParaRPr>
          </a:p>
        </p:txBody>
      </p:sp>
      <p:pic>
        <p:nvPicPr>
          <p:cNvPr id="278" name="Graphic 30" descr="Football icon"/>
          <p:cNvPicPr/>
          <p:nvPr/>
        </p:nvPicPr>
        <p:blipFill>
          <a:blip r:embed="rId6">
            <a:extLst>
              <a:ext uri="{96DAC541-7B7A-43D3-8B79-37D633B846F1}">
                <asvg:svgBlip xmlns:asvg="http://schemas.microsoft.com/office/drawing/2016/SVG/main" r:embed="rId7"/>
              </a:ext>
            </a:extLst>
          </a:blip>
          <a:stretch/>
        </p:blipFill>
        <p:spPr>
          <a:xfrm>
            <a:off x="900360" y="717480"/>
            <a:ext cx="393480" cy="393480"/>
          </a:xfrm>
          <a:prstGeom prst="rect">
            <a:avLst/>
          </a:prstGeom>
          <a:noFill/>
          <a:ln w="0">
            <a:noFill/>
          </a:ln>
        </p:spPr>
      </p:pic>
    </p:spTree>
  </p:cSld>
  <p:transition spd="med">
    <p:fade/>
  </p:transition>
  <p:timing>
    <p:tnLst>
      <p:par>
        <p:cTn id="469" dur="indefinite" restart="never" nodeType="tmRoot">
          <p:childTnLst>
            <p:seq>
              <p:cTn id="470" dur="indefinite" nodeType="mainSeq">
                <p:childTnLst>
                  <p:par>
                    <p:cTn id="471" fill="hold">
                      <p:stCondLst>
                        <p:cond delay="indefinite"/>
                      </p:stCondLst>
                      <p:childTnLst>
                        <p:par>
                          <p:cTn id="472" fill="hold">
                            <p:stCondLst>
                              <p:cond delay="0"/>
                            </p:stCondLst>
                            <p:childTnLst>
                              <p:par>
                                <p:cTn id="473" nodeType="clickEffect" fill="hold" presetClass="entr" presetID="21" presetSubtype="1">
                                  <p:stCondLst>
                                    <p:cond delay="0"/>
                                  </p:stCondLst>
                                  <p:childTnLst>
                                    <p:set>
                                      <p:cBhvr>
                                        <p:cTn id="474" dur="1" fill="hold">
                                          <p:stCondLst>
                                            <p:cond delay="0"/>
                                          </p:stCondLst>
                                        </p:cTn>
                                        <p:tgtEl>
                                          <p:spTgt spid="260"/>
                                        </p:tgtEl>
                                        <p:attrNameLst>
                                          <p:attrName>style.visibility</p:attrName>
                                        </p:attrNameLst>
                                      </p:cBhvr>
                                      <p:to>
                                        <p:strVal val="visible"/>
                                      </p:to>
                                    </p:set>
                                    <p:animEffect filter="wheel(1)" transition="in">
                                      <p:cBhvr additive="repl">
                                        <p:cTn id="475" dur="1000"/>
                                        <p:tgtEl>
                                          <p:spTgt spid="260"/>
                                        </p:tgtEl>
                                      </p:cBhvr>
                                    </p:animEffect>
                                  </p:childTnLst>
                                </p:cTn>
                              </p:par>
                              <p:par>
                                <p:cTn id="476" nodeType="withEffect" fill="hold" presetClass="entr" presetID="10">
                                  <p:stCondLst>
                                    <p:cond delay="0"/>
                                  </p:stCondLst>
                                  <p:childTnLst>
                                    <p:set>
                                      <p:cBhvr>
                                        <p:cTn id="477" dur="1" fill="hold">
                                          <p:stCondLst>
                                            <p:cond delay="0"/>
                                          </p:stCondLst>
                                        </p:cTn>
                                        <p:tgtEl>
                                          <p:spTgt spid="261"/>
                                        </p:tgtEl>
                                        <p:attrNameLst>
                                          <p:attrName>style.visibility</p:attrName>
                                        </p:attrNameLst>
                                      </p:cBhvr>
                                      <p:to>
                                        <p:strVal val="visible"/>
                                      </p:to>
                                    </p:set>
                                    <p:animEffect filter="fade" transition="in">
                                      <p:cBhvr additive="repl">
                                        <p:cTn id="478" dur="450"/>
                                        <p:tgtEl>
                                          <p:spTgt spid="261"/>
                                        </p:tgtEl>
                                      </p:cBhvr>
                                    </p:animEffect>
                                  </p:childTnLst>
                                </p:cTn>
                              </p:par>
                              <p:par>
                                <p:cTn id="479" nodeType="withEffect" fill="hold" presetClass="entr" presetID="10">
                                  <p:stCondLst>
                                    <p:cond delay="0"/>
                                  </p:stCondLst>
                                  <p:childTnLst>
                                    <p:set>
                                      <p:cBhvr>
                                        <p:cTn id="480" dur="1" fill="hold">
                                          <p:stCondLst>
                                            <p:cond delay="0"/>
                                          </p:stCondLst>
                                        </p:cTn>
                                        <p:tgtEl>
                                          <p:spTgt spid="262"/>
                                        </p:tgtEl>
                                        <p:attrNameLst>
                                          <p:attrName>style.visibility</p:attrName>
                                        </p:attrNameLst>
                                      </p:cBhvr>
                                      <p:to>
                                        <p:strVal val="visible"/>
                                      </p:to>
                                    </p:set>
                                    <p:animEffect filter="fade" transition="in">
                                      <p:cBhvr additive="repl">
                                        <p:cTn id="481" dur="450"/>
                                        <p:tgtEl>
                                          <p:spTgt spid="262"/>
                                        </p:tgtEl>
                                      </p:cBhvr>
                                    </p:animEffect>
                                  </p:childTnLst>
                                </p:cTn>
                              </p:par>
                            </p:childTnLst>
                          </p:cTn>
                        </p:par>
                      </p:childTnLst>
                    </p:cTn>
                  </p:par>
                  <p:par>
                    <p:cTn id="482" fill="hold">
                      <p:stCondLst>
                        <p:cond delay="indefinite"/>
                      </p:stCondLst>
                      <p:childTnLst>
                        <p:par>
                          <p:cTn id="483" fill="hold">
                            <p:stCondLst>
                              <p:cond delay="0"/>
                            </p:stCondLst>
                            <p:childTnLst>
                              <p:par>
                                <p:cTn id="484" nodeType="clickEffect" fill="hold" presetClass="entr" presetID="10">
                                  <p:stCondLst>
                                    <p:cond delay="0"/>
                                  </p:stCondLst>
                                  <p:childTnLst>
                                    <p:set>
                                      <p:cBhvr>
                                        <p:cTn id="485" dur="1" fill="hold">
                                          <p:stCondLst>
                                            <p:cond delay="0"/>
                                          </p:stCondLst>
                                        </p:cTn>
                                        <p:tgtEl>
                                          <p:spTgt spid="263"/>
                                        </p:tgtEl>
                                        <p:attrNameLst>
                                          <p:attrName>style.visibility</p:attrName>
                                        </p:attrNameLst>
                                      </p:cBhvr>
                                      <p:to>
                                        <p:strVal val="visible"/>
                                      </p:to>
                                    </p:set>
                                    <p:animEffect filter="fade" transition="in">
                                      <p:cBhvr additive="repl">
                                        <p:cTn id="486" dur="450"/>
                                        <p:tgtEl>
                                          <p:spTgt spid="263"/>
                                        </p:tgtEl>
                                      </p:cBhvr>
                                    </p:animEffect>
                                  </p:childTnLst>
                                </p:cTn>
                              </p:par>
                              <p:par>
                                <p:cTn id="487" nodeType="withEffect" fill="hold" presetClass="entr" presetID="10">
                                  <p:stCondLst>
                                    <p:cond delay="0"/>
                                  </p:stCondLst>
                                  <p:childTnLst>
                                    <p:set>
                                      <p:cBhvr>
                                        <p:cTn id="488" dur="1" fill="hold">
                                          <p:stCondLst>
                                            <p:cond delay="0"/>
                                          </p:stCondLst>
                                        </p:cTn>
                                        <p:tgtEl>
                                          <p:spTgt spid="264"/>
                                        </p:tgtEl>
                                        <p:attrNameLst>
                                          <p:attrName>style.visibility</p:attrName>
                                        </p:attrNameLst>
                                      </p:cBhvr>
                                      <p:to>
                                        <p:strVal val="visible"/>
                                      </p:to>
                                    </p:set>
                                    <p:animEffect filter="fade" transition="in">
                                      <p:cBhvr additive="repl">
                                        <p:cTn id="489" dur="450"/>
                                        <p:tgtEl>
                                          <p:spTgt spid="264"/>
                                        </p:tgtEl>
                                      </p:cBhvr>
                                    </p:animEffect>
                                  </p:childTnLst>
                                </p:cTn>
                              </p:par>
                              <p:par>
                                <p:cTn id="490" nodeType="withEffect" fill="hold" presetClass="entr" presetID="10">
                                  <p:stCondLst>
                                    <p:cond delay="0"/>
                                  </p:stCondLst>
                                  <p:childTnLst>
                                    <p:set>
                                      <p:cBhvr>
                                        <p:cTn id="491" dur="1" fill="hold">
                                          <p:stCondLst>
                                            <p:cond delay="0"/>
                                          </p:stCondLst>
                                        </p:cTn>
                                        <p:tgtEl>
                                          <p:spTgt spid="265"/>
                                        </p:tgtEl>
                                        <p:attrNameLst>
                                          <p:attrName>style.visibility</p:attrName>
                                        </p:attrNameLst>
                                      </p:cBhvr>
                                      <p:to>
                                        <p:strVal val="visible"/>
                                      </p:to>
                                    </p:set>
                                    <p:animEffect filter="fade" transition="in">
                                      <p:cBhvr additive="repl">
                                        <p:cTn id="492" dur="450"/>
                                        <p:tgtEl>
                                          <p:spTgt spid="265"/>
                                        </p:tgtEl>
                                      </p:cBhvr>
                                    </p:animEffect>
                                  </p:childTnLst>
                                </p:cTn>
                              </p:par>
                              <p:par>
                                <p:cTn id="493" nodeType="withEffect" fill="hold" presetClass="entr" presetID="10">
                                  <p:stCondLst>
                                    <p:cond delay="0"/>
                                  </p:stCondLst>
                                  <p:childTnLst>
                                    <p:set>
                                      <p:cBhvr>
                                        <p:cTn id="494" dur="1" fill="hold">
                                          <p:stCondLst>
                                            <p:cond delay="0"/>
                                          </p:stCondLst>
                                        </p:cTn>
                                        <p:tgtEl>
                                          <p:spTgt spid="266"/>
                                        </p:tgtEl>
                                        <p:attrNameLst>
                                          <p:attrName>style.visibility</p:attrName>
                                        </p:attrNameLst>
                                      </p:cBhvr>
                                      <p:to>
                                        <p:strVal val="visible"/>
                                      </p:to>
                                    </p:set>
                                    <p:animEffect filter="fade" transition="in">
                                      <p:cBhvr additive="repl">
                                        <p:cTn id="495" dur="450"/>
                                        <p:tgtEl>
                                          <p:spTgt spid="266"/>
                                        </p:tgtEl>
                                      </p:cBhvr>
                                    </p:animEffect>
                                  </p:childTnLst>
                                </p:cTn>
                              </p:par>
                            </p:childTnLst>
                          </p:cTn>
                        </p:par>
                      </p:childTnLst>
                    </p:cTn>
                  </p:par>
                  <p:par>
                    <p:cTn id="496" fill="hold">
                      <p:stCondLst>
                        <p:cond delay="indefinite"/>
                      </p:stCondLst>
                      <p:childTnLst>
                        <p:par>
                          <p:cTn id="497" fill="hold">
                            <p:stCondLst>
                              <p:cond delay="0"/>
                            </p:stCondLst>
                            <p:childTnLst>
                              <p:par>
                                <p:cTn id="498" nodeType="clickEffect" fill="hold" presetClass="entr" presetID="10">
                                  <p:stCondLst>
                                    <p:cond delay="0"/>
                                  </p:stCondLst>
                                  <p:childTnLst>
                                    <p:set>
                                      <p:cBhvr>
                                        <p:cTn id="499" dur="1" fill="hold">
                                          <p:stCondLst>
                                            <p:cond delay="0"/>
                                          </p:stCondLst>
                                        </p:cTn>
                                        <p:tgtEl>
                                          <p:spTgt spid="267"/>
                                        </p:tgtEl>
                                        <p:attrNameLst>
                                          <p:attrName>style.visibility</p:attrName>
                                        </p:attrNameLst>
                                      </p:cBhvr>
                                      <p:to>
                                        <p:strVal val="visible"/>
                                      </p:to>
                                    </p:set>
                                    <p:animEffect filter="fade" transition="in">
                                      <p:cBhvr additive="repl">
                                        <p:cTn id="500" dur="450"/>
                                        <p:tgtEl>
                                          <p:spTgt spid="267"/>
                                        </p:tgtEl>
                                      </p:cBhvr>
                                    </p:animEffect>
                                  </p:childTnLst>
                                </p:cTn>
                              </p:par>
                              <p:par>
                                <p:cTn id="501" nodeType="withEffect" fill="hold" presetClass="entr" presetID="10">
                                  <p:stCondLst>
                                    <p:cond delay="0"/>
                                  </p:stCondLst>
                                  <p:childTnLst>
                                    <p:set>
                                      <p:cBhvr>
                                        <p:cTn id="502" dur="1" fill="hold">
                                          <p:stCondLst>
                                            <p:cond delay="0"/>
                                          </p:stCondLst>
                                        </p:cTn>
                                        <p:tgtEl>
                                          <p:spTgt spid="268"/>
                                        </p:tgtEl>
                                        <p:attrNameLst>
                                          <p:attrName>style.visibility</p:attrName>
                                        </p:attrNameLst>
                                      </p:cBhvr>
                                      <p:to>
                                        <p:strVal val="visible"/>
                                      </p:to>
                                    </p:set>
                                    <p:animEffect filter="fade" transition="in">
                                      <p:cBhvr additive="repl">
                                        <p:cTn id="503" dur="450"/>
                                        <p:tgtEl>
                                          <p:spTgt spid="268"/>
                                        </p:tgtEl>
                                      </p:cBhvr>
                                    </p:animEffect>
                                  </p:childTnLst>
                                </p:cTn>
                              </p:par>
                            </p:childTnLst>
                          </p:cTn>
                        </p:par>
                      </p:childTnLst>
                    </p:cTn>
                  </p:par>
                  <p:par>
                    <p:cTn id="504" fill="hold">
                      <p:stCondLst>
                        <p:cond delay="indefinite"/>
                      </p:stCondLst>
                      <p:childTnLst>
                        <p:par>
                          <p:cTn id="505" fill="hold">
                            <p:stCondLst>
                              <p:cond delay="0"/>
                            </p:stCondLst>
                            <p:childTnLst>
                              <p:par>
                                <p:cTn id="506" nodeType="clickEffect" fill="hold" presetClass="entr" presetID="10">
                                  <p:stCondLst>
                                    <p:cond delay="0"/>
                                  </p:stCondLst>
                                  <p:childTnLst>
                                    <p:set>
                                      <p:cBhvr>
                                        <p:cTn id="507" dur="1" fill="hold">
                                          <p:stCondLst>
                                            <p:cond delay="0"/>
                                          </p:stCondLst>
                                        </p:cTn>
                                        <p:tgtEl>
                                          <p:spTgt spid="269"/>
                                        </p:tgtEl>
                                        <p:attrNameLst>
                                          <p:attrName>style.visibility</p:attrName>
                                        </p:attrNameLst>
                                      </p:cBhvr>
                                      <p:to>
                                        <p:strVal val="visible"/>
                                      </p:to>
                                    </p:set>
                                    <p:animEffect filter="fade" transition="in">
                                      <p:cBhvr additive="repl">
                                        <p:cTn id="508" dur="450"/>
                                        <p:tgtEl>
                                          <p:spTgt spid="269"/>
                                        </p:tgtEl>
                                      </p:cBhvr>
                                    </p:animEffect>
                                  </p:childTnLst>
                                </p:cTn>
                              </p:par>
                              <p:par>
                                <p:cTn id="509" nodeType="withEffect" fill="hold" presetClass="entr" presetID="10">
                                  <p:stCondLst>
                                    <p:cond delay="0"/>
                                  </p:stCondLst>
                                  <p:childTnLst>
                                    <p:set>
                                      <p:cBhvr>
                                        <p:cTn id="510" dur="1" fill="hold">
                                          <p:stCondLst>
                                            <p:cond delay="0"/>
                                          </p:stCondLst>
                                        </p:cTn>
                                        <p:tgtEl>
                                          <p:spTgt spid="270"/>
                                        </p:tgtEl>
                                        <p:attrNameLst>
                                          <p:attrName>style.visibility</p:attrName>
                                        </p:attrNameLst>
                                      </p:cBhvr>
                                      <p:to>
                                        <p:strVal val="visible"/>
                                      </p:to>
                                    </p:set>
                                    <p:animEffect filter="fade" transition="in">
                                      <p:cBhvr additive="repl">
                                        <p:cTn id="511" dur="450"/>
                                        <p:tgtEl>
                                          <p:spTgt spid="270"/>
                                        </p:tgtEl>
                                      </p:cBhvr>
                                    </p:animEffect>
                                  </p:childTnLst>
                                </p:cTn>
                              </p:par>
                            </p:childTnLst>
                          </p:cTn>
                        </p:par>
                      </p:childTnLst>
                    </p:cTn>
                  </p:par>
                  <p:par>
                    <p:cTn id="512" fill="hold">
                      <p:stCondLst>
                        <p:cond delay="indefinite"/>
                      </p:stCondLst>
                      <p:childTnLst>
                        <p:par>
                          <p:cTn id="513" fill="hold">
                            <p:stCondLst>
                              <p:cond delay="0"/>
                            </p:stCondLst>
                            <p:childTnLst>
                              <p:par>
                                <p:cTn id="514" nodeType="clickEffect" fill="hold" presetClass="entr" presetID="10">
                                  <p:stCondLst>
                                    <p:cond delay="0"/>
                                  </p:stCondLst>
                                  <p:childTnLst>
                                    <p:set>
                                      <p:cBhvr>
                                        <p:cTn id="515" dur="1" fill="hold">
                                          <p:stCondLst>
                                            <p:cond delay="0"/>
                                          </p:stCondLst>
                                        </p:cTn>
                                        <p:tgtEl>
                                          <p:spTgt spid="271"/>
                                        </p:tgtEl>
                                        <p:attrNameLst>
                                          <p:attrName>style.visibility</p:attrName>
                                        </p:attrNameLst>
                                      </p:cBhvr>
                                      <p:to>
                                        <p:strVal val="visible"/>
                                      </p:to>
                                    </p:set>
                                    <p:animEffect filter="fade" transition="in">
                                      <p:cBhvr additive="repl">
                                        <p:cTn id="516" dur="450"/>
                                        <p:tgtEl>
                                          <p:spTgt spid="271"/>
                                        </p:tgtEl>
                                      </p:cBhvr>
                                    </p:animEffect>
                                  </p:childTnLst>
                                </p:cTn>
                              </p:par>
                              <p:par>
                                <p:cTn id="517" nodeType="withEffect" fill="hold" presetClass="entr" presetID="10">
                                  <p:stCondLst>
                                    <p:cond delay="0"/>
                                  </p:stCondLst>
                                  <p:childTnLst>
                                    <p:set>
                                      <p:cBhvr>
                                        <p:cTn id="518" dur="1" fill="hold">
                                          <p:stCondLst>
                                            <p:cond delay="0"/>
                                          </p:stCondLst>
                                        </p:cTn>
                                        <p:tgtEl>
                                          <p:spTgt spid="272"/>
                                        </p:tgtEl>
                                        <p:attrNameLst>
                                          <p:attrName>style.visibility</p:attrName>
                                        </p:attrNameLst>
                                      </p:cBhvr>
                                      <p:to>
                                        <p:strVal val="visible"/>
                                      </p:to>
                                    </p:set>
                                    <p:animEffect filter="fade" transition="in">
                                      <p:cBhvr additive="repl">
                                        <p:cTn id="519" dur="450"/>
                                        <p:tgtEl>
                                          <p:spTgt spid="272"/>
                                        </p:tgtEl>
                                      </p:cBhvr>
                                    </p:animEffect>
                                  </p:childTnLst>
                                </p:cTn>
                              </p:par>
                            </p:childTnLst>
                          </p:cTn>
                        </p:par>
                      </p:childTnLst>
                    </p:cTn>
                  </p:par>
                  <p:par>
                    <p:cTn id="520" fill="hold">
                      <p:stCondLst>
                        <p:cond delay="indefinite"/>
                      </p:stCondLst>
                      <p:childTnLst>
                        <p:par>
                          <p:cTn id="521" fill="hold">
                            <p:stCondLst>
                              <p:cond delay="0"/>
                            </p:stCondLst>
                            <p:childTnLst>
                              <p:par>
                                <p:cTn id="522" nodeType="clickEffect" fill="hold" presetClass="entr" presetID="10">
                                  <p:stCondLst>
                                    <p:cond delay="0"/>
                                  </p:stCondLst>
                                  <p:childTnLst>
                                    <p:set>
                                      <p:cBhvr>
                                        <p:cTn id="523" dur="1" fill="hold">
                                          <p:stCondLst>
                                            <p:cond delay="0"/>
                                          </p:stCondLst>
                                        </p:cTn>
                                        <p:tgtEl>
                                          <p:spTgt spid="273"/>
                                        </p:tgtEl>
                                        <p:attrNameLst>
                                          <p:attrName>style.visibility</p:attrName>
                                        </p:attrNameLst>
                                      </p:cBhvr>
                                      <p:to>
                                        <p:strVal val="visible"/>
                                      </p:to>
                                    </p:set>
                                    <p:animEffect filter="fade" transition="in">
                                      <p:cBhvr additive="repl">
                                        <p:cTn id="524" dur="450"/>
                                        <p:tgtEl>
                                          <p:spTgt spid="273"/>
                                        </p:tgtEl>
                                      </p:cBhvr>
                                    </p:animEffect>
                                  </p:childTnLst>
                                </p:cTn>
                              </p:par>
                              <p:par>
                                <p:cTn id="525" nodeType="withEffect" fill="hold" presetClass="entr" presetID="10">
                                  <p:stCondLst>
                                    <p:cond delay="0"/>
                                  </p:stCondLst>
                                  <p:childTnLst>
                                    <p:set>
                                      <p:cBhvr>
                                        <p:cTn id="526" dur="1" fill="hold">
                                          <p:stCondLst>
                                            <p:cond delay="0"/>
                                          </p:stCondLst>
                                        </p:cTn>
                                        <p:tgtEl>
                                          <p:spTgt spid="274"/>
                                        </p:tgtEl>
                                        <p:attrNameLst>
                                          <p:attrName>style.visibility</p:attrName>
                                        </p:attrNameLst>
                                      </p:cBhvr>
                                      <p:to>
                                        <p:strVal val="visible"/>
                                      </p:to>
                                    </p:set>
                                    <p:animEffect filter="fade" transition="in">
                                      <p:cBhvr additive="repl">
                                        <p:cTn id="527" dur="450"/>
                                        <p:tgtEl>
                                          <p:spTgt spid="274"/>
                                        </p:tgtEl>
                                      </p:cBhvr>
                                    </p:animEffect>
                                  </p:childTnLst>
                                </p:cTn>
                              </p:par>
                            </p:childTnLst>
                          </p:cTn>
                        </p:par>
                      </p:childTnLst>
                    </p:cTn>
                  </p:par>
                  <p:par>
                    <p:cTn id="528" fill="hold">
                      <p:stCondLst>
                        <p:cond delay="indefinite"/>
                      </p:stCondLst>
                      <p:childTnLst>
                        <p:par>
                          <p:cTn id="529" fill="hold">
                            <p:stCondLst>
                              <p:cond delay="0"/>
                            </p:stCondLst>
                            <p:childTnLst>
                              <p:par>
                                <p:cTn id="530" nodeType="clickEffect" fill="hold" presetClass="entr" presetID="10">
                                  <p:stCondLst>
                                    <p:cond delay="0"/>
                                  </p:stCondLst>
                                  <p:childTnLst>
                                    <p:set>
                                      <p:cBhvr>
                                        <p:cTn id="531" dur="1" fill="hold">
                                          <p:stCondLst>
                                            <p:cond delay="0"/>
                                          </p:stCondLst>
                                        </p:cTn>
                                        <p:tgtEl>
                                          <p:spTgt spid="275"/>
                                        </p:tgtEl>
                                        <p:attrNameLst>
                                          <p:attrName>style.visibility</p:attrName>
                                        </p:attrNameLst>
                                      </p:cBhvr>
                                      <p:to>
                                        <p:strVal val="visible"/>
                                      </p:to>
                                    </p:set>
                                    <p:animEffect filter="fade" transition="in">
                                      <p:cBhvr additive="repl">
                                        <p:cTn id="532" dur="450"/>
                                        <p:tgtEl>
                                          <p:spTgt spid="275"/>
                                        </p:tgtEl>
                                      </p:cBhvr>
                                    </p:animEffect>
                                  </p:childTnLst>
                                </p:cTn>
                              </p:par>
                              <p:par>
                                <p:cTn id="533" nodeType="withEffect" fill="hold" presetClass="entr" presetID="10">
                                  <p:stCondLst>
                                    <p:cond delay="0"/>
                                  </p:stCondLst>
                                  <p:childTnLst>
                                    <p:set>
                                      <p:cBhvr>
                                        <p:cTn id="534" dur="1" fill="hold">
                                          <p:stCondLst>
                                            <p:cond delay="0"/>
                                          </p:stCondLst>
                                        </p:cTn>
                                        <p:tgtEl>
                                          <p:spTgt spid="276"/>
                                        </p:tgtEl>
                                        <p:attrNameLst>
                                          <p:attrName>style.visibility</p:attrName>
                                        </p:attrNameLst>
                                      </p:cBhvr>
                                      <p:to>
                                        <p:strVal val="visible"/>
                                      </p:to>
                                    </p:set>
                                    <p:animEffect filter="fade" transition="in">
                                      <p:cBhvr additive="repl">
                                        <p:cTn id="535" dur="450"/>
                                        <p:tgtEl>
                                          <p:spTgt spid="27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Text 0"/>
          <p:cNvSpPr/>
          <p:nvPr/>
        </p:nvSpPr>
        <p:spPr>
          <a:xfrm>
            <a:off x="822960" y="59436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1f7a4d"/>
                </a:solidFill>
                <a:effectLst/>
                <a:uFillTx/>
                <a:latin typeface="Calibri"/>
                <a:ea typeface="Calibri"/>
              </a:rPr>
              <a:t>SYNTHESIS</a:t>
            </a:r>
            <a:endParaRPr b="0" lang="en-US" sz="1400" strike="noStrike" u="none">
              <a:solidFill>
                <a:srgbClr val="000000"/>
              </a:solidFill>
              <a:effectLst/>
              <a:uFillTx/>
              <a:latin typeface="Arial"/>
            </a:endParaRPr>
          </a:p>
        </p:txBody>
      </p:sp>
      <p:sp>
        <p:nvSpPr>
          <p:cNvPr id="280" name="Text 1"/>
          <p:cNvSpPr/>
          <p:nvPr/>
        </p:nvSpPr>
        <p:spPr>
          <a:xfrm>
            <a:off x="777240" y="896040"/>
            <a:ext cx="91436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a1a1a"/>
                </a:solidFill>
                <a:effectLst/>
                <a:uFillTx/>
                <a:latin typeface="Cambria"/>
                <a:ea typeface="Cambria"/>
              </a:rPr>
              <a:t>So, worth the investment?</a:t>
            </a:r>
            <a:endParaRPr b="0" lang="en-US" sz="3200" strike="noStrike" u="none">
              <a:solidFill>
                <a:srgbClr val="000000"/>
              </a:solidFill>
              <a:effectLst/>
              <a:uFillTx/>
              <a:latin typeface="Arial"/>
            </a:endParaRPr>
          </a:p>
        </p:txBody>
      </p:sp>
      <p:sp>
        <p:nvSpPr>
          <p:cNvPr id="281" name="Text 2"/>
          <p:cNvSpPr/>
          <p:nvPr/>
        </p:nvSpPr>
        <p:spPr>
          <a:xfrm>
            <a:off x="822960" y="1645920"/>
            <a:ext cx="10332360" cy="7768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i="1" lang="en-US" sz="1350" strike="noStrike" u="none">
                <a:solidFill>
                  <a:srgbClr val="6b7280"/>
                </a:solidFill>
                <a:effectLst/>
                <a:uFillTx/>
                <a:latin typeface="Calibri"/>
                <a:ea typeface="Calibri"/>
              </a:rPr>
              <a:t>The clearest finding: any injury history flattens value growth, not how recent it is. That matters more because the raw value-trend forecast alone is unreliable (22.7% directional accuracy, worse than a coin flip), so this is the signal that actually protects a recruitment decision.</a:t>
            </a:r>
            <a:endParaRPr b="0" lang="en-US" sz="1350" strike="noStrike" u="none">
              <a:solidFill>
                <a:srgbClr val="000000"/>
              </a:solidFill>
              <a:effectLst/>
              <a:uFillTx/>
              <a:latin typeface="Arial"/>
            </a:endParaRPr>
          </a:p>
        </p:txBody>
      </p:sp>
      <p:sp>
        <p:nvSpPr>
          <p:cNvPr id="282" name="Shape 3"/>
          <p:cNvSpPr/>
          <p:nvPr/>
        </p:nvSpPr>
        <p:spPr>
          <a:xfrm>
            <a:off x="822960" y="2697480"/>
            <a:ext cx="3382920" cy="2331360"/>
          </a:xfrm>
          <a:prstGeom prst="roundRect">
            <a:avLst>
              <a:gd name="adj" fmla="val 3529"/>
            </a:avLst>
          </a:prstGeom>
          <a:solidFill>
            <a:srgbClr val="ffffff"/>
          </a:solidFill>
          <a:ln w="19050">
            <a:solidFill>
              <a:srgbClr val="e8a33d"/>
            </a:solidFill>
            <a:round/>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83" name="Shape 4"/>
          <p:cNvSpPr/>
          <p:nvPr/>
        </p:nvSpPr>
        <p:spPr>
          <a:xfrm>
            <a:off x="960120" y="2834640"/>
            <a:ext cx="712800" cy="71280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84" name="Shape 5"/>
          <p:cNvSpPr/>
          <p:nvPr/>
        </p:nvSpPr>
        <p:spPr>
          <a:xfrm>
            <a:off x="1078920" y="2953440"/>
            <a:ext cx="475200" cy="4752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285" name="Image 0" descr="preencoded.png"/>
          <p:cNvPicPr/>
          <p:nvPr/>
        </p:nvPicPr>
        <p:blipFill>
          <a:blip r:embed="rId1"/>
          <a:stretch/>
        </p:blipFill>
        <p:spPr>
          <a:xfrm>
            <a:off x="1225440" y="3099960"/>
            <a:ext cx="182520" cy="182520"/>
          </a:xfrm>
          <a:prstGeom prst="rect">
            <a:avLst/>
          </a:prstGeom>
          <a:noFill/>
          <a:ln w="0">
            <a:noFill/>
          </a:ln>
        </p:spPr>
      </p:pic>
      <p:sp>
        <p:nvSpPr>
          <p:cNvPr id="286" name="Text 6"/>
          <p:cNvSpPr/>
          <p:nvPr/>
        </p:nvSpPr>
        <p:spPr>
          <a:xfrm>
            <a:off x="1078920" y="3008520"/>
            <a:ext cx="2559960" cy="21924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1" lang="en-US" sz="1100" spc="99" strike="noStrike" u="none">
                <a:solidFill>
                  <a:srgbClr val="b8790c"/>
                </a:solidFill>
                <a:effectLst/>
                <a:uFillTx/>
                <a:latin typeface="Calibri"/>
                <a:ea typeface="Calibri"/>
              </a:rPr>
              <a:t>STRONGEST SIGNAL</a:t>
            </a:r>
            <a:endParaRPr b="0" lang="en-US" sz="1100" strike="noStrike" u="none">
              <a:solidFill>
                <a:srgbClr val="000000"/>
              </a:solidFill>
              <a:effectLst/>
              <a:uFillTx/>
              <a:latin typeface="Arial"/>
            </a:endParaRPr>
          </a:p>
        </p:txBody>
      </p:sp>
      <p:sp>
        <p:nvSpPr>
          <p:cNvPr id="287" name="Text 7"/>
          <p:cNvSpPr/>
          <p:nvPr/>
        </p:nvSpPr>
        <p:spPr>
          <a:xfrm>
            <a:off x="1078920" y="3557160"/>
            <a:ext cx="2871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1a1a"/>
                </a:solidFill>
                <a:effectLst/>
                <a:uFillTx/>
                <a:latin typeface="Calibri"/>
                <a:ea typeface="Calibri"/>
              </a:rPr>
              <a:t>Scouting</a:t>
            </a:r>
            <a:endParaRPr b="0" lang="en-US" sz="1400" strike="noStrike" u="none">
              <a:solidFill>
                <a:srgbClr val="000000"/>
              </a:solidFill>
              <a:effectLst/>
              <a:uFillTx/>
              <a:latin typeface="Arial"/>
            </a:endParaRPr>
          </a:p>
        </p:txBody>
      </p:sp>
      <p:sp>
        <p:nvSpPr>
          <p:cNvPr id="288" name="Text 8"/>
          <p:cNvSpPr/>
          <p:nvPr/>
        </p:nvSpPr>
        <p:spPr>
          <a:xfrm>
            <a:off x="1078920" y="3922920"/>
            <a:ext cx="28710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6b7280"/>
                </a:solidFill>
                <a:effectLst/>
                <a:uFillTx/>
                <a:latin typeface="Calibri"/>
                <a:ea typeface="Calibri"/>
              </a:rPr>
              <a:t>Any injury history flattens value growth.</a:t>
            </a:r>
            <a:endParaRPr b="0" lang="en-US" sz="1400" strike="noStrike" u="none">
              <a:solidFill>
                <a:srgbClr val="000000"/>
              </a:solidFill>
              <a:effectLst/>
              <a:uFillTx/>
              <a:latin typeface="Arial"/>
            </a:endParaRPr>
          </a:p>
        </p:txBody>
      </p:sp>
      <p:sp>
        <p:nvSpPr>
          <p:cNvPr id="289" name="Shape 9"/>
          <p:cNvSpPr/>
          <p:nvPr/>
        </p:nvSpPr>
        <p:spPr>
          <a:xfrm>
            <a:off x="4434840" y="2697480"/>
            <a:ext cx="3382920" cy="2331360"/>
          </a:xfrm>
          <a:prstGeom prst="roundRect">
            <a:avLst>
              <a:gd name="adj" fmla="val 352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90" name="Shape 10"/>
          <p:cNvSpPr/>
          <p:nvPr/>
        </p:nvSpPr>
        <p:spPr>
          <a:xfrm>
            <a:off x="4572000" y="2834640"/>
            <a:ext cx="712800" cy="71280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91" name="Shape 11"/>
          <p:cNvSpPr/>
          <p:nvPr/>
        </p:nvSpPr>
        <p:spPr>
          <a:xfrm>
            <a:off x="4690800" y="2953440"/>
            <a:ext cx="475200" cy="47520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292" name="Image 1" descr="preencoded.png"/>
          <p:cNvPicPr/>
          <p:nvPr/>
        </p:nvPicPr>
        <p:blipFill>
          <a:blip r:embed="rId2"/>
          <a:stretch/>
        </p:blipFill>
        <p:spPr>
          <a:xfrm>
            <a:off x="4837320" y="3099960"/>
            <a:ext cx="182520" cy="182520"/>
          </a:xfrm>
          <a:prstGeom prst="rect">
            <a:avLst/>
          </a:prstGeom>
          <a:noFill/>
          <a:ln w="0">
            <a:noFill/>
          </a:ln>
        </p:spPr>
      </p:pic>
      <p:sp>
        <p:nvSpPr>
          <p:cNvPr id="293" name="Text 12"/>
          <p:cNvSpPr/>
          <p:nvPr/>
        </p:nvSpPr>
        <p:spPr>
          <a:xfrm>
            <a:off x="4690800" y="3557160"/>
            <a:ext cx="2871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1a1a"/>
                </a:solidFill>
                <a:effectLst/>
                <a:uFillTx/>
                <a:latin typeface="Calibri"/>
                <a:ea typeface="Calibri"/>
              </a:rPr>
              <a:t>Front Office</a:t>
            </a:r>
            <a:endParaRPr b="0" lang="en-US" sz="1400" strike="noStrike" u="none">
              <a:solidFill>
                <a:srgbClr val="000000"/>
              </a:solidFill>
              <a:effectLst/>
              <a:uFillTx/>
              <a:latin typeface="Arial"/>
            </a:endParaRPr>
          </a:p>
        </p:txBody>
      </p:sp>
      <p:sp>
        <p:nvSpPr>
          <p:cNvPr id="294" name="Text 13"/>
          <p:cNvSpPr/>
          <p:nvPr/>
        </p:nvSpPr>
        <p:spPr>
          <a:xfrm>
            <a:off x="4690800" y="3922920"/>
            <a:ext cx="28710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6b7280"/>
                </a:solidFill>
                <a:effectLst/>
                <a:uFillTx/>
                <a:latin typeface="Calibri"/>
                <a:ea typeface="Calibri"/>
              </a:rPr>
              <a:t>21–24 is the true value-risk sweet spot.</a:t>
            </a:r>
            <a:endParaRPr b="0" lang="en-US" sz="1400" strike="noStrike" u="none">
              <a:solidFill>
                <a:srgbClr val="000000"/>
              </a:solidFill>
              <a:effectLst/>
              <a:uFillTx/>
              <a:latin typeface="Arial"/>
            </a:endParaRPr>
          </a:p>
        </p:txBody>
      </p:sp>
      <p:sp>
        <p:nvSpPr>
          <p:cNvPr id="295" name="Shape 14"/>
          <p:cNvSpPr/>
          <p:nvPr/>
        </p:nvSpPr>
        <p:spPr>
          <a:xfrm>
            <a:off x="8046720" y="2697480"/>
            <a:ext cx="3382920" cy="2331360"/>
          </a:xfrm>
          <a:prstGeom prst="roundRect">
            <a:avLst>
              <a:gd name="adj" fmla="val 3529"/>
            </a:avLst>
          </a:prstGeom>
          <a:solidFill>
            <a:srgbClr val="ffffff"/>
          </a:solidFill>
          <a:ln w="0">
            <a:noFill/>
          </a:ln>
          <a:effectLst>
            <a:outerShdw algn="bl" blurRad="101520" dir="5400000" dist="38160" rotWithShape="0">
              <a:srgbClr val="8c93a6">
                <a:alpha val="22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96" name="Shape 15"/>
          <p:cNvSpPr/>
          <p:nvPr/>
        </p:nvSpPr>
        <p:spPr>
          <a:xfrm>
            <a:off x="8183880" y="2834640"/>
            <a:ext cx="712800" cy="71280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297" name="Shape 16"/>
          <p:cNvSpPr/>
          <p:nvPr/>
        </p:nvSpPr>
        <p:spPr>
          <a:xfrm>
            <a:off x="8302680" y="2953440"/>
            <a:ext cx="475200" cy="47520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298" name="Image 2" descr="preencoded.png"/>
          <p:cNvPicPr/>
          <p:nvPr/>
        </p:nvPicPr>
        <p:blipFill>
          <a:blip r:embed="rId3"/>
          <a:stretch/>
        </p:blipFill>
        <p:spPr>
          <a:xfrm>
            <a:off x="8449200" y="3099960"/>
            <a:ext cx="182520" cy="182520"/>
          </a:xfrm>
          <a:prstGeom prst="rect">
            <a:avLst/>
          </a:prstGeom>
          <a:noFill/>
          <a:ln w="0">
            <a:noFill/>
          </a:ln>
        </p:spPr>
      </p:pic>
      <p:sp>
        <p:nvSpPr>
          <p:cNvPr id="299" name="Text 17"/>
          <p:cNvSpPr/>
          <p:nvPr/>
        </p:nvSpPr>
        <p:spPr>
          <a:xfrm>
            <a:off x="8302680" y="3557160"/>
            <a:ext cx="287100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trike="noStrike" u="none">
                <a:solidFill>
                  <a:srgbClr val="1a1a1a"/>
                </a:solidFill>
                <a:effectLst/>
                <a:uFillTx/>
                <a:latin typeface="Calibri"/>
                <a:ea typeface="Calibri"/>
              </a:rPr>
              <a:t>Medical</a:t>
            </a:r>
            <a:endParaRPr b="0" lang="en-US" sz="1400" strike="noStrike" u="none">
              <a:solidFill>
                <a:srgbClr val="000000"/>
              </a:solidFill>
              <a:effectLst/>
              <a:uFillTx/>
              <a:latin typeface="Arial"/>
            </a:endParaRPr>
          </a:p>
        </p:txBody>
      </p:sp>
      <p:sp>
        <p:nvSpPr>
          <p:cNvPr id="300" name="Text 18"/>
          <p:cNvSpPr/>
          <p:nvPr/>
        </p:nvSpPr>
        <p:spPr>
          <a:xfrm>
            <a:off x="8302680" y="3922920"/>
            <a:ext cx="2871000" cy="1005480"/>
          </a:xfrm>
          <a:prstGeom prst="rect">
            <a:avLst/>
          </a:prstGeom>
          <a:noFill/>
          <a:ln w="0">
            <a:noFill/>
          </a:ln>
        </p:spPr>
        <p:style>
          <a:lnRef idx="0"/>
          <a:fillRef idx="0"/>
          <a:effectRef idx="0"/>
          <a:fontRef idx="minor"/>
        </p:style>
        <p:txBody>
          <a:bodyPr lIns="0" rIns="0" tIns="0" bIns="0" anchor="t">
            <a:noAutofit/>
          </a:bodyPr>
          <a:p>
            <a:pPr defTabSz="914400">
              <a:lnSpc>
                <a:spcPct val="100000"/>
              </a:lnSpc>
              <a:tabLst>
                <a:tab algn="l" pos="0"/>
              </a:tabLst>
            </a:pPr>
            <a:r>
              <a:rPr b="0" lang="en-US" sz="1400" strike="noStrike" u="none">
                <a:solidFill>
                  <a:srgbClr val="6b7280"/>
                </a:solidFill>
                <a:effectLst/>
                <a:uFillTx/>
                <a:latin typeface="Calibri"/>
                <a:ea typeface="Calibri"/>
              </a:rPr>
              <a:t>Position risk is unconfirmed. Keep monitoring workload.</a:t>
            </a:r>
            <a:endParaRPr b="0" lang="en-US" sz="1400" strike="noStrike" u="none">
              <a:solidFill>
                <a:srgbClr val="000000"/>
              </a:solidFill>
              <a:effectLst/>
              <a:uFillTx/>
              <a:latin typeface="Arial"/>
            </a:endParaRPr>
          </a:p>
        </p:txBody>
      </p:sp>
      <p:sp>
        <p:nvSpPr>
          <p:cNvPr id="301" name="Shape 19"/>
          <p:cNvSpPr/>
          <p:nvPr/>
        </p:nvSpPr>
        <p:spPr>
          <a:xfrm>
            <a:off x="822960" y="5349240"/>
            <a:ext cx="10515240" cy="1051200"/>
          </a:xfrm>
          <a:prstGeom prst="roundRect">
            <a:avLst>
              <a:gd name="adj" fmla="val 7826"/>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02" name="Text 20"/>
          <p:cNvSpPr/>
          <p:nvPr/>
        </p:nvSpPr>
        <p:spPr>
          <a:xfrm>
            <a:off x="1051560" y="5349240"/>
            <a:ext cx="10058040" cy="10512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50" strike="noStrike" u="none">
                <a:solidFill>
                  <a:srgbClr val="e8a33d"/>
                </a:solidFill>
                <a:effectLst/>
                <a:uFillTx/>
                <a:latin typeface="Calibri"/>
                <a:ea typeface="Calibri"/>
              </a:rPr>
              <a:t>Bottom line:  </a:t>
            </a:r>
            <a:r>
              <a:rPr b="0" lang="en-US" sz="1350" strike="noStrike" u="none">
                <a:solidFill>
                  <a:srgbClr val="ffffff"/>
                </a:solidFill>
                <a:effectLst/>
                <a:uFillTx/>
                <a:latin typeface="Calibri"/>
                <a:ea typeface="Calibri"/>
              </a:rPr>
              <a:t>value forecast and injury risk, read together, give recruitment a more realistic picture than a rising valuation alone, and flag exactly where that picture is still uncertain.</a:t>
            </a:r>
            <a:endParaRPr b="0" lang="en-US" sz="1350" strike="noStrike" u="none">
              <a:solidFill>
                <a:srgbClr val="000000"/>
              </a:solidFill>
              <a:effectLst/>
              <a:uFillTx/>
              <a:latin typeface="Arial"/>
            </a:endParaRPr>
          </a:p>
        </p:txBody>
      </p:sp>
      <p:sp>
        <p:nvSpPr>
          <p:cNvPr id="303" name="Text 21"/>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trike="noStrike" u="none">
                <a:solidFill>
                  <a:srgbClr val="a3a9b5"/>
                </a:solidFill>
                <a:effectLst/>
                <a:uFillTx/>
                <a:latin typeface="Calibri"/>
                <a:ea typeface="Calibri"/>
              </a:rPr>
              <a:t>11</a:t>
            </a:r>
            <a:endParaRPr b="0" lang="en-US" sz="10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304" name="Shape 0"/>
          <p:cNvSpPr/>
          <p:nvPr/>
        </p:nvSpPr>
        <p:spPr>
          <a:xfrm>
            <a:off x="-36576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05" name="Shape 1"/>
          <p:cNvSpPr/>
          <p:nvPr/>
        </p:nvSpPr>
        <p:spPr>
          <a:xfrm>
            <a:off x="1182600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06" name="Shape 2"/>
          <p:cNvSpPr/>
          <p:nvPr/>
        </p:nvSpPr>
        <p:spPr>
          <a:xfrm>
            <a:off x="-36576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07" name="Shape 3"/>
          <p:cNvSpPr/>
          <p:nvPr/>
        </p:nvSpPr>
        <p:spPr>
          <a:xfrm>
            <a:off x="1182600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08" name="Shape 4"/>
          <p:cNvSpPr/>
          <p:nvPr/>
        </p:nvSpPr>
        <p:spPr>
          <a:xfrm>
            <a:off x="7863840" y="137160"/>
            <a:ext cx="6583320" cy="658332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09" name="Shape 5"/>
          <p:cNvSpPr/>
          <p:nvPr/>
        </p:nvSpPr>
        <p:spPr>
          <a:xfrm>
            <a:off x="11109960" y="338328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10" name="Shape 6"/>
          <p:cNvSpPr/>
          <p:nvPr/>
        </p:nvSpPr>
        <p:spPr>
          <a:xfrm>
            <a:off x="7863840" y="3429000"/>
            <a:ext cx="4327560" cy="360"/>
          </a:xfrm>
          <a:prstGeom prst="line">
            <a:avLst/>
          </a:prstGeom>
          <a:ln w="25400">
            <a:solidFill>
              <a:srgbClr val="1f7a4d">
                <a:alpha val="38000"/>
              </a:srgbClr>
            </a:solidFill>
            <a:round/>
          </a:ln>
        </p:spPr>
        <p:style>
          <a:lnRef idx="0"/>
          <a:fillRef idx="0"/>
          <a:effectRef idx="0"/>
          <a:fontRef idx="minor"/>
        </p:style>
        <p:txBody>
          <a:bodyPr lIns="90000" rIns="90000" tIns="-44640" bIns="-44640" anchor="t">
            <a:noAutofit/>
          </a:bodyPr>
          <a:p>
            <a:endParaRPr b="0" lang="en-US" sz="1800" strike="noStrike" u="none">
              <a:solidFill>
                <a:schemeClr val="dk1"/>
              </a:solidFill>
              <a:effectLst/>
              <a:uFillTx/>
              <a:latin typeface="Calibri"/>
            </a:endParaRPr>
          </a:p>
        </p:txBody>
      </p:sp>
      <p:sp>
        <p:nvSpPr>
          <p:cNvPr id="311" name="Text 7"/>
          <p:cNvSpPr/>
          <p:nvPr/>
        </p:nvSpPr>
        <p:spPr>
          <a:xfrm>
            <a:off x="822960" y="173736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e8a33d"/>
                </a:solidFill>
                <a:effectLst/>
                <a:uFillTx/>
                <a:latin typeface="Calibri"/>
                <a:ea typeface="Calibri"/>
              </a:rPr>
              <a:t>NOW, IN TABLEAU</a:t>
            </a:r>
            <a:endParaRPr b="0" lang="en-US" sz="1400" strike="noStrike" u="none">
              <a:solidFill>
                <a:srgbClr val="ffffff"/>
              </a:solidFill>
              <a:effectLst/>
              <a:uFillTx/>
              <a:latin typeface="Arial"/>
            </a:endParaRPr>
          </a:p>
        </p:txBody>
      </p:sp>
      <p:sp>
        <p:nvSpPr>
          <p:cNvPr id="312" name="Text 8"/>
          <p:cNvSpPr/>
          <p:nvPr/>
        </p:nvSpPr>
        <p:spPr>
          <a:xfrm>
            <a:off x="777240" y="2057400"/>
            <a:ext cx="8229240" cy="10054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600" strike="noStrike" u="none">
                <a:solidFill>
                  <a:srgbClr val="ffffff"/>
                </a:solidFill>
                <a:effectLst/>
                <a:uFillTx/>
                <a:latin typeface="Cambria"/>
                <a:ea typeface="Cambria"/>
              </a:rPr>
              <a:t>See it live.</a:t>
            </a:r>
            <a:endParaRPr b="0" lang="en-US" sz="4600" strike="noStrike" u="none">
              <a:solidFill>
                <a:srgbClr val="ffffff"/>
              </a:solidFill>
              <a:effectLst/>
              <a:uFillTx/>
              <a:latin typeface="Arial"/>
            </a:endParaRPr>
          </a:p>
        </p:txBody>
      </p:sp>
      <p:sp>
        <p:nvSpPr>
          <p:cNvPr id="313" name="Text 9"/>
          <p:cNvSpPr/>
          <p:nvPr/>
        </p:nvSpPr>
        <p:spPr>
          <a:xfrm>
            <a:off x="822960" y="3063240"/>
            <a:ext cx="749772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500" strike="noStrike" u="none">
                <a:solidFill>
                  <a:srgbClr val="cadcfc"/>
                </a:solidFill>
                <a:effectLst/>
                <a:uFillTx/>
                <a:latin typeface="Calibri"/>
                <a:ea typeface="Calibri"/>
              </a:rPr>
              <a:t>Switching to the interactive dashboards: value vs. injury risk, age, recency, and position, with cross-filtering across every view.</a:t>
            </a:r>
            <a:endParaRPr b="0" lang="en-US" sz="1500" strike="noStrike" u="none">
              <a:solidFill>
                <a:srgbClr val="ffffff"/>
              </a:solidFill>
              <a:effectLst/>
              <a:uFillTx/>
              <a:latin typeface="Arial"/>
            </a:endParaRPr>
          </a:p>
        </p:txBody>
      </p:sp>
      <p:sp>
        <p:nvSpPr>
          <p:cNvPr id="314" name="Shape 10">
            <a:hlinkClick r:id="rId1"/>
          </p:cNvPr>
          <p:cNvSpPr/>
          <p:nvPr/>
        </p:nvSpPr>
        <p:spPr>
          <a:xfrm>
            <a:off x="822960" y="4160520"/>
            <a:ext cx="3931560" cy="685440"/>
          </a:xfrm>
          <a:prstGeom prst="roundRect">
            <a:avLst>
              <a:gd name="adj" fmla="val 50000"/>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15" name="Shape 11"/>
          <p:cNvSpPr/>
          <p:nvPr/>
        </p:nvSpPr>
        <p:spPr>
          <a:xfrm rot="5400000">
            <a:off x="1298880" y="4402800"/>
            <a:ext cx="200880" cy="200880"/>
          </a:xfrm>
          <a:prstGeom prst="triangle">
            <a:avLst>
              <a:gd name="adj" fmla="val 50000"/>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16" name="Text 12">
            <a:hlinkClick r:id="rId2"/>
          </p:cNvPr>
          <p:cNvSpPr/>
          <p:nvPr/>
        </p:nvSpPr>
        <p:spPr>
          <a:xfrm>
            <a:off x="1691640" y="4160520"/>
            <a:ext cx="2971440" cy="6854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00" strike="noStrike" u="sng">
                <a:solidFill>
                  <a:srgbClr val="0f1b3d"/>
                </a:solidFill>
                <a:effectLst/>
                <a:uFillTx/>
                <a:latin typeface="Calibri"/>
                <a:ea typeface="Calibri"/>
                <a:hlinkClick r:id="rId3"/>
              </a:rPr>
              <a:t>Open Tableau Dashboard</a:t>
            </a:r>
            <a:endParaRPr b="0" lang="en-US" sz="1500" strike="noStrike" u="none">
              <a:solidFill>
                <a:srgbClr val="ffffff"/>
              </a:solidFill>
              <a:effectLst/>
              <a:uFillTx/>
              <a:latin typeface="Arial"/>
            </a:endParaRPr>
          </a:p>
        </p:txBody>
      </p:sp>
      <p:sp>
        <p:nvSpPr>
          <p:cNvPr id="317" name="Shape 13"/>
          <p:cNvSpPr/>
          <p:nvPr/>
        </p:nvSpPr>
        <p:spPr>
          <a:xfrm>
            <a:off x="822960" y="512964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18" name="Text 14"/>
          <p:cNvSpPr/>
          <p:nvPr/>
        </p:nvSpPr>
        <p:spPr>
          <a:xfrm>
            <a:off x="1051560" y="500184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aeb8d6"/>
                </a:solidFill>
                <a:effectLst/>
                <a:uFillTx/>
                <a:latin typeface="Calibri"/>
                <a:ea typeface="Calibri"/>
              </a:rPr>
              <a:t>Cover (navigate from here)</a:t>
            </a:r>
            <a:endParaRPr b="0" lang="en-US" sz="1350" strike="noStrike" u="none">
              <a:solidFill>
                <a:srgbClr val="ffffff"/>
              </a:solidFill>
              <a:effectLst/>
              <a:uFillTx/>
              <a:latin typeface="Arial"/>
            </a:endParaRPr>
          </a:p>
        </p:txBody>
      </p:sp>
      <p:sp>
        <p:nvSpPr>
          <p:cNvPr id="319" name="Shape 15"/>
          <p:cNvSpPr/>
          <p:nvPr/>
        </p:nvSpPr>
        <p:spPr>
          <a:xfrm>
            <a:off x="822960" y="542232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20" name="Text 16"/>
          <p:cNvSpPr/>
          <p:nvPr/>
        </p:nvSpPr>
        <p:spPr>
          <a:xfrm>
            <a:off x="1051560" y="529452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aeb8d6"/>
                </a:solidFill>
                <a:effectLst/>
                <a:uFillTx/>
                <a:latin typeface="Calibri"/>
                <a:ea typeface="Calibri"/>
              </a:rPr>
              <a:t>Value Trend</a:t>
            </a:r>
            <a:endParaRPr b="0" lang="en-US" sz="1350" strike="noStrike" u="none">
              <a:solidFill>
                <a:srgbClr val="ffffff"/>
              </a:solidFill>
              <a:effectLst/>
              <a:uFillTx/>
              <a:latin typeface="Arial"/>
            </a:endParaRPr>
          </a:p>
        </p:txBody>
      </p:sp>
      <p:sp>
        <p:nvSpPr>
          <p:cNvPr id="321" name="Shape 17"/>
          <p:cNvSpPr/>
          <p:nvPr/>
        </p:nvSpPr>
        <p:spPr>
          <a:xfrm>
            <a:off x="822960" y="571500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22" name="Text 18"/>
          <p:cNvSpPr/>
          <p:nvPr/>
        </p:nvSpPr>
        <p:spPr>
          <a:xfrm>
            <a:off x="1051560" y="558684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aeb8d6"/>
                </a:solidFill>
                <a:effectLst/>
                <a:uFillTx/>
                <a:latin typeface="Calibri"/>
                <a:ea typeface="Calibri"/>
              </a:rPr>
              <a:t>Risk Summary</a:t>
            </a:r>
            <a:endParaRPr b="0" lang="en-US" sz="1350" strike="noStrike" u="none">
              <a:solidFill>
                <a:srgbClr val="ffffff"/>
              </a:solidFill>
              <a:effectLst/>
              <a:uFillTx/>
              <a:latin typeface="Arial"/>
            </a:endParaRPr>
          </a:p>
        </p:txBody>
      </p:sp>
      <p:sp>
        <p:nvSpPr>
          <p:cNvPr id="323" name="Shape 19"/>
          <p:cNvSpPr/>
          <p:nvPr/>
        </p:nvSpPr>
        <p:spPr>
          <a:xfrm>
            <a:off x="822960" y="600768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24" name="Text 20"/>
          <p:cNvSpPr/>
          <p:nvPr/>
        </p:nvSpPr>
        <p:spPr>
          <a:xfrm>
            <a:off x="1051560" y="587952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aeb8d6"/>
                </a:solidFill>
                <a:effectLst/>
                <a:uFillTx/>
                <a:latin typeface="Calibri"/>
                <a:ea typeface="Calibri"/>
              </a:rPr>
              <a:t>Age &amp; Risk Profile</a:t>
            </a:r>
            <a:endParaRPr b="0" lang="en-US" sz="1350" strike="noStrike" u="none">
              <a:solidFill>
                <a:srgbClr val="ffffff"/>
              </a:solidFill>
              <a:effectLst/>
              <a:uFillTx/>
              <a:latin typeface="Arial"/>
            </a:endParaRPr>
          </a:p>
        </p:txBody>
      </p:sp>
      <p:sp>
        <p:nvSpPr>
          <p:cNvPr id="325" name="Shape 21"/>
          <p:cNvSpPr/>
          <p:nvPr/>
        </p:nvSpPr>
        <p:spPr>
          <a:xfrm>
            <a:off x="822960" y="6300360"/>
            <a:ext cx="91080" cy="91080"/>
          </a:xfrm>
          <a:prstGeom prst="ellipse">
            <a:avLst/>
          </a:prstGeom>
          <a:solidFill>
            <a:srgbClr val="e8a33d"/>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26" name="Text 22"/>
          <p:cNvSpPr/>
          <p:nvPr/>
        </p:nvSpPr>
        <p:spPr>
          <a:xfrm>
            <a:off x="1051560" y="6172200"/>
            <a:ext cx="36572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50" strike="noStrike" u="none">
                <a:solidFill>
                  <a:srgbClr val="aeb8d6"/>
                </a:solidFill>
                <a:effectLst/>
                <a:uFillTx/>
                <a:latin typeface="Calibri"/>
                <a:ea typeface="Calibri"/>
              </a:rPr>
              <a:t>Recency &amp; Position Risk Profile</a:t>
            </a:r>
            <a:endParaRPr b="0" lang="en-US" sz="1350" strike="noStrike" u="none">
              <a:solidFill>
                <a:srgbClr val="ffffff"/>
              </a:solidFill>
              <a:effectLst/>
              <a:uFillTx/>
              <a:latin typeface="Arial"/>
            </a:endParaRPr>
          </a:p>
        </p:txBody>
      </p:sp>
      <p:sp>
        <p:nvSpPr>
          <p:cNvPr id="327" name="Text 23"/>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000" strike="noStrike" u="none">
                <a:solidFill>
                  <a:srgbClr val="6e7da6"/>
                </a:solidFill>
                <a:effectLst/>
                <a:uFillTx/>
                <a:latin typeface="Calibri"/>
                <a:ea typeface="Calibri"/>
              </a:rPr>
              <a:t>12</a:t>
            </a:r>
            <a:endParaRPr b="0" lang="en-US" sz="10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328" name="Text 0"/>
          <p:cNvSpPr/>
          <p:nvPr/>
        </p:nvSpPr>
        <p:spPr>
          <a:xfrm>
            <a:off x="822960" y="59436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1f7a4d"/>
                </a:solidFill>
                <a:effectLst/>
                <a:uFillTx/>
                <a:latin typeface="Calibri"/>
                <a:ea typeface="Calibri"/>
              </a:rPr>
              <a:t>RECOMMENDATIONS</a:t>
            </a:r>
            <a:endParaRPr b="0" lang="en-US" sz="1400" strike="noStrike" u="none">
              <a:solidFill>
                <a:srgbClr val="000000"/>
              </a:solidFill>
              <a:effectLst/>
              <a:uFillTx/>
              <a:latin typeface="Arial"/>
            </a:endParaRPr>
          </a:p>
        </p:txBody>
      </p:sp>
      <p:sp>
        <p:nvSpPr>
          <p:cNvPr id="329" name="Text 1"/>
          <p:cNvSpPr/>
          <p:nvPr/>
        </p:nvSpPr>
        <p:spPr>
          <a:xfrm>
            <a:off x="777240" y="896040"/>
            <a:ext cx="9600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a1a1a"/>
                </a:solidFill>
                <a:effectLst/>
                <a:uFillTx/>
                <a:latin typeface="Cambria"/>
                <a:ea typeface="Cambria"/>
              </a:rPr>
              <a:t>What this means for recruitment</a:t>
            </a:r>
            <a:endParaRPr b="0" lang="en-US" sz="3200" strike="noStrike" u="none">
              <a:solidFill>
                <a:srgbClr val="000000"/>
              </a:solidFill>
              <a:effectLst/>
              <a:uFillTx/>
              <a:latin typeface="Arial"/>
            </a:endParaRPr>
          </a:p>
        </p:txBody>
      </p:sp>
      <p:sp>
        <p:nvSpPr>
          <p:cNvPr id="330" name="Shape 2"/>
          <p:cNvSpPr/>
          <p:nvPr/>
        </p:nvSpPr>
        <p:spPr>
          <a:xfrm>
            <a:off x="822960" y="2011680"/>
            <a:ext cx="10515240" cy="118836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31" name="Shape 3"/>
          <p:cNvSpPr/>
          <p:nvPr/>
        </p:nvSpPr>
        <p:spPr>
          <a:xfrm>
            <a:off x="937440" y="2180880"/>
            <a:ext cx="849960" cy="849960"/>
          </a:xfrm>
          <a:prstGeom prst="ellipse">
            <a:avLst/>
          </a:prstGeom>
          <a:solidFill>
            <a:srgbClr val="e8a33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32" name="Shape 4"/>
          <p:cNvSpPr/>
          <p:nvPr/>
        </p:nvSpPr>
        <p:spPr>
          <a:xfrm>
            <a:off x="1078920" y="2322720"/>
            <a:ext cx="566640" cy="56664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33" name="Text 5"/>
          <p:cNvSpPr/>
          <p:nvPr/>
        </p:nvSpPr>
        <p:spPr>
          <a:xfrm>
            <a:off x="1920240" y="2194560"/>
            <a:ext cx="27428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a1a1a"/>
                </a:solidFill>
                <a:effectLst/>
                <a:uFillTx/>
                <a:latin typeface="Calibri"/>
                <a:ea typeface="Calibri"/>
              </a:rPr>
              <a:t>Scouting</a:t>
            </a:r>
            <a:endParaRPr b="0" lang="en-US" sz="1550" strike="noStrike" u="none">
              <a:solidFill>
                <a:srgbClr val="000000"/>
              </a:solidFill>
              <a:effectLst/>
              <a:uFillTx/>
              <a:latin typeface="Arial"/>
            </a:endParaRPr>
          </a:p>
        </p:txBody>
      </p:sp>
      <p:sp>
        <p:nvSpPr>
          <p:cNvPr id="334" name="Text 6"/>
          <p:cNvSpPr/>
          <p:nvPr/>
        </p:nvSpPr>
        <p:spPr>
          <a:xfrm>
            <a:off x="4317840" y="2148840"/>
            <a:ext cx="67942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Screen for any injury history, not just recent incidents. That's the pattern the data actually supports.</a:t>
            </a:r>
            <a:endParaRPr b="0" lang="en-US" sz="1400" strike="noStrike" u="none">
              <a:solidFill>
                <a:srgbClr val="000000"/>
              </a:solidFill>
              <a:effectLst/>
              <a:uFillTx/>
              <a:latin typeface="Arial"/>
            </a:endParaRPr>
          </a:p>
        </p:txBody>
      </p:sp>
      <p:sp>
        <p:nvSpPr>
          <p:cNvPr id="335" name="Shape 7"/>
          <p:cNvSpPr/>
          <p:nvPr/>
        </p:nvSpPr>
        <p:spPr>
          <a:xfrm>
            <a:off x="822960" y="3429000"/>
            <a:ext cx="10515240" cy="118836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36" name="Shape 8"/>
          <p:cNvSpPr/>
          <p:nvPr/>
        </p:nvSpPr>
        <p:spPr>
          <a:xfrm>
            <a:off x="937440" y="3598200"/>
            <a:ext cx="849960" cy="849960"/>
          </a:xfrm>
          <a:prstGeom prst="ellipse">
            <a:avLst/>
          </a:prstGeom>
          <a:solidFill>
            <a:srgbClr val="1f7a4d">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37" name="Shape 9"/>
          <p:cNvSpPr/>
          <p:nvPr/>
        </p:nvSpPr>
        <p:spPr>
          <a:xfrm>
            <a:off x="1078920" y="3740040"/>
            <a:ext cx="566640" cy="56664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338" name="Image 1" descr="preencoded.png"/>
          <p:cNvPicPr/>
          <p:nvPr/>
        </p:nvPicPr>
        <p:blipFill>
          <a:blip r:embed="rId1"/>
          <a:stretch/>
        </p:blipFill>
        <p:spPr>
          <a:xfrm>
            <a:off x="1225440" y="3886200"/>
            <a:ext cx="273960" cy="273960"/>
          </a:xfrm>
          <a:prstGeom prst="rect">
            <a:avLst/>
          </a:prstGeom>
          <a:noFill/>
          <a:ln w="0">
            <a:noFill/>
          </a:ln>
        </p:spPr>
      </p:pic>
      <p:sp>
        <p:nvSpPr>
          <p:cNvPr id="339" name="Text 10"/>
          <p:cNvSpPr/>
          <p:nvPr/>
        </p:nvSpPr>
        <p:spPr>
          <a:xfrm>
            <a:off x="1920240" y="3611880"/>
            <a:ext cx="27428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a1a1a"/>
                </a:solidFill>
                <a:effectLst/>
                <a:uFillTx/>
                <a:latin typeface="Calibri"/>
                <a:ea typeface="Calibri"/>
              </a:rPr>
              <a:t>Front Office</a:t>
            </a:r>
            <a:endParaRPr b="0" lang="en-US" sz="1550" strike="noStrike" u="none">
              <a:solidFill>
                <a:srgbClr val="000000"/>
              </a:solidFill>
              <a:effectLst/>
              <a:uFillTx/>
              <a:latin typeface="Arial"/>
            </a:endParaRPr>
          </a:p>
        </p:txBody>
      </p:sp>
      <p:sp>
        <p:nvSpPr>
          <p:cNvPr id="340" name="Text 11"/>
          <p:cNvSpPr/>
          <p:nvPr/>
        </p:nvSpPr>
        <p:spPr>
          <a:xfrm>
            <a:off x="4317840" y="3566160"/>
            <a:ext cx="67942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Weight the 21–24 age band in valuation models. It's the only bracket combining above-average growth with below-average risk.</a:t>
            </a:r>
            <a:endParaRPr b="0" lang="en-US" sz="1400" strike="noStrike" u="none">
              <a:solidFill>
                <a:srgbClr val="000000"/>
              </a:solidFill>
              <a:effectLst/>
              <a:uFillTx/>
              <a:latin typeface="Arial"/>
            </a:endParaRPr>
          </a:p>
        </p:txBody>
      </p:sp>
      <p:sp>
        <p:nvSpPr>
          <p:cNvPr id="341" name="Shape 12"/>
          <p:cNvSpPr/>
          <p:nvPr/>
        </p:nvSpPr>
        <p:spPr>
          <a:xfrm>
            <a:off x="822960" y="4846320"/>
            <a:ext cx="10515240" cy="1188360"/>
          </a:xfrm>
          <a:prstGeom prst="roundRect">
            <a:avLst>
              <a:gd name="adj" fmla="val 6923"/>
            </a:avLst>
          </a:prstGeom>
          <a:solidFill>
            <a:srgbClr val="ffffff"/>
          </a:solidFill>
          <a:ln w="0">
            <a:noFill/>
          </a:ln>
          <a:effectLst>
            <a:outerShdw algn="bl" blurRad="88920" dir="5400000" dist="38160" rotWithShape="0">
              <a:srgbClr val="8c93a6">
                <a:alpha val="20000"/>
              </a:srgbClr>
            </a:outerShdw>
          </a:effectLst>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42" name="Shape 13"/>
          <p:cNvSpPr/>
          <p:nvPr/>
        </p:nvSpPr>
        <p:spPr>
          <a:xfrm>
            <a:off x="937440" y="5015520"/>
            <a:ext cx="849960" cy="849960"/>
          </a:xfrm>
          <a:prstGeom prst="ellipse">
            <a:avLst/>
          </a:prstGeom>
          <a:solidFill>
            <a:srgbClr val="c0392b">
              <a:alpha val="20000"/>
            </a:srgbClr>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43" name="Shape 14"/>
          <p:cNvSpPr/>
          <p:nvPr/>
        </p:nvSpPr>
        <p:spPr>
          <a:xfrm>
            <a:off x="1078920" y="5157360"/>
            <a:ext cx="566640" cy="566640"/>
          </a:xfrm>
          <a:prstGeom prst="ellipse">
            <a:avLst/>
          </a:prstGeom>
          <a:solidFill>
            <a:srgbClr val="c0392b"/>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pic>
        <p:nvPicPr>
          <p:cNvPr id="344" name="Image 2" descr="preencoded.png"/>
          <p:cNvPicPr/>
          <p:nvPr/>
        </p:nvPicPr>
        <p:blipFill>
          <a:blip r:embed="rId2"/>
          <a:stretch/>
        </p:blipFill>
        <p:spPr>
          <a:xfrm>
            <a:off x="1225440" y="5303520"/>
            <a:ext cx="273960" cy="273960"/>
          </a:xfrm>
          <a:prstGeom prst="rect">
            <a:avLst/>
          </a:prstGeom>
          <a:noFill/>
          <a:ln w="0">
            <a:noFill/>
          </a:ln>
        </p:spPr>
      </p:pic>
      <p:sp>
        <p:nvSpPr>
          <p:cNvPr id="345" name="Text 15"/>
          <p:cNvSpPr/>
          <p:nvPr/>
        </p:nvSpPr>
        <p:spPr>
          <a:xfrm>
            <a:off x="1920240" y="5029200"/>
            <a:ext cx="2742840" cy="8226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550" strike="noStrike" u="none">
                <a:solidFill>
                  <a:srgbClr val="1a1a1a"/>
                </a:solidFill>
                <a:effectLst/>
                <a:uFillTx/>
                <a:latin typeface="Calibri"/>
                <a:ea typeface="Calibri"/>
              </a:rPr>
              <a:t>Medical / Performance</a:t>
            </a:r>
            <a:endParaRPr b="0" lang="en-US" sz="1550" strike="noStrike" u="none">
              <a:solidFill>
                <a:srgbClr val="000000"/>
              </a:solidFill>
              <a:effectLst/>
              <a:uFillTx/>
              <a:latin typeface="Arial"/>
            </a:endParaRPr>
          </a:p>
        </p:txBody>
      </p:sp>
      <p:sp>
        <p:nvSpPr>
          <p:cNvPr id="346" name="Text 16"/>
          <p:cNvSpPr/>
          <p:nvPr/>
        </p:nvSpPr>
        <p:spPr>
          <a:xfrm>
            <a:off x="4317840" y="4983480"/>
            <a:ext cx="6794280" cy="9140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400" strike="noStrike" u="none">
                <a:solidFill>
                  <a:srgbClr val="44506b"/>
                </a:solidFill>
                <a:effectLst/>
                <a:uFillTx/>
                <a:latin typeface="Calibri"/>
                <a:ea typeface="Calibri"/>
              </a:rPr>
              <a:t>Keep workload monitoring regardless of position. The goalkeeper pattern is promising but not yet statistically confirmed.</a:t>
            </a:r>
            <a:endParaRPr b="0" lang="en-US" sz="1400" strike="noStrike" u="none">
              <a:solidFill>
                <a:srgbClr val="000000"/>
              </a:solidFill>
              <a:effectLst/>
              <a:uFillTx/>
              <a:latin typeface="Arial"/>
            </a:endParaRPr>
          </a:p>
        </p:txBody>
      </p:sp>
      <p:sp>
        <p:nvSpPr>
          <p:cNvPr id="347" name="Text 17"/>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5a6478"/>
                </a:solidFill>
                <a:effectLst/>
                <a:uFillTx/>
                <a:latin typeface="Calibri"/>
                <a:ea typeface="Calibri"/>
              </a:rPr>
              <a:t>13</a:t>
            </a:r>
            <a:endParaRPr b="0" lang="en-US" sz="1200" strike="noStrike" u="none">
              <a:solidFill>
                <a:srgbClr val="000000"/>
              </a:solidFill>
              <a:effectLst/>
              <a:uFillTx/>
              <a:latin typeface="Arial"/>
            </a:endParaRPr>
          </a:p>
        </p:txBody>
      </p:sp>
      <p:pic>
        <p:nvPicPr>
          <p:cNvPr id="348" name="Graphic 23" descr="Trophy icon"/>
          <p:cNvPicPr/>
          <p:nvPr/>
        </p:nvPicPr>
        <p:blipFill>
          <a:blip r:embed="rId3">
            <a:extLst>
              <a:ext uri="{96DAC541-7B7A-43D3-8B79-37D633B846F1}">
                <asvg:svgBlip xmlns:asvg="http://schemas.microsoft.com/office/drawing/2016/SVG/main" r:embed="rId4"/>
              </a:ext>
            </a:extLst>
          </a:blip>
          <a:stretch/>
        </p:blipFill>
        <p:spPr>
          <a:xfrm>
            <a:off x="1162080" y="2406600"/>
            <a:ext cx="406080" cy="406080"/>
          </a:xfrm>
          <a:prstGeom prst="rect">
            <a:avLst/>
          </a:prstGeom>
          <a:noFill/>
          <a:ln w="0">
            <a:noFill/>
          </a:ln>
        </p:spPr>
      </p:pic>
    </p:spTree>
  </p:cSld>
  <p:transition spd="med">
    <p:fade/>
  </p:transition>
  <p:timing>
    <p:tnLst>
      <p:par>
        <p:cTn id="536" dur="indefinite" restart="never" nodeType="tmRoot">
          <p:childTnLst>
            <p:seq>
              <p:cTn id="537" dur="indefinite" nodeType="mainSeq">
                <p:childTnLst>
                  <p:par>
                    <p:cTn id="538" fill="hold">
                      <p:stCondLst>
                        <p:cond delay="indefinite"/>
                      </p:stCondLst>
                      <p:childTnLst>
                        <p:par>
                          <p:cTn id="539" fill="hold">
                            <p:stCondLst>
                              <p:cond delay="0"/>
                            </p:stCondLst>
                            <p:childTnLst>
                              <p:par>
                                <p:cTn id="540" nodeType="clickEffect" fill="hold" presetClass="entr" presetID="10">
                                  <p:stCondLst>
                                    <p:cond delay="0"/>
                                  </p:stCondLst>
                                  <p:childTnLst>
                                    <p:set>
                                      <p:cBhvr>
                                        <p:cTn id="541" dur="1" fill="hold">
                                          <p:stCondLst>
                                            <p:cond delay="0"/>
                                          </p:stCondLst>
                                        </p:cTn>
                                        <p:tgtEl>
                                          <p:spTgt spid="330"/>
                                        </p:tgtEl>
                                        <p:attrNameLst>
                                          <p:attrName>style.visibility</p:attrName>
                                        </p:attrNameLst>
                                      </p:cBhvr>
                                      <p:to>
                                        <p:strVal val="visible"/>
                                      </p:to>
                                    </p:set>
                                    <p:animEffect filter="fade" transition="in">
                                      <p:cBhvr additive="repl">
                                        <p:cTn id="542" dur="450"/>
                                        <p:tgtEl>
                                          <p:spTgt spid="330"/>
                                        </p:tgtEl>
                                      </p:cBhvr>
                                    </p:animEffect>
                                  </p:childTnLst>
                                </p:cTn>
                              </p:par>
                              <p:par>
                                <p:cTn id="543" nodeType="withEffect" fill="hold" presetClass="entr" presetID="10">
                                  <p:stCondLst>
                                    <p:cond delay="0"/>
                                  </p:stCondLst>
                                  <p:childTnLst>
                                    <p:set>
                                      <p:cBhvr>
                                        <p:cTn id="544" dur="1" fill="hold">
                                          <p:stCondLst>
                                            <p:cond delay="0"/>
                                          </p:stCondLst>
                                        </p:cTn>
                                        <p:tgtEl>
                                          <p:spTgt spid="334"/>
                                        </p:tgtEl>
                                        <p:attrNameLst>
                                          <p:attrName>style.visibility</p:attrName>
                                        </p:attrNameLst>
                                      </p:cBhvr>
                                      <p:to>
                                        <p:strVal val="visible"/>
                                      </p:to>
                                    </p:set>
                                    <p:animEffect filter="fade" transition="in">
                                      <p:cBhvr additive="repl">
                                        <p:cTn id="545" dur="450"/>
                                        <p:tgtEl>
                                          <p:spTgt spid="334"/>
                                        </p:tgtEl>
                                      </p:cBhvr>
                                    </p:animEffect>
                                  </p:childTnLst>
                                </p:cTn>
                              </p:par>
                              <p:par>
                                <p:cTn id="546" nodeType="withEffect" fill="hold" presetClass="entr" presetID="10">
                                  <p:stCondLst>
                                    <p:cond delay="0"/>
                                  </p:stCondLst>
                                  <p:childTnLst>
                                    <p:set>
                                      <p:cBhvr>
                                        <p:cTn id="547" dur="1" fill="hold">
                                          <p:stCondLst>
                                            <p:cond delay="0"/>
                                          </p:stCondLst>
                                        </p:cTn>
                                        <p:tgtEl>
                                          <p:spTgt spid="331"/>
                                        </p:tgtEl>
                                        <p:attrNameLst>
                                          <p:attrName>style.visibility</p:attrName>
                                        </p:attrNameLst>
                                      </p:cBhvr>
                                      <p:to>
                                        <p:strVal val="visible"/>
                                      </p:to>
                                    </p:set>
                                    <p:animEffect filter="fade" transition="in">
                                      <p:cBhvr additive="repl">
                                        <p:cTn id="548" dur="450"/>
                                        <p:tgtEl>
                                          <p:spTgt spid="331"/>
                                        </p:tgtEl>
                                      </p:cBhvr>
                                    </p:animEffect>
                                  </p:childTnLst>
                                </p:cTn>
                              </p:par>
                              <p:par>
                                <p:cTn id="549" nodeType="withEffect" fill="hold" presetClass="entr" presetID="10">
                                  <p:stCondLst>
                                    <p:cond delay="0"/>
                                  </p:stCondLst>
                                  <p:childTnLst>
                                    <p:set>
                                      <p:cBhvr>
                                        <p:cTn id="550" dur="1" fill="hold">
                                          <p:stCondLst>
                                            <p:cond delay="0"/>
                                          </p:stCondLst>
                                        </p:cTn>
                                        <p:tgtEl>
                                          <p:spTgt spid="333"/>
                                        </p:tgtEl>
                                        <p:attrNameLst>
                                          <p:attrName>style.visibility</p:attrName>
                                        </p:attrNameLst>
                                      </p:cBhvr>
                                      <p:to>
                                        <p:strVal val="visible"/>
                                      </p:to>
                                    </p:set>
                                    <p:animEffect filter="fade" transition="in">
                                      <p:cBhvr additive="repl">
                                        <p:cTn id="551" dur="450"/>
                                        <p:tgtEl>
                                          <p:spTgt spid="333"/>
                                        </p:tgtEl>
                                      </p:cBhvr>
                                    </p:animEffect>
                                  </p:childTnLst>
                                </p:cTn>
                              </p:par>
                              <p:par>
                                <p:cTn id="552" nodeType="withEffect" fill="hold" presetClass="entr" presetID="10">
                                  <p:stCondLst>
                                    <p:cond delay="0"/>
                                  </p:stCondLst>
                                  <p:childTnLst>
                                    <p:set>
                                      <p:cBhvr>
                                        <p:cTn id="553" dur="1" fill="hold">
                                          <p:stCondLst>
                                            <p:cond delay="0"/>
                                          </p:stCondLst>
                                        </p:cTn>
                                        <p:tgtEl>
                                          <p:spTgt spid="332"/>
                                        </p:tgtEl>
                                        <p:attrNameLst>
                                          <p:attrName>style.visibility</p:attrName>
                                        </p:attrNameLst>
                                      </p:cBhvr>
                                      <p:to>
                                        <p:strVal val="visible"/>
                                      </p:to>
                                    </p:set>
                                    <p:animEffect filter="fade" transition="in">
                                      <p:cBhvr additive="repl">
                                        <p:cTn id="554" dur="450"/>
                                        <p:tgtEl>
                                          <p:spTgt spid="332"/>
                                        </p:tgtEl>
                                      </p:cBhvr>
                                    </p:animEffect>
                                  </p:childTnLst>
                                </p:cTn>
                              </p:par>
                            </p:childTnLst>
                          </p:cTn>
                        </p:par>
                      </p:childTnLst>
                    </p:cTn>
                  </p:par>
                  <p:par>
                    <p:cTn id="555" fill="hold">
                      <p:stCondLst>
                        <p:cond delay="indefinite"/>
                      </p:stCondLst>
                      <p:childTnLst>
                        <p:par>
                          <p:cTn id="556" fill="hold">
                            <p:stCondLst>
                              <p:cond delay="0"/>
                            </p:stCondLst>
                            <p:childTnLst>
                              <p:par>
                                <p:cTn id="557" nodeType="clickEffect" fill="hold" presetClass="entr" presetID="10">
                                  <p:stCondLst>
                                    <p:cond delay="0"/>
                                  </p:stCondLst>
                                  <p:childTnLst>
                                    <p:set>
                                      <p:cBhvr>
                                        <p:cTn id="558" dur="1" fill="hold">
                                          <p:stCondLst>
                                            <p:cond delay="0"/>
                                          </p:stCondLst>
                                        </p:cTn>
                                        <p:tgtEl>
                                          <p:spTgt spid="335"/>
                                        </p:tgtEl>
                                        <p:attrNameLst>
                                          <p:attrName>style.visibility</p:attrName>
                                        </p:attrNameLst>
                                      </p:cBhvr>
                                      <p:to>
                                        <p:strVal val="visible"/>
                                      </p:to>
                                    </p:set>
                                    <p:animEffect filter="fade" transition="in">
                                      <p:cBhvr additive="repl">
                                        <p:cTn id="559" dur="450"/>
                                        <p:tgtEl>
                                          <p:spTgt spid="335"/>
                                        </p:tgtEl>
                                      </p:cBhvr>
                                    </p:animEffect>
                                  </p:childTnLst>
                                </p:cTn>
                              </p:par>
                              <p:par>
                                <p:cTn id="560" nodeType="withEffect" fill="hold" presetClass="entr" presetID="10">
                                  <p:stCondLst>
                                    <p:cond delay="0"/>
                                  </p:stCondLst>
                                  <p:childTnLst>
                                    <p:set>
                                      <p:cBhvr>
                                        <p:cTn id="561" dur="1" fill="hold">
                                          <p:stCondLst>
                                            <p:cond delay="0"/>
                                          </p:stCondLst>
                                        </p:cTn>
                                        <p:tgtEl>
                                          <p:spTgt spid="340"/>
                                        </p:tgtEl>
                                        <p:attrNameLst>
                                          <p:attrName>style.visibility</p:attrName>
                                        </p:attrNameLst>
                                      </p:cBhvr>
                                      <p:to>
                                        <p:strVal val="visible"/>
                                      </p:to>
                                    </p:set>
                                    <p:animEffect filter="fade" transition="in">
                                      <p:cBhvr additive="repl">
                                        <p:cTn id="562" dur="450"/>
                                        <p:tgtEl>
                                          <p:spTgt spid="340"/>
                                        </p:tgtEl>
                                      </p:cBhvr>
                                    </p:animEffect>
                                  </p:childTnLst>
                                </p:cTn>
                              </p:par>
                              <p:par>
                                <p:cTn id="563" nodeType="withEffect" fill="hold" presetClass="entr" presetID="10">
                                  <p:stCondLst>
                                    <p:cond delay="0"/>
                                  </p:stCondLst>
                                  <p:childTnLst>
                                    <p:set>
                                      <p:cBhvr>
                                        <p:cTn id="564" dur="1" fill="hold">
                                          <p:stCondLst>
                                            <p:cond delay="0"/>
                                          </p:stCondLst>
                                        </p:cTn>
                                        <p:tgtEl>
                                          <p:spTgt spid="336"/>
                                        </p:tgtEl>
                                        <p:attrNameLst>
                                          <p:attrName>style.visibility</p:attrName>
                                        </p:attrNameLst>
                                      </p:cBhvr>
                                      <p:to>
                                        <p:strVal val="visible"/>
                                      </p:to>
                                    </p:set>
                                    <p:animEffect filter="fade" transition="in">
                                      <p:cBhvr additive="repl">
                                        <p:cTn id="565" dur="450"/>
                                        <p:tgtEl>
                                          <p:spTgt spid="336"/>
                                        </p:tgtEl>
                                      </p:cBhvr>
                                    </p:animEffect>
                                  </p:childTnLst>
                                </p:cTn>
                              </p:par>
                              <p:par>
                                <p:cTn id="566" nodeType="withEffect" fill="hold" presetClass="entr" presetID="10">
                                  <p:stCondLst>
                                    <p:cond delay="0"/>
                                  </p:stCondLst>
                                  <p:childTnLst>
                                    <p:set>
                                      <p:cBhvr>
                                        <p:cTn id="567" dur="1" fill="hold">
                                          <p:stCondLst>
                                            <p:cond delay="0"/>
                                          </p:stCondLst>
                                        </p:cTn>
                                        <p:tgtEl>
                                          <p:spTgt spid="339"/>
                                        </p:tgtEl>
                                        <p:attrNameLst>
                                          <p:attrName>style.visibility</p:attrName>
                                        </p:attrNameLst>
                                      </p:cBhvr>
                                      <p:to>
                                        <p:strVal val="visible"/>
                                      </p:to>
                                    </p:set>
                                    <p:animEffect filter="fade" transition="in">
                                      <p:cBhvr additive="repl">
                                        <p:cTn id="568" dur="450"/>
                                        <p:tgtEl>
                                          <p:spTgt spid="339"/>
                                        </p:tgtEl>
                                      </p:cBhvr>
                                    </p:animEffect>
                                  </p:childTnLst>
                                </p:cTn>
                              </p:par>
                              <p:par>
                                <p:cTn id="569" nodeType="withEffect" fill="hold" presetClass="entr" presetID="10">
                                  <p:stCondLst>
                                    <p:cond delay="0"/>
                                  </p:stCondLst>
                                  <p:childTnLst>
                                    <p:set>
                                      <p:cBhvr>
                                        <p:cTn id="570" dur="1" fill="hold">
                                          <p:stCondLst>
                                            <p:cond delay="0"/>
                                          </p:stCondLst>
                                        </p:cTn>
                                        <p:tgtEl>
                                          <p:spTgt spid="337"/>
                                        </p:tgtEl>
                                        <p:attrNameLst>
                                          <p:attrName>style.visibility</p:attrName>
                                        </p:attrNameLst>
                                      </p:cBhvr>
                                      <p:to>
                                        <p:strVal val="visible"/>
                                      </p:to>
                                    </p:set>
                                    <p:animEffect filter="fade" transition="in">
                                      <p:cBhvr additive="repl">
                                        <p:cTn id="571" dur="450"/>
                                        <p:tgtEl>
                                          <p:spTgt spid="337"/>
                                        </p:tgtEl>
                                      </p:cBhvr>
                                    </p:animEffect>
                                  </p:childTnLst>
                                </p:cTn>
                              </p:par>
                              <p:par>
                                <p:cTn id="572" nodeType="withEffect" fill="hold" presetClass="entr" presetID="10">
                                  <p:stCondLst>
                                    <p:cond delay="0"/>
                                  </p:stCondLst>
                                  <p:childTnLst>
                                    <p:set>
                                      <p:cBhvr>
                                        <p:cTn id="573" dur="1" fill="hold">
                                          <p:stCondLst>
                                            <p:cond delay="0"/>
                                          </p:stCondLst>
                                        </p:cTn>
                                        <p:tgtEl>
                                          <p:spTgt spid="338"/>
                                        </p:tgtEl>
                                        <p:attrNameLst>
                                          <p:attrName>style.visibility</p:attrName>
                                        </p:attrNameLst>
                                      </p:cBhvr>
                                      <p:to>
                                        <p:strVal val="visible"/>
                                      </p:to>
                                    </p:set>
                                    <p:animEffect filter="fade" transition="in">
                                      <p:cBhvr additive="repl">
                                        <p:cTn id="574" dur="450"/>
                                        <p:tgtEl>
                                          <p:spTgt spid="338"/>
                                        </p:tgtEl>
                                      </p:cBhvr>
                                    </p:animEffect>
                                  </p:childTnLst>
                                </p:cTn>
                              </p:par>
                            </p:childTnLst>
                          </p:cTn>
                        </p:par>
                      </p:childTnLst>
                    </p:cTn>
                  </p:par>
                  <p:par>
                    <p:cTn id="575" fill="hold">
                      <p:stCondLst>
                        <p:cond delay="indefinite"/>
                      </p:stCondLst>
                      <p:childTnLst>
                        <p:par>
                          <p:cTn id="576" fill="hold">
                            <p:stCondLst>
                              <p:cond delay="0"/>
                            </p:stCondLst>
                            <p:childTnLst>
                              <p:par>
                                <p:cTn id="577" nodeType="clickEffect" fill="hold" presetClass="entr" presetID="10">
                                  <p:stCondLst>
                                    <p:cond delay="0"/>
                                  </p:stCondLst>
                                  <p:childTnLst>
                                    <p:set>
                                      <p:cBhvr>
                                        <p:cTn id="578" dur="1" fill="hold">
                                          <p:stCondLst>
                                            <p:cond delay="0"/>
                                          </p:stCondLst>
                                        </p:cTn>
                                        <p:tgtEl>
                                          <p:spTgt spid="341"/>
                                        </p:tgtEl>
                                        <p:attrNameLst>
                                          <p:attrName>style.visibility</p:attrName>
                                        </p:attrNameLst>
                                      </p:cBhvr>
                                      <p:to>
                                        <p:strVal val="visible"/>
                                      </p:to>
                                    </p:set>
                                    <p:animEffect filter="fade" transition="in">
                                      <p:cBhvr additive="repl">
                                        <p:cTn id="579" dur="450"/>
                                        <p:tgtEl>
                                          <p:spTgt spid="341"/>
                                        </p:tgtEl>
                                      </p:cBhvr>
                                    </p:animEffect>
                                  </p:childTnLst>
                                </p:cTn>
                              </p:par>
                              <p:par>
                                <p:cTn id="580" nodeType="withEffect" fill="hold" presetClass="entr" presetID="10">
                                  <p:stCondLst>
                                    <p:cond delay="0"/>
                                  </p:stCondLst>
                                  <p:childTnLst>
                                    <p:set>
                                      <p:cBhvr>
                                        <p:cTn id="581" dur="1" fill="hold">
                                          <p:stCondLst>
                                            <p:cond delay="0"/>
                                          </p:stCondLst>
                                        </p:cTn>
                                        <p:tgtEl>
                                          <p:spTgt spid="346"/>
                                        </p:tgtEl>
                                        <p:attrNameLst>
                                          <p:attrName>style.visibility</p:attrName>
                                        </p:attrNameLst>
                                      </p:cBhvr>
                                      <p:to>
                                        <p:strVal val="visible"/>
                                      </p:to>
                                    </p:set>
                                    <p:animEffect filter="fade" transition="in">
                                      <p:cBhvr additive="repl">
                                        <p:cTn id="582" dur="450"/>
                                        <p:tgtEl>
                                          <p:spTgt spid="346"/>
                                        </p:tgtEl>
                                      </p:cBhvr>
                                    </p:animEffect>
                                  </p:childTnLst>
                                </p:cTn>
                              </p:par>
                              <p:par>
                                <p:cTn id="583" nodeType="withEffect" fill="hold" presetClass="entr" presetID="10">
                                  <p:stCondLst>
                                    <p:cond delay="0"/>
                                  </p:stCondLst>
                                  <p:childTnLst>
                                    <p:set>
                                      <p:cBhvr>
                                        <p:cTn id="584" dur="1" fill="hold">
                                          <p:stCondLst>
                                            <p:cond delay="0"/>
                                          </p:stCondLst>
                                        </p:cTn>
                                        <p:tgtEl>
                                          <p:spTgt spid="342"/>
                                        </p:tgtEl>
                                        <p:attrNameLst>
                                          <p:attrName>style.visibility</p:attrName>
                                        </p:attrNameLst>
                                      </p:cBhvr>
                                      <p:to>
                                        <p:strVal val="visible"/>
                                      </p:to>
                                    </p:set>
                                    <p:animEffect filter="fade" transition="in">
                                      <p:cBhvr additive="repl">
                                        <p:cTn id="585" dur="450"/>
                                        <p:tgtEl>
                                          <p:spTgt spid="342"/>
                                        </p:tgtEl>
                                      </p:cBhvr>
                                    </p:animEffect>
                                  </p:childTnLst>
                                </p:cTn>
                              </p:par>
                              <p:par>
                                <p:cTn id="586" nodeType="withEffect" fill="hold" presetClass="entr" presetID="10">
                                  <p:stCondLst>
                                    <p:cond delay="0"/>
                                  </p:stCondLst>
                                  <p:childTnLst>
                                    <p:set>
                                      <p:cBhvr>
                                        <p:cTn id="587" dur="1" fill="hold">
                                          <p:stCondLst>
                                            <p:cond delay="0"/>
                                          </p:stCondLst>
                                        </p:cTn>
                                        <p:tgtEl>
                                          <p:spTgt spid="345"/>
                                        </p:tgtEl>
                                        <p:attrNameLst>
                                          <p:attrName>style.visibility</p:attrName>
                                        </p:attrNameLst>
                                      </p:cBhvr>
                                      <p:to>
                                        <p:strVal val="visible"/>
                                      </p:to>
                                    </p:set>
                                    <p:animEffect filter="fade" transition="in">
                                      <p:cBhvr additive="repl">
                                        <p:cTn id="588" dur="450"/>
                                        <p:tgtEl>
                                          <p:spTgt spid="345"/>
                                        </p:tgtEl>
                                      </p:cBhvr>
                                    </p:animEffect>
                                  </p:childTnLst>
                                </p:cTn>
                              </p:par>
                              <p:par>
                                <p:cTn id="589" nodeType="withEffect" fill="hold" presetClass="entr" presetID="10">
                                  <p:stCondLst>
                                    <p:cond delay="0"/>
                                  </p:stCondLst>
                                  <p:childTnLst>
                                    <p:set>
                                      <p:cBhvr>
                                        <p:cTn id="590" dur="1" fill="hold">
                                          <p:stCondLst>
                                            <p:cond delay="0"/>
                                          </p:stCondLst>
                                        </p:cTn>
                                        <p:tgtEl>
                                          <p:spTgt spid="343"/>
                                        </p:tgtEl>
                                        <p:attrNameLst>
                                          <p:attrName>style.visibility</p:attrName>
                                        </p:attrNameLst>
                                      </p:cBhvr>
                                      <p:to>
                                        <p:strVal val="visible"/>
                                      </p:to>
                                    </p:set>
                                    <p:animEffect filter="fade" transition="in">
                                      <p:cBhvr additive="repl">
                                        <p:cTn id="591" dur="450"/>
                                        <p:tgtEl>
                                          <p:spTgt spid="343"/>
                                        </p:tgtEl>
                                      </p:cBhvr>
                                    </p:animEffect>
                                  </p:childTnLst>
                                </p:cTn>
                              </p:par>
                              <p:par>
                                <p:cTn id="592" nodeType="withEffect" fill="hold" presetClass="entr" presetID="10">
                                  <p:stCondLst>
                                    <p:cond delay="0"/>
                                  </p:stCondLst>
                                  <p:childTnLst>
                                    <p:set>
                                      <p:cBhvr>
                                        <p:cTn id="593" dur="1" fill="hold">
                                          <p:stCondLst>
                                            <p:cond delay="0"/>
                                          </p:stCondLst>
                                        </p:cTn>
                                        <p:tgtEl>
                                          <p:spTgt spid="344"/>
                                        </p:tgtEl>
                                        <p:attrNameLst>
                                          <p:attrName>style.visibility</p:attrName>
                                        </p:attrNameLst>
                                      </p:cBhvr>
                                      <p:to>
                                        <p:strVal val="visible"/>
                                      </p:to>
                                    </p:set>
                                    <p:animEffect filter="fade" transition="in">
                                      <p:cBhvr additive="repl">
                                        <p:cTn id="594" dur="450"/>
                                        <p:tgtEl>
                                          <p:spTgt spid="3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b3d"/>
        </a:solidFill>
      </p:bgPr>
    </p:bg>
    <p:spTree>
      <p:nvGrpSpPr>
        <p:cNvPr id="1" name=""/>
        <p:cNvGrpSpPr/>
        <p:nvPr/>
      </p:nvGrpSpPr>
      <p:grpSpPr>
        <a:xfrm>
          <a:off x="0" y="0"/>
          <a:ext cx="0" cy="0"/>
          <a:chOff x="0" y="0"/>
          <a:chExt cx="0" cy="0"/>
        </a:xfrm>
      </p:grpSpPr>
      <p:sp>
        <p:nvSpPr>
          <p:cNvPr id="349" name="Pitch 900"/>
          <p:cNvSpPr/>
          <p:nvPr/>
        </p:nvSpPr>
        <p:spPr>
          <a:xfrm>
            <a:off x="762120" y="762120"/>
            <a:ext cx="10667520" cy="533376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0" name="Pitch 901"/>
          <p:cNvSpPr/>
          <p:nvPr/>
        </p:nvSpPr>
        <p:spPr>
          <a:xfrm>
            <a:off x="6095880" y="761760"/>
            <a:ext cx="360" cy="5334120"/>
          </a:xfrm>
          <a:prstGeom prst="line">
            <a:avLst/>
          </a:prstGeom>
          <a:ln w="15875">
            <a:solidFill>
              <a:srgbClr val="1a2a4e"/>
            </a:solidFill>
            <a:round/>
          </a:ln>
        </p:spPr>
        <p:style>
          <a:lnRef idx="0"/>
          <a:fillRef idx="0"/>
          <a:effectRef idx="0"/>
          <a:fontRef idx="minor"/>
        </p:style>
        <p:txBody>
          <a:bodyPr lIns="90000" rIns="90000" tIns="45000" bIns="45000" anchor="t">
            <a:noAutofit/>
          </a:bodyPr>
          <a:p>
            <a:endParaRPr b="0" lang="en-US" sz="1800" strike="noStrike" u="none">
              <a:solidFill>
                <a:schemeClr val="dk1"/>
              </a:solidFill>
              <a:effectLst/>
              <a:uFillTx/>
              <a:latin typeface="Calibri"/>
            </a:endParaRPr>
          </a:p>
        </p:txBody>
      </p:sp>
      <p:sp>
        <p:nvSpPr>
          <p:cNvPr id="351" name="Pitch 902"/>
          <p:cNvSpPr/>
          <p:nvPr/>
        </p:nvSpPr>
        <p:spPr>
          <a:xfrm>
            <a:off x="5207040" y="2540160"/>
            <a:ext cx="1777680" cy="1777680"/>
          </a:xfrm>
          <a:prstGeom prst="ellipse">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2" name="Pitch 903"/>
          <p:cNvSpPr/>
          <p:nvPr/>
        </p:nvSpPr>
        <p:spPr>
          <a:xfrm>
            <a:off x="6045120" y="3378240"/>
            <a:ext cx="101160" cy="101160"/>
          </a:xfrm>
          <a:prstGeom prst="ellipse">
            <a:avLst/>
          </a:prstGeom>
          <a:solidFill>
            <a:srgbClr val="1a2a4e"/>
          </a:solidFill>
          <a:ln w="12700">
            <a:solidFill>
              <a:srgbClr val="1a2a4e"/>
            </a:solidFill>
            <a:round/>
          </a:ln>
        </p:spPr>
        <p:style>
          <a:lnRef idx="0"/>
          <a:fillRef idx="0"/>
          <a:effectRef idx="0"/>
          <a:fontRef idx="minor"/>
        </p:style>
        <p:txBody>
          <a:bodyPr lIns="90000" rIns="90000" tIns="26640" bIns="26640" anchor="t">
            <a:noAutofit/>
          </a:bodyPr>
          <a:p>
            <a:pPr defTabSz="914400">
              <a:lnSpc>
                <a:spcPct val="100000"/>
              </a:lnSpc>
            </a:pPr>
            <a:endParaRPr b="0" lang="en-US" sz="1800" strike="noStrike" u="none">
              <a:solidFill>
                <a:schemeClr val="dk1"/>
              </a:solidFill>
              <a:effectLst/>
              <a:uFillTx/>
              <a:latin typeface="Calibri"/>
            </a:endParaRPr>
          </a:p>
        </p:txBody>
      </p:sp>
      <p:sp>
        <p:nvSpPr>
          <p:cNvPr id="353" name="Pitch 904"/>
          <p:cNvSpPr/>
          <p:nvPr/>
        </p:nvSpPr>
        <p:spPr>
          <a:xfrm>
            <a:off x="762120" y="1905120"/>
            <a:ext cx="1523520" cy="304776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4" name="Pitch 905"/>
          <p:cNvSpPr/>
          <p:nvPr/>
        </p:nvSpPr>
        <p:spPr>
          <a:xfrm>
            <a:off x="762120" y="2666880"/>
            <a:ext cx="659880" cy="15235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5" name="Pitch 906"/>
          <p:cNvSpPr/>
          <p:nvPr/>
        </p:nvSpPr>
        <p:spPr>
          <a:xfrm>
            <a:off x="9906120" y="1905120"/>
            <a:ext cx="1523520" cy="304776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6" name="Pitch 907"/>
          <p:cNvSpPr/>
          <p:nvPr/>
        </p:nvSpPr>
        <p:spPr>
          <a:xfrm>
            <a:off x="10769760" y="2666880"/>
            <a:ext cx="659880" cy="1523520"/>
          </a:xfrm>
          <a:prstGeom prst="rect">
            <a:avLst/>
          </a:prstGeom>
          <a:noFill/>
          <a:ln w="15875">
            <a:solidFill>
              <a:srgbClr val="1a2a4e"/>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7" name="Shape 0"/>
          <p:cNvSpPr/>
          <p:nvPr/>
        </p:nvSpPr>
        <p:spPr>
          <a:xfrm>
            <a:off x="-36576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8" name="Shape 1"/>
          <p:cNvSpPr/>
          <p:nvPr/>
        </p:nvSpPr>
        <p:spPr>
          <a:xfrm>
            <a:off x="11826000" y="-36576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59" name="Shape 2"/>
          <p:cNvSpPr/>
          <p:nvPr/>
        </p:nvSpPr>
        <p:spPr>
          <a:xfrm>
            <a:off x="-36576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60" name="Shape 3"/>
          <p:cNvSpPr/>
          <p:nvPr/>
        </p:nvSpPr>
        <p:spPr>
          <a:xfrm>
            <a:off x="11826000" y="6492240"/>
            <a:ext cx="731160" cy="731160"/>
          </a:xfrm>
          <a:prstGeom prst="ellipse">
            <a:avLst/>
          </a:prstGeom>
          <a:noFill/>
          <a:ln w="19050">
            <a:solidFill>
              <a:srgbClr val="1f7a4d">
                <a:alpha val="45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61" name="Shape 4"/>
          <p:cNvSpPr/>
          <p:nvPr/>
        </p:nvSpPr>
        <p:spPr>
          <a:xfrm>
            <a:off x="-3291840" y="-3291840"/>
            <a:ext cx="4754520" cy="475452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62" name="Shape 5"/>
          <p:cNvSpPr/>
          <p:nvPr/>
        </p:nvSpPr>
        <p:spPr>
          <a:xfrm>
            <a:off x="-960120" y="-96012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63" name="Shape 6"/>
          <p:cNvSpPr/>
          <p:nvPr/>
        </p:nvSpPr>
        <p:spPr>
          <a:xfrm>
            <a:off x="9784080" y="4480560"/>
            <a:ext cx="6583320" cy="6583320"/>
          </a:xfrm>
          <a:prstGeom prst="ellipse">
            <a:avLst/>
          </a:prstGeom>
          <a:solidFill>
            <a:srgbClr val="1f7a4d">
              <a:alpha val="5000"/>
            </a:srgbClr>
          </a:solidFill>
          <a:ln w="25400">
            <a:solidFill>
              <a:srgbClr val="1f7a4d">
                <a:alpha val="38000"/>
              </a:srgbClr>
            </a:solidFill>
            <a:round/>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64" name="Shape 7"/>
          <p:cNvSpPr/>
          <p:nvPr/>
        </p:nvSpPr>
        <p:spPr>
          <a:xfrm>
            <a:off x="13030200" y="7726680"/>
            <a:ext cx="91080" cy="91080"/>
          </a:xfrm>
          <a:prstGeom prst="ellipse">
            <a:avLst/>
          </a:prstGeom>
          <a:solidFill>
            <a:srgbClr val="e8a33d">
              <a:alpha val="75000"/>
            </a:srgbClr>
          </a:solidFill>
          <a:ln w="0">
            <a:noFill/>
          </a:ln>
        </p:spPr>
        <p:style>
          <a:lnRef idx="0"/>
          <a:fillRef idx="0"/>
          <a:effectRef idx="0"/>
          <a:fontRef idx="minor"/>
        </p:style>
        <p:txBody>
          <a:bodyPr lIns="90000" rIns="90000" tIns="19440" bIns="19440" anchor="t">
            <a:noAutofit/>
          </a:bodyPr>
          <a:p>
            <a:pPr defTabSz="914400">
              <a:lnSpc>
                <a:spcPct val="100000"/>
              </a:lnSpc>
            </a:pPr>
            <a:endParaRPr b="0" lang="en-US" sz="1800" strike="noStrike" u="none">
              <a:solidFill>
                <a:schemeClr val="dk1"/>
              </a:solidFill>
              <a:effectLst/>
              <a:uFillTx/>
              <a:latin typeface="Calibri"/>
            </a:endParaRPr>
          </a:p>
        </p:txBody>
      </p:sp>
      <p:sp>
        <p:nvSpPr>
          <p:cNvPr id="365" name="Text 8"/>
          <p:cNvSpPr/>
          <p:nvPr/>
        </p:nvSpPr>
        <p:spPr>
          <a:xfrm>
            <a:off x="822960" y="2286000"/>
            <a:ext cx="8229240" cy="10969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4800" strike="noStrike" u="none">
                <a:solidFill>
                  <a:srgbClr val="ffffff"/>
                </a:solidFill>
                <a:effectLst/>
                <a:uFillTx/>
                <a:latin typeface="Cambria"/>
                <a:ea typeface="Cambria"/>
              </a:rPr>
              <a:t>Thank you.</a:t>
            </a:r>
            <a:endParaRPr b="0" lang="en-US" sz="4800" strike="noStrike" u="none">
              <a:solidFill>
                <a:srgbClr val="ffffff"/>
              </a:solidFill>
              <a:effectLst/>
              <a:uFillTx/>
              <a:latin typeface="Arial"/>
            </a:endParaRPr>
          </a:p>
        </p:txBody>
      </p:sp>
      <p:sp>
        <p:nvSpPr>
          <p:cNvPr id="366" name="Text 9"/>
          <p:cNvSpPr/>
          <p:nvPr/>
        </p:nvSpPr>
        <p:spPr>
          <a:xfrm>
            <a:off x="822960" y="3246120"/>
            <a:ext cx="8229240" cy="5482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600" strike="noStrike" u="none">
                <a:solidFill>
                  <a:srgbClr val="cadcfc"/>
                </a:solidFill>
                <a:effectLst/>
                <a:uFillTx/>
                <a:latin typeface="Calibri"/>
                <a:ea typeface="Calibri"/>
              </a:rPr>
              <a:t>Questions welcome. Let's dig into the dashboards.</a:t>
            </a:r>
            <a:endParaRPr b="0" lang="en-US" sz="1600" strike="noStrike" u="none">
              <a:solidFill>
                <a:srgbClr val="ffffff"/>
              </a:solidFill>
              <a:effectLst/>
              <a:uFillTx/>
              <a:latin typeface="Arial"/>
            </a:endParaRPr>
          </a:p>
        </p:txBody>
      </p:sp>
      <p:pic>
        <p:nvPicPr>
          <p:cNvPr id="367" name="Image 0" descr="preencoded.png"/>
          <p:cNvPicPr/>
          <p:nvPr/>
        </p:nvPicPr>
        <p:blipFill>
          <a:blip r:embed="rId1"/>
          <a:stretch/>
        </p:blipFill>
        <p:spPr>
          <a:xfrm>
            <a:off x="822960" y="4206240"/>
            <a:ext cx="292320" cy="292320"/>
          </a:xfrm>
          <a:prstGeom prst="rect">
            <a:avLst/>
          </a:prstGeom>
          <a:noFill/>
          <a:ln w="0">
            <a:noFill/>
          </a:ln>
        </p:spPr>
      </p:pic>
      <p:sp>
        <p:nvSpPr>
          <p:cNvPr id="368" name="Text 10">
            <a:hlinkClick r:id="rId2"/>
          </p:cNvPr>
          <p:cNvSpPr/>
          <p:nvPr/>
        </p:nvSpPr>
        <p:spPr>
          <a:xfrm>
            <a:off x="1234440" y="4206240"/>
            <a:ext cx="777204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sng">
                <a:solidFill>
                  <a:srgbClr val="e8a33d"/>
                </a:solidFill>
                <a:effectLst/>
                <a:uFillTx/>
                <a:latin typeface="Calibri"/>
                <a:ea typeface="Calibri"/>
                <a:hlinkClick r:id="rId3"/>
              </a:rPr>
              <a:t>github.com/Simba90m/capstone_project_worth_the_investment_PL</a:t>
            </a:r>
            <a:endParaRPr b="0" lang="en-US" sz="1300" strike="noStrike" u="none">
              <a:solidFill>
                <a:srgbClr val="ffffff"/>
              </a:solidFill>
              <a:effectLst/>
              <a:uFillTx/>
              <a:latin typeface="Arial"/>
            </a:endParaRPr>
          </a:p>
        </p:txBody>
      </p:sp>
      <p:sp>
        <p:nvSpPr>
          <p:cNvPr id="369" name="Text 11"/>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a8b4d0"/>
                </a:solidFill>
                <a:effectLst/>
                <a:uFillTx/>
                <a:latin typeface="Calibri"/>
                <a:ea typeface="Calibri"/>
              </a:rPr>
              <a:t>14</a:t>
            </a:r>
            <a:endParaRPr b="0" lang="en-US" sz="1200" strike="noStrike" u="none">
              <a:solidFill>
                <a:srgbClr val="ffffff"/>
              </a:solidFill>
              <a:effectLst/>
              <a:uFillTx/>
              <a:latin typeface="Arial"/>
            </a:endParaRPr>
          </a:p>
        </p:txBody>
      </p:sp>
      <p:pic>
        <p:nvPicPr>
          <p:cNvPr id="370" name="Graphic 908" descr="Soccer ball on the penalty spot"/>
          <p:cNvPicPr/>
          <p:nvPr/>
        </p:nvPicPr>
        <p:blipFill>
          <a:blip r:embed="rId4">
            <a:extLst>
              <a:ext uri="{96DAC541-7B7A-43D3-8B79-37D633B846F1}">
                <asvg:svgBlip xmlns:asvg="http://schemas.microsoft.com/office/drawing/2016/SVG/main" r:embed="rId5"/>
              </a:ext>
            </a:extLst>
          </a:blip>
          <a:stretch/>
        </p:blipFill>
        <p:spPr>
          <a:xfrm>
            <a:off x="10452240" y="3238560"/>
            <a:ext cx="380520" cy="380520"/>
          </a:xfrm>
          <a:prstGeom prst="rect">
            <a:avLst/>
          </a:prstGeom>
          <a:noFill/>
          <a:ln w="0">
            <a:noFill/>
          </a:ln>
        </p:spPr>
      </p:pic>
    </p:spTree>
  </p:cSld>
  <p:transition spd="med">
    <p:fade/>
  </p:transition>
  <p:timing>
    <p:tnLst>
      <p:par>
        <p:cTn id="595" dur="indefinite" restart="never" nodeType="tmRoot">
          <p:childTnLst>
            <p:seq>
              <p:cTn id="596" dur="indefinite" nodeType="mainSeq">
                <p:childTnLst>
                  <p:par>
                    <p:cTn id="597" fill="hold">
                      <p:stCondLst>
                        <p:cond delay="indefinite"/>
                      </p:stCondLst>
                      <p:childTnLst>
                        <p:par>
                          <p:cTn id="598" fill="hold">
                            <p:stCondLst>
                              <p:cond delay="0"/>
                            </p:stCondLst>
                            <p:childTnLst>
                              <p:par>
                                <p:cTn id="599" nodeType="clickEffect" fill="hold" presetClass="entr" presetID="10">
                                  <p:stCondLst>
                                    <p:cond delay="0"/>
                                  </p:stCondLst>
                                  <p:childTnLst>
                                    <p:set>
                                      <p:cBhvr>
                                        <p:cTn id="600" dur="1" fill="hold">
                                          <p:stCondLst>
                                            <p:cond delay="0"/>
                                          </p:stCondLst>
                                        </p:cTn>
                                        <p:tgtEl>
                                          <p:spTgt spid="366"/>
                                        </p:tgtEl>
                                        <p:attrNameLst>
                                          <p:attrName>style.visibility</p:attrName>
                                        </p:attrNameLst>
                                      </p:cBhvr>
                                      <p:to>
                                        <p:strVal val="visible"/>
                                      </p:to>
                                    </p:set>
                                    <p:animEffect filter="fade" transition="in">
                                      <p:cBhvr additive="repl">
                                        <p:cTn id="601" dur="500"/>
                                        <p:tgtEl>
                                          <p:spTgt spid="366"/>
                                        </p:tgtEl>
                                      </p:cBhvr>
                                    </p:animEffect>
                                  </p:childTnLst>
                                </p:cTn>
                              </p:par>
                            </p:childTnLst>
                          </p:cTn>
                        </p:par>
                      </p:childTnLst>
                    </p:cTn>
                  </p:par>
                  <p:par>
                    <p:cTn id="602" fill="hold">
                      <p:stCondLst>
                        <p:cond delay="indefinite"/>
                      </p:stCondLst>
                      <p:childTnLst>
                        <p:par>
                          <p:cTn id="603" fill="hold">
                            <p:stCondLst>
                              <p:cond delay="0"/>
                            </p:stCondLst>
                            <p:childTnLst>
                              <p:par>
                                <p:cTn id="604" nodeType="clickEffect" fill="hold" presetClass="entr" presetID="10">
                                  <p:stCondLst>
                                    <p:cond delay="0"/>
                                  </p:stCondLst>
                                  <p:childTnLst>
                                    <p:set>
                                      <p:cBhvr>
                                        <p:cTn id="605" dur="1" fill="hold">
                                          <p:stCondLst>
                                            <p:cond delay="0"/>
                                          </p:stCondLst>
                                        </p:cTn>
                                        <p:tgtEl>
                                          <p:spTgt spid="367"/>
                                        </p:tgtEl>
                                        <p:attrNameLst>
                                          <p:attrName>style.visibility</p:attrName>
                                        </p:attrNameLst>
                                      </p:cBhvr>
                                      <p:to>
                                        <p:strVal val="visible"/>
                                      </p:to>
                                    </p:set>
                                    <p:animEffect filter="fade" transition="in">
                                      <p:cBhvr additive="repl">
                                        <p:cTn id="606" dur="500"/>
                                        <p:tgtEl>
                                          <p:spTgt spid="367"/>
                                        </p:tgtEl>
                                      </p:cBhvr>
                                    </p:animEffect>
                                  </p:childTnLst>
                                </p:cTn>
                              </p:par>
                              <p:par>
                                <p:cTn id="607" nodeType="withEffect" fill="hold" presetClass="entr" presetID="10">
                                  <p:stCondLst>
                                    <p:cond delay="0"/>
                                  </p:stCondLst>
                                  <p:childTnLst>
                                    <p:set>
                                      <p:cBhvr>
                                        <p:cTn id="608" dur="1" fill="hold">
                                          <p:stCondLst>
                                            <p:cond delay="0"/>
                                          </p:stCondLst>
                                        </p:cTn>
                                        <p:tgtEl>
                                          <p:spTgt spid="368"/>
                                        </p:tgtEl>
                                        <p:attrNameLst>
                                          <p:attrName>style.visibility</p:attrName>
                                        </p:attrNameLst>
                                      </p:cBhvr>
                                      <p:to>
                                        <p:strVal val="visible"/>
                                      </p:to>
                                    </p:set>
                                    <p:animEffect filter="fade" transition="in">
                                      <p:cBhvr additive="repl">
                                        <p:cTn id="609" dur="500"/>
                                        <p:tgtEl>
                                          <p:spTgt spid="36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8fa"/>
        </a:solidFill>
      </p:bgPr>
    </p:bg>
    <p:spTree>
      <p:nvGrpSpPr>
        <p:cNvPr id="1" name=""/>
        <p:cNvGrpSpPr/>
        <p:nvPr/>
      </p:nvGrpSpPr>
      <p:grpSpPr>
        <a:xfrm>
          <a:off x="0" y="0"/>
          <a:ext cx="0" cy="0"/>
          <a:chOff x="0" y="0"/>
          <a:chExt cx="0" cy="0"/>
        </a:xfrm>
      </p:grpSpPr>
      <p:sp>
        <p:nvSpPr>
          <p:cNvPr id="371" name="Text 0"/>
          <p:cNvSpPr/>
          <p:nvPr/>
        </p:nvSpPr>
        <p:spPr>
          <a:xfrm>
            <a:off x="822960" y="594360"/>
            <a:ext cx="5486040" cy="31968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400" spc="201" strike="noStrike" u="none">
                <a:solidFill>
                  <a:srgbClr val="1f7a4d"/>
                </a:solidFill>
                <a:effectLst/>
                <a:uFillTx/>
                <a:latin typeface="Calibri"/>
                <a:ea typeface="Calibri"/>
              </a:rPr>
              <a:t>ROADMAP</a:t>
            </a:r>
            <a:endParaRPr b="0" lang="en-US" sz="1400" strike="noStrike" u="none">
              <a:solidFill>
                <a:srgbClr val="000000"/>
              </a:solidFill>
              <a:effectLst/>
              <a:uFillTx/>
              <a:latin typeface="Arial"/>
            </a:endParaRPr>
          </a:p>
        </p:txBody>
      </p:sp>
      <p:sp>
        <p:nvSpPr>
          <p:cNvPr id="372" name="Text 1"/>
          <p:cNvSpPr/>
          <p:nvPr/>
        </p:nvSpPr>
        <p:spPr>
          <a:xfrm>
            <a:off x="777240" y="896040"/>
            <a:ext cx="7314840" cy="73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3200" strike="noStrike" u="none">
                <a:solidFill>
                  <a:srgbClr val="1a1a1a"/>
                </a:solidFill>
                <a:effectLst/>
                <a:uFillTx/>
                <a:latin typeface="Cambria"/>
                <a:ea typeface="Cambria"/>
              </a:rPr>
              <a:t>Where we are</a:t>
            </a:r>
            <a:endParaRPr b="0" lang="en-US" sz="3200" strike="noStrike" u="none">
              <a:solidFill>
                <a:srgbClr val="000000"/>
              </a:solidFill>
              <a:effectLst/>
              <a:uFillTx/>
              <a:latin typeface="Arial"/>
            </a:endParaRPr>
          </a:p>
        </p:txBody>
      </p:sp>
      <p:pic>
        <p:nvPicPr>
          <p:cNvPr id="373" name="Image 0" descr="preencoded.png"/>
          <p:cNvPicPr/>
          <p:nvPr/>
        </p:nvPicPr>
        <p:blipFill>
          <a:blip r:embed="rId1"/>
          <a:stretch/>
        </p:blipFill>
        <p:spPr>
          <a:xfrm>
            <a:off x="822960" y="1917720"/>
            <a:ext cx="310680" cy="310680"/>
          </a:xfrm>
          <a:prstGeom prst="rect">
            <a:avLst/>
          </a:prstGeom>
          <a:noFill/>
          <a:ln w="0">
            <a:noFill/>
          </a:ln>
        </p:spPr>
      </p:pic>
      <p:sp>
        <p:nvSpPr>
          <p:cNvPr id="374" name="Text 2"/>
          <p:cNvSpPr/>
          <p:nvPr/>
        </p:nvSpPr>
        <p:spPr>
          <a:xfrm>
            <a:off x="1298520" y="1905120"/>
            <a:ext cx="60346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1a1a1a"/>
                </a:solidFill>
                <a:effectLst/>
                <a:uFillTx/>
                <a:latin typeface="Calibri"/>
                <a:ea typeface="Calibri"/>
              </a:rPr>
              <a:t>Business question with background &amp; impact</a:t>
            </a:r>
            <a:endParaRPr b="0" lang="en-US" sz="1300" strike="noStrike" u="none">
              <a:solidFill>
                <a:srgbClr val="000000"/>
              </a:solidFill>
              <a:effectLst/>
              <a:uFillTx/>
              <a:latin typeface="Arial"/>
            </a:endParaRPr>
          </a:p>
        </p:txBody>
      </p:sp>
      <p:pic>
        <p:nvPicPr>
          <p:cNvPr id="375" name="Image 1" descr="preencoded.png"/>
          <p:cNvPicPr/>
          <p:nvPr/>
        </p:nvPicPr>
        <p:blipFill>
          <a:blip r:embed="rId2"/>
          <a:stretch/>
        </p:blipFill>
        <p:spPr>
          <a:xfrm>
            <a:off x="822960" y="2679840"/>
            <a:ext cx="310680" cy="310680"/>
          </a:xfrm>
          <a:prstGeom prst="rect">
            <a:avLst/>
          </a:prstGeom>
          <a:noFill/>
          <a:ln w="0">
            <a:noFill/>
          </a:ln>
        </p:spPr>
      </p:pic>
      <p:sp>
        <p:nvSpPr>
          <p:cNvPr id="376" name="Text 3"/>
          <p:cNvSpPr/>
          <p:nvPr/>
        </p:nvSpPr>
        <p:spPr>
          <a:xfrm>
            <a:off x="1298520" y="2666880"/>
            <a:ext cx="60346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1a1a1a"/>
                </a:solidFill>
                <a:effectLst/>
                <a:uFillTx/>
                <a:latin typeface="Calibri"/>
                <a:ea typeface="Calibri"/>
              </a:rPr>
              <a:t>Technical analysis in Python + SQL + Tableau</a:t>
            </a:r>
            <a:endParaRPr b="0" lang="en-US" sz="1300" strike="noStrike" u="none">
              <a:solidFill>
                <a:srgbClr val="000000"/>
              </a:solidFill>
              <a:effectLst/>
              <a:uFillTx/>
              <a:latin typeface="Arial"/>
            </a:endParaRPr>
          </a:p>
        </p:txBody>
      </p:sp>
      <p:pic>
        <p:nvPicPr>
          <p:cNvPr id="377" name="Image 2" descr="preencoded.png"/>
          <p:cNvPicPr/>
          <p:nvPr/>
        </p:nvPicPr>
        <p:blipFill>
          <a:blip r:embed="rId3"/>
          <a:stretch/>
        </p:blipFill>
        <p:spPr>
          <a:xfrm>
            <a:off x="822960" y="3441600"/>
            <a:ext cx="310680" cy="310680"/>
          </a:xfrm>
          <a:prstGeom prst="rect">
            <a:avLst/>
          </a:prstGeom>
          <a:noFill/>
          <a:ln w="0">
            <a:noFill/>
          </a:ln>
        </p:spPr>
      </p:pic>
      <p:sp>
        <p:nvSpPr>
          <p:cNvPr id="378" name="Text 4"/>
          <p:cNvSpPr/>
          <p:nvPr/>
        </p:nvSpPr>
        <p:spPr>
          <a:xfrm>
            <a:off x="1298520" y="3429000"/>
            <a:ext cx="60346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1a1a1a"/>
                </a:solidFill>
                <a:effectLst/>
                <a:uFillTx/>
                <a:latin typeface="Calibri"/>
                <a:ea typeface="Calibri"/>
              </a:rPr>
              <a:t>Work stored in a GitHub repository</a:t>
            </a:r>
            <a:endParaRPr b="0" lang="en-US" sz="1300" strike="noStrike" u="none">
              <a:solidFill>
                <a:srgbClr val="000000"/>
              </a:solidFill>
              <a:effectLst/>
              <a:uFillTx/>
              <a:latin typeface="Arial"/>
            </a:endParaRPr>
          </a:p>
        </p:txBody>
      </p:sp>
      <p:pic>
        <p:nvPicPr>
          <p:cNvPr id="379" name="Image 3" descr="preencoded.png"/>
          <p:cNvPicPr/>
          <p:nvPr/>
        </p:nvPicPr>
        <p:blipFill>
          <a:blip r:embed="rId4"/>
          <a:stretch/>
        </p:blipFill>
        <p:spPr>
          <a:xfrm>
            <a:off x="822960" y="4203720"/>
            <a:ext cx="310680" cy="310680"/>
          </a:xfrm>
          <a:prstGeom prst="rect">
            <a:avLst/>
          </a:prstGeom>
          <a:noFill/>
          <a:ln w="0">
            <a:noFill/>
          </a:ln>
        </p:spPr>
      </p:pic>
      <p:sp>
        <p:nvSpPr>
          <p:cNvPr id="380" name="Text 5"/>
          <p:cNvSpPr/>
          <p:nvPr/>
        </p:nvSpPr>
        <p:spPr>
          <a:xfrm>
            <a:off x="1298520" y="4191120"/>
            <a:ext cx="60346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1a1a1a"/>
                </a:solidFill>
                <a:effectLst/>
                <a:uFillTx/>
                <a:latin typeface="Calibri"/>
                <a:ea typeface="Calibri"/>
              </a:rPr>
              <a:t>Data stored in a SQL database (DuckDB)</a:t>
            </a:r>
            <a:endParaRPr b="0" lang="en-US" sz="1300" strike="noStrike" u="none">
              <a:solidFill>
                <a:srgbClr val="000000"/>
              </a:solidFill>
              <a:effectLst/>
              <a:uFillTx/>
              <a:latin typeface="Arial"/>
            </a:endParaRPr>
          </a:p>
        </p:txBody>
      </p:sp>
      <p:pic>
        <p:nvPicPr>
          <p:cNvPr id="381" name="Image 4" descr="preencoded.png"/>
          <p:cNvPicPr/>
          <p:nvPr/>
        </p:nvPicPr>
        <p:blipFill>
          <a:blip r:embed="rId5"/>
          <a:stretch/>
        </p:blipFill>
        <p:spPr>
          <a:xfrm>
            <a:off x="822960" y="4965840"/>
            <a:ext cx="310680" cy="310680"/>
          </a:xfrm>
          <a:prstGeom prst="rect">
            <a:avLst/>
          </a:prstGeom>
          <a:noFill/>
          <a:ln w="0">
            <a:noFill/>
          </a:ln>
        </p:spPr>
      </p:pic>
      <p:sp>
        <p:nvSpPr>
          <p:cNvPr id="382" name="Text 6"/>
          <p:cNvSpPr/>
          <p:nvPr/>
        </p:nvSpPr>
        <p:spPr>
          <a:xfrm>
            <a:off x="1298520" y="4952880"/>
            <a:ext cx="60346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1a1a1a"/>
                </a:solidFill>
                <a:effectLst/>
                <a:uFillTx/>
                <a:latin typeface="Calibri"/>
                <a:ea typeface="Calibri"/>
              </a:rPr>
              <a:t>Multiple, genuinely-own data sources (3 combined)</a:t>
            </a:r>
            <a:endParaRPr b="0" lang="en-US" sz="1300" strike="noStrike" u="none">
              <a:solidFill>
                <a:srgbClr val="000000"/>
              </a:solidFill>
              <a:effectLst/>
              <a:uFillTx/>
              <a:latin typeface="Arial"/>
            </a:endParaRPr>
          </a:p>
        </p:txBody>
      </p:sp>
      <p:sp>
        <p:nvSpPr>
          <p:cNvPr id="383" name="Shape 7"/>
          <p:cNvSpPr/>
          <p:nvPr/>
        </p:nvSpPr>
        <p:spPr>
          <a:xfrm>
            <a:off x="822960" y="5727600"/>
            <a:ext cx="310680" cy="310680"/>
          </a:xfrm>
          <a:prstGeom prst="ellipse">
            <a:avLst/>
          </a:prstGeom>
          <a:solidFill>
            <a:srgbClr val="1f7a4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84" name="Text 8"/>
          <p:cNvSpPr/>
          <p:nvPr/>
        </p:nvSpPr>
        <p:spPr>
          <a:xfrm>
            <a:off x="1298520" y="5715000"/>
            <a:ext cx="603468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4a5568"/>
                </a:solidFill>
                <a:effectLst/>
                <a:uFillTx/>
                <a:latin typeface="Calibri"/>
                <a:ea typeface="Calibri"/>
              </a:rPr>
              <a:t>Final presentation, slides in repo</a:t>
            </a:r>
            <a:endParaRPr b="0" lang="en-US" sz="1300" strike="noStrike" u="none">
              <a:solidFill>
                <a:srgbClr val="000000"/>
              </a:solidFill>
              <a:effectLst/>
              <a:uFillTx/>
              <a:latin typeface="Arial"/>
            </a:endParaRPr>
          </a:p>
        </p:txBody>
      </p:sp>
      <p:sp>
        <p:nvSpPr>
          <p:cNvPr id="385" name="Shape 9"/>
          <p:cNvSpPr/>
          <p:nvPr/>
        </p:nvSpPr>
        <p:spPr>
          <a:xfrm>
            <a:off x="7818120" y="1920240"/>
            <a:ext cx="3520080" cy="4205880"/>
          </a:xfrm>
          <a:prstGeom prst="roundRect">
            <a:avLst>
              <a:gd name="adj" fmla="val 2338"/>
            </a:avLst>
          </a:prstGeom>
          <a:solidFill>
            <a:srgbClr val="0f1b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86" name="Text 10"/>
          <p:cNvSpPr/>
          <p:nvPr/>
        </p:nvSpPr>
        <p:spPr>
          <a:xfrm>
            <a:off x="8092440" y="2121480"/>
            <a:ext cx="3017160" cy="3654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e8a33d"/>
                </a:solidFill>
                <a:effectLst/>
                <a:uFillTx/>
                <a:latin typeface="Calibri"/>
                <a:ea typeface="Calibri"/>
              </a:rPr>
              <a:t>Capstone timeline</a:t>
            </a:r>
            <a:endParaRPr b="0" lang="en-US" sz="1300" strike="noStrike" u="none">
              <a:solidFill>
                <a:srgbClr val="000000"/>
              </a:solidFill>
              <a:effectLst/>
              <a:uFillTx/>
              <a:latin typeface="Arial"/>
            </a:endParaRPr>
          </a:p>
        </p:txBody>
      </p:sp>
      <p:sp>
        <p:nvSpPr>
          <p:cNvPr id="387" name="Shape 11"/>
          <p:cNvSpPr/>
          <p:nvPr/>
        </p:nvSpPr>
        <p:spPr>
          <a:xfrm>
            <a:off x="8092440" y="2633400"/>
            <a:ext cx="145800" cy="14580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88" name="Text 12"/>
          <p:cNvSpPr/>
          <p:nvPr/>
        </p:nvSpPr>
        <p:spPr>
          <a:xfrm>
            <a:off x="8366760" y="2532960"/>
            <a:ext cx="100548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adcfc"/>
                </a:solidFill>
                <a:effectLst/>
                <a:uFillTx/>
                <a:latin typeface="Calibri"/>
                <a:ea typeface="Calibri"/>
              </a:rPr>
              <a:t>Week 1</a:t>
            </a:r>
            <a:endParaRPr b="0" lang="en-US" sz="1300" strike="noStrike" u="none">
              <a:solidFill>
                <a:srgbClr val="000000"/>
              </a:solidFill>
              <a:effectLst/>
              <a:uFillTx/>
              <a:latin typeface="Arial"/>
            </a:endParaRPr>
          </a:p>
        </p:txBody>
      </p:sp>
      <p:sp>
        <p:nvSpPr>
          <p:cNvPr id="389" name="Text 13"/>
          <p:cNvSpPr/>
          <p:nvPr/>
        </p:nvSpPr>
        <p:spPr>
          <a:xfrm>
            <a:off x="8366760" y="2807280"/>
            <a:ext cx="28342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b8c4e0"/>
                </a:solidFill>
                <a:effectLst/>
                <a:uFillTx/>
                <a:latin typeface="Calibri"/>
                <a:ea typeface="Calibri"/>
              </a:rPr>
              <a:t>Plan: hypothesis, data inventory</a:t>
            </a:r>
            <a:endParaRPr b="0" lang="en-US" sz="1300" strike="noStrike" u="none">
              <a:solidFill>
                <a:srgbClr val="000000"/>
              </a:solidFill>
              <a:effectLst/>
              <a:uFillTx/>
              <a:latin typeface="Arial"/>
            </a:endParaRPr>
          </a:p>
        </p:txBody>
      </p:sp>
      <p:sp>
        <p:nvSpPr>
          <p:cNvPr id="390" name="Shape 14"/>
          <p:cNvSpPr/>
          <p:nvPr/>
        </p:nvSpPr>
        <p:spPr>
          <a:xfrm>
            <a:off x="8092440" y="3291840"/>
            <a:ext cx="145800" cy="14580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91" name="Text 15"/>
          <p:cNvSpPr/>
          <p:nvPr/>
        </p:nvSpPr>
        <p:spPr>
          <a:xfrm>
            <a:off x="8366760" y="3191400"/>
            <a:ext cx="100548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adcfc"/>
                </a:solidFill>
                <a:effectLst/>
                <a:uFillTx/>
                <a:latin typeface="Calibri"/>
                <a:ea typeface="Calibri"/>
              </a:rPr>
              <a:t>Week 2</a:t>
            </a:r>
            <a:endParaRPr b="0" lang="en-US" sz="1300" strike="noStrike" u="none">
              <a:solidFill>
                <a:srgbClr val="000000"/>
              </a:solidFill>
              <a:effectLst/>
              <a:uFillTx/>
              <a:latin typeface="Arial"/>
            </a:endParaRPr>
          </a:p>
        </p:txBody>
      </p:sp>
      <p:sp>
        <p:nvSpPr>
          <p:cNvPr id="392" name="Text 16"/>
          <p:cNvSpPr/>
          <p:nvPr/>
        </p:nvSpPr>
        <p:spPr>
          <a:xfrm>
            <a:off x="8366760" y="3465720"/>
            <a:ext cx="28342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b8c4e0"/>
                </a:solidFill>
                <a:effectLst/>
                <a:uFillTx/>
                <a:latin typeface="Calibri"/>
                <a:ea typeface="Calibri"/>
              </a:rPr>
              <a:t>Foundations: ETL, dbt, DuckDB</a:t>
            </a:r>
            <a:endParaRPr b="0" lang="en-US" sz="1300" strike="noStrike" u="none">
              <a:solidFill>
                <a:srgbClr val="000000"/>
              </a:solidFill>
              <a:effectLst/>
              <a:uFillTx/>
              <a:latin typeface="Arial"/>
            </a:endParaRPr>
          </a:p>
        </p:txBody>
      </p:sp>
      <p:sp>
        <p:nvSpPr>
          <p:cNvPr id="393" name="Shape 17"/>
          <p:cNvSpPr/>
          <p:nvPr/>
        </p:nvSpPr>
        <p:spPr>
          <a:xfrm>
            <a:off x="8092440" y="3950280"/>
            <a:ext cx="145800" cy="14580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94" name="Text 18"/>
          <p:cNvSpPr/>
          <p:nvPr/>
        </p:nvSpPr>
        <p:spPr>
          <a:xfrm>
            <a:off x="8366760" y="3849480"/>
            <a:ext cx="100548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adcfc"/>
                </a:solidFill>
                <a:effectLst/>
                <a:uFillTx/>
                <a:latin typeface="Calibri"/>
                <a:ea typeface="Calibri"/>
              </a:rPr>
              <a:t>Week 3</a:t>
            </a:r>
            <a:endParaRPr b="0" lang="en-US" sz="1300" strike="noStrike" u="none">
              <a:solidFill>
                <a:srgbClr val="000000"/>
              </a:solidFill>
              <a:effectLst/>
              <a:uFillTx/>
              <a:latin typeface="Arial"/>
            </a:endParaRPr>
          </a:p>
        </p:txBody>
      </p:sp>
      <p:sp>
        <p:nvSpPr>
          <p:cNvPr id="395" name="Text 19"/>
          <p:cNvSpPr/>
          <p:nvPr/>
        </p:nvSpPr>
        <p:spPr>
          <a:xfrm>
            <a:off x="8366760" y="4123800"/>
            <a:ext cx="28342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b8c4e0"/>
                </a:solidFill>
                <a:effectLst/>
                <a:uFillTx/>
                <a:latin typeface="Calibri"/>
                <a:ea typeface="Calibri"/>
              </a:rPr>
              <a:t>Build: analysis, statistical tests</a:t>
            </a:r>
            <a:endParaRPr b="0" lang="en-US" sz="1300" strike="noStrike" u="none">
              <a:solidFill>
                <a:srgbClr val="000000"/>
              </a:solidFill>
              <a:effectLst/>
              <a:uFillTx/>
              <a:latin typeface="Arial"/>
            </a:endParaRPr>
          </a:p>
        </p:txBody>
      </p:sp>
      <p:sp>
        <p:nvSpPr>
          <p:cNvPr id="396" name="Shape 20"/>
          <p:cNvSpPr/>
          <p:nvPr/>
        </p:nvSpPr>
        <p:spPr>
          <a:xfrm>
            <a:off x="8092440" y="4608720"/>
            <a:ext cx="145800" cy="145800"/>
          </a:xfrm>
          <a:prstGeom prst="ellipse">
            <a:avLst/>
          </a:prstGeom>
          <a:solidFill>
            <a:srgbClr val="3c4a73"/>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397" name="Text 21"/>
          <p:cNvSpPr/>
          <p:nvPr/>
        </p:nvSpPr>
        <p:spPr>
          <a:xfrm>
            <a:off x="8366760" y="4507920"/>
            <a:ext cx="100548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cadcfc"/>
                </a:solidFill>
                <a:effectLst/>
                <a:uFillTx/>
                <a:latin typeface="Calibri"/>
                <a:ea typeface="Calibri"/>
              </a:rPr>
              <a:t>Week 4</a:t>
            </a:r>
            <a:endParaRPr b="0" lang="en-US" sz="1300" strike="noStrike" u="none">
              <a:solidFill>
                <a:srgbClr val="000000"/>
              </a:solidFill>
              <a:effectLst/>
              <a:uFillTx/>
              <a:latin typeface="Arial"/>
            </a:endParaRPr>
          </a:p>
        </p:txBody>
      </p:sp>
      <p:sp>
        <p:nvSpPr>
          <p:cNvPr id="398" name="Text 22"/>
          <p:cNvSpPr/>
          <p:nvPr/>
        </p:nvSpPr>
        <p:spPr>
          <a:xfrm>
            <a:off x="8366760" y="4782240"/>
            <a:ext cx="28342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b8c4e0"/>
                </a:solidFill>
                <a:effectLst/>
                <a:uFillTx/>
                <a:latin typeface="Calibri"/>
                <a:ea typeface="Calibri"/>
              </a:rPr>
              <a:t>Polish: Tableau, rehearsal, freeze</a:t>
            </a:r>
            <a:endParaRPr b="0" lang="en-US" sz="1300" strike="noStrike" u="none">
              <a:solidFill>
                <a:srgbClr val="000000"/>
              </a:solidFill>
              <a:effectLst/>
              <a:uFillTx/>
              <a:latin typeface="Arial"/>
            </a:endParaRPr>
          </a:p>
        </p:txBody>
      </p:sp>
      <p:sp>
        <p:nvSpPr>
          <p:cNvPr id="399" name="Shape 23"/>
          <p:cNvSpPr/>
          <p:nvPr/>
        </p:nvSpPr>
        <p:spPr>
          <a:xfrm>
            <a:off x="8092440" y="5266800"/>
            <a:ext cx="145800" cy="145800"/>
          </a:xfrm>
          <a:prstGeom prst="ellipse">
            <a:avLst/>
          </a:prstGeom>
          <a:solidFill>
            <a:srgbClr val="e8a33d"/>
          </a:solidFill>
          <a:ln w="0">
            <a:noFill/>
          </a:ln>
        </p:spPr>
        <p:style>
          <a:lnRef idx="0"/>
          <a:fillRef idx="0"/>
          <a:effectRef idx="0"/>
          <a:fontRef idx="minor"/>
        </p:style>
        <p:txBody>
          <a:bodyPr lIns="90000" rIns="90000" tIns="45000" bIns="45000" anchor="t">
            <a:noAutofit/>
          </a:bodyPr>
          <a:p>
            <a:pPr defTabSz="914400">
              <a:lnSpc>
                <a:spcPct val="100000"/>
              </a:lnSpc>
            </a:pPr>
            <a:endParaRPr b="0" lang="en-US" sz="1800" strike="noStrike" u="none">
              <a:solidFill>
                <a:schemeClr val="dk1"/>
              </a:solidFill>
              <a:effectLst/>
              <a:uFillTx/>
              <a:latin typeface="Calibri"/>
            </a:endParaRPr>
          </a:p>
        </p:txBody>
      </p:sp>
      <p:sp>
        <p:nvSpPr>
          <p:cNvPr id="400" name="Text 24"/>
          <p:cNvSpPr/>
          <p:nvPr/>
        </p:nvSpPr>
        <p:spPr>
          <a:xfrm>
            <a:off x="8366760" y="5166360"/>
            <a:ext cx="1005480" cy="2923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1" lang="en-US" sz="1300" strike="noStrike" u="none">
                <a:solidFill>
                  <a:srgbClr val="e8a33d"/>
                </a:solidFill>
                <a:effectLst/>
                <a:uFillTx/>
                <a:latin typeface="Calibri"/>
                <a:ea typeface="Calibri"/>
              </a:rPr>
              <a:t>Sep 29</a:t>
            </a:r>
            <a:endParaRPr b="0" lang="en-US" sz="1300" strike="noStrike" u="none">
              <a:solidFill>
                <a:srgbClr val="000000"/>
              </a:solidFill>
              <a:effectLst/>
              <a:uFillTx/>
              <a:latin typeface="Arial"/>
            </a:endParaRPr>
          </a:p>
        </p:txBody>
      </p:sp>
      <p:sp>
        <p:nvSpPr>
          <p:cNvPr id="401" name="Text 25"/>
          <p:cNvSpPr/>
          <p:nvPr/>
        </p:nvSpPr>
        <p:spPr>
          <a:xfrm>
            <a:off x="8366760" y="5440680"/>
            <a:ext cx="2834280" cy="41112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lang="en-US" sz="1300" strike="noStrike" u="none">
                <a:solidFill>
                  <a:srgbClr val="b8c4e0"/>
                </a:solidFill>
                <a:effectLst/>
                <a:uFillTx/>
                <a:latin typeface="Calibri"/>
                <a:ea typeface="Calibri"/>
              </a:rPr>
              <a:t>Capstone Event</a:t>
            </a:r>
            <a:endParaRPr b="0" lang="en-US" sz="1300" strike="noStrike" u="none">
              <a:solidFill>
                <a:srgbClr val="000000"/>
              </a:solidFill>
              <a:effectLst/>
              <a:uFillTx/>
              <a:latin typeface="Arial"/>
            </a:endParaRPr>
          </a:p>
        </p:txBody>
      </p:sp>
      <p:sp>
        <p:nvSpPr>
          <p:cNvPr id="402" name="Text 26"/>
          <p:cNvSpPr/>
          <p:nvPr/>
        </p:nvSpPr>
        <p:spPr>
          <a:xfrm>
            <a:off x="825480" y="6400800"/>
            <a:ext cx="8889480" cy="2739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r>
              <a:rPr b="0" i="1" lang="en-US" sz="1300" strike="noStrike" u="none">
                <a:solidFill>
                  <a:srgbClr val="5a6478"/>
                </a:solidFill>
                <a:effectLst/>
                <a:uFillTx/>
                <a:latin typeface="Calibri"/>
                <a:ea typeface="Calibri"/>
              </a:rPr>
              <a:t>Kickoff Aug 26, 2026 to Capstone Event Sep 29, 2026. Today: final presentation and live Tableau walkthrough.</a:t>
            </a:r>
            <a:endParaRPr b="0" lang="en-US" sz="1300" strike="noStrike" u="none">
              <a:solidFill>
                <a:srgbClr val="000000"/>
              </a:solidFill>
              <a:effectLst/>
              <a:uFillTx/>
              <a:latin typeface="Arial"/>
            </a:endParaRPr>
          </a:p>
        </p:txBody>
      </p:sp>
      <p:sp>
        <p:nvSpPr>
          <p:cNvPr id="403" name="Text 27"/>
          <p:cNvSpPr/>
          <p:nvPr/>
        </p:nvSpPr>
        <p:spPr>
          <a:xfrm>
            <a:off x="11368800" y="6400800"/>
            <a:ext cx="548280" cy="273960"/>
          </a:xfrm>
          <a:prstGeom prst="rect">
            <a:avLst/>
          </a:prstGeom>
          <a:noFill/>
          <a:ln w="0">
            <a:noFill/>
          </a:ln>
        </p:spPr>
        <p:style>
          <a:lnRef idx="0"/>
          <a:fillRef idx="0"/>
          <a:effectRef idx="0"/>
          <a:fontRef idx="minor"/>
        </p:style>
        <p:txBody>
          <a:bodyPr lIns="0" rIns="0" tIns="0" bIns="0" anchor="ctr">
            <a:noAutofit/>
          </a:bodyPr>
          <a:p>
            <a:pPr algn="r" defTabSz="914400">
              <a:lnSpc>
                <a:spcPct val="100000"/>
              </a:lnSpc>
              <a:tabLst>
                <a:tab algn="l" pos="0"/>
              </a:tabLst>
            </a:pPr>
            <a:r>
              <a:rPr b="0" lang="en-US" sz="1200" strike="noStrike" u="none">
                <a:solidFill>
                  <a:srgbClr val="5a6478"/>
                </a:solidFill>
                <a:effectLst/>
                <a:uFillTx/>
                <a:latin typeface="Calibri"/>
                <a:ea typeface="Calibri"/>
              </a:rPr>
              <a:t>15</a:t>
            </a:r>
            <a:endParaRPr b="0" lang="en-US" sz="1200" strike="noStrike" u="none">
              <a:solidFill>
                <a:srgbClr val="000000"/>
              </a:solidFill>
              <a:effectLst/>
              <a:uFillTx/>
              <a:latin typeface="Arial"/>
            </a:endParaRPr>
          </a:p>
        </p:txBody>
      </p:sp>
      <p:sp>
        <p:nvSpPr>
          <p:cNvPr id="404" name="TextBox 86"/>
          <p:cNvSpPr/>
          <p:nvPr/>
        </p:nvSpPr>
        <p:spPr>
          <a:xfrm>
            <a:off x="822960" y="5727600"/>
            <a:ext cx="310680" cy="310680"/>
          </a:xfrm>
          <a:prstGeom prst="rect">
            <a:avLst/>
          </a:prstGeom>
          <a:noFill/>
          <a:ln w="0">
            <a:noFill/>
          </a:ln>
        </p:spPr>
        <p:style>
          <a:lnRef idx="0"/>
          <a:fillRef idx="0"/>
          <a:effectRef idx="0"/>
          <a:fontRef idx="minor"/>
        </p:style>
        <p:txBody>
          <a:bodyPr wrap="none" lIns="0" rIns="0" tIns="0" bIns="0" anchor="ctr">
            <a:spAutoFit/>
          </a:bodyPr>
          <a:p>
            <a:pPr algn="ctr" defTabSz="914400">
              <a:lnSpc>
                <a:spcPct val="100000"/>
              </a:lnSpc>
            </a:pPr>
            <a:r>
              <a:rPr b="1" lang="en-US" sz="1400" strike="noStrike" u="none">
                <a:solidFill>
                  <a:srgbClr val="ffffff"/>
                </a:solidFill>
                <a:effectLst/>
                <a:uFillTx/>
                <a:latin typeface="Calibri"/>
              </a:rPr>
              <a:t>✓</a:t>
            </a:r>
            <a:endParaRPr b="0" lang="en-US" sz="1400" strike="noStrike" u="none">
              <a:solidFill>
                <a:srgbClr val="000000"/>
              </a:solidFill>
              <a:effectLst/>
              <a:uFillTx/>
              <a:latin typeface="Arial"/>
            </a:endParaRPr>
          </a:p>
        </p:txBody>
      </p:sp>
    </p:spTree>
  </p:cSld>
  <p:transition spd="med">
    <p:fade/>
  </p:transition>
  <p:timing>
    <p:tnLst>
      <p:par>
        <p:cTn id="610" dur="indefinite" restart="never" nodeType="tmRoot">
          <p:childTnLst>
            <p:seq>
              <p:cTn id="611" dur="indefinite" nodeType="mainSeq">
                <p:childTnLst>
                  <p:par>
                    <p:cTn id="612" fill="hold">
                      <p:stCondLst>
                        <p:cond delay="indefinite"/>
                      </p:stCondLst>
                      <p:childTnLst>
                        <p:par>
                          <p:cTn id="613" fill="hold">
                            <p:stCondLst>
                              <p:cond delay="0"/>
                            </p:stCondLst>
                            <p:childTnLst>
                              <p:par>
                                <p:cTn id="614" nodeType="clickEffect" fill="hold" presetClass="entr" presetID="10">
                                  <p:stCondLst>
                                    <p:cond delay="0"/>
                                  </p:stCondLst>
                                  <p:childTnLst>
                                    <p:set>
                                      <p:cBhvr>
                                        <p:cTn id="615" dur="1" fill="hold">
                                          <p:stCondLst>
                                            <p:cond delay="0"/>
                                          </p:stCondLst>
                                        </p:cTn>
                                        <p:tgtEl>
                                          <p:spTgt spid="374"/>
                                        </p:tgtEl>
                                        <p:attrNameLst>
                                          <p:attrName>style.visibility</p:attrName>
                                        </p:attrNameLst>
                                      </p:cBhvr>
                                      <p:to>
                                        <p:strVal val="visible"/>
                                      </p:to>
                                    </p:set>
                                    <p:animEffect filter="fade" transition="in">
                                      <p:cBhvr additive="repl">
                                        <p:cTn id="616" dur="400"/>
                                        <p:tgtEl>
                                          <p:spTgt spid="374"/>
                                        </p:tgtEl>
                                      </p:cBhvr>
                                    </p:animEffect>
                                  </p:childTnLst>
                                </p:cTn>
                              </p:par>
                              <p:par>
                                <p:cTn id="617" nodeType="withEffect" fill="hold" presetClass="entr" presetID="10">
                                  <p:stCondLst>
                                    <p:cond delay="0"/>
                                  </p:stCondLst>
                                  <p:childTnLst>
                                    <p:set>
                                      <p:cBhvr>
                                        <p:cTn id="618" dur="1" fill="hold">
                                          <p:stCondLst>
                                            <p:cond delay="0"/>
                                          </p:stCondLst>
                                        </p:cTn>
                                        <p:tgtEl>
                                          <p:spTgt spid="373"/>
                                        </p:tgtEl>
                                        <p:attrNameLst>
                                          <p:attrName>style.visibility</p:attrName>
                                        </p:attrNameLst>
                                      </p:cBhvr>
                                      <p:to>
                                        <p:strVal val="visible"/>
                                      </p:to>
                                    </p:set>
                                    <p:animEffect filter="fade" transition="in">
                                      <p:cBhvr additive="repl">
                                        <p:cTn id="619" dur="400"/>
                                        <p:tgtEl>
                                          <p:spTgt spid="373"/>
                                        </p:tgtEl>
                                      </p:cBhvr>
                                    </p:animEffect>
                                  </p:childTnLst>
                                </p:cTn>
                              </p:par>
                              <p:par>
                                <p:cTn id="620" nodeType="withEffect" fill="hold" presetClass="entr" presetID="10">
                                  <p:stCondLst>
                                    <p:cond delay="0"/>
                                  </p:stCondLst>
                                  <p:childTnLst>
                                    <p:set>
                                      <p:cBhvr>
                                        <p:cTn id="621" dur="1" fill="hold">
                                          <p:stCondLst>
                                            <p:cond delay="0"/>
                                          </p:stCondLst>
                                        </p:cTn>
                                        <p:tgtEl>
                                          <p:spTgt spid="385"/>
                                        </p:tgtEl>
                                        <p:attrNameLst>
                                          <p:attrName>style.visibility</p:attrName>
                                        </p:attrNameLst>
                                      </p:cBhvr>
                                      <p:to>
                                        <p:strVal val="visible"/>
                                      </p:to>
                                    </p:set>
                                    <p:animEffect filter="fade" transition="in">
                                      <p:cBhvr additive="repl">
                                        <p:cTn id="622" dur="400"/>
                                        <p:tgtEl>
                                          <p:spTgt spid="385"/>
                                        </p:tgtEl>
                                      </p:cBhvr>
                                    </p:animEffect>
                                  </p:childTnLst>
                                </p:cTn>
                              </p:par>
                              <p:par>
                                <p:cTn id="623" nodeType="withEffect" fill="hold" presetClass="entr" presetID="10">
                                  <p:stCondLst>
                                    <p:cond delay="0"/>
                                  </p:stCondLst>
                                  <p:childTnLst>
                                    <p:set>
                                      <p:cBhvr>
                                        <p:cTn id="624" dur="1" fill="hold">
                                          <p:stCondLst>
                                            <p:cond delay="0"/>
                                          </p:stCondLst>
                                        </p:cTn>
                                        <p:tgtEl>
                                          <p:spTgt spid="386"/>
                                        </p:tgtEl>
                                        <p:attrNameLst>
                                          <p:attrName>style.visibility</p:attrName>
                                        </p:attrNameLst>
                                      </p:cBhvr>
                                      <p:to>
                                        <p:strVal val="visible"/>
                                      </p:to>
                                    </p:set>
                                    <p:animEffect filter="fade" transition="in">
                                      <p:cBhvr additive="repl">
                                        <p:cTn id="625" dur="400"/>
                                        <p:tgtEl>
                                          <p:spTgt spid="386"/>
                                        </p:tgtEl>
                                      </p:cBhvr>
                                    </p:animEffect>
                                  </p:childTnLst>
                                </p:cTn>
                              </p:par>
                            </p:childTnLst>
                          </p:cTn>
                        </p:par>
                      </p:childTnLst>
                    </p:cTn>
                  </p:par>
                  <p:par>
                    <p:cTn id="626" fill="hold">
                      <p:stCondLst>
                        <p:cond delay="indefinite"/>
                      </p:stCondLst>
                      <p:childTnLst>
                        <p:par>
                          <p:cTn id="627" fill="hold">
                            <p:stCondLst>
                              <p:cond delay="0"/>
                            </p:stCondLst>
                            <p:childTnLst>
                              <p:par>
                                <p:cTn id="628" nodeType="clickEffect" fill="hold" presetClass="entr" presetID="10">
                                  <p:stCondLst>
                                    <p:cond delay="0"/>
                                  </p:stCondLst>
                                  <p:childTnLst>
                                    <p:set>
                                      <p:cBhvr>
                                        <p:cTn id="629" dur="1" fill="hold">
                                          <p:stCondLst>
                                            <p:cond delay="0"/>
                                          </p:stCondLst>
                                        </p:cTn>
                                        <p:tgtEl>
                                          <p:spTgt spid="388"/>
                                        </p:tgtEl>
                                        <p:attrNameLst>
                                          <p:attrName>style.visibility</p:attrName>
                                        </p:attrNameLst>
                                      </p:cBhvr>
                                      <p:to>
                                        <p:strVal val="visible"/>
                                      </p:to>
                                    </p:set>
                                    <p:animEffect filter="fade" transition="in">
                                      <p:cBhvr additive="repl">
                                        <p:cTn id="630" dur="400"/>
                                        <p:tgtEl>
                                          <p:spTgt spid="388"/>
                                        </p:tgtEl>
                                      </p:cBhvr>
                                    </p:animEffect>
                                  </p:childTnLst>
                                </p:cTn>
                              </p:par>
                              <p:par>
                                <p:cTn id="631" nodeType="withEffect" fill="hold" presetClass="entr" presetID="10">
                                  <p:stCondLst>
                                    <p:cond delay="0"/>
                                  </p:stCondLst>
                                  <p:childTnLst>
                                    <p:set>
                                      <p:cBhvr>
                                        <p:cTn id="632" dur="1" fill="hold">
                                          <p:stCondLst>
                                            <p:cond delay="0"/>
                                          </p:stCondLst>
                                        </p:cTn>
                                        <p:tgtEl>
                                          <p:spTgt spid="376"/>
                                        </p:tgtEl>
                                        <p:attrNameLst>
                                          <p:attrName>style.visibility</p:attrName>
                                        </p:attrNameLst>
                                      </p:cBhvr>
                                      <p:to>
                                        <p:strVal val="visible"/>
                                      </p:to>
                                    </p:set>
                                    <p:animEffect filter="fade" transition="in">
                                      <p:cBhvr additive="repl">
                                        <p:cTn id="633" dur="400"/>
                                        <p:tgtEl>
                                          <p:spTgt spid="376"/>
                                        </p:tgtEl>
                                      </p:cBhvr>
                                    </p:animEffect>
                                  </p:childTnLst>
                                </p:cTn>
                              </p:par>
                              <p:par>
                                <p:cTn id="634" nodeType="withEffect" fill="hold" presetClass="entr" presetID="10">
                                  <p:stCondLst>
                                    <p:cond delay="0"/>
                                  </p:stCondLst>
                                  <p:childTnLst>
                                    <p:set>
                                      <p:cBhvr>
                                        <p:cTn id="635" dur="1" fill="hold">
                                          <p:stCondLst>
                                            <p:cond delay="0"/>
                                          </p:stCondLst>
                                        </p:cTn>
                                        <p:tgtEl>
                                          <p:spTgt spid="375"/>
                                        </p:tgtEl>
                                        <p:attrNameLst>
                                          <p:attrName>style.visibility</p:attrName>
                                        </p:attrNameLst>
                                      </p:cBhvr>
                                      <p:to>
                                        <p:strVal val="visible"/>
                                      </p:to>
                                    </p:set>
                                    <p:animEffect filter="fade" transition="in">
                                      <p:cBhvr additive="repl">
                                        <p:cTn id="636" dur="400"/>
                                        <p:tgtEl>
                                          <p:spTgt spid="375"/>
                                        </p:tgtEl>
                                      </p:cBhvr>
                                    </p:animEffect>
                                  </p:childTnLst>
                                </p:cTn>
                              </p:par>
                              <p:par>
                                <p:cTn id="637" nodeType="withEffect" fill="hold" presetClass="entr" presetID="10">
                                  <p:stCondLst>
                                    <p:cond delay="0"/>
                                  </p:stCondLst>
                                  <p:childTnLst>
                                    <p:set>
                                      <p:cBhvr>
                                        <p:cTn id="638" dur="1" fill="hold">
                                          <p:stCondLst>
                                            <p:cond delay="0"/>
                                          </p:stCondLst>
                                        </p:cTn>
                                        <p:tgtEl>
                                          <p:spTgt spid="389"/>
                                        </p:tgtEl>
                                        <p:attrNameLst>
                                          <p:attrName>style.visibility</p:attrName>
                                        </p:attrNameLst>
                                      </p:cBhvr>
                                      <p:to>
                                        <p:strVal val="visible"/>
                                      </p:to>
                                    </p:set>
                                    <p:animEffect filter="fade" transition="in">
                                      <p:cBhvr additive="repl">
                                        <p:cTn id="639" dur="400"/>
                                        <p:tgtEl>
                                          <p:spTgt spid="389"/>
                                        </p:tgtEl>
                                      </p:cBhvr>
                                    </p:animEffect>
                                  </p:childTnLst>
                                </p:cTn>
                              </p:par>
                            </p:childTnLst>
                          </p:cTn>
                        </p:par>
                      </p:childTnLst>
                    </p:cTn>
                  </p:par>
                  <p:par>
                    <p:cTn id="640" fill="hold">
                      <p:stCondLst>
                        <p:cond delay="indefinite"/>
                      </p:stCondLst>
                      <p:childTnLst>
                        <p:par>
                          <p:cTn id="641" fill="hold">
                            <p:stCondLst>
                              <p:cond delay="0"/>
                            </p:stCondLst>
                            <p:childTnLst>
                              <p:par>
                                <p:cTn id="642" nodeType="clickEffect" fill="hold" presetClass="entr" presetID="10">
                                  <p:stCondLst>
                                    <p:cond delay="0"/>
                                  </p:stCondLst>
                                  <p:childTnLst>
                                    <p:set>
                                      <p:cBhvr>
                                        <p:cTn id="643" dur="1" fill="hold">
                                          <p:stCondLst>
                                            <p:cond delay="0"/>
                                          </p:stCondLst>
                                        </p:cTn>
                                        <p:tgtEl>
                                          <p:spTgt spid="391"/>
                                        </p:tgtEl>
                                        <p:attrNameLst>
                                          <p:attrName>style.visibility</p:attrName>
                                        </p:attrNameLst>
                                      </p:cBhvr>
                                      <p:to>
                                        <p:strVal val="visible"/>
                                      </p:to>
                                    </p:set>
                                    <p:animEffect filter="fade" transition="in">
                                      <p:cBhvr additive="repl">
                                        <p:cTn id="644" dur="400"/>
                                        <p:tgtEl>
                                          <p:spTgt spid="391"/>
                                        </p:tgtEl>
                                      </p:cBhvr>
                                    </p:animEffect>
                                  </p:childTnLst>
                                </p:cTn>
                              </p:par>
                              <p:par>
                                <p:cTn id="645" nodeType="withEffect" fill="hold" presetClass="entr" presetID="10">
                                  <p:stCondLst>
                                    <p:cond delay="0"/>
                                  </p:stCondLst>
                                  <p:childTnLst>
                                    <p:set>
                                      <p:cBhvr>
                                        <p:cTn id="646" dur="1" fill="hold">
                                          <p:stCondLst>
                                            <p:cond delay="0"/>
                                          </p:stCondLst>
                                        </p:cTn>
                                        <p:tgtEl>
                                          <p:spTgt spid="378"/>
                                        </p:tgtEl>
                                        <p:attrNameLst>
                                          <p:attrName>style.visibility</p:attrName>
                                        </p:attrNameLst>
                                      </p:cBhvr>
                                      <p:to>
                                        <p:strVal val="visible"/>
                                      </p:to>
                                    </p:set>
                                    <p:animEffect filter="fade" transition="in">
                                      <p:cBhvr additive="repl">
                                        <p:cTn id="647" dur="400"/>
                                        <p:tgtEl>
                                          <p:spTgt spid="378"/>
                                        </p:tgtEl>
                                      </p:cBhvr>
                                    </p:animEffect>
                                  </p:childTnLst>
                                </p:cTn>
                              </p:par>
                              <p:par>
                                <p:cTn id="648" nodeType="withEffect" fill="hold" presetClass="entr" presetID="10">
                                  <p:stCondLst>
                                    <p:cond delay="0"/>
                                  </p:stCondLst>
                                  <p:childTnLst>
                                    <p:set>
                                      <p:cBhvr>
                                        <p:cTn id="649" dur="1" fill="hold">
                                          <p:stCondLst>
                                            <p:cond delay="0"/>
                                          </p:stCondLst>
                                        </p:cTn>
                                        <p:tgtEl>
                                          <p:spTgt spid="377"/>
                                        </p:tgtEl>
                                        <p:attrNameLst>
                                          <p:attrName>style.visibility</p:attrName>
                                        </p:attrNameLst>
                                      </p:cBhvr>
                                      <p:to>
                                        <p:strVal val="visible"/>
                                      </p:to>
                                    </p:set>
                                    <p:animEffect filter="fade" transition="in">
                                      <p:cBhvr additive="repl">
                                        <p:cTn id="650" dur="400"/>
                                        <p:tgtEl>
                                          <p:spTgt spid="377"/>
                                        </p:tgtEl>
                                      </p:cBhvr>
                                    </p:animEffect>
                                  </p:childTnLst>
                                </p:cTn>
                              </p:par>
                              <p:par>
                                <p:cTn id="651" nodeType="withEffect" fill="hold" presetClass="entr" presetID="10">
                                  <p:stCondLst>
                                    <p:cond delay="0"/>
                                  </p:stCondLst>
                                  <p:childTnLst>
                                    <p:set>
                                      <p:cBhvr>
                                        <p:cTn id="652" dur="1" fill="hold">
                                          <p:stCondLst>
                                            <p:cond delay="0"/>
                                          </p:stCondLst>
                                        </p:cTn>
                                        <p:tgtEl>
                                          <p:spTgt spid="392"/>
                                        </p:tgtEl>
                                        <p:attrNameLst>
                                          <p:attrName>style.visibility</p:attrName>
                                        </p:attrNameLst>
                                      </p:cBhvr>
                                      <p:to>
                                        <p:strVal val="visible"/>
                                      </p:to>
                                    </p:set>
                                    <p:animEffect filter="fade" transition="in">
                                      <p:cBhvr additive="repl">
                                        <p:cTn id="653" dur="400"/>
                                        <p:tgtEl>
                                          <p:spTgt spid="392"/>
                                        </p:tgtEl>
                                      </p:cBhvr>
                                    </p:animEffect>
                                  </p:childTnLst>
                                </p:cTn>
                              </p:par>
                            </p:childTnLst>
                          </p:cTn>
                        </p:par>
                      </p:childTnLst>
                    </p:cTn>
                  </p:par>
                  <p:par>
                    <p:cTn id="654" fill="hold">
                      <p:stCondLst>
                        <p:cond delay="indefinite"/>
                      </p:stCondLst>
                      <p:childTnLst>
                        <p:par>
                          <p:cTn id="655" fill="hold">
                            <p:stCondLst>
                              <p:cond delay="0"/>
                            </p:stCondLst>
                            <p:childTnLst>
                              <p:par>
                                <p:cTn id="656" nodeType="clickEffect" fill="hold" presetClass="entr" presetID="10">
                                  <p:stCondLst>
                                    <p:cond delay="0"/>
                                  </p:stCondLst>
                                  <p:childTnLst>
                                    <p:set>
                                      <p:cBhvr>
                                        <p:cTn id="657" dur="1" fill="hold">
                                          <p:stCondLst>
                                            <p:cond delay="0"/>
                                          </p:stCondLst>
                                        </p:cTn>
                                        <p:tgtEl>
                                          <p:spTgt spid="394"/>
                                        </p:tgtEl>
                                        <p:attrNameLst>
                                          <p:attrName>style.visibility</p:attrName>
                                        </p:attrNameLst>
                                      </p:cBhvr>
                                      <p:to>
                                        <p:strVal val="visible"/>
                                      </p:to>
                                    </p:set>
                                    <p:animEffect filter="fade" transition="in">
                                      <p:cBhvr additive="repl">
                                        <p:cTn id="658" dur="400"/>
                                        <p:tgtEl>
                                          <p:spTgt spid="394"/>
                                        </p:tgtEl>
                                      </p:cBhvr>
                                    </p:animEffect>
                                  </p:childTnLst>
                                </p:cTn>
                              </p:par>
                              <p:par>
                                <p:cTn id="659" nodeType="withEffect" fill="hold" presetClass="entr" presetID="10">
                                  <p:stCondLst>
                                    <p:cond delay="0"/>
                                  </p:stCondLst>
                                  <p:childTnLst>
                                    <p:set>
                                      <p:cBhvr>
                                        <p:cTn id="660" dur="1" fill="hold">
                                          <p:stCondLst>
                                            <p:cond delay="0"/>
                                          </p:stCondLst>
                                        </p:cTn>
                                        <p:tgtEl>
                                          <p:spTgt spid="395"/>
                                        </p:tgtEl>
                                        <p:attrNameLst>
                                          <p:attrName>style.visibility</p:attrName>
                                        </p:attrNameLst>
                                      </p:cBhvr>
                                      <p:to>
                                        <p:strVal val="visible"/>
                                      </p:to>
                                    </p:set>
                                    <p:animEffect filter="fade" transition="in">
                                      <p:cBhvr additive="repl">
                                        <p:cTn id="661" dur="400"/>
                                        <p:tgtEl>
                                          <p:spTgt spid="395"/>
                                        </p:tgtEl>
                                      </p:cBhvr>
                                    </p:animEffect>
                                  </p:childTnLst>
                                </p:cTn>
                              </p:par>
                              <p:par>
                                <p:cTn id="662" nodeType="withEffect" fill="hold" presetClass="entr" presetID="10">
                                  <p:stCondLst>
                                    <p:cond delay="0"/>
                                  </p:stCondLst>
                                  <p:childTnLst>
                                    <p:set>
                                      <p:cBhvr>
                                        <p:cTn id="663" dur="1" fill="hold">
                                          <p:stCondLst>
                                            <p:cond delay="0"/>
                                          </p:stCondLst>
                                        </p:cTn>
                                        <p:tgtEl>
                                          <p:spTgt spid="380"/>
                                        </p:tgtEl>
                                        <p:attrNameLst>
                                          <p:attrName>style.visibility</p:attrName>
                                        </p:attrNameLst>
                                      </p:cBhvr>
                                      <p:to>
                                        <p:strVal val="visible"/>
                                      </p:to>
                                    </p:set>
                                    <p:animEffect filter="fade" transition="in">
                                      <p:cBhvr additive="repl">
                                        <p:cTn id="664" dur="400"/>
                                        <p:tgtEl>
                                          <p:spTgt spid="380"/>
                                        </p:tgtEl>
                                      </p:cBhvr>
                                    </p:animEffect>
                                  </p:childTnLst>
                                </p:cTn>
                              </p:par>
                              <p:par>
                                <p:cTn id="665" nodeType="withEffect" fill="hold" presetClass="entr" presetID="10">
                                  <p:stCondLst>
                                    <p:cond delay="0"/>
                                  </p:stCondLst>
                                  <p:childTnLst>
                                    <p:set>
                                      <p:cBhvr>
                                        <p:cTn id="666" dur="1" fill="hold">
                                          <p:stCondLst>
                                            <p:cond delay="0"/>
                                          </p:stCondLst>
                                        </p:cTn>
                                        <p:tgtEl>
                                          <p:spTgt spid="379"/>
                                        </p:tgtEl>
                                        <p:attrNameLst>
                                          <p:attrName>style.visibility</p:attrName>
                                        </p:attrNameLst>
                                      </p:cBhvr>
                                      <p:to>
                                        <p:strVal val="visible"/>
                                      </p:to>
                                    </p:set>
                                    <p:animEffect filter="fade" transition="in">
                                      <p:cBhvr additive="repl">
                                        <p:cTn id="667" dur="400"/>
                                        <p:tgtEl>
                                          <p:spTgt spid="379"/>
                                        </p:tgtEl>
                                      </p:cBhvr>
                                    </p:animEffect>
                                  </p:childTnLst>
                                </p:cTn>
                              </p:par>
                            </p:childTnLst>
                          </p:cTn>
                        </p:par>
                      </p:childTnLst>
                    </p:cTn>
                  </p:par>
                  <p:par>
                    <p:cTn id="668" fill="hold">
                      <p:stCondLst>
                        <p:cond delay="indefinite"/>
                      </p:stCondLst>
                      <p:childTnLst>
                        <p:par>
                          <p:cTn id="669" fill="hold">
                            <p:stCondLst>
                              <p:cond delay="0"/>
                            </p:stCondLst>
                            <p:childTnLst>
                              <p:par>
                                <p:cTn id="670" nodeType="clickEffect" fill="hold" presetClass="entr" presetID="10">
                                  <p:stCondLst>
                                    <p:cond delay="0"/>
                                  </p:stCondLst>
                                  <p:childTnLst>
                                    <p:set>
                                      <p:cBhvr>
                                        <p:cTn id="671" dur="1" fill="hold">
                                          <p:stCondLst>
                                            <p:cond delay="0"/>
                                          </p:stCondLst>
                                        </p:cTn>
                                        <p:tgtEl>
                                          <p:spTgt spid="397"/>
                                        </p:tgtEl>
                                        <p:attrNameLst>
                                          <p:attrName>style.visibility</p:attrName>
                                        </p:attrNameLst>
                                      </p:cBhvr>
                                      <p:to>
                                        <p:strVal val="visible"/>
                                      </p:to>
                                    </p:set>
                                    <p:animEffect filter="fade" transition="in">
                                      <p:cBhvr additive="repl">
                                        <p:cTn id="672" dur="400"/>
                                        <p:tgtEl>
                                          <p:spTgt spid="397"/>
                                        </p:tgtEl>
                                      </p:cBhvr>
                                    </p:animEffect>
                                  </p:childTnLst>
                                </p:cTn>
                              </p:par>
                              <p:par>
                                <p:cTn id="673" nodeType="withEffect" fill="hold" presetClass="entr" presetID="10">
                                  <p:stCondLst>
                                    <p:cond delay="0"/>
                                  </p:stCondLst>
                                  <p:childTnLst>
                                    <p:set>
                                      <p:cBhvr>
                                        <p:cTn id="674" dur="1" fill="hold">
                                          <p:stCondLst>
                                            <p:cond delay="0"/>
                                          </p:stCondLst>
                                        </p:cTn>
                                        <p:tgtEl>
                                          <p:spTgt spid="398"/>
                                        </p:tgtEl>
                                        <p:attrNameLst>
                                          <p:attrName>style.visibility</p:attrName>
                                        </p:attrNameLst>
                                      </p:cBhvr>
                                      <p:to>
                                        <p:strVal val="visible"/>
                                      </p:to>
                                    </p:set>
                                    <p:animEffect filter="fade" transition="in">
                                      <p:cBhvr additive="repl">
                                        <p:cTn id="675" dur="400"/>
                                        <p:tgtEl>
                                          <p:spTgt spid="398"/>
                                        </p:tgtEl>
                                      </p:cBhvr>
                                    </p:animEffect>
                                  </p:childTnLst>
                                </p:cTn>
                              </p:par>
                              <p:par>
                                <p:cTn id="676" nodeType="withEffect" fill="hold" presetClass="entr" presetID="10">
                                  <p:stCondLst>
                                    <p:cond delay="0"/>
                                  </p:stCondLst>
                                  <p:childTnLst>
                                    <p:set>
                                      <p:cBhvr>
                                        <p:cTn id="677" dur="1" fill="hold">
                                          <p:stCondLst>
                                            <p:cond delay="0"/>
                                          </p:stCondLst>
                                        </p:cTn>
                                        <p:tgtEl>
                                          <p:spTgt spid="382"/>
                                        </p:tgtEl>
                                        <p:attrNameLst>
                                          <p:attrName>style.visibility</p:attrName>
                                        </p:attrNameLst>
                                      </p:cBhvr>
                                      <p:to>
                                        <p:strVal val="visible"/>
                                      </p:to>
                                    </p:set>
                                    <p:animEffect filter="fade" transition="in">
                                      <p:cBhvr additive="repl">
                                        <p:cTn id="678" dur="400"/>
                                        <p:tgtEl>
                                          <p:spTgt spid="382"/>
                                        </p:tgtEl>
                                      </p:cBhvr>
                                    </p:animEffect>
                                  </p:childTnLst>
                                </p:cTn>
                              </p:par>
                              <p:par>
                                <p:cTn id="679" nodeType="withEffect" fill="hold" presetClass="entr" presetID="10">
                                  <p:stCondLst>
                                    <p:cond delay="0"/>
                                  </p:stCondLst>
                                  <p:childTnLst>
                                    <p:set>
                                      <p:cBhvr>
                                        <p:cTn id="680" dur="1" fill="hold">
                                          <p:stCondLst>
                                            <p:cond delay="0"/>
                                          </p:stCondLst>
                                        </p:cTn>
                                        <p:tgtEl>
                                          <p:spTgt spid="381"/>
                                        </p:tgtEl>
                                        <p:attrNameLst>
                                          <p:attrName>style.visibility</p:attrName>
                                        </p:attrNameLst>
                                      </p:cBhvr>
                                      <p:to>
                                        <p:strVal val="visible"/>
                                      </p:to>
                                    </p:set>
                                    <p:animEffect filter="fade" transition="in">
                                      <p:cBhvr additive="repl">
                                        <p:cTn id="681" dur="400"/>
                                        <p:tgtEl>
                                          <p:spTgt spid="381"/>
                                        </p:tgtEl>
                                      </p:cBhvr>
                                    </p:animEffect>
                                  </p:childTnLst>
                                </p:cTn>
                              </p:par>
                            </p:childTnLst>
                          </p:cTn>
                        </p:par>
                      </p:childTnLst>
                    </p:cTn>
                  </p:par>
                  <p:par>
                    <p:cTn id="682" fill="hold">
                      <p:stCondLst>
                        <p:cond delay="indefinite"/>
                      </p:stCondLst>
                      <p:childTnLst>
                        <p:par>
                          <p:cTn id="683" fill="hold">
                            <p:stCondLst>
                              <p:cond delay="0"/>
                            </p:stCondLst>
                            <p:childTnLst>
                              <p:par>
                                <p:cTn id="684" nodeType="clickEffect" fill="hold" presetClass="entr" presetID="10">
                                  <p:stCondLst>
                                    <p:cond delay="0"/>
                                  </p:stCondLst>
                                  <p:childTnLst>
                                    <p:set>
                                      <p:cBhvr>
                                        <p:cTn id="685" dur="1" fill="hold">
                                          <p:stCondLst>
                                            <p:cond delay="0"/>
                                          </p:stCondLst>
                                        </p:cTn>
                                        <p:tgtEl>
                                          <p:spTgt spid="400"/>
                                        </p:tgtEl>
                                        <p:attrNameLst>
                                          <p:attrName>style.visibility</p:attrName>
                                        </p:attrNameLst>
                                      </p:cBhvr>
                                      <p:to>
                                        <p:strVal val="visible"/>
                                      </p:to>
                                    </p:set>
                                    <p:animEffect filter="fade" transition="in">
                                      <p:cBhvr additive="repl">
                                        <p:cTn id="686" dur="400"/>
                                        <p:tgtEl>
                                          <p:spTgt spid="400"/>
                                        </p:tgtEl>
                                      </p:cBhvr>
                                    </p:animEffect>
                                  </p:childTnLst>
                                </p:cTn>
                              </p:par>
                              <p:par>
                                <p:cTn id="687" nodeType="withEffect" fill="hold" presetClass="entr" presetID="10">
                                  <p:stCondLst>
                                    <p:cond delay="0"/>
                                  </p:stCondLst>
                                  <p:childTnLst>
                                    <p:set>
                                      <p:cBhvr>
                                        <p:cTn id="688" dur="1" fill="hold">
                                          <p:stCondLst>
                                            <p:cond delay="0"/>
                                          </p:stCondLst>
                                        </p:cTn>
                                        <p:tgtEl>
                                          <p:spTgt spid="401"/>
                                        </p:tgtEl>
                                        <p:attrNameLst>
                                          <p:attrName>style.visibility</p:attrName>
                                        </p:attrNameLst>
                                      </p:cBhvr>
                                      <p:to>
                                        <p:strVal val="visible"/>
                                      </p:to>
                                    </p:set>
                                    <p:animEffect filter="fade" transition="in">
                                      <p:cBhvr additive="repl">
                                        <p:cTn id="689" dur="400"/>
                                        <p:tgtEl>
                                          <p:spTgt spid="401"/>
                                        </p:tgtEl>
                                      </p:cBhvr>
                                    </p:animEffect>
                                  </p:childTnLst>
                                </p:cTn>
                              </p:par>
                              <p:par>
                                <p:cTn id="690" nodeType="withEffect" fill="hold" presetClass="entr" presetID="10">
                                  <p:stCondLst>
                                    <p:cond delay="0"/>
                                  </p:stCondLst>
                                  <p:childTnLst>
                                    <p:set>
                                      <p:cBhvr>
                                        <p:cTn id="691" dur="1" fill="hold">
                                          <p:stCondLst>
                                            <p:cond delay="0"/>
                                          </p:stCondLst>
                                        </p:cTn>
                                        <p:tgtEl>
                                          <p:spTgt spid="384"/>
                                        </p:tgtEl>
                                        <p:attrNameLst>
                                          <p:attrName>style.visibility</p:attrName>
                                        </p:attrNameLst>
                                      </p:cBhvr>
                                      <p:to>
                                        <p:strVal val="visible"/>
                                      </p:to>
                                    </p:set>
                                    <p:animEffect filter="fade" transition="in">
                                      <p:cBhvr additive="repl">
                                        <p:cTn id="692" dur="400"/>
                                        <p:tgtEl>
                                          <p:spTgt spid="384"/>
                                        </p:tgtEl>
                                      </p:cBhvr>
                                    </p:animEffect>
                                  </p:childTnLst>
                                </p:cTn>
                              </p:par>
                              <p:par>
                                <p:cTn id="693" nodeType="withEffect" fill="hold" presetClass="entr" presetID="10">
                                  <p:stCondLst>
                                    <p:cond delay="0"/>
                                  </p:stCondLst>
                                  <p:childTnLst>
                                    <p:set>
                                      <p:cBhvr>
                                        <p:cTn id="694" dur="1" fill="hold">
                                          <p:stCondLst>
                                            <p:cond delay="0"/>
                                          </p:stCondLst>
                                        </p:cTn>
                                        <p:tgtEl>
                                          <p:spTgt spid="383"/>
                                        </p:tgtEl>
                                        <p:attrNameLst>
                                          <p:attrName>style.visibility</p:attrName>
                                        </p:attrNameLst>
                                      </p:cBhvr>
                                      <p:to>
                                        <p:strVal val="visible"/>
                                      </p:to>
                                    </p:set>
                                    <p:animEffect filter="fade" transition="in">
                                      <p:cBhvr additive="repl">
                                        <p:cTn id="695" dur="400"/>
                                        <p:tgtEl>
                                          <p:spTgt spid="38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LibreOffice/25.2.3.2$Linux_X86_64 LibreOffice_project/520$Build-2</Application>
  <AppVersion>15.0000</AppVersion>
  <Words>2011</Words>
  <Paragraphs>207</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2026-08-28T17:32:46Z</dcterms:created>
  <dc:creator>PptxGenJS</dc:creator>
  <dc:description/>
  <dc:language>en-US</dc:language>
  <cp:lastModifiedBy>Mahmoud Abdelaziz</cp:lastModifiedBy>
  <dcterms:modified xsi:type="dcterms:W3CDTF">2026-08-30T09:31:27Z</dcterms:modified>
  <cp:revision>4</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16</vt:r8>
  </property>
  <property fmtid="{D5CDD505-2E9C-101B-9397-08002B2CF9AE}" pid="3" name="PresentationFormat">
    <vt:lpwstr>Widescreen</vt:lpwstr>
  </property>
  <property fmtid="{D5CDD505-2E9C-101B-9397-08002B2CF9AE}" pid="4" name="Slides">
    <vt:r8>16</vt:r8>
  </property>
</Properties>
</file>