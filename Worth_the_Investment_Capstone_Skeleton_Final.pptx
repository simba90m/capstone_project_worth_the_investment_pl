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0.svg" ContentType="image/svg+xml"/>
  <Override PartName="/ppt/media/image12.svg" ContentType="image/svg+xml"/>
  <Override PartName="/ppt/media/image2.svg" ContentType="image/svg+xml"/>
  <Override PartName="/ppt/media/image24.svg" ContentType="image/svg+xml"/>
  <Override PartName="/ppt/media/image29.svg" ContentType="image/svg+xml"/>
  <Override PartName="/ppt/media/image3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12" r:id="rId2"/>
    <p:sldId id="329" r:id="rId3"/>
    <p:sldId id="284" r:id="rId4"/>
    <p:sldId id="325" r:id="rId5"/>
    <p:sldId id="286" r:id="rId6"/>
    <p:sldId id="327" r:id="rId7"/>
    <p:sldId id="319" r:id="rId8"/>
    <p:sldId id="320" r:id="rId9"/>
    <p:sldId id="264" r:id="rId10"/>
    <p:sldId id="330" r:id="rId11"/>
    <p:sldId id="266" r:id="rId12"/>
    <p:sldId id="267" r:id="rId13"/>
    <p:sldId id="331" r:id="rId15"/>
    <p:sldId id="332" r:id="rId16"/>
    <p:sldId id="333"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6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Accuracy (%)</c:v>
                </c:pt>
              </c:strCache>
            </c:strRef>
          </c:tx>
          <c:dPt>
            <c:idx val="1"/>
            <c:spPr>
              <a:solidFill>
                <a:srgbClr val="C0392B"/>
              </a:solidFill>
            </c:spPr>
          </c:dPt>
          <c:dPt>
            <c:idx val="0"/>
            <c:spPr>
              <a:noFill/>
              <a:ln w="22225">
                <a:solidFill>
                  <a:srgbClr val="44506B"/>
                </a:solidFill>
                <a:prstDash val="dash"/>
              </a:ln>
            </c:spPr>
          </c:dPt>
          <c:cat>
            <c:strRef>
              <c:f>Sheet1!$A$2:$A$3</c:f>
              <c:strCache>
                <c:ptCount val="2"/>
                <c:pt idx="0">
                  <c:v>Coin-flip
baseline</c:v>
                </c:pt>
                <c:pt idx="1">
                  <c:v>Model
(backtested)</c:v>
                </c:pt>
              </c:strCache>
            </c:strRef>
          </c:cat>
          <c:val>
            <c:numRef>
              <c:f>Sheet1!$B$2:$B$3</c:f>
              <c:numCache>
                <c:formatCode>General</c:formatCode>
                <c:ptCount val="2"/>
                <c:pt idx="0">
                  <c:v>50.0</c:v>
                </c:pt>
                <c:pt idx="1">
                  <c:v>22.7</c:v>
                </c:pt>
              </c:numCache>
            </c:numRef>
          </c:val>
        </c:ser>
        <c:dLbls>
          <c:numFmt formatCode="0.0&quot;%&quot;" sourceLinked="0"/>
          <c:txPr>
            <a:bodyPr/>
            <a:lstStyle/>
            <a:p>
              <a:pPr>
                <a:defRPr sz="1300" b="1">
                  <a:solidFill>
                    <a:srgbClr val="44506B"/>
                  </a:solidFill>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l"/>
        <c:majorTickMark val="out"/>
        <c:minorTickMark val="none"/>
        <c:tickLblPos val="nextTo"/>
        <c:spPr>
          <a:ln>
            <a:solidFill>
              <a:srgbClr val="E3E6EC"/>
            </a:solidFill>
          </a:ln>
        </c:spPr>
        <c:txPr>
          <a:bodyPr/>
          <a:lstStyle/>
          <a:p>
            <a:pPr>
              <a:defRPr sz="1200">
                <a:solidFill>
                  <a:srgbClr val="44506B"/>
                </a:solidFill>
                <a:latin typeface="Calibri"/>
              </a:defRPr>
            </a:pPr>
          </a:p>
        </c:txPr>
        <c:crossAx val="2113994440"/>
        <c:crosses val="autoZero"/>
        <c:auto val="1"/>
        <c:lblAlgn val="ctr"/>
        <c:lblOffset val="100"/>
        <c:noMultiLvlLbl val="0"/>
      </c:catAx>
      <c:valAx>
        <c:axId val="2113994440"/>
        <c:scaling>
          <c:max val="60.0"/>
          <c:min val="0.0"/>
        </c:scaling>
        <c:delete val="0"/>
        <c:axPos val="b"/>
        <c:majorGridlines>
          <c:spPr>
            <a:ln w="6350">
              <a:solidFill>
                <a:srgbClr val="E3E6EC"/>
              </a:solidFill>
            </a:ln>
          </c:spPr>
        </c:majorGridlines>
        <c:majorTickMark val="out"/>
        <c:minorTickMark val="none"/>
        <c:tickLblPos val="nextTo"/>
        <c:spPr>
          <a:ln>
            <a:noFill/>
          </a:ln>
        </c:spPr>
        <c:txPr>
          <a:bodyPr/>
          <a:lstStyle/>
          <a:p>
            <a:pPr>
              <a:defRPr sz="1000">
                <a:solidFill>
                  <a:srgbClr val="44506B"/>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Injuries / 1,000 90s</c:v>
                </c:pt>
              </c:strCache>
            </c:strRef>
          </c:tx>
          <c:spPr>
            <a:solidFill>
              <a:srgbClr val="B9C0CE"/>
            </a:solidFill>
            <a:ln>
              <a:noFill/>
            </a:ln>
          </c:spPr>
          <c:dPt>
            <c:idx val="3"/>
            <c:spPr>
              <a:solidFill>
                <a:srgbClr val="0F1B3D"/>
              </a:solidFill>
            </c:spPr>
          </c:dPt>
          <c:cat>
            <c:strRef>
              <c:f>Sheet1!$A$2:$A$5</c:f>
              <c:strCache>
                <c:ptCount val="4"/>
                <c:pt idx="0">
                  <c:v>Attack</c:v>
                </c:pt>
                <c:pt idx="1">
                  <c:v>Midfield</c:v>
                </c:pt>
                <c:pt idx="2">
                  <c:v>Defender</c:v>
                </c:pt>
                <c:pt idx="3">
                  <c:v>Goalkeeper</c:v>
                </c:pt>
              </c:strCache>
            </c:strRef>
          </c:cat>
          <c:val>
            <c:numRef>
              <c:f>Sheet1!$B$2:$B$5</c:f>
              <c:numCache>
                <c:formatCode>General</c:formatCode>
                <c:ptCount val="4"/>
                <c:pt idx="0">
                  <c:v>4.15</c:v>
                </c:pt>
                <c:pt idx="1">
                  <c:v>4.23</c:v>
                </c:pt>
                <c:pt idx="2">
                  <c:v>4.3</c:v>
                </c:pt>
                <c:pt idx="3">
                  <c:v>2.32</c:v>
                </c:pt>
              </c:numCache>
            </c:numRef>
          </c:val>
        </c:ser>
        <c:dLbls>
          <c:numFmt formatCode="0.00" sourceLinked="0"/>
          <c:txPr>
            <a:bodyPr/>
            <a:lstStyle/>
            <a:p>
              <a:pPr>
                <a:defRPr sz="1200" b="1">
                  <a:solidFill>
                    <a:srgbClr val="44506B"/>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E3E6EC"/>
            </a:solidFill>
          </a:ln>
        </c:spPr>
        <c:txPr>
          <a:bodyPr/>
          <a:lstStyle/>
          <a:p>
            <a:pPr>
              <a:defRPr sz="1200">
                <a:solidFill>
                  <a:srgbClr val="44506B"/>
                </a:solidFill>
                <a:latin typeface="Calibri"/>
              </a:defRPr>
            </a:pPr>
          </a:p>
        </c:txPr>
        <c:crossAx val="2113994440"/>
        <c:crosses val="autoZero"/>
        <c:auto val="1"/>
        <c:lblAlgn val="ctr"/>
        <c:lblOffset val="100"/>
        <c:noMultiLvlLbl val="0"/>
      </c:catAx>
      <c:valAx>
        <c:axId val="2113994440"/>
        <c:scaling>
          <c:max val="5.5"/>
          <c:min val="0.0"/>
        </c:scaling>
        <c:delete val="0"/>
        <c:axPos val="b"/>
        <c:majorGridlines>
          <c:spPr>
            <a:ln w="6350">
              <a:solidFill>
                <a:srgbClr val="E3E6EC"/>
              </a:solidFill>
            </a:ln>
          </c:spPr>
        </c:majorGridlines>
        <c:majorTickMark val="out"/>
        <c:minorTickMark val="none"/>
        <c:tickLblPos val="nextTo"/>
        <c:spPr>
          <a:ln>
            <a:noFill/>
          </a:ln>
        </c:spPr>
        <c:txPr>
          <a:bodyPr/>
          <a:lstStyle/>
          <a:p>
            <a:pPr>
              <a:defRPr sz="1000">
                <a:solidFill>
                  <a:srgbClr val="44506B"/>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Injuries / 1,000 90s</c:v>
                </c:pt>
              </c:strCache>
            </c:strRef>
          </c:tx>
          <c:spPr>
            <a:ln w="34925">
              <a:solidFill>
                <a:srgbClr val="C0392B"/>
              </a:solidFill>
            </a:ln>
          </c:spPr>
          <c:marker>
            <c:symbol val="circle"/>
            <c:size val="9"/>
            <c:spPr>
              <a:solidFill>
                <a:srgbClr val="C0392B"/>
              </a:solidFill>
              <a:ln>
                <a:solidFill>
                  <a:srgbClr val="C0392B"/>
                </a:solidFill>
              </a:ln>
            </c:spPr>
          </c:marker>
          <c:cat>
            <c:strRef>
              <c:f>Sheet1!$A$2:$A$5</c:f>
              <c:strCache>
                <c:ptCount val="4"/>
                <c:pt idx="0">
                  <c:v>21–24
(emerging)</c:v>
                </c:pt>
                <c:pt idx="1">
                  <c:v>25–28
(prime)</c:v>
                </c:pt>
                <c:pt idx="2">
                  <c:v>29–32
(established)</c:v>
                </c:pt>
                <c:pt idx="3">
                  <c:v>33+
(veteran)</c:v>
                </c:pt>
              </c:strCache>
            </c:strRef>
          </c:cat>
          <c:val>
            <c:numRef>
              <c:f>Sheet1!$B$2:$B$5</c:f>
              <c:numCache>
                <c:formatCode>General</c:formatCode>
                <c:ptCount val="4"/>
                <c:pt idx="0">
                  <c:v>2.49</c:v>
                </c:pt>
                <c:pt idx="1">
                  <c:v>3.97</c:v>
                </c:pt>
                <c:pt idx="2">
                  <c:v>3.22</c:v>
                </c:pt>
                <c:pt idx="3">
                  <c:v>5.95</c:v>
                </c:pt>
              </c:numCache>
            </c:numRef>
          </c:val>
          <c:smooth val="0"/>
        </c:ser>
        <c:dLbls>
          <c:numFmt formatCode="0.00" sourceLinked="0"/>
          <c:txPr>
            <a:bodyPr/>
            <a:lstStyle/>
            <a:p>
              <a:pPr>
                <a:defRPr sz="1200" b="1">
                  <a:solidFill>
                    <a:srgbClr val="C0392B"/>
                  </a:solidFill>
                  <a:latin typeface="Calibr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E3E6EC"/>
            </a:solidFill>
          </a:ln>
        </c:spPr>
        <c:txPr>
          <a:bodyPr/>
          <a:lstStyle/>
          <a:p>
            <a:pPr>
              <a:defRPr sz="1100">
                <a:solidFill>
                  <a:srgbClr val="44506B"/>
                </a:solidFill>
                <a:latin typeface="Calibri"/>
              </a:defRPr>
            </a:pPr>
          </a:p>
        </c:txPr>
        <c:crossAx val="2140495176"/>
        <c:crosses val="autoZero"/>
        <c:auto val="1"/>
        <c:lblAlgn val="ctr"/>
        <c:lblOffset val="100"/>
        <c:noMultiLvlLbl val="0"/>
      </c:catAx>
      <c:valAx>
        <c:axId val="2140495176"/>
        <c:scaling>
          <c:max val="7.0"/>
          <c:min val="0.0"/>
        </c:scaling>
        <c:delete val="0"/>
        <c:axPos val="l"/>
        <c:majorGridlines>
          <c:spPr>
            <a:ln w="6350">
              <a:solidFill>
                <a:srgbClr val="E3E6EC"/>
              </a:solidFill>
            </a:ln>
          </c:spPr>
        </c:majorGridlines>
        <c:majorTickMark val="out"/>
        <c:minorTickMark val="none"/>
        <c:tickLblPos val="nextTo"/>
        <c:spPr>
          <a:ln>
            <a:noFill/>
          </a:ln>
        </c:spPr>
        <c:txPr>
          <a:bodyPr/>
          <a:lstStyle/>
          <a:p>
            <a:pPr>
              <a:defRPr sz="1100">
                <a:solidFill>
                  <a:srgbClr val="44506B"/>
                </a:solidFill>
                <a:latin typeface="Calibri"/>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Coverage</c:v>
                </c:pt>
              </c:strCache>
            </c:strRef>
          </c:tx>
          <c:spPr>
            <a:solidFill>
              <a:schemeClr val="accent1"/>
            </a:solidFill>
            <a:ln w="9525" cap="flat">
              <a:solidFill>
                <a:srgbClr val="F9F9F9"/>
              </a:solidFill>
              <a:prstDash val="solid"/>
              <a:round/>
            </a:ln>
            <a:effectLst/>
          </c:spPr>
          <c:dPt>
            <c:idx val="0"/>
            <c:bubble3D val="0"/>
            <c:spPr>
              <a:solidFill>
                <a:srgbClr val="E8A33D"/>
              </a:solidFill>
              <a:ln w="38100" cap="flat">
                <a:solidFill>
                  <a:srgbClr val="0F1B3D"/>
                </a:solidFill>
                <a:prstDash val="solid"/>
                <a:round/>
              </a:ln>
              <a:effectLst/>
            </c:spPr>
            <c:extLst>
              <c:ext xmlns:c16="http://schemas.microsoft.com/office/drawing/2014/chart" uri="{C3380CC4-5D6E-409C-BE32-E72D297353CC}">
                <c16:uniqueId val="{00000001-FE64-4844-B448-5E59CCB25927}"/>
              </c:ext>
            </c:extLst>
          </c:dPt>
          <c:dPt>
            <c:idx val="1"/>
            <c:bubble3D val="0"/>
            <c:spPr>
              <a:solidFill>
                <a:srgbClr val="8494C4"/>
              </a:solidFill>
              <a:ln w="38100" cap="flat">
                <a:solidFill>
                  <a:srgbClr val="0F1B3D"/>
                </a:solidFill>
                <a:prstDash val="solid"/>
                <a:round/>
              </a:ln>
              <a:effectLst/>
            </c:spPr>
            <c:extLst>
              <c:ext xmlns:c16="http://schemas.microsoft.com/office/drawing/2014/chart" uri="{C3380CC4-5D6E-409C-BE32-E72D297353CC}">
                <c16:uniqueId val="{00000003-FE64-4844-B448-5E59CCB25927}"/>
              </c:ext>
            </c:extLst>
          </c:dPt>
          <c:cat>
            <c:strRef>
              <c:f>Sheet1!$A$2:$A$3</c:f>
              <c:strCache>
                <c:ptCount val="2"/>
                <c:pt idx="0">
                  <c:v>Excluded (no data)</c:v>
                </c:pt>
                <c:pt idx="1">
                  <c:v>Included in analysis</c:v>
                </c:pt>
              </c:strCache>
            </c:strRef>
          </c:cat>
          <c:val>
            <c:numRef>
              <c:f>Sheet1!$B$2:$B$3</c:f>
              <c:numCache>
                <c:formatCode>General</c:formatCode>
                <c:ptCount val="2"/>
                <c:pt idx="0">
                  <c:v>67</c:v>
                </c:pt>
                <c:pt idx="1">
                  <c:v>33</c:v>
                </c:pt>
              </c:numCache>
            </c:numRef>
          </c:val>
          <c:extLst>
            <c:ext xmlns:c16="http://schemas.microsoft.com/office/drawing/2014/chart" uri="{C3380CC4-5D6E-409C-BE32-E72D297353CC}">
              <c16:uniqueId val="{00000004-FE64-4844-B448-5E59CCB25927}"/>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213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One-sided Mann-Whitney test is significant, p approx 0.0000, but at ~30,000 snapshots that can happen even when the typical case barely differs. Median value change rounds to 0% for all injured buckets alike. No-injury players show +11.11% raw, +4.35% after excluding low-starting-valuation snapshots that look like breakout-debut artifacts rather than real injury effects.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Kruskal-Wallis tests are significant: value growth H=95.27 p approx 0.0000, risk H=34.57 p approx 0.0000, n=582 players (one row per player, so significance carries real weight here). Median injury rate by bucket: 21-24 = 2.49, 25-28 = 3.97, 29-32 = 3.22, 33+ = 5.95 per 1,000 90s. Median value change is 0% in every bucket except 21-24 (+7.14%). Under-21 bucket (n=4) omitted, too small to trust.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Kruskal-Wallis across all 4 positions: p = 0.61, nowhere near significant. Reported as an honest null result, not hidden. Goalkeepers show a lower group-level median (2.32 vs 4.15-4.30 for outfield positions), consistent with real football knowledge (far less running and sprinting exposure), but only 52 goalkeepers had enough playing time to include, with highly spread individual rates. Underpowered to confirm, not disproven.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Prophet time-series model, fit in log-space on each player's valuation history, backtested by holding out the last 2 known snapshots per player across a random sample of 150 (of 1,518 eligible players with 6+ snapshots). Directional accuracy: 34/150 correct = 22.7%, versus a ~50% coin-flip baseline -- the model is systematically biased toward predicting 'rising' (91% of forecasts, 136/150) while the actual holdout outcomes were 80% falling (120/150), so the miss is a real, structural optimism bias, not random noise. Magnitude error: median 149.4% absolute error, 75th percentile 406.7%, worse for cheap/fringe players (under EUR1M: 184.1% median) than for players valued over EUR10M (125.1% median). This is the direct, honest answer to Q1: raw value-trend forecasting is not trustworthy on its own -- which is exactly why the project pairs it with the injury-risk score rather than reading a rising valuation as confirmed. The recruitment-signal quadrants downstream (Priority Target / Caution Flag) inherit this same 'rising' bias (93% of the combined signal table is flagged rising) and should be read as a directional flag, not a calibrated prediction.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injury-history finding as the headline result, not a footnote -- and connect it explicitly to the forecast-validation slide: because the raw value trend can't be trusted alone (22.7% directional accuracy), the injury signal is what actually earns its place in the recruitment decision. If asked 'so what should I actually do with this', point straight at the three recommendation-slide bullets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button, or alt-tab, to switch to Tableau Desktop with the workbook already open. Start on the Cover, then walk through Value Trend, Risk Summary, Age &amp; Risk Profile, and Recency &amp; Position Risk Profile. Use the unified player/age/risk parameters to show cross-dashboard interactivity live. If the connection drops or the file won't open, the very next slide is a static fallback -- skip to it and keep talking through the same points from the screenshot.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9.png"/><Relationship Id="rId10" Type="http://schemas.openxmlformats.org/officeDocument/2006/relationships/image" Target="../media/image10.svg"/><Relationship Id="rId11" Type="http://schemas.openxmlformats.org/officeDocument/2006/relationships/image" Target="../media/image11.png"/><Relationship Id="rId12" Type="http://schemas.openxmlformats.org/officeDocument/2006/relationships/image" Target="../media/image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chart" Target="../charts/chart4.xml"/><Relationship Id="rId6" Type="http://schemas.openxmlformats.org/officeDocument/2006/relationships/image" Target="../media/image3.png"/><Relationship Id="rId7"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chart" Target="../charts/chart3.xml"/><Relationship Id="rId6" Type="http://schemas.openxmlformats.org/officeDocument/2006/relationships/image" Target="../media/image7.png"/><Relationship Id="rId7" Type="http://schemas.openxmlformats.org/officeDocument/2006/relationships/image" Target="../media/image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5.xml"/><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Capstone%20project.%20Injury%20Risk%20in%20Premier%20League%20Recruitment.twbx"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31.png"/><Relationship Id="rId6" Type="http://schemas.openxmlformats.org/officeDocument/2006/relationships/image" Target="../media/image32.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hyperlink" Target="https://github.com/Simba90m/capstone_project_worth_the_investment_PL" TargetMode="External"/><Relationship Id="rId5" Type="http://schemas.openxmlformats.org/officeDocument/2006/relationships/image" Target="../media/image1.png"/><Relationship Id="rId6" Type="http://schemas.openxmlformats.org/officeDocument/2006/relationships/image" Target="../media/image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a:effectLst/>
      </p:bgPr>
    </p:bg>
    <p:spTree>
      <p:nvGrpSpPr>
        <p:cNvPr id="1" name=""/>
        <p:cNvGrpSpPr/>
        <p:nvPr/>
      </p:nvGrpSpPr>
      <p:grpSpPr>
        <a:xfrm>
          <a:off x="0" y="0"/>
          <a:ext cx="0" cy="0"/>
          <a:chOff x="0" y="0"/>
          <a:chExt cx="0" cy="0"/>
        </a:xfrm>
      </p:grpSpPr>
      <p:sp>
        <p:nvSpPr>
          <p:cNvPr id="900" name="Pitch 900"/>
          <p:cNvSpPr/>
          <p:nvPr/>
        </p:nvSpPr>
        <p:spPr>
          <a:xfrm>
            <a:off x="762000" y="762000"/>
            <a:ext cx="10668000" cy="5334000"/>
          </a:xfrm>
          <a:prstGeom prst="rect">
            <a:avLst/>
          </a:prstGeom>
          <a:noFill/>
          <a:ln w="15875">
            <a:solidFill>
              <a:srgbClr val="1A2A4E"/>
            </a:solidFill>
          </a:ln>
        </p:spPr>
        <p:txBody>
          <a:bodyPr/>
          <a:lstStyle/>
          <a:p>
            <a:endParaRPr/>
          </a:p>
        </p:txBody>
      </p:sp>
      <p:sp>
        <p:nvSpPr>
          <p:cNvPr id="901" name="Pitch 901"/>
          <p:cNvSpPr/>
          <p:nvPr/>
        </p:nvSpPr>
        <p:spPr>
          <a:xfrm>
            <a:off x="6096000" y="762000"/>
            <a:ext cx="0" cy="5334000"/>
          </a:xfrm>
          <a:prstGeom prst="line">
            <a:avLst/>
          </a:prstGeom>
          <a:noFill/>
          <a:ln w="15875">
            <a:solidFill>
              <a:srgbClr val="1A2A4E"/>
            </a:solidFill>
          </a:ln>
        </p:spPr>
        <p:txBody>
          <a:bodyPr/>
          <a:lstStyle/>
          <a:p>
            <a:endParaRPr/>
          </a:p>
        </p:txBody>
      </p:sp>
      <p:sp>
        <p:nvSpPr>
          <p:cNvPr id="902" name="Pitch 902"/>
          <p:cNvSpPr/>
          <p:nvPr/>
        </p:nvSpPr>
        <p:spPr>
          <a:xfrm>
            <a:off x="5207000" y="2540000"/>
            <a:ext cx="1778000" cy="1778000"/>
          </a:xfrm>
          <a:prstGeom prst="ellipse">
            <a:avLst/>
          </a:prstGeom>
          <a:noFill/>
          <a:ln w="15875">
            <a:solidFill>
              <a:srgbClr val="1A2A4E"/>
            </a:solidFill>
          </a:ln>
        </p:spPr>
        <p:txBody>
          <a:bodyPr/>
          <a:lstStyle/>
          <a:p>
            <a:endParaRPr/>
          </a:p>
        </p:txBody>
      </p:sp>
      <p:sp>
        <p:nvSpPr>
          <p:cNvPr id="903" name="Pitch 903"/>
          <p:cNvSpPr/>
          <p:nvPr/>
        </p:nvSpPr>
        <p:spPr>
          <a:xfrm>
            <a:off x="6045200" y="3378200"/>
            <a:ext cx="101600" cy="101600"/>
          </a:xfrm>
          <a:prstGeom prst="ellipse">
            <a:avLst/>
          </a:prstGeom>
          <a:solidFill>
            <a:srgbClr val="1E2E55"/>
          </a:solidFill>
          <a:ln w="12700">
            <a:solidFill>
              <a:srgbClr val="1A2A4E"/>
            </a:solidFill>
          </a:ln>
        </p:spPr>
        <p:txBody>
          <a:bodyPr/>
          <a:lstStyle/>
          <a:p>
            <a:endParaRPr/>
          </a:p>
        </p:txBody>
      </p:sp>
      <p:sp>
        <p:nvSpPr>
          <p:cNvPr id="904" name="Pitch 904"/>
          <p:cNvSpPr/>
          <p:nvPr/>
        </p:nvSpPr>
        <p:spPr>
          <a:xfrm>
            <a:off x="762000" y="1905000"/>
            <a:ext cx="1524000" cy="3048000"/>
          </a:xfrm>
          <a:prstGeom prst="rect">
            <a:avLst/>
          </a:prstGeom>
          <a:noFill/>
          <a:ln w="15875">
            <a:solidFill>
              <a:srgbClr val="1A2A4E"/>
            </a:solidFill>
          </a:ln>
        </p:spPr>
        <p:txBody>
          <a:bodyPr/>
          <a:lstStyle/>
          <a:p>
            <a:endParaRPr/>
          </a:p>
        </p:txBody>
      </p:sp>
      <p:sp>
        <p:nvSpPr>
          <p:cNvPr id="905" name="Pitch 905"/>
          <p:cNvSpPr/>
          <p:nvPr/>
        </p:nvSpPr>
        <p:spPr>
          <a:xfrm>
            <a:off x="762000" y="2667000"/>
            <a:ext cx="660400" cy="1524000"/>
          </a:xfrm>
          <a:prstGeom prst="rect">
            <a:avLst/>
          </a:prstGeom>
          <a:noFill/>
          <a:ln w="15875">
            <a:solidFill>
              <a:srgbClr val="1A2A4E"/>
            </a:solidFill>
          </a:ln>
        </p:spPr>
        <p:txBody>
          <a:bodyPr/>
          <a:lstStyle/>
          <a:p>
            <a:endParaRPr/>
          </a:p>
        </p:txBody>
      </p:sp>
      <p:sp>
        <p:nvSpPr>
          <p:cNvPr id="906" name="Pitch 906"/>
          <p:cNvSpPr/>
          <p:nvPr/>
        </p:nvSpPr>
        <p:spPr>
          <a:xfrm>
            <a:off x="9906000" y="1905000"/>
            <a:ext cx="1524000" cy="3048000"/>
          </a:xfrm>
          <a:prstGeom prst="rect">
            <a:avLst/>
          </a:prstGeom>
          <a:noFill/>
          <a:ln w="15875">
            <a:solidFill>
              <a:srgbClr val="1A2A4E"/>
            </a:solidFill>
          </a:ln>
        </p:spPr>
        <p:txBody>
          <a:bodyPr/>
          <a:lstStyle/>
          <a:p>
            <a:endParaRPr/>
          </a:p>
        </p:txBody>
      </p:sp>
      <p:sp>
        <p:nvSpPr>
          <p:cNvPr id="907" name="Pitch 907"/>
          <p:cNvSpPr/>
          <p:nvPr/>
        </p:nvSpPr>
        <p:spPr>
          <a:xfrm>
            <a:off x="10769600" y="2667000"/>
            <a:ext cx="660400" cy="1524000"/>
          </a:xfrm>
          <a:prstGeom prst="rect">
            <a:avLst/>
          </a:prstGeom>
          <a:noFill/>
          <a:ln w="15875">
            <a:solidFill>
              <a:srgbClr val="1A2A4E"/>
            </a:solidFill>
          </a:ln>
        </p:spPr>
        <p:txBody>
          <a:bodyPr/>
          <a:lstStyle/>
          <a:p>
            <a:endParaRPr/>
          </a:p>
        </p:txBody>
      </p:sp>
      <p:sp>
        <p:nvSpPr>
          <p:cNvPr id="2" name="Shape 0"/>
          <p:cNvSpPr/>
          <p:nvPr/>
        </p:nvSpPr>
        <p:spPr>
          <a:xfrm>
            <a:off x="-365760" y="-365760"/>
            <a:ext cx="731520" cy="731520"/>
          </a:xfrm>
          <a:prstGeom prst="ellipse">
            <a:avLst/>
          </a:prstGeom>
          <a:ln w="19050">
            <a:solidFill>
              <a:srgbClr val="1F7A4D">
                <a:alpha val="45000"/>
              </a:srgbClr>
            </a:solidFill>
            <a:prstDash val="solid"/>
          </a:ln>
        </p:spPr>
        <p:txBody>
          <a:bodyPr/>
          <a:lstStyle/>
          <a:p>
            <a:endParaRPr lang="en-US"/>
          </a:p>
        </p:txBody>
      </p:sp>
      <p:sp>
        <p:nvSpPr>
          <p:cNvPr id="3" name="Shape 1"/>
          <p:cNvSpPr/>
          <p:nvPr/>
        </p:nvSpPr>
        <p:spPr>
          <a:xfrm>
            <a:off x="11825935" y="-365760"/>
            <a:ext cx="731520" cy="731520"/>
          </a:xfrm>
          <a:prstGeom prst="ellipse">
            <a:avLst/>
          </a:prstGeom>
          <a:ln w="19050">
            <a:solidFill>
              <a:srgbClr val="1F7A4D">
                <a:alpha val="45000"/>
              </a:srgbClr>
            </a:solidFill>
            <a:prstDash val="solid"/>
          </a:ln>
        </p:spPr>
        <p:txBody>
          <a:bodyPr/>
          <a:lstStyle/>
          <a:p>
            <a:endParaRPr lang="en-US"/>
          </a:p>
        </p:txBody>
      </p:sp>
      <p:sp>
        <p:nvSpPr>
          <p:cNvPr id="4" name="Shape 2"/>
          <p:cNvSpPr/>
          <p:nvPr/>
        </p:nvSpPr>
        <p:spPr>
          <a:xfrm>
            <a:off x="-365760" y="6492240"/>
            <a:ext cx="731520" cy="731520"/>
          </a:xfrm>
          <a:prstGeom prst="ellipse">
            <a:avLst/>
          </a:prstGeom>
          <a:ln w="19050">
            <a:solidFill>
              <a:srgbClr val="1F7A4D">
                <a:alpha val="45000"/>
              </a:srgbClr>
            </a:solidFill>
            <a:prstDash val="solid"/>
          </a:ln>
        </p:spPr>
        <p:txBody>
          <a:bodyPr/>
          <a:lstStyle/>
          <a:p>
            <a:endParaRPr lang="en-US"/>
          </a:p>
        </p:txBody>
      </p:sp>
      <p:sp>
        <p:nvSpPr>
          <p:cNvPr id="5" name="Shape 3"/>
          <p:cNvSpPr/>
          <p:nvPr/>
        </p:nvSpPr>
        <p:spPr>
          <a:xfrm>
            <a:off x="11825935" y="6492240"/>
            <a:ext cx="731520" cy="731520"/>
          </a:xfrm>
          <a:prstGeom prst="ellipse">
            <a:avLst/>
          </a:prstGeom>
          <a:ln w="19050">
            <a:solidFill>
              <a:srgbClr val="1F7A4D">
                <a:alpha val="45000"/>
              </a:srgbClr>
            </a:solidFill>
            <a:prstDash val="solid"/>
          </a:ln>
        </p:spPr>
        <p:txBody>
          <a:bodyPr/>
          <a:lstStyle/>
          <a:p>
            <a:endParaRPr lang="en-US"/>
          </a:p>
        </p:txBody>
      </p:sp>
      <p:sp>
        <p:nvSpPr>
          <p:cNvPr id="6" name="Shape 4"/>
          <p:cNvSpPr/>
          <p:nvPr/>
        </p:nvSpPr>
        <p:spPr>
          <a:xfrm>
            <a:off x="7589520" y="-4297680"/>
            <a:ext cx="5852160" cy="5852160"/>
          </a:xfrm>
          <a:prstGeom prst="ellipse">
            <a:avLst/>
          </a:prstGeom>
          <a:solidFill>
            <a:srgbClr val="1F7A4D">
              <a:alpha val="5000"/>
            </a:srgbClr>
          </a:solidFill>
          <a:ln w="25400">
            <a:solidFill>
              <a:srgbClr val="1F7A4D">
                <a:alpha val="38000"/>
              </a:srgbClr>
            </a:solidFill>
            <a:prstDash val="solid"/>
          </a:ln>
        </p:spPr>
        <p:txBody>
          <a:bodyPr/>
          <a:lstStyle/>
          <a:p>
            <a:endParaRPr lang="en-US"/>
          </a:p>
        </p:txBody>
      </p:sp>
      <p:sp>
        <p:nvSpPr>
          <p:cNvPr id="7" name="Shape 5"/>
          <p:cNvSpPr/>
          <p:nvPr/>
        </p:nvSpPr>
        <p:spPr>
          <a:xfrm>
            <a:off x="10469880" y="-1417320"/>
            <a:ext cx="91440" cy="91440"/>
          </a:xfrm>
          <a:prstGeom prst="ellipse">
            <a:avLst/>
          </a:prstGeom>
          <a:solidFill>
            <a:srgbClr val="E8A33D">
              <a:alpha val="75000"/>
            </a:srgbClr>
          </a:solidFill>
          <a:ln/>
        </p:spPr>
        <p:txBody>
          <a:bodyPr/>
          <a:lstStyle/>
          <a:p>
            <a:endParaRPr lang="en-US"/>
          </a:p>
        </p:txBody>
      </p:sp>
      <p:sp>
        <p:nvSpPr>
          <p:cNvPr id="8" name="Text 6"/>
          <p:cNvSpPr/>
          <p:nvPr/>
        </p:nvSpPr>
        <p:spPr>
          <a:xfrm>
            <a:off x="822960" y="1691640"/>
            <a:ext cx="7315200" cy="32004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DATA ANALYTICS CAPSTONE</a:t>
            </a:r>
            <a:endParaRPr lang="en-US" sz="1400" dirty="0"/>
          </a:p>
        </p:txBody>
      </p:sp>
      <p:sp>
        <p:nvSpPr>
          <p:cNvPr id="9" name="Text 7"/>
          <p:cNvSpPr/>
          <p:nvPr/>
        </p:nvSpPr>
        <p:spPr>
          <a:xfrm>
            <a:off x="777240" y="2057400"/>
            <a:ext cx="10058400" cy="13716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Worth the Investment?</a:t>
            </a:r>
            <a:endParaRPr lang="en-US" sz="5000" dirty="0"/>
          </a:p>
        </p:txBody>
      </p:sp>
      <p:sp>
        <p:nvSpPr>
          <p:cNvPr id="10" name="Text 8"/>
          <p:cNvSpPr/>
          <p:nvPr/>
        </p:nvSpPr>
        <p:spPr>
          <a:xfrm>
            <a:off x="822960" y="3310128"/>
            <a:ext cx="8778240" cy="82296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Forecasting Player Value Trend &amp; Injury Risk for Premier League Recruitment Decisions</a:t>
            </a:r>
            <a:endParaRPr lang="en-US" sz="1900" dirty="0"/>
          </a:p>
        </p:txBody>
      </p:sp>
      <p:sp>
        <p:nvSpPr>
          <p:cNvPr id="11" name="Shape 9"/>
          <p:cNvSpPr/>
          <p:nvPr/>
        </p:nvSpPr>
        <p:spPr>
          <a:xfrm>
            <a:off x="822960" y="4343400"/>
            <a:ext cx="82296" cy="548640"/>
          </a:xfrm>
          <a:prstGeom prst="roundRect">
            <a:avLst/>
          </a:prstGeom>
          <a:solidFill>
            <a:srgbClr val="E8A33D"/>
          </a:solidFill>
          <a:ln/>
        </p:spPr>
        <p:txBody>
          <a:bodyPr/>
          <a:lstStyle/>
          <a:p>
            <a:endParaRPr lang="en-US"/>
          </a:p>
        </p:txBody>
      </p:sp>
      <p:sp>
        <p:nvSpPr>
          <p:cNvPr id="12" name="Text 10"/>
          <p:cNvSpPr/>
          <p:nvPr/>
        </p:nvSpPr>
        <p:spPr>
          <a:xfrm>
            <a:off x="1051560" y="4343400"/>
            <a:ext cx="7315200" cy="548640"/>
          </a:xfrm>
          <a:prstGeom prst="rect">
            <a:avLst/>
          </a:prstGeom>
          <a:noFill/>
          <a:ln/>
        </p:spPr>
        <p:txBody>
          <a:bodyPr wrap="square" lIns="0" tIns="0" rIns="0" bIns="0" rtlCol="0" anchor="ctr"/>
          <a:lstStyle/>
          <a:p>
            <a:pPr marL="0" indent="0">
              <a:buNone/>
            </a:pPr>
            <a:r>
              <a:rPr lang="en-US" sz="1400" i="1" dirty="0">
                <a:solidFill>
                  <a:srgbClr val="AEB8D6"/>
                </a:solidFill>
                <a:latin typeface="Calibri" pitchFamily="34" charset="0"/>
                <a:ea typeface="Calibri" pitchFamily="34" charset="-122"/>
                <a:cs typeface="Calibri" pitchFamily="34" charset="-120"/>
              </a:rPr>
              <a:t>3 data sources  ·  3 stakeholders  ·  1 honest recruitment signal</a:t>
            </a:r>
            <a:endParaRPr lang="en-US" sz="1400" dirty="0"/>
          </a:p>
        </p:txBody>
      </p:sp>
      <p:sp>
        <p:nvSpPr>
          <p:cNvPr id="13" name="Text 11"/>
          <p:cNvSpPr/>
          <p:nvPr/>
        </p:nvSpPr>
        <p:spPr>
          <a:xfrm>
            <a:off x="822960" y="5989320"/>
            <a:ext cx="9601200" cy="365760"/>
          </a:xfrm>
          <a:prstGeom prst="rect">
            <a:avLst/>
          </a:prstGeom>
          <a:noFill/>
          <a:ln/>
        </p:spPr>
        <p:txBody>
          <a:bodyPr wrap="square" lIns="0" tIns="0" rIns="0" bIns="0" rtlCol="0" anchor="ctr"/>
          <a:lstStyle/>
          <a:p>
            <a:pPr marL="0" indent="0">
              <a:buNone/>
            </a:pPr>
            <a:r>
              <a:rPr lang="en-US" sz="1300" dirty="0">
                <a:solidFill>
                  <a:srgbClr val="8E9BC4"/>
                </a:solidFill>
                <a:latin typeface="Calibri" pitchFamily="34" charset="0"/>
                <a:ea typeface="Calibri" pitchFamily="34" charset="-122"/>
                <a:cs typeface="Calibri" pitchFamily="34" charset="-120"/>
              </a:rPr>
              <a:t>Mahmoud   ·   neue fische Data Analytics Bootcamp   ·   Capstone Event, Sep 29 2026</a:t>
            </a:r>
            <a:endParaRPr lang="en-US" sz="1300" dirty="0"/>
          </a:p>
        </p:txBody>
      </p:sp>
      <p:pic>
        <p:nvPicPr>
          <p:cNvPr id="908" name="Graphic 908" descr="Soccer ball on the penalty spo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23500" y="3238500"/>
            <a:ext cx="381000" cy="381000"/>
          </a:xfrm>
          <a:prstGeom prst="rect">
            <a:avLst/>
          </a:prstGeom>
        </p:spPr>
      </p:pic>
    </p:spTree>
    <p:extLst>
      <p:ext uri="{BB962C8B-B14F-4D97-AF65-F5344CB8AC3E}">
        <p14:creationId xmlns:p14="http://schemas.microsoft.com/office/powerpoint/2010/main" val="5277986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par>
                    <p:cTn id="8" fill="hold">
                      <p:stCondLst>
                        <p:cond delay="350"/>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6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600"/>
                                        <p:tgtEl>
                                          <p:spTgt spid="12"/>
                                        </p:tgtEl>
                                      </p:cBhvr>
                                    </p:animEffect>
                                  </p:childTnLst>
                                </p:cTn>
                              </p:par>
                            </p:childTnLst>
                          </p:cTn>
                        </p:par>
                      </p:childTnLst>
                    </p:cTn>
                  </p:par>
                  <p:par>
                    <p:cTn id="16" fill="hold">
                      <p:stCondLst>
                        <p:cond delay="350"/>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4" name="Text 2"/>
          <p:cNvSpPr/>
          <p:nvPr/>
        </p:nvSpPr>
        <p:spPr>
          <a:xfrm>
            <a:off x="822960" y="594360"/>
            <a:ext cx="5486400" cy="320040"/>
          </a:xfrm>
          <a:prstGeom prst="rect">
            <a:avLst/>
          </a:prstGeom>
          <a:noFill/>
          <a:ln/>
        </p:spPr>
        <p:txBody>
          <a:bodyPr wrap="square" lIns="0" tIns="0" rIns="0" bIns="0" rtlCol="0" anchor="ctr"/>
          <a:lstStyle/>
          <a:p>
            <a:pPr marL="0" indent="0">
              <a:buNone/>
            </a:pPr>
            <a:r>
              <a:rPr lang="en-US" sz="1400" b="1" kern="0" spc="200" dirty="0">
                <a:solidFill>
                  <a:srgbClr val="1F7A4D"/>
                </a:solidFill>
                <a:latin typeface="Calibri" pitchFamily="34" charset="0"/>
                <a:ea typeface="Calibri" pitchFamily="34" charset="-122"/>
                <a:cs typeface="Calibri" pitchFamily="34" charset="-120"/>
              </a:rPr>
              <a:t>AGENDA</a:t>
            </a:r>
            <a:endParaRPr lang="en-US" sz="1400" dirty="0"/>
          </a:p>
        </p:txBody>
      </p:sp>
      <p:sp>
        <p:nvSpPr>
          <p:cNvPr id="5" name="Text 3"/>
          <p:cNvSpPr/>
          <p:nvPr/>
        </p:nvSpPr>
        <p:spPr>
          <a:xfrm>
            <a:off x="777240" y="896112"/>
            <a:ext cx="8229600" cy="731520"/>
          </a:xfrm>
          <a:prstGeom prst="rect">
            <a:avLst/>
          </a:prstGeom>
          <a:noFill/>
          <a:ln/>
        </p:spPr>
        <p:txBody>
          <a:bodyPr wrap="square" lIns="0" tIns="0" rIns="0" bIns="0" rtlCol="0" anchor="ctr"/>
          <a:lstStyle/>
          <a:p>
            <a:pPr marL="0" indent="0">
              <a:buNone/>
            </a:pPr>
            <a:r>
              <a:rPr lang="en-US" sz="3400" b="1" dirty="0">
                <a:solidFill>
                  <a:srgbClr val="1A1A1A"/>
                </a:solidFill>
                <a:latin typeface="Cambria" pitchFamily="34" charset="0"/>
                <a:ea typeface="Cambria" pitchFamily="34" charset="-122"/>
                <a:cs typeface="Cambria" pitchFamily="34" charset="-120"/>
              </a:rPr>
              <a:t>What we'll cover</a:t>
            </a:r>
            <a:endParaRPr lang="en-US" sz="3400" dirty="0"/>
          </a:p>
        </p:txBody>
      </p:sp>
      <p:sp>
        <p:nvSpPr>
          <p:cNvPr id="6" name="Shape 4"/>
          <p:cNvSpPr/>
          <p:nvPr/>
        </p:nvSpPr>
        <p:spPr>
          <a:xfrm>
            <a:off x="681228" y="1824228"/>
            <a:ext cx="850392" cy="850392"/>
          </a:xfrm>
          <a:prstGeom prst="ellipse">
            <a:avLst/>
          </a:prstGeom>
          <a:solidFill>
            <a:srgbClr val="0F1B3D">
              <a:alpha val="20000"/>
            </a:srgbClr>
          </a:solidFill>
          <a:ln/>
        </p:spPr>
        <p:txBody>
          <a:bodyPr/>
          <a:lstStyle/>
          <a:p>
            <a:endParaRPr lang="en-US"/>
          </a:p>
        </p:txBody>
      </p:sp>
      <p:sp>
        <p:nvSpPr>
          <p:cNvPr id="7" name="Shape 5"/>
          <p:cNvSpPr/>
          <p:nvPr/>
        </p:nvSpPr>
        <p:spPr>
          <a:xfrm>
            <a:off x="822960" y="1965960"/>
            <a:ext cx="566928" cy="566928"/>
          </a:xfrm>
          <a:prstGeom prst="ellipse">
            <a:avLst/>
          </a:prstGeom>
          <a:solidFill>
            <a:srgbClr val="1F7A4D"/>
          </a:solidFill>
          <a:ln/>
        </p:spPr>
        <p:txBody>
          <a:bodyPr/>
          <a:lstStyle/>
          <a:p>
            <a:endParaRPr lang="en-US"/>
          </a:p>
        </p:txBody>
      </p:sp>
      <p:sp>
        <p:nvSpPr>
          <p:cNvPr id="9" name="Text 6"/>
          <p:cNvSpPr/>
          <p:nvPr/>
        </p:nvSpPr>
        <p:spPr>
          <a:xfrm>
            <a:off x="1645920" y="1947672"/>
            <a:ext cx="7772400" cy="36576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The business question</a:t>
            </a:r>
            <a:endParaRPr lang="en-US" sz="1800" dirty="0"/>
          </a:p>
        </p:txBody>
      </p:sp>
      <p:sp>
        <p:nvSpPr>
          <p:cNvPr id="10" name="Text 7"/>
          <p:cNvSpPr/>
          <p:nvPr/>
        </p:nvSpPr>
        <p:spPr>
          <a:xfrm>
            <a:off x="1645920" y="2286000"/>
            <a:ext cx="8686800" cy="36576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Why value trend alone can mislead a recruitment call</a:t>
            </a:r>
            <a:endParaRPr lang="en-US" sz="1400" dirty="0">
              <a:solidFill>
                <a:srgbClr val="44506B"/>
              </a:solidFill>
            </a:endParaRPr>
          </a:p>
        </p:txBody>
      </p:sp>
      <p:sp>
        <p:nvSpPr>
          <p:cNvPr id="11" name="Shape 8"/>
          <p:cNvSpPr/>
          <p:nvPr/>
        </p:nvSpPr>
        <p:spPr>
          <a:xfrm>
            <a:off x="681228" y="2720340"/>
            <a:ext cx="850392" cy="850392"/>
          </a:xfrm>
          <a:prstGeom prst="ellipse">
            <a:avLst/>
          </a:prstGeom>
          <a:solidFill>
            <a:srgbClr val="0F1B3D">
              <a:alpha val="20000"/>
            </a:srgbClr>
          </a:solidFill>
          <a:ln/>
        </p:spPr>
        <p:txBody>
          <a:bodyPr/>
          <a:lstStyle/>
          <a:p>
            <a:endParaRPr lang="en-US"/>
          </a:p>
        </p:txBody>
      </p:sp>
      <p:sp>
        <p:nvSpPr>
          <p:cNvPr id="12" name="Shape 9"/>
          <p:cNvSpPr/>
          <p:nvPr/>
        </p:nvSpPr>
        <p:spPr>
          <a:xfrm>
            <a:off x="822960" y="2862072"/>
            <a:ext cx="566928" cy="566928"/>
          </a:xfrm>
          <a:prstGeom prst="ellipse">
            <a:avLst/>
          </a:prstGeom>
          <a:solidFill>
            <a:srgbClr val="1F7A4D"/>
          </a:solidFill>
          <a:ln/>
        </p:spPr>
        <p:txBody>
          <a:bodyPr/>
          <a:lstStyle/>
          <a:p>
            <a:endParaRPr lang="en-US"/>
          </a:p>
        </p:txBody>
      </p:sp>
      <p:sp>
        <p:nvSpPr>
          <p:cNvPr id="14" name="Text 10"/>
          <p:cNvSpPr/>
          <p:nvPr/>
        </p:nvSpPr>
        <p:spPr>
          <a:xfrm>
            <a:off x="1645920" y="2843784"/>
            <a:ext cx="7772400" cy="36576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The data &amp; pipeline</a:t>
            </a:r>
            <a:endParaRPr lang="en-US" sz="1800" dirty="0"/>
          </a:p>
        </p:txBody>
      </p:sp>
      <p:sp>
        <p:nvSpPr>
          <p:cNvPr id="15" name="Text 11"/>
          <p:cNvSpPr/>
          <p:nvPr/>
        </p:nvSpPr>
        <p:spPr>
          <a:xfrm>
            <a:off x="1645920" y="3182112"/>
            <a:ext cx="8686800" cy="36576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Three sources, joined and modeled through dbt + DuckDB</a:t>
            </a:r>
            <a:endParaRPr lang="en-US" sz="1400" dirty="0">
              <a:solidFill>
                <a:srgbClr val="44506B"/>
              </a:solidFill>
            </a:endParaRPr>
          </a:p>
        </p:txBody>
      </p:sp>
      <p:sp>
        <p:nvSpPr>
          <p:cNvPr id="16" name="Shape 12"/>
          <p:cNvSpPr/>
          <p:nvPr/>
        </p:nvSpPr>
        <p:spPr>
          <a:xfrm>
            <a:off x="681228" y="3616452"/>
            <a:ext cx="850392" cy="850392"/>
          </a:xfrm>
          <a:prstGeom prst="ellipse">
            <a:avLst/>
          </a:prstGeom>
          <a:solidFill>
            <a:srgbClr val="0F1B3D">
              <a:alpha val="20000"/>
            </a:srgbClr>
          </a:solidFill>
          <a:ln/>
        </p:spPr>
        <p:txBody>
          <a:bodyPr/>
          <a:lstStyle/>
          <a:p>
            <a:endParaRPr lang="en-US"/>
          </a:p>
        </p:txBody>
      </p:sp>
      <p:sp>
        <p:nvSpPr>
          <p:cNvPr id="17" name="Shape 13"/>
          <p:cNvSpPr/>
          <p:nvPr/>
        </p:nvSpPr>
        <p:spPr>
          <a:xfrm>
            <a:off x="822960" y="3758184"/>
            <a:ext cx="566928" cy="566928"/>
          </a:xfrm>
          <a:prstGeom prst="ellipse">
            <a:avLst/>
          </a:prstGeom>
          <a:solidFill>
            <a:srgbClr val="1F7A4D"/>
          </a:solidFill>
          <a:ln/>
        </p:spPr>
        <p:txBody>
          <a:bodyPr/>
          <a:lstStyle/>
          <a:p>
            <a:endParaRPr lang="en-US"/>
          </a:p>
        </p:txBody>
      </p:sp>
      <p:sp>
        <p:nvSpPr>
          <p:cNvPr id="19" name="Text 14"/>
          <p:cNvSpPr/>
          <p:nvPr/>
        </p:nvSpPr>
        <p:spPr>
          <a:xfrm>
            <a:off x="1645920" y="3739896"/>
            <a:ext cx="7772400" cy="36576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Three stakeholders, three hypotheses</a:t>
            </a:r>
            <a:endParaRPr lang="en-US" sz="1800" dirty="0"/>
          </a:p>
        </p:txBody>
      </p:sp>
      <p:sp>
        <p:nvSpPr>
          <p:cNvPr id="20" name="Text 15"/>
          <p:cNvSpPr/>
          <p:nvPr/>
        </p:nvSpPr>
        <p:spPr>
          <a:xfrm>
            <a:off x="1645920" y="4078224"/>
            <a:ext cx="8686800" cy="36576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Scouting, Front Office, and Medical/Performance staff</a:t>
            </a:r>
            <a:endParaRPr lang="en-US" sz="1400" dirty="0">
              <a:solidFill>
                <a:srgbClr val="44506B"/>
              </a:solidFill>
            </a:endParaRPr>
          </a:p>
        </p:txBody>
      </p:sp>
      <p:sp>
        <p:nvSpPr>
          <p:cNvPr id="21" name="Shape 16"/>
          <p:cNvSpPr/>
          <p:nvPr/>
        </p:nvSpPr>
        <p:spPr>
          <a:xfrm>
            <a:off x="681228" y="4512564"/>
            <a:ext cx="850392" cy="850392"/>
          </a:xfrm>
          <a:prstGeom prst="ellipse">
            <a:avLst/>
          </a:prstGeom>
          <a:solidFill>
            <a:srgbClr val="0F1B3D">
              <a:alpha val="20000"/>
            </a:srgbClr>
          </a:solidFill>
          <a:ln/>
        </p:spPr>
        <p:txBody>
          <a:bodyPr/>
          <a:lstStyle/>
          <a:p>
            <a:endParaRPr lang="en-US"/>
          </a:p>
        </p:txBody>
      </p:sp>
      <p:sp>
        <p:nvSpPr>
          <p:cNvPr id="22" name="Shape 17"/>
          <p:cNvSpPr/>
          <p:nvPr/>
        </p:nvSpPr>
        <p:spPr>
          <a:xfrm>
            <a:off x="822960" y="4654296"/>
            <a:ext cx="566928" cy="566928"/>
          </a:xfrm>
          <a:prstGeom prst="ellipse">
            <a:avLst/>
          </a:prstGeom>
          <a:solidFill>
            <a:srgbClr val="1F7A4D"/>
          </a:solidFill>
          <a:ln/>
        </p:spPr>
        <p:txBody>
          <a:bodyPr/>
          <a:lstStyle/>
          <a:p>
            <a:endParaRPr lang="en-US"/>
          </a:p>
        </p:txBody>
      </p:sp>
      <p:sp>
        <p:nvSpPr>
          <p:cNvPr id="24" name="Text 18"/>
          <p:cNvSpPr/>
          <p:nvPr/>
        </p:nvSpPr>
        <p:spPr>
          <a:xfrm>
            <a:off x="1645920" y="4636008"/>
            <a:ext cx="7772400" cy="36576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What the results mean</a:t>
            </a:r>
            <a:endParaRPr lang="en-US" sz="1800" dirty="0"/>
          </a:p>
        </p:txBody>
      </p:sp>
      <p:sp>
        <p:nvSpPr>
          <p:cNvPr id="25" name="Text 19"/>
          <p:cNvSpPr/>
          <p:nvPr/>
        </p:nvSpPr>
        <p:spPr>
          <a:xfrm>
            <a:off x="1645920" y="4974336"/>
            <a:ext cx="8686800" cy="36576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Honest findings, and the data's real limits</a:t>
            </a:r>
            <a:endParaRPr lang="en-US" sz="1400" dirty="0">
              <a:solidFill>
                <a:srgbClr val="44506B"/>
              </a:solidFill>
            </a:endParaRPr>
          </a:p>
        </p:txBody>
      </p:sp>
      <p:sp>
        <p:nvSpPr>
          <p:cNvPr id="26" name="Shape 20"/>
          <p:cNvSpPr/>
          <p:nvPr/>
        </p:nvSpPr>
        <p:spPr>
          <a:xfrm>
            <a:off x="681228" y="5408676"/>
            <a:ext cx="850392" cy="850392"/>
          </a:xfrm>
          <a:prstGeom prst="ellipse">
            <a:avLst/>
          </a:prstGeom>
          <a:solidFill>
            <a:srgbClr val="0F1B3D">
              <a:alpha val="20000"/>
            </a:srgbClr>
          </a:solidFill>
          <a:ln/>
        </p:spPr>
        <p:txBody>
          <a:bodyPr/>
          <a:lstStyle/>
          <a:p>
            <a:endParaRPr lang="en-US"/>
          </a:p>
        </p:txBody>
      </p:sp>
      <p:sp>
        <p:nvSpPr>
          <p:cNvPr id="27" name="Shape 21"/>
          <p:cNvSpPr/>
          <p:nvPr/>
        </p:nvSpPr>
        <p:spPr>
          <a:xfrm>
            <a:off x="822960" y="5550408"/>
            <a:ext cx="566928" cy="566928"/>
          </a:xfrm>
          <a:prstGeom prst="ellipse">
            <a:avLst/>
          </a:prstGeom>
          <a:solidFill>
            <a:srgbClr val="1F7A4D"/>
          </a:solidFill>
          <a:ln/>
        </p:spPr>
        <p:txBody>
          <a:bodyPr/>
          <a:lstStyle/>
          <a:p>
            <a:endParaRPr lang="en-US"/>
          </a:p>
        </p:txBody>
      </p:sp>
      <p:sp>
        <p:nvSpPr>
          <p:cNvPr id="29" name="Text 22"/>
          <p:cNvSpPr/>
          <p:nvPr/>
        </p:nvSpPr>
        <p:spPr>
          <a:xfrm>
            <a:off x="1645920" y="5532120"/>
            <a:ext cx="7772400" cy="36576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Live in Tableau</a:t>
            </a:r>
            <a:endParaRPr lang="en-US" sz="1800" dirty="0"/>
          </a:p>
        </p:txBody>
      </p:sp>
      <p:sp>
        <p:nvSpPr>
          <p:cNvPr id="30" name="Text 23"/>
          <p:cNvSpPr/>
          <p:nvPr/>
        </p:nvSpPr>
        <p:spPr>
          <a:xfrm>
            <a:off x="1645920" y="5870448"/>
            <a:ext cx="8686800" cy="36576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Interactive dashboards for hands-on exploration</a:t>
            </a:r>
            <a:endParaRPr lang="en-US" sz="1400" dirty="0">
              <a:solidFill>
                <a:srgbClr val="44506B"/>
              </a:solidFill>
            </a:endParaRPr>
          </a:p>
        </p:txBody>
      </p:sp>
      <p:sp>
        <p:nvSpPr>
          <p:cNvPr id="31" name="Text 24"/>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400" dirty="0">
                <a:solidFill>
                  <a:srgbClr val="5A6478"/>
                </a:solidFill>
                <a:latin typeface="Calibri" pitchFamily="34" charset="0"/>
                <a:ea typeface="Calibri" pitchFamily="34" charset="-122"/>
                <a:cs typeface="Calibri" pitchFamily="34" charset="-120"/>
              </a:rPr>
              <a:t>02</a:t>
            </a:r>
            <a:endParaRPr lang="en-US" sz="1400" dirty="0">
              <a:solidFill>
                <a:srgbClr val="5A6478"/>
              </a:solidFill>
            </a:endParaRPr>
          </a:p>
        </p:txBody>
      </p:sp>
      <p:sp>
        <p:nvSpPr>
          <p:cNvPr id="32" name="Oval 31">
            <a:extLst>
              <a:ext uri="{FF2B5EF4-FFF2-40B4-BE49-F238E27FC236}">
                <a16:creationId xmlns:a16="http://schemas.microsoft.com/office/drawing/2014/main" id="{F5A076CA-510D-4B5E-B6B8-7B738B02C131}"/>
              </a:ext>
            </a:extLst>
          </p:cNvPr>
          <p:cNvSpPr/>
          <p:nvPr/>
        </p:nvSpPr>
        <p:spPr>
          <a:xfrm>
            <a:off x="7848600" y="838200"/>
            <a:ext cx="3886200" cy="3886200"/>
          </a:xfrm>
          <a:prstGeom prst="ellipse">
            <a:avLst/>
          </a:prstGeom>
          <a:noFill/>
          <a:ln w="15875" cap="flat" cmpd="sng" algn="ctr">
            <a:solidFill>
              <a:srgbClr val="DBE3E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Oval 32">
            <a:extLst>
              <a:ext uri="{FF2B5EF4-FFF2-40B4-BE49-F238E27FC236}">
                <a16:creationId xmlns:a16="http://schemas.microsoft.com/office/drawing/2014/main" id="{457D5D88-83BC-43B2-9052-8146FEEC2F7E}"/>
              </a:ext>
            </a:extLst>
          </p:cNvPr>
          <p:cNvSpPr/>
          <p:nvPr/>
        </p:nvSpPr>
        <p:spPr>
          <a:xfrm>
            <a:off x="8890000" y="1879600"/>
            <a:ext cx="1803400" cy="1803400"/>
          </a:xfrm>
          <a:prstGeom prst="ellipse">
            <a:avLst/>
          </a:prstGeom>
          <a:noFill/>
          <a:ln w="12700" cap="flat" cmpd="sng" algn="ctr">
            <a:solidFill>
              <a:srgbClr val="E4EAE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Oval 33">
            <a:extLst>
              <a:ext uri="{FF2B5EF4-FFF2-40B4-BE49-F238E27FC236}">
                <a16:creationId xmlns:a16="http://schemas.microsoft.com/office/drawing/2014/main" id="{E533577B-8158-4A70-AB66-10A8BA222978}"/>
              </a:ext>
            </a:extLst>
          </p:cNvPr>
          <p:cNvSpPr/>
          <p:nvPr/>
        </p:nvSpPr>
        <p:spPr>
          <a:xfrm>
            <a:off x="9728200" y="2717800"/>
            <a:ext cx="127000" cy="127000"/>
          </a:xfrm>
          <a:prstGeom prst="ellipse">
            <a:avLst/>
          </a:prstGeom>
          <a:solidFill>
            <a:srgbClr val="E8A3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35" name="Graphic 35" descr="Soccer ball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9800" y="2082800"/>
            <a:ext cx="330200" cy="330200"/>
          </a:xfrm>
          <a:prstGeom prst="rect">
            <a:avLst/>
          </a:prstGeom>
        </p:spPr>
      </p:pic>
      <p:pic>
        <p:nvPicPr>
          <p:cNvPr id="36" name="Graphic 36" descr="Soccer player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800" y="2971800"/>
            <a:ext cx="330200" cy="330200"/>
          </a:xfrm>
          <a:prstGeom prst="rect">
            <a:avLst/>
          </a:prstGeom>
        </p:spPr>
      </p:pic>
      <p:pic>
        <p:nvPicPr>
          <p:cNvPr id="37" name="Graphic 37" descr="Soccer goal ico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9800" y="3873500"/>
            <a:ext cx="330200" cy="330200"/>
          </a:xfrm>
          <a:prstGeom prst="rect">
            <a:avLst/>
          </a:prstGeom>
        </p:spPr>
      </p:pic>
      <p:pic>
        <p:nvPicPr>
          <p:cNvPr id="38" name="Graphic 38" descr="Whistle ico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9800" y="4762500"/>
            <a:ext cx="330200" cy="330200"/>
          </a:xfrm>
          <a:prstGeom prst="rect">
            <a:avLst/>
          </a:prstGeom>
        </p:spPr>
      </p:pic>
      <p:pic>
        <p:nvPicPr>
          <p:cNvPr id="39" name="Graphic 39" descr="Trophy icon"/>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39800" y="5664200"/>
            <a:ext cx="330200" cy="330200"/>
          </a:xfrm>
          <a:prstGeom prst="rect">
            <a:avLst/>
          </a:prstGeom>
        </p:spPr>
      </p:pic>
    </p:spTree>
    <p:extLst>
      <p:ext uri="{BB962C8B-B14F-4D97-AF65-F5344CB8AC3E}">
        <p14:creationId xmlns:p14="http://schemas.microsoft.com/office/powerpoint/2010/main" val="37787262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250"/>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250"/>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par>
                    <p:cTn id="45" fill="hold">
                      <p:stCondLst>
                        <p:cond delay="250"/>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childTnLst>
                          </p:cTn>
                        </p:par>
                      </p:childTnLst>
                    </p:cTn>
                  </p:par>
                  <p:par>
                    <p:cTn id="59" fill="hold">
                      <p:stCondLst>
                        <p:cond delay="250"/>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4" presetID="10" presetClass="entr" presetSubtype="0" fill="hold"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10"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par>
                                <p:cTn id="70" presetID="10" presetClass="entr" presetSubtype="0" fill="hold"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365760" y="-365760"/>
            <a:ext cx="731520" cy="731520"/>
          </a:xfrm>
          <a:prstGeom prst="ellipse">
            <a:avLst/>
          </a:prstGeom>
          <a:ln w="19050">
            <a:solidFill>
              <a:srgbClr val="1F7A4D">
                <a:alpha val="45000"/>
              </a:srgbClr>
            </a:solidFill>
            <a:prstDash val="solid"/>
          </a:ln>
        </p:spPr>
        <p:txBody>
          <a:bodyPr/>
          <a:lstStyle/>
          <a:p>
            <a:endParaRPr lang="en-US"/>
          </a:p>
        </p:txBody>
      </p:sp>
      <p:sp>
        <p:nvSpPr>
          <p:cNvPr id="3" name="Shape 1"/>
          <p:cNvSpPr/>
          <p:nvPr/>
        </p:nvSpPr>
        <p:spPr>
          <a:xfrm>
            <a:off x="11825935" y="-365760"/>
            <a:ext cx="731520" cy="731520"/>
          </a:xfrm>
          <a:prstGeom prst="ellipse">
            <a:avLst/>
          </a:prstGeom>
          <a:ln w="19050">
            <a:solidFill>
              <a:srgbClr val="1F7A4D">
                <a:alpha val="45000"/>
              </a:srgbClr>
            </a:solidFill>
            <a:prstDash val="solid"/>
          </a:ln>
        </p:spPr>
        <p:txBody>
          <a:bodyPr/>
          <a:lstStyle/>
          <a:p>
            <a:endParaRPr lang="en-US"/>
          </a:p>
        </p:txBody>
      </p:sp>
      <p:sp>
        <p:nvSpPr>
          <p:cNvPr id="4" name="Shape 2"/>
          <p:cNvSpPr/>
          <p:nvPr/>
        </p:nvSpPr>
        <p:spPr>
          <a:xfrm>
            <a:off x="-365760" y="6492240"/>
            <a:ext cx="731520" cy="731520"/>
          </a:xfrm>
          <a:prstGeom prst="ellipse">
            <a:avLst/>
          </a:prstGeom>
          <a:ln w="19050">
            <a:solidFill>
              <a:srgbClr val="1F7A4D">
                <a:alpha val="45000"/>
              </a:srgbClr>
            </a:solidFill>
            <a:prstDash val="solid"/>
          </a:ln>
        </p:spPr>
        <p:txBody>
          <a:bodyPr/>
          <a:lstStyle/>
          <a:p>
            <a:endParaRPr lang="en-US"/>
          </a:p>
        </p:txBody>
      </p:sp>
      <p:sp>
        <p:nvSpPr>
          <p:cNvPr id="5" name="Shape 3"/>
          <p:cNvSpPr/>
          <p:nvPr/>
        </p:nvSpPr>
        <p:spPr>
          <a:xfrm>
            <a:off x="11825935" y="6492240"/>
            <a:ext cx="731520" cy="731520"/>
          </a:xfrm>
          <a:prstGeom prst="ellipse">
            <a:avLst/>
          </a:prstGeom>
          <a:ln w="19050">
            <a:solidFill>
              <a:srgbClr val="1F7A4D">
                <a:alpha val="45000"/>
              </a:srgbClr>
            </a:solidFill>
            <a:prstDash val="solid"/>
          </a:ln>
        </p:spPr>
        <p:txBody>
          <a:bodyPr/>
          <a:lstStyle/>
          <a:p>
            <a:endParaRPr lang="en-US"/>
          </a:p>
        </p:txBody>
      </p:sp>
      <p:sp>
        <p:nvSpPr>
          <p:cNvPr id="6" name="Shape 4"/>
          <p:cNvSpPr/>
          <p:nvPr/>
        </p:nvSpPr>
        <p:spPr>
          <a:xfrm>
            <a:off x="-1371600" y="5486400"/>
            <a:ext cx="5486400" cy="5486400"/>
          </a:xfrm>
          <a:prstGeom prst="ellipse">
            <a:avLst/>
          </a:prstGeom>
          <a:solidFill>
            <a:srgbClr val="1F7A4D">
              <a:alpha val="5000"/>
            </a:srgbClr>
          </a:solidFill>
          <a:ln w="25400">
            <a:solidFill>
              <a:srgbClr val="1F7A4D">
                <a:alpha val="38000"/>
              </a:srgbClr>
            </a:solidFill>
            <a:prstDash val="solid"/>
          </a:ln>
        </p:spPr>
        <p:txBody>
          <a:bodyPr/>
          <a:lstStyle/>
          <a:p>
            <a:endParaRPr lang="en-US"/>
          </a:p>
        </p:txBody>
      </p:sp>
      <p:sp>
        <p:nvSpPr>
          <p:cNvPr id="7" name="Shape 5"/>
          <p:cNvSpPr/>
          <p:nvPr/>
        </p:nvSpPr>
        <p:spPr>
          <a:xfrm>
            <a:off x="1325880" y="8183880"/>
            <a:ext cx="91440" cy="91440"/>
          </a:xfrm>
          <a:prstGeom prst="ellipse">
            <a:avLst/>
          </a:prstGeom>
          <a:solidFill>
            <a:srgbClr val="E8A33D">
              <a:alpha val="75000"/>
            </a:srgbClr>
          </a:solidFill>
          <a:ln/>
        </p:spPr>
        <p:txBody>
          <a:bodyPr/>
          <a:lstStyle/>
          <a:p>
            <a:endParaRPr lang="en-US"/>
          </a:p>
        </p:txBody>
      </p:sp>
      <p:sp>
        <p:nvSpPr>
          <p:cNvPr id="8" name="Text 6"/>
          <p:cNvSpPr/>
          <p:nvPr/>
        </p:nvSpPr>
        <p:spPr>
          <a:xfrm>
            <a:off x="822960" y="685800"/>
            <a:ext cx="7315200" cy="32004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THE BUSINESS QUESTION</a:t>
            </a:r>
            <a:endParaRPr lang="en-US" sz="1400" dirty="0"/>
          </a:p>
        </p:txBody>
      </p:sp>
      <p:sp>
        <p:nvSpPr>
          <p:cNvPr id="9" name="Text 7"/>
          <p:cNvSpPr/>
          <p:nvPr/>
        </p:nvSpPr>
        <p:spPr>
          <a:xfrm>
            <a:off x="822960" y="1188720"/>
            <a:ext cx="10332720" cy="1828800"/>
          </a:xfrm>
          <a:prstGeom prst="rect">
            <a:avLst/>
          </a:prstGeom>
          <a:noFill/>
          <a:ln/>
        </p:spPr>
        <p:txBody>
          <a:bodyPr wrap="square" lIns="0" tIns="0" rIns="0" bIns="0" rtlCol="0" anchor="ctr"/>
          <a:lstStyle/>
          <a:p>
            <a:pPr marL="0" indent="0">
              <a:lnSpc>
                <a:spcPct val="125000"/>
              </a:lnSpc>
              <a:buNone/>
            </a:pPr>
            <a:r>
              <a:rPr lang="en-US" sz="2700" b="1" dirty="0">
                <a:solidFill>
                  <a:srgbClr val="FFFFFF"/>
                </a:solidFill>
                <a:latin typeface="Cambria" pitchFamily="34" charset="0"/>
                <a:ea typeface="Cambria" pitchFamily="34" charset="-122"/>
                <a:cs typeface="Cambria" pitchFamily="34" charset="-120"/>
              </a:rPr>
              <a:t>Market value trend alone overstates a player's recruitment worth. </a:t>
            </a:r>
            <a:r>
              <a:rPr lang="en-US" sz="2700" dirty="0">
                <a:solidFill>
                  <a:srgbClr val="CADCFC"/>
                </a:solidFill>
                <a:latin typeface="Cambria" pitchFamily="34" charset="0"/>
                <a:ea typeface="Cambria" pitchFamily="34" charset="-122"/>
                <a:cs typeface="Cambria" pitchFamily="34" charset="-120"/>
              </a:rPr>
              <a:t>Players with rising value </a:t>
            </a:r>
            <a:r>
              <a:rPr lang="en-US" sz="2700" i="1" dirty="0">
                <a:solidFill>
                  <a:srgbClr val="E8A33D"/>
                </a:solidFill>
                <a:latin typeface="Cambria" pitchFamily="34" charset="0"/>
                <a:ea typeface="Cambria" pitchFamily="34" charset="-122"/>
                <a:cs typeface="Cambria" pitchFamily="34" charset="-120"/>
              </a:rPr>
              <a:t>and</a:t>
            </a:r>
            <a:r>
              <a:rPr lang="en-US" sz="2700" dirty="0">
                <a:solidFill>
                  <a:srgbClr val="CADCFC"/>
                </a:solidFill>
                <a:latin typeface="Cambria" pitchFamily="34" charset="0"/>
                <a:ea typeface="Cambria" pitchFamily="34" charset="-122"/>
                <a:cs typeface="Cambria" pitchFamily="34" charset="-120"/>
              </a:rPr>
              <a:t> high injury risk are systematically </a:t>
            </a:r>
            <a:r>
              <a:rPr lang="en-US" sz="2700" b="1" dirty="0">
                <a:solidFill>
                  <a:srgbClr val="E8A33D"/>
                </a:solidFill>
                <a:latin typeface="Cambria" pitchFamily="34" charset="0"/>
                <a:ea typeface="Cambria" pitchFamily="34" charset="-122"/>
                <a:cs typeface="Cambria" pitchFamily="34" charset="-120"/>
              </a:rPr>
              <a:t>over-valued</a:t>
            </a:r>
            <a:r>
              <a:rPr lang="en-US" sz="2700" dirty="0">
                <a:solidFill>
                  <a:srgbClr val="CADCFC"/>
                </a:solidFill>
                <a:latin typeface="Cambria" pitchFamily="34" charset="0"/>
                <a:ea typeface="Cambria" pitchFamily="34" charset="-122"/>
                <a:cs typeface="Cambria" pitchFamily="34" charset="-120"/>
              </a:rPr>
              <a:t> relative to their realistic future output.</a:t>
            </a:r>
            <a:endParaRPr lang="en-US" sz="2700" dirty="0"/>
          </a:p>
        </p:txBody>
      </p:sp>
      <p:sp>
        <p:nvSpPr>
          <p:cNvPr id="10" name="Shape 8"/>
          <p:cNvSpPr/>
          <p:nvPr/>
        </p:nvSpPr>
        <p:spPr>
          <a:xfrm>
            <a:off x="822960" y="3657600"/>
            <a:ext cx="3383280" cy="2331720"/>
          </a:xfrm>
          <a:prstGeom prst="roundRect">
            <a:avLst>
              <a:gd name="adj" fmla="val 3529"/>
            </a:avLst>
          </a:prstGeom>
          <a:solidFill>
            <a:srgbClr val="16264D"/>
          </a:solidFill>
          <a:ln/>
        </p:spPr>
        <p:txBody>
          <a:bodyPr/>
          <a:lstStyle/>
          <a:p>
            <a:endParaRPr lang="en-US"/>
          </a:p>
        </p:txBody>
      </p:sp>
      <p:sp>
        <p:nvSpPr>
          <p:cNvPr id="11" name="Shape 9"/>
          <p:cNvSpPr/>
          <p:nvPr/>
        </p:nvSpPr>
        <p:spPr>
          <a:xfrm>
            <a:off x="964692" y="3762756"/>
            <a:ext cx="685800" cy="685800"/>
          </a:xfrm>
          <a:prstGeom prst="ellipse">
            <a:avLst/>
          </a:prstGeom>
          <a:solidFill>
            <a:srgbClr val="E8A33D">
              <a:alpha val="20000"/>
            </a:srgbClr>
          </a:solidFill>
          <a:ln/>
        </p:spPr>
        <p:txBody>
          <a:bodyPr/>
          <a:lstStyle/>
          <a:p>
            <a:endParaRPr lang="en-US"/>
          </a:p>
        </p:txBody>
      </p:sp>
      <p:sp>
        <p:nvSpPr>
          <p:cNvPr id="12" name="Shape 10"/>
          <p:cNvSpPr/>
          <p:nvPr/>
        </p:nvSpPr>
        <p:spPr>
          <a:xfrm>
            <a:off x="1078992" y="3877056"/>
            <a:ext cx="457200" cy="457200"/>
          </a:xfrm>
          <a:prstGeom prst="ellipse">
            <a:avLst/>
          </a:prstGeom>
          <a:solidFill>
            <a:srgbClr val="E8A33D"/>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1225296" y="4023360"/>
            <a:ext cx="164592" cy="164592"/>
          </a:xfrm>
          <a:prstGeom prst="rect">
            <a:avLst/>
          </a:prstGeom>
        </p:spPr>
      </p:pic>
      <p:sp>
        <p:nvSpPr>
          <p:cNvPr id="14" name="Text 11"/>
          <p:cNvSpPr/>
          <p:nvPr/>
        </p:nvSpPr>
        <p:spPr>
          <a:xfrm>
            <a:off x="1645920" y="3913632"/>
            <a:ext cx="914400" cy="384048"/>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Q1</a:t>
            </a:r>
            <a:endParaRPr lang="en-US" sz="2000" dirty="0"/>
          </a:p>
        </p:txBody>
      </p:sp>
      <p:sp>
        <p:nvSpPr>
          <p:cNvPr id="15" name="Text 12"/>
          <p:cNvSpPr/>
          <p:nvPr/>
        </p:nvSpPr>
        <p:spPr>
          <a:xfrm>
            <a:off x="1078992" y="4521200"/>
            <a:ext cx="2871216" cy="1270000"/>
          </a:xfrm>
          <a:prstGeom prst="rect">
            <a:avLst/>
          </a:prstGeom>
          <a:noFill/>
          <a:ln/>
        </p:spPr>
        <p:txBody>
          <a:bodyPr wrap="square" lIns="0" tIns="0" rIns="0" bIns="0" rtlCol="0" anchor="t" anchorCtr="0"/>
          <a:lstStyle/>
          <a:p>
            <a:pPr marL="0" indent="0">
              <a:buNone/>
            </a:pPr>
            <a:r>
              <a:rPr lang="en-US" sz="1600" dirty="0">
                <a:solidFill>
                  <a:srgbClr val="D8DFF0"/>
                </a:solidFill>
                <a:latin typeface="Calibri" pitchFamily="34" charset="0"/>
                <a:ea typeface="Calibri" pitchFamily="34" charset="-122"/>
                <a:cs typeface="Calibri" pitchFamily="34" charset="-120"/>
              </a:rPr>
              <a:t>Can we forecast a player's market value trend from age, performance, and appearance data?</a:t>
            </a:r>
            <a:endParaRPr lang="en-US" sz="1600" dirty="0">
              <a:solidFill>
                <a:srgbClr val="D8DFF0"/>
              </a:solidFill>
            </a:endParaRPr>
          </a:p>
        </p:txBody>
      </p:sp>
      <p:sp>
        <p:nvSpPr>
          <p:cNvPr id="16" name="Shape 13"/>
          <p:cNvSpPr/>
          <p:nvPr/>
        </p:nvSpPr>
        <p:spPr>
          <a:xfrm>
            <a:off x="4434840" y="3657600"/>
            <a:ext cx="3383280" cy="2331720"/>
          </a:xfrm>
          <a:prstGeom prst="roundRect">
            <a:avLst>
              <a:gd name="adj" fmla="val 3529"/>
            </a:avLst>
          </a:prstGeom>
          <a:solidFill>
            <a:srgbClr val="16264D"/>
          </a:solidFill>
          <a:ln/>
        </p:spPr>
        <p:txBody>
          <a:bodyPr/>
          <a:lstStyle/>
          <a:p>
            <a:endParaRPr lang="en-US"/>
          </a:p>
        </p:txBody>
      </p:sp>
      <p:sp>
        <p:nvSpPr>
          <p:cNvPr id="17" name="Shape 14"/>
          <p:cNvSpPr/>
          <p:nvPr/>
        </p:nvSpPr>
        <p:spPr>
          <a:xfrm>
            <a:off x="4576572" y="3762756"/>
            <a:ext cx="685800" cy="685800"/>
          </a:xfrm>
          <a:prstGeom prst="ellipse">
            <a:avLst/>
          </a:prstGeom>
          <a:solidFill>
            <a:srgbClr val="E8A33D">
              <a:alpha val="20000"/>
            </a:srgbClr>
          </a:solidFill>
          <a:ln/>
        </p:spPr>
        <p:txBody>
          <a:bodyPr/>
          <a:lstStyle/>
          <a:p>
            <a:endParaRPr lang="en-US"/>
          </a:p>
        </p:txBody>
      </p:sp>
      <p:sp>
        <p:nvSpPr>
          <p:cNvPr id="18" name="Shape 15"/>
          <p:cNvSpPr/>
          <p:nvPr/>
        </p:nvSpPr>
        <p:spPr>
          <a:xfrm>
            <a:off x="4690872" y="3877056"/>
            <a:ext cx="457200" cy="457200"/>
          </a:xfrm>
          <a:prstGeom prst="ellipse">
            <a:avLst/>
          </a:prstGeom>
          <a:solidFill>
            <a:srgbClr val="E8A33D"/>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4837176" y="4023360"/>
            <a:ext cx="164592" cy="164592"/>
          </a:xfrm>
          <a:prstGeom prst="rect">
            <a:avLst/>
          </a:prstGeom>
        </p:spPr>
      </p:pic>
      <p:sp>
        <p:nvSpPr>
          <p:cNvPr id="20" name="Text 16"/>
          <p:cNvSpPr/>
          <p:nvPr/>
        </p:nvSpPr>
        <p:spPr>
          <a:xfrm>
            <a:off x="5257800" y="3913632"/>
            <a:ext cx="914400" cy="384048"/>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Q2</a:t>
            </a:r>
            <a:endParaRPr lang="en-US" sz="2000" dirty="0"/>
          </a:p>
        </p:txBody>
      </p:sp>
      <p:sp>
        <p:nvSpPr>
          <p:cNvPr id="21" name="Text 17"/>
          <p:cNvSpPr/>
          <p:nvPr/>
        </p:nvSpPr>
        <p:spPr>
          <a:xfrm>
            <a:off x="4690872" y="4521200"/>
            <a:ext cx="2871216" cy="1270000"/>
          </a:xfrm>
          <a:prstGeom prst="rect">
            <a:avLst/>
          </a:prstGeom>
          <a:noFill/>
          <a:ln/>
        </p:spPr>
        <p:txBody>
          <a:bodyPr wrap="square" lIns="0" tIns="0" rIns="0" bIns="0" rtlCol="0" anchor="t" anchorCtr="0"/>
          <a:lstStyle/>
          <a:p>
            <a:pPr marL="0" indent="0">
              <a:buNone/>
            </a:pPr>
            <a:r>
              <a:rPr lang="en-US" sz="1600" dirty="0">
                <a:solidFill>
                  <a:srgbClr val="D8DFF0"/>
                </a:solidFill>
                <a:latin typeface="Calibri" pitchFamily="34" charset="0"/>
                <a:ea typeface="Calibri" pitchFamily="34" charset="-122"/>
                <a:cs typeface="Calibri" pitchFamily="34" charset="-120"/>
              </a:rPr>
              <a:t>Does injury history predict future injury risk well enough to flag “high risk” players?</a:t>
            </a:r>
            <a:endParaRPr lang="en-US" sz="1600" dirty="0">
              <a:solidFill>
                <a:srgbClr val="D8DFF0"/>
              </a:solidFill>
            </a:endParaRPr>
          </a:p>
        </p:txBody>
      </p:sp>
      <p:sp>
        <p:nvSpPr>
          <p:cNvPr id="22" name="Shape 18"/>
          <p:cNvSpPr/>
          <p:nvPr/>
        </p:nvSpPr>
        <p:spPr>
          <a:xfrm>
            <a:off x="8046720" y="3657600"/>
            <a:ext cx="3383280" cy="2331720"/>
          </a:xfrm>
          <a:prstGeom prst="roundRect">
            <a:avLst>
              <a:gd name="adj" fmla="val 3529"/>
            </a:avLst>
          </a:prstGeom>
          <a:solidFill>
            <a:srgbClr val="16264D"/>
          </a:solidFill>
          <a:ln/>
        </p:spPr>
        <p:txBody>
          <a:bodyPr/>
          <a:lstStyle/>
          <a:p>
            <a:endParaRPr lang="en-US"/>
          </a:p>
        </p:txBody>
      </p:sp>
      <p:sp>
        <p:nvSpPr>
          <p:cNvPr id="23" name="Shape 19"/>
          <p:cNvSpPr/>
          <p:nvPr/>
        </p:nvSpPr>
        <p:spPr>
          <a:xfrm>
            <a:off x="8188452" y="3762756"/>
            <a:ext cx="685800" cy="685800"/>
          </a:xfrm>
          <a:prstGeom prst="ellipse">
            <a:avLst/>
          </a:prstGeom>
          <a:solidFill>
            <a:srgbClr val="E8A33D">
              <a:alpha val="20000"/>
            </a:srgbClr>
          </a:solidFill>
          <a:ln/>
        </p:spPr>
        <p:txBody>
          <a:bodyPr/>
          <a:lstStyle/>
          <a:p>
            <a:endParaRPr lang="en-US"/>
          </a:p>
        </p:txBody>
      </p:sp>
      <p:sp>
        <p:nvSpPr>
          <p:cNvPr id="24" name="Shape 20"/>
          <p:cNvSpPr/>
          <p:nvPr/>
        </p:nvSpPr>
        <p:spPr>
          <a:xfrm>
            <a:off x="8302752" y="3877056"/>
            <a:ext cx="457200" cy="457200"/>
          </a:xfrm>
          <a:prstGeom prst="ellipse">
            <a:avLst/>
          </a:prstGeom>
          <a:solidFill>
            <a:srgbClr val="E8A33D"/>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8449056" y="4023360"/>
            <a:ext cx="164592" cy="164592"/>
          </a:xfrm>
          <a:prstGeom prst="rect">
            <a:avLst/>
          </a:prstGeom>
        </p:spPr>
      </p:pic>
      <p:sp>
        <p:nvSpPr>
          <p:cNvPr id="26" name="Text 21"/>
          <p:cNvSpPr/>
          <p:nvPr/>
        </p:nvSpPr>
        <p:spPr>
          <a:xfrm>
            <a:off x="8869680" y="3913632"/>
            <a:ext cx="914400" cy="384048"/>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Q3</a:t>
            </a:r>
            <a:endParaRPr lang="en-US" sz="2000" dirty="0"/>
          </a:p>
        </p:txBody>
      </p:sp>
      <p:sp>
        <p:nvSpPr>
          <p:cNvPr id="27" name="Text 22"/>
          <p:cNvSpPr/>
          <p:nvPr/>
        </p:nvSpPr>
        <p:spPr>
          <a:xfrm>
            <a:off x="8302752" y="4521200"/>
            <a:ext cx="2871216" cy="1270000"/>
          </a:xfrm>
          <a:prstGeom prst="rect">
            <a:avLst/>
          </a:prstGeom>
          <a:noFill/>
          <a:ln/>
        </p:spPr>
        <p:txBody>
          <a:bodyPr wrap="square" lIns="0" tIns="0" rIns="0" bIns="0" rtlCol="0" anchor="t" anchorCtr="0"/>
          <a:lstStyle/>
          <a:p>
            <a:pPr marL="0" indent="0">
              <a:buNone/>
            </a:pPr>
            <a:r>
              <a:rPr lang="en-US" sz="1600" dirty="0">
                <a:solidFill>
                  <a:srgbClr val="D8DFF0"/>
                </a:solidFill>
                <a:latin typeface="Calibri" pitchFamily="34" charset="0"/>
                <a:ea typeface="Calibri" pitchFamily="34" charset="-122"/>
                <a:cs typeface="Calibri" pitchFamily="34" charset="-120"/>
              </a:rPr>
              <a:t>Combined, do value forecast and injury risk together beat value alone as a recruitment signal?</a:t>
            </a:r>
            <a:endParaRPr lang="en-US" sz="1600" dirty="0">
              <a:solidFill>
                <a:srgbClr val="D8DFF0"/>
              </a:solidFill>
            </a:endParaRPr>
          </a:p>
        </p:txBody>
      </p:sp>
      <p:sp>
        <p:nvSpPr>
          <p:cNvPr id="28" name="Text 23"/>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A8B4D0"/>
                </a:solidFill>
                <a:latin typeface="Calibri" pitchFamily="34" charset="0"/>
                <a:ea typeface="Calibri" pitchFamily="34" charset="-122"/>
                <a:cs typeface="Calibri" pitchFamily="34" charset="-120"/>
              </a:rPr>
              <a:t>03</a:t>
            </a:r>
            <a:endParaRPr lang="en-US" sz="1200" dirty="0">
              <a:solidFill>
                <a:srgbClr val="A8B4D0"/>
              </a:solidFill>
            </a:endParaRPr>
          </a:p>
        </p:txBody>
      </p:sp>
      <p:sp>
        <p:nvSpPr>
          <p:cNvPr id="52" name="TextBox 51"/>
          <p:cNvSpPr txBox="1"/>
          <p:nvPr/>
        </p:nvSpPr>
        <p:spPr>
          <a:xfrm>
            <a:off x="822960" y="3160000"/>
            <a:ext cx="10545775" cy="420000"/>
          </a:xfrm>
          <a:prstGeom prst="rect">
            <a:avLst/>
          </a:prstGeom>
          <a:noFill/>
        </p:spPr>
        <p:txBody>
          <a:bodyPr wrap="square" lIns="0" rIns="0" tIns="0" bIns="0">
            <a:spAutoFit/>
          </a:bodyPr>
          <a:lstStyle/>
          <a:p>
            <a:pPr algn="l"/>
            <a:r>
              <a:rPr sz="1200" i="1" b="1">
                <a:solidFill>
                  <a:srgbClr val="CADCFC"/>
                </a:solidFill>
                <a:latin typeface="Calibri"/>
              </a:rPr>
              <a:t>TERM CHECK — </a:t>
            </a:r>
            <a:r>
              <a:rPr sz="1200" i="1" b="0">
                <a:solidFill>
                  <a:srgbClr val="CADCFC"/>
                </a:solidFill>
                <a:latin typeface="Calibri"/>
              </a:rPr>
              <a:t>“market value” = a player’s estimated transfer-market worth (public valuation data), not a confirmed sale price.</a:t>
            </a:r>
          </a:p>
        </p:txBody>
      </p:sp>
    </p:spTree>
    <p:extLst>
      <p:ext uri="{BB962C8B-B14F-4D97-AF65-F5344CB8AC3E}">
        <p14:creationId xmlns:p14="http://schemas.microsoft.com/office/powerpoint/2010/main" val="12874551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5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5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5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450"/>
                                        <p:tgtEl>
                                          <p:spTgt spid="26"/>
                                        </p:tgtEl>
                                      </p:cBhvr>
                                    </p:animEffect>
                                  </p:childTnLst>
                                </p:cTn>
                              </p:par>
                            </p:childTnLst>
                          </p:cTn>
                        </p:par>
                      </p:childTnLst>
                    </p:cTn>
                  </p:par>
                  <p:par>
                    <p:cTn id="41" fill="hold">
                      <p:stCondLst>
                        <p:cond delay="250"/>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5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5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822960" y="594360"/>
            <a:ext cx="5486400" cy="320040"/>
          </a:xfrm>
          <a:prstGeom prst="rect">
            <a:avLst/>
          </a:prstGeom>
          <a:noFill/>
          <a:ln/>
        </p:spPr>
        <p:txBody>
          <a:bodyPr wrap="square" lIns="0" tIns="0" rIns="0" bIns="0" rtlCol="0" anchor="ctr"/>
          <a:lstStyle/>
          <a:p>
            <a:pPr marL="0" indent="0">
              <a:buNone/>
            </a:pPr>
            <a:r>
              <a:rPr lang="en-US" sz="1400" b="1" kern="0" spc="200" dirty="0">
                <a:solidFill>
                  <a:srgbClr val="1F7A4D"/>
                </a:solidFill>
                <a:latin typeface="Calibri" pitchFamily="34" charset="0"/>
                <a:ea typeface="Calibri" pitchFamily="34" charset="-122"/>
                <a:cs typeface="Calibri" pitchFamily="34" charset="-120"/>
              </a:rPr>
              <a:t>THE DATA</a:t>
            </a:r>
            <a:endParaRPr lang="en-US" sz="1400" dirty="0"/>
          </a:p>
        </p:txBody>
      </p:sp>
      <p:sp>
        <p:nvSpPr>
          <p:cNvPr id="3" name="Text 1"/>
          <p:cNvSpPr/>
          <p:nvPr/>
        </p:nvSpPr>
        <p:spPr>
          <a:xfrm>
            <a:off x="777240" y="896112"/>
            <a:ext cx="9144000" cy="73152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Three sources, one recruitment signal</a:t>
            </a:r>
            <a:endParaRPr lang="en-US" sz="3200" dirty="0"/>
          </a:p>
        </p:txBody>
      </p:sp>
      <p:sp>
        <p:nvSpPr>
          <p:cNvPr id="4" name="Shape 2"/>
          <p:cNvSpPr/>
          <p:nvPr/>
        </p:nvSpPr>
        <p:spPr>
          <a:xfrm>
            <a:off x="822960" y="1965960"/>
            <a:ext cx="3429000" cy="2235200"/>
          </a:xfrm>
          <a:prstGeom prst="roundRect">
            <a:avLst>
              <a:gd name="adj" fmla="val 4091"/>
            </a:avLst>
          </a:prstGeom>
          <a:solidFill>
            <a:srgbClr val="FFFFFF"/>
          </a:solidFill>
          <a:ln/>
          <a:effectLst>
            <a:outerShdw blurRad="101600" dist="38100" dir="5400000" algn="bl" rotWithShape="0">
              <a:srgbClr val="8C93A6">
                <a:alpha val="25000"/>
              </a:srgbClr>
            </a:outerShdw>
          </a:effectLst>
        </p:spPr>
        <p:txBody>
          <a:bodyPr/>
          <a:lstStyle/>
          <a:p>
            <a:endParaRPr lang="en-US"/>
          </a:p>
        </p:txBody>
      </p:sp>
      <p:sp>
        <p:nvSpPr>
          <p:cNvPr id="5" name="Shape 3"/>
          <p:cNvSpPr/>
          <p:nvPr/>
        </p:nvSpPr>
        <p:spPr>
          <a:xfrm>
            <a:off x="950976" y="2084832"/>
            <a:ext cx="768096" cy="768096"/>
          </a:xfrm>
          <a:prstGeom prst="ellipse">
            <a:avLst/>
          </a:prstGeom>
          <a:solidFill>
            <a:srgbClr val="0F1B3D">
              <a:alpha val="20000"/>
            </a:srgbClr>
          </a:solidFill>
          <a:ln/>
        </p:spPr>
        <p:txBody>
          <a:bodyPr/>
          <a:lstStyle/>
          <a:p>
            <a:endParaRPr lang="en-US"/>
          </a:p>
        </p:txBody>
      </p:sp>
      <p:sp>
        <p:nvSpPr>
          <p:cNvPr id="6" name="Shape 4"/>
          <p:cNvSpPr/>
          <p:nvPr/>
        </p:nvSpPr>
        <p:spPr>
          <a:xfrm>
            <a:off x="1078992" y="2212848"/>
            <a:ext cx="512064" cy="512064"/>
          </a:xfrm>
          <a:prstGeom prst="ellipse">
            <a:avLst/>
          </a:prstGeom>
          <a:solidFill>
            <a:srgbClr val="0F1B3D"/>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25296" y="2359152"/>
            <a:ext cx="219456" cy="219456"/>
          </a:xfrm>
          <a:prstGeom prst="rect">
            <a:avLst/>
          </a:prstGeom>
        </p:spPr>
      </p:pic>
      <p:sp>
        <p:nvSpPr>
          <p:cNvPr id="8" name="Text 5"/>
          <p:cNvSpPr/>
          <p:nvPr/>
        </p:nvSpPr>
        <p:spPr>
          <a:xfrm>
            <a:off x="1078992" y="2871216"/>
            <a:ext cx="2916936" cy="548640"/>
          </a:xfrm>
          <a:prstGeom prst="rect">
            <a:avLst/>
          </a:prstGeom>
          <a:noFill/>
          <a:ln/>
        </p:spPr>
        <p:txBody>
          <a:bodyPr wrap="square" lIns="0" tIns="0" rIns="0" bIns="0"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Transfermarkt: Player Values</a:t>
            </a:r>
            <a:endParaRPr lang="en-US" sz="1450" dirty="0"/>
          </a:p>
        </p:txBody>
      </p:sp>
      <p:sp>
        <p:nvSpPr>
          <p:cNvPr id="9" name="Text 6"/>
          <p:cNvSpPr/>
          <p:nvPr/>
        </p:nvSpPr>
        <p:spPr>
          <a:xfrm>
            <a:off x="1078992" y="3429000"/>
            <a:ext cx="2916936" cy="53340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Market value history &amp; appearances across seasons</a:t>
            </a:r>
            <a:endParaRPr lang="en-US" sz="1400" dirty="0">
              <a:solidFill>
                <a:srgbClr val="44506B"/>
              </a:solidFill>
            </a:endParaRPr>
          </a:p>
        </p:txBody>
      </p:sp>
      <p:sp>
        <p:nvSpPr>
          <p:cNvPr id="10" name="Shape 7"/>
          <p:cNvSpPr/>
          <p:nvPr/>
        </p:nvSpPr>
        <p:spPr>
          <a:xfrm>
            <a:off x="4507992" y="1965960"/>
            <a:ext cx="3429000" cy="2235200"/>
          </a:xfrm>
          <a:prstGeom prst="roundRect">
            <a:avLst>
              <a:gd name="adj" fmla="val 4091"/>
            </a:avLst>
          </a:prstGeom>
          <a:solidFill>
            <a:srgbClr val="FFFFFF"/>
          </a:solidFill>
          <a:ln/>
          <a:effectLst>
            <a:outerShdw blurRad="101600" dist="38100" dir="5400000" algn="bl" rotWithShape="0">
              <a:srgbClr val="8C93A6">
                <a:alpha val="25000"/>
              </a:srgbClr>
            </a:outerShdw>
          </a:effectLst>
        </p:spPr>
        <p:txBody>
          <a:bodyPr/>
          <a:lstStyle/>
          <a:p>
            <a:endParaRPr lang="en-US"/>
          </a:p>
        </p:txBody>
      </p:sp>
      <p:sp>
        <p:nvSpPr>
          <p:cNvPr id="11" name="Shape 8"/>
          <p:cNvSpPr/>
          <p:nvPr/>
        </p:nvSpPr>
        <p:spPr>
          <a:xfrm>
            <a:off x="4636008" y="2084832"/>
            <a:ext cx="768096" cy="768096"/>
          </a:xfrm>
          <a:prstGeom prst="ellipse">
            <a:avLst/>
          </a:prstGeom>
          <a:solidFill>
            <a:srgbClr val="C0392B">
              <a:alpha val="20000"/>
            </a:srgbClr>
          </a:solidFill>
          <a:ln/>
        </p:spPr>
        <p:txBody>
          <a:bodyPr/>
          <a:lstStyle/>
          <a:p>
            <a:endParaRPr lang="en-US"/>
          </a:p>
        </p:txBody>
      </p:sp>
      <p:sp>
        <p:nvSpPr>
          <p:cNvPr id="12" name="Shape 9"/>
          <p:cNvSpPr/>
          <p:nvPr/>
        </p:nvSpPr>
        <p:spPr>
          <a:xfrm>
            <a:off x="4764024" y="2212848"/>
            <a:ext cx="512064" cy="512064"/>
          </a:xfrm>
          <a:prstGeom prst="ellipse">
            <a:avLst/>
          </a:prstGeom>
          <a:solidFill>
            <a:srgbClr val="C0392B"/>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10328" y="2359152"/>
            <a:ext cx="219456" cy="219456"/>
          </a:xfrm>
          <a:prstGeom prst="rect">
            <a:avLst/>
          </a:prstGeom>
        </p:spPr>
      </p:pic>
      <p:sp>
        <p:nvSpPr>
          <p:cNvPr id="14" name="Text 10"/>
          <p:cNvSpPr/>
          <p:nvPr/>
        </p:nvSpPr>
        <p:spPr>
          <a:xfrm>
            <a:off x="4764024" y="2871216"/>
            <a:ext cx="2916936" cy="548640"/>
          </a:xfrm>
          <a:prstGeom prst="rect">
            <a:avLst/>
          </a:prstGeom>
          <a:noFill/>
          <a:ln/>
        </p:spPr>
        <p:txBody>
          <a:bodyPr wrap="square" lIns="0" tIns="0" rIns="0" bIns="0"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Transfermarkt: Injuries</a:t>
            </a:r>
            <a:endParaRPr lang="en-US" sz="1450" dirty="0"/>
          </a:p>
        </p:txBody>
      </p:sp>
      <p:sp>
        <p:nvSpPr>
          <p:cNvPr id="15" name="Text 11"/>
          <p:cNvSpPr/>
          <p:nvPr/>
        </p:nvSpPr>
        <p:spPr>
          <a:xfrm>
            <a:off x="4764024" y="3429000"/>
            <a:ext cx="2916936" cy="53340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Injury type, dates, and duration per player</a:t>
            </a:r>
            <a:endParaRPr lang="en-US" sz="1400" dirty="0">
              <a:solidFill>
                <a:srgbClr val="44506B"/>
              </a:solidFill>
            </a:endParaRPr>
          </a:p>
        </p:txBody>
      </p:sp>
      <p:sp>
        <p:nvSpPr>
          <p:cNvPr id="16" name="Shape 12"/>
          <p:cNvSpPr/>
          <p:nvPr/>
        </p:nvSpPr>
        <p:spPr>
          <a:xfrm>
            <a:off x="8193024" y="1965960"/>
            <a:ext cx="3429000" cy="2235200"/>
          </a:xfrm>
          <a:prstGeom prst="roundRect">
            <a:avLst>
              <a:gd name="adj" fmla="val 4091"/>
            </a:avLst>
          </a:prstGeom>
          <a:solidFill>
            <a:srgbClr val="FFFFFF"/>
          </a:solidFill>
          <a:ln/>
          <a:effectLst>
            <a:outerShdw blurRad="101600" dist="38100" dir="5400000" algn="bl" rotWithShape="0">
              <a:srgbClr val="8C93A6">
                <a:alpha val="25000"/>
              </a:srgbClr>
            </a:outerShdw>
          </a:effectLst>
        </p:spPr>
        <p:txBody>
          <a:bodyPr/>
          <a:lstStyle/>
          <a:p>
            <a:endParaRPr lang="en-US"/>
          </a:p>
        </p:txBody>
      </p:sp>
      <p:sp>
        <p:nvSpPr>
          <p:cNvPr id="17" name="Shape 13"/>
          <p:cNvSpPr/>
          <p:nvPr/>
        </p:nvSpPr>
        <p:spPr>
          <a:xfrm>
            <a:off x="8321040" y="2084832"/>
            <a:ext cx="768096" cy="768096"/>
          </a:xfrm>
          <a:prstGeom prst="ellipse">
            <a:avLst/>
          </a:prstGeom>
          <a:solidFill>
            <a:srgbClr val="1F7A4D">
              <a:alpha val="20000"/>
            </a:srgbClr>
          </a:solidFill>
          <a:ln/>
        </p:spPr>
        <p:txBody>
          <a:bodyPr/>
          <a:lstStyle/>
          <a:p>
            <a:endParaRPr lang="en-US"/>
          </a:p>
        </p:txBody>
      </p:sp>
      <p:sp>
        <p:nvSpPr>
          <p:cNvPr id="18" name="Shape 14"/>
          <p:cNvSpPr/>
          <p:nvPr/>
        </p:nvSpPr>
        <p:spPr>
          <a:xfrm>
            <a:off x="8449056" y="2212848"/>
            <a:ext cx="512064" cy="512064"/>
          </a:xfrm>
          <a:prstGeom prst="ellipse">
            <a:avLst/>
          </a:prstGeom>
          <a:solidFill>
            <a:srgbClr val="1F7A4D"/>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595360" y="2359152"/>
            <a:ext cx="219456" cy="219456"/>
          </a:xfrm>
          <a:prstGeom prst="rect">
            <a:avLst/>
          </a:prstGeom>
        </p:spPr>
      </p:pic>
      <p:sp>
        <p:nvSpPr>
          <p:cNvPr id="20" name="Text 15"/>
          <p:cNvSpPr/>
          <p:nvPr/>
        </p:nvSpPr>
        <p:spPr>
          <a:xfrm>
            <a:off x="8449056" y="2871216"/>
            <a:ext cx="2916936" cy="548640"/>
          </a:xfrm>
          <a:prstGeom prst="rect">
            <a:avLst/>
          </a:prstGeom>
          <a:noFill/>
          <a:ln/>
        </p:spPr>
        <p:txBody>
          <a:bodyPr wrap="square" lIns="0" tIns="0" rIns="0" bIns="0"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FBref: Match Performance</a:t>
            </a:r>
            <a:endParaRPr lang="en-US" sz="1450" dirty="0"/>
          </a:p>
        </p:txBody>
      </p:sp>
      <p:sp>
        <p:nvSpPr>
          <p:cNvPr id="21" name="Text 16"/>
          <p:cNvSpPr/>
          <p:nvPr/>
        </p:nvSpPr>
        <p:spPr>
          <a:xfrm>
            <a:off x="8449056" y="3429000"/>
            <a:ext cx="2916936" cy="53340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Minutes &amp; match stats, 2017–2024, top-5 leagues</a:t>
            </a:r>
            <a:endParaRPr lang="en-US" sz="1400" dirty="0">
              <a:solidFill>
                <a:srgbClr val="44506B"/>
              </a:solidFill>
            </a:endParaRPr>
          </a:p>
        </p:txBody>
      </p:sp>
      <p:sp>
        <p:nvSpPr>
          <p:cNvPr id="22" name="Shape 17"/>
          <p:cNvSpPr/>
          <p:nvPr/>
        </p:nvSpPr>
        <p:spPr>
          <a:xfrm>
            <a:off x="822960" y="4617720"/>
            <a:ext cx="2011680" cy="548640"/>
          </a:xfrm>
          <a:prstGeom prst="roundRect">
            <a:avLst>
              <a:gd name="adj" fmla="val 50000"/>
            </a:avLst>
          </a:prstGeom>
          <a:solidFill>
            <a:srgbClr val="0F1B3D"/>
          </a:solidFill>
          <a:ln/>
        </p:spPr>
        <p:txBody>
          <a:bodyPr/>
          <a:lstStyle/>
          <a:p>
            <a:endParaRPr lang="en-US"/>
          </a:p>
        </p:txBody>
      </p:sp>
      <p:sp>
        <p:nvSpPr>
          <p:cNvPr id="23" name="Text 18"/>
          <p:cNvSpPr/>
          <p:nvPr/>
        </p:nvSpPr>
        <p:spPr>
          <a:xfrm>
            <a:off x="822960" y="4617720"/>
            <a:ext cx="20116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Raw sources</a:t>
            </a:r>
            <a:endParaRPr lang="en-US" sz="1250" dirty="0"/>
          </a:p>
        </p:txBody>
      </p:sp>
      <p:pic>
        <p:nvPicPr>
          <p:cNvPr id="24" name="Image 3" descr="preencoded.png"/>
          <p:cNvPicPr>
            <a:picLocks noChangeAspect="1"/>
          </p:cNvPicPr>
          <p:nvPr/>
        </p:nvPicPr>
        <p:blipFill>
          <a:blip r:embed="rId6"/>
          <a:stretch>
            <a:fillRect/>
          </a:stretch>
        </p:blipFill>
        <p:spPr>
          <a:xfrm>
            <a:off x="2852928" y="4800600"/>
            <a:ext cx="182880" cy="182880"/>
          </a:xfrm>
          <a:prstGeom prst="rect">
            <a:avLst/>
          </a:prstGeom>
        </p:spPr>
      </p:pic>
      <p:sp>
        <p:nvSpPr>
          <p:cNvPr id="25" name="Shape 19"/>
          <p:cNvSpPr/>
          <p:nvPr/>
        </p:nvSpPr>
        <p:spPr>
          <a:xfrm>
            <a:off x="3072384" y="4617720"/>
            <a:ext cx="2011680" cy="548640"/>
          </a:xfrm>
          <a:prstGeom prst="roundRect">
            <a:avLst>
              <a:gd name="adj" fmla="val 50000"/>
            </a:avLst>
          </a:prstGeom>
          <a:solidFill>
            <a:srgbClr val="0F1B3D"/>
          </a:solidFill>
          <a:ln/>
        </p:spPr>
        <p:txBody>
          <a:bodyPr/>
          <a:lstStyle/>
          <a:p>
            <a:endParaRPr lang="en-US"/>
          </a:p>
        </p:txBody>
      </p:sp>
      <p:sp>
        <p:nvSpPr>
          <p:cNvPr id="26" name="Text 20"/>
          <p:cNvSpPr/>
          <p:nvPr/>
        </p:nvSpPr>
        <p:spPr>
          <a:xfrm>
            <a:off x="3072384" y="4617720"/>
            <a:ext cx="20116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dbt staging</a:t>
            </a:r>
            <a:endParaRPr lang="en-US" sz="1250" dirty="0"/>
          </a:p>
        </p:txBody>
      </p:sp>
      <p:pic>
        <p:nvPicPr>
          <p:cNvPr id="27" name="Image 4" descr="preencoded.png"/>
          <p:cNvPicPr>
            <a:picLocks noChangeAspect="1"/>
          </p:cNvPicPr>
          <p:nvPr/>
        </p:nvPicPr>
        <p:blipFill>
          <a:blip r:embed="rId6"/>
          <a:stretch>
            <a:fillRect/>
          </a:stretch>
        </p:blipFill>
        <p:spPr>
          <a:xfrm>
            <a:off x="5102352" y="4800600"/>
            <a:ext cx="182880" cy="182880"/>
          </a:xfrm>
          <a:prstGeom prst="rect">
            <a:avLst/>
          </a:prstGeom>
        </p:spPr>
      </p:pic>
      <p:sp>
        <p:nvSpPr>
          <p:cNvPr id="28" name="Shape 21"/>
          <p:cNvSpPr/>
          <p:nvPr/>
        </p:nvSpPr>
        <p:spPr>
          <a:xfrm>
            <a:off x="5321808" y="4617720"/>
            <a:ext cx="2011680" cy="548640"/>
          </a:xfrm>
          <a:prstGeom prst="roundRect">
            <a:avLst>
              <a:gd name="adj" fmla="val 50000"/>
            </a:avLst>
          </a:prstGeom>
          <a:solidFill>
            <a:srgbClr val="0F1B3D"/>
          </a:solidFill>
          <a:ln/>
        </p:spPr>
        <p:txBody>
          <a:bodyPr/>
          <a:lstStyle/>
          <a:p>
            <a:endParaRPr lang="en-US"/>
          </a:p>
        </p:txBody>
      </p:sp>
      <p:sp>
        <p:nvSpPr>
          <p:cNvPr id="29" name="Text 22"/>
          <p:cNvSpPr/>
          <p:nvPr/>
        </p:nvSpPr>
        <p:spPr>
          <a:xfrm>
            <a:off x="5321808" y="4617720"/>
            <a:ext cx="20116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dbt prep (player match)</a:t>
            </a:r>
            <a:endParaRPr lang="en-US" sz="1250" dirty="0"/>
          </a:p>
        </p:txBody>
      </p:sp>
      <p:pic>
        <p:nvPicPr>
          <p:cNvPr id="30" name="Image 5" descr="preencoded.png"/>
          <p:cNvPicPr>
            <a:picLocks noChangeAspect="1"/>
          </p:cNvPicPr>
          <p:nvPr/>
        </p:nvPicPr>
        <p:blipFill>
          <a:blip r:embed="rId6"/>
          <a:stretch>
            <a:fillRect/>
          </a:stretch>
        </p:blipFill>
        <p:spPr>
          <a:xfrm>
            <a:off x="7351776" y="4800600"/>
            <a:ext cx="182880" cy="182880"/>
          </a:xfrm>
          <a:prstGeom prst="rect">
            <a:avLst/>
          </a:prstGeom>
        </p:spPr>
      </p:pic>
      <p:sp>
        <p:nvSpPr>
          <p:cNvPr id="31" name="Shape 23"/>
          <p:cNvSpPr/>
          <p:nvPr/>
        </p:nvSpPr>
        <p:spPr>
          <a:xfrm>
            <a:off x="7571232" y="4617720"/>
            <a:ext cx="2011680" cy="548640"/>
          </a:xfrm>
          <a:prstGeom prst="roundRect">
            <a:avLst>
              <a:gd name="adj" fmla="val 50000"/>
            </a:avLst>
          </a:prstGeom>
          <a:solidFill>
            <a:srgbClr val="0F1B3D"/>
          </a:solidFill>
          <a:ln/>
        </p:spPr>
        <p:txBody>
          <a:bodyPr/>
          <a:lstStyle/>
          <a:p>
            <a:endParaRPr lang="en-US"/>
          </a:p>
        </p:txBody>
      </p:sp>
      <p:sp>
        <p:nvSpPr>
          <p:cNvPr id="32" name="Text 24"/>
          <p:cNvSpPr/>
          <p:nvPr/>
        </p:nvSpPr>
        <p:spPr>
          <a:xfrm>
            <a:off x="7571232" y="4617720"/>
            <a:ext cx="20116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dbt marts</a:t>
            </a:r>
            <a:endParaRPr lang="en-US" sz="1250" dirty="0"/>
          </a:p>
        </p:txBody>
      </p:sp>
      <p:pic>
        <p:nvPicPr>
          <p:cNvPr id="33" name="Image 6" descr="preencoded.png"/>
          <p:cNvPicPr>
            <a:picLocks noChangeAspect="1"/>
          </p:cNvPicPr>
          <p:nvPr/>
        </p:nvPicPr>
        <p:blipFill>
          <a:blip r:embed="rId6"/>
          <a:stretch>
            <a:fillRect/>
          </a:stretch>
        </p:blipFill>
        <p:spPr>
          <a:xfrm>
            <a:off x="9601200" y="4800600"/>
            <a:ext cx="182880" cy="182880"/>
          </a:xfrm>
          <a:prstGeom prst="rect">
            <a:avLst/>
          </a:prstGeom>
        </p:spPr>
      </p:pic>
      <p:sp>
        <p:nvSpPr>
          <p:cNvPr id="34" name="Shape 25"/>
          <p:cNvSpPr/>
          <p:nvPr/>
        </p:nvSpPr>
        <p:spPr>
          <a:xfrm>
            <a:off x="9820656" y="4617720"/>
            <a:ext cx="2011680" cy="548640"/>
          </a:xfrm>
          <a:prstGeom prst="roundRect">
            <a:avLst>
              <a:gd name="adj" fmla="val 50000"/>
            </a:avLst>
          </a:prstGeom>
          <a:solidFill>
            <a:srgbClr val="1F7A4D"/>
          </a:solidFill>
          <a:ln/>
        </p:spPr>
        <p:txBody>
          <a:bodyPr/>
          <a:lstStyle/>
          <a:p>
            <a:endParaRPr lang="en-US"/>
          </a:p>
        </p:txBody>
      </p:sp>
      <p:sp>
        <p:nvSpPr>
          <p:cNvPr id="35" name="Text 26"/>
          <p:cNvSpPr/>
          <p:nvPr/>
        </p:nvSpPr>
        <p:spPr>
          <a:xfrm>
            <a:off x="9820656" y="4617720"/>
            <a:ext cx="20116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DuckDB warehouse</a:t>
            </a:r>
            <a:endParaRPr lang="en-US" sz="1250" dirty="0"/>
          </a:p>
        </p:txBody>
      </p:sp>
      <p:sp>
        <p:nvSpPr>
          <p:cNvPr id="36" name="Text 27"/>
          <p:cNvSpPr/>
          <p:nvPr/>
        </p:nvSpPr>
        <p:spPr>
          <a:xfrm>
            <a:off x="822960" y="5623560"/>
            <a:ext cx="10332720" cy="548640"/>
          </a:xfrm>
          <a:prstGeom prst="rect">
            <a:avLst/>
          </a:prstGeom>
          <a:noFill/>
          <a:ln/>
        </p:spPr>
        <p:txBody>
          <a:bodyPr wrap="square" lIns="0" tIns="0" rIns="0" bIns="0" rtlCol="0" anchor="ctr"/>
          <a:lstStyle/>
          <a:p>
            <a:pPr marL="0" indent="0">
              <a:buNone/>
            </a:pPr>
            <a:r>
              <a:rPr lang="en-US" sz="2800" b="1" dirty="0">
                <a:solidFill>
                  <a:srgbClr val="0F1B3D"/>
                </a:solidFill>
                <a:latin typeface="Cambria" pitchFamily="34" charset="0"/>
                <a:ea typeface="Cambria" pitchFamily="34" charset="-122"/>
                <a:cs typeface="Cambria" pitchFamily="34" charset="-120"/>
              </a:rPr>
              <a:t>6 / 6  </a:t>
            </a:r>
            <a:r>
              <a:rPr lang="en-US" sz="1400" dirty="0">
                <a:solidFill>
                  <a:srgbClr val="44506B"/>
                </a:solidFill>
                <a:latin typeface="Calibri" pitchFamily="34" charset="0"/>
                <a:ea typeface="Calibri" pitchFamily="34" charset="-122"/>
                <a:cs typeface="Calibri" pitchFamily="34" charset="-120"/>
              </a:rPr>
              <a:t>dbt models running end to end</a:t>
            </a:r>
            <a:r>
              <a:rPr lang="en-US" sz="1800" dirty="0">
                <a:solidFill>
                  <a:srgbClr val="C4CBD6"/>
                </a:solidFill>
                <a:latin typeface="Calibri" pitchFamily="34" charset="0"/>
                <a:ea typeface="Calibri" pitchFamily="34" charset="-122"/>
                <a:cs typeface="Calibri" pitchFamily="34" charset="-120"/>
              </a:rPr>
              <a:t>      |      </a:t>
            </a:r>
            <a:r>
              <a:rPr lang="en-US" sz="2800" b="1" dirty="0">
                <a:solidFill>
                  <a:srgbClr val="0F1B3D"/>
                </a:solidFill>
                <a:latin typeface="Cambria" pitchFamily="34" charset="0"/>
                <a:ea typeface="Cambria" pitchFamily="34" charset="-122"/>
                <a:cs typeface="Cambria" pitchFamily="34" charset="-120"/>
              </a:rPr>
              <a:t>1,959  </a:t>
            </a:r>
            <a:r>
              <a:rPr lang="en-US" sz="1400" dirty="0">
                <a:solidFill>
                  <a:srgbClr val="44506B"/>
                </a:solidFill>
                <a:latin typeface="Calibri" pitchFamily="34" charset="0"/>
                <a:ea typeface="Calibri" pitchFamily="34" charset="-122"/>
                <a:cs typeface="Calibri" pitchFamily="34" charset="-120"/>
              </a:rPr>
              <a:t>players matched across all 3 sources</a:t>
            </a:r>
            <a:endParaRPr lang="en-US" sz="1400" dirty="0">
              <a:solidFill>
                <a:srgbClr val="44506B"/>
              </a:solidFill>
            </a:endParaRPr>
          </a:p>
        </p:txBody>
      </p:sp>
      <p:sp>
        <p:nvSpPr>
          <p:cNvPr id="37" name="Text 28"/>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5A6478"/>
                </a:solidFill>
                <a:latin typeface="Calibri" pitchFamily="34" charset="0"/>
                <a:ea typeface="Calibri" pitchFamily="34" charset="-122"/>
                <a:cs typeface="Calibri" pitchFamily="34" charset="-120"/>
              </a:rPr>
              <a:t>04</a:t>
            </a:r>
            <a:endParaRPr lang="en-US" sz="1200" dirty="0">
              <a:solidFill>
                <a:srgbClr val="5A6478"/>
              </a:solidFill>
            </a:endParaRPr>
          </a:p>
        </p:txBody>
      </p:sp>
    </p:spTree>
    <p:extLst>
      <p:ext uri="{BB962C8B-B14F-4D97-AF65-F5344CB8AC3E}">
        <p14:creationId xmlns:p14="http://schemas.microsoft.com/office/powerpoint/2010/main" val="127176836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45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childTnLst>
                          </p:cTn>
                        </p:par>
                      </p:childTnLst>
                    </p:cTn>
                  </p:par>
                  <p:par>
                    <p:cTn id="32" fill="hold">
                      <p:stCondLst>
                        <p:cond delay="250"/>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450"/>
                                        <p:tgtEl>
                                          <p:spTgt spid="8"/>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par>
                                <p:cTn id="43" presetID="10"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450"/>
                                        <p:tgtEl>
                                          <p:spTgt spid="9"/>
                                        </p:tgtEl>
                                      </p:cBhvr>
                                    </p:animEffect>
                                  </p:childTnLst>
                                </p:cTn>
                              </p:par>
                              <p:par>
                                <p:cTn id="46" presetID="10"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50"/>
                                        <p:tgtEl>
                                          <p:spTgt spid="15"/>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50"/>
                                        <p:tgtEl>
                                          <p:spTgt spid="21"/>
                                        </p:tgtEl>
                                      </p:cBhvr>
                                    </p:animEffect>
                                  </p:childTnLst>
                                </p:cTn>
                              </p:par>
                            </p:childTnLst>
                          </p:cTn>
                        </p:par>
                      </p:childTnLst>
                    </p:cTn>
                  </p:par>
                  <p:par>
                    <p:cTn id="52" fill="hold">
                      <p:stCondLst>
                        <p:cond delay="250"/>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50"/>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50"/>
                                        <p:tgtEl>
                                          <p:spTgt spid="26"/>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par>
                                <p:cTn id="69" presetID="10" presetClass="entr" presetSubtype="0" fill="hold"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5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450"/>
                                        <p:tgtEl>
                                          <p:spTgt spid="31"/>
                                        </p:tgtEl>
                                      </p:cBhvr>
                                    </p:animEffect>
                                  </p:childTnLst>
                                </p:cTn>
                              </p:par>
                              <p:par>
                                <p:cTn id="75" presetID="10" presetClass="entr" presetSubtype="0"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450"/>
                                        <p:tgtEl>
                                          <p:spTgt spid="32"/>
                                        </p:tgtEl>
                                      </p:cBhvr>
                                    </p:animEffect>
                                  </p:childTnLst>
                                </p:cTn>
                              </p:par>
                              <p:par>
                                <p:cTn id="78" presetID="10" presetClass="entr" presetSubtype="0" fill="hold"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450"/>
                                        <p:tgtEl>
                                          <p:spTgt spid="34"/>
                                        </p:tgtEl>
                                      </p:cBhvr>
                                    </p:animEffect>
                                  </p:childTnLst>
                                </p:cTn>
                              </p:par>
                              <p:par>
                                <p:cTn id="81" presetID="10" presetClass="entr" presetSubtype="0" fill="hold"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450"/>
                                        <p:tgtEl>
                                          <p:spTgt spid="35"/>
                                        </p:tgtEl>
                                      </p:cBhvr>
                                    </p:animEffect>
                                  </p:childTnLst>
                                </p:cTn>
                              </p:par>
                            </p:childTnLst>
                          </p:cTn>
                        </p:par>
                      </p:childTnLst>
                    </p:cTn>
                  </p:par>
                  <p:par>
                    <p:cTn id="84" fill="hold">
                      <p:stCondLst>
                        <p:cond delay="250"/>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365760" y="-365760"/>
            <a:ext cx="731520" cy="731520"/>
          </a:xfrm>
          <a:prstGeom prst="ellipse">
            <a:avLst/>
          </a:prstGeom>
          <a:ln w="19050">
            <a:solidFill>
              <a:srgbClr val="1F7A4D">
                <a:alpha val="45000"/>
              </a:srgbClr>
            </a:solidFill>
            <a:prstDash val="solid"/>
          </a:ln>
        </p:spPr>
        <p:txBody>
          <a:bodyPr/>
          <a:lstStyle/>
          <a:p>
            <a:endParaRPr lang="en-US"/>
          </a:p>
        </p:txBody>
      </p:sp>
      <p:sp>
        <p:nvSpPr>
          <p:cNvPr id="3" name="Shape 1"/>
          <p:cNvSpPr/>
          <p:nvPr/>
        </p:nvSpPr>
        <p:spPr>
          <a:xfrm>
            <a:off x="11825935" y="-365760"/>
            <a:ext cx="731520" cy="731520"/>
          </a:xfrm>
          <a:prstGeom prst="ellipse">
            <a:avLst/>
          </a:prstGeom>
          <a:ln w="19050">
            <a:solidFill>
              <a:srgbClr val="1F7A4D">
                <a:alpha val="45000"/>
              </a:srgbClr>
            </a:solidFill>
            <a:prstDash val="solid"/>
          </a:ln>
        </p:spPr>
        <p:txBody>
          <a:bodyPr/>
          <a:lstStyle/>
          <a:p>
            <a:endParaRPr lang="en-US"/>
          </a:p>
        </p:txBody>
      </p:sp>
      <p:sp>
        <p:nvSpPr>
          <p:cNvPr id="4" name="Shape 2"/>
          <p:cNvSpPr/>
          <p:nvPr/>
        </p:nvSpPr>
        <p:spPr>
          <a:xfrm>
            <a:off x="-365760" y="6492240"/>
            <a:ext cx="731520" cy="731520"/>
          </a:xfrm>
          <a:prstGeom prst="ellipse">
            <a:avLst/>
          </a:prstGeom>
          <a:ln w="19050">
            <a:solidFill>
              <a:srgbClr val="1F7A4D">
                <a:alpha val="45000"/>
              </a:srgbClr>
            </a:solidFill>
            <a:prstDash val="solid"/>
          </a:ln>
        </p:spPr>
        <p:txBody>
          <a:bodyPr/>
          <a:lstStyle/>
          <a:p>
            <a:endParaRPr lang="en-US"/>
          </a:p>
        </p:txBody>
      </p:sp>
      <p:sp>
        <p:nvSpPr>
          <p:cNvPr id="5" name="Shape 3"/>
          <p:cNvSpPr/>
          <p:nvPr/>
        </p:nvSpPr>
        <p:spPr>
          <a:xfrm>
            <a:off x="11825935" y="6492240"/>
            <a:ext cx="731520" cy="731520"/>
          </a:xfrm>
          <a:prstGeom prst="ellipse">
            <a:avLst/>
          </a:prstGeom>
          <a:ln w="19050">
            <a:solidFill>
              <a:srgbClr val="1F7A4D">
                <a:alpha val="45000"/>
              </a:srgbClr>
            </a:solidFill>
            <a:prstDash val="solid"/>
          </a:ln>
        </p:spPr>
        <p:txBody>
          <a:bodyPr/>
          <a:lstStyle/>
          <a:p>
            <a:endParaRPr lang="en-US"/>
          </a:p>
        </p:txBody>
      </p:sp>
      <p:sp>
        <p:nvSpPr>
          <p:cNvPr id="6" name="Shape 4"/>
          <p:cNvSpPr/>
          <p:nvPr/>
        </p:nvSpPr>
        <p:spPr>
          <a:xfrm>
            <a:off x="2926080" y="-4846320"/>
            <a:ext cx="6035040" cy="6035040"/>
          </a:xfrm>
          <a:prstGeom prst="ellipse">
            <a:avLst/>
          </a:prstGeom>
          <a:solidFill>
            <a:srgbClr val="1F7A4D">
              <a:alpha val="5000"/>
            </a:srgbClr>
          </a:solidFill>
          <a:ln w="25400">
            <a:solidFill>
              <a:srgbClr val="1F7A4D">
                <a:alpha val="38000"/>
              </a:srgbClr>
            </a:solidFill>
            <a:prstDash val="solid"/>
          </a:ln>
        </p:spPr>
        <p:txBody>
          <a:bodyPr/>
          <a:lstStyle/>
          <a:p>
            <a:endParaRPr lang="en-US"/>
          </a:p>
        </p:txBody>
      </p:sp>
      <p:sp>
        <p:nvSpPr>
          <p:cNvPr id="7" name="Shape 5"/>
          <p:cNvSpPr/>
          <p:nvPr/>
        </p:nvSpPr>
        <p:spPr>
          <a:xfrm>
            <a:off x="5897880" y="-1874520"/>
            <a:ext cx="91440" cy="91440"/>
          </a:xfrm>
          <a:prstGeom prst="ellipse">
            <a:avLst/>
          </a:prstGeom>
          <a:solidFill>
            <a:srgbClr val="E8A33D">
              <a:alpha val="75000"/>
            </a:srgbClr>
          </a:solidFill>
          <a:ln/>
        </p:spPr>
        <p:txBody>
          <a:bodyPr/>
          <a:lstStyle/>
          <a:p>
            <a:endParaRPr lang="en-US"/>
          </a:p>
        </p:txBody>
      </p:sp>
      <p:sp>
        <p:nvSpPr>
          <p:cNvPr id="8" name="Text 6"/>
          <p:cNvSpPr/>
          <p:nvPr/>
        </p:nvSpPr>
        <p:spPr>
          <a:xfrm>
            <a:off x="822960" y="1234440"/>
            <a:ext cx="5486400" cy="32004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SECTION</a:t>
            </a:r>
            <a:endParaRPr lang="en-US" sz="1400" dirty="0"/>
          </a:p>
        </p:txBody>
      </p:sp>
      <p:sp>
        <p:nvSpPr>
          <p:cNvPr id="9" name="Text 7"/>
          <p:cNvSpPr/>
          <p:nvPr/>
        </p:nvSpPr>
        <p:spPr>
          <a:xfrm>
            <a:off x="777240" y="1554480"/>
            <a:ext cx="9601200" cy="173736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Three Stakeholders.</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Three Hypotheses.</a:t>
            </a:r>
            <a:endParaRPr lang="en-US" sz="4000" dirty="0"/>
          </a:p>
        </p:txBody>
      </p:sp>
      <p:sp>
        <p:nvSpPr>
          <p:cNvPr id="10" name="Shape 8"/>
          <p:cNvSpPr/>
          <p:nvPr/>
        </p:nvSpPr>
        <p:spPr>
          <a:xfrm>
            <a:off x="822960" y="3611880"/>
            <a:ext cx="3383280" cy="2331720"/>
          </a:xfrm>
          <a:prstGeom prst="roundRect">
            <a:avLst>
              <a:gd name="adj" fmla="val 3529"/>
            </a:avLst>
          </a:prstGeom>
          <a:solidFill>
            <a:srgbClr val="16264D"/>
          </a:solidFill>
          <a:ln/>
        </p:spPr>
        <p:txBody>
          <a:bodyPr/>
          <a:lstStyle/>
          <a:p>
            <a:endParaRPr lang="en-US"/>
          </a:p>
        </p:txBody>
      </p:sp>
      <p:sp>
        <p:nvSpPr>
          <p:cNvPr id="11" name="Shape 9"/>
          <p:cNvSpPr/>
          <p:nvPr/>
        </p:nvSpPr>
        <p:spPr>
          <a:xfrm>
            <a:off x="1965960" y="3703320"/>
            <a:ext cx="1097280" cy="1097280"/>
          </a:xfrm>
          <a:prstGeom prst="ellipse">
            <a:avLst/>
          </a:prstGeom>
          <a:solidFill>
            <a:srgbClr val="E8A33D">
              <a:alpha val="20000"/>
            </a:srgbClr>
          </a:solidFill>
          <a:ln/>
        </p:spPr>
        <p:txBody>
          <a:bodyPr/>
          <a:lstStyle/>
          <a:p>
            <a:endParaRPr lang="en-US"/>
          </a:p>
        </p:txBody>
      </p:sp>
      <p:sp>
        <p:nvSpPr>
          <p:cNvPr id="12" name="Shape 10"/>
          <p:cNvSpPr/>
          <p:nvPr/>
        </p:nvSpPr>
        <p:spPr>
          <a:xfrm>
            <a:off x="2148840" y="3886200"/>
            <a:ext cx="731520" cy="731520"/>
          </a:xfrm>
          <a:prstGeom prst="ellipse">
            <a:avLst/>
          </a:prstGeom>
          <a:solidFill>
            <a:srgbClr val="E8A33D"/>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2331720" y="4069080"/>
            <a:ext cx="365760" cy="365760"/>
          </a:xfrm>
          <a:prstGeom prst="rect">
            <a:avLst/>
          </a:prstGeom>
        </p:spPr>
      </p:pic>
      <p:sp>
        <p:nvSpPr>
          <p:cNvPr id="14" name="Text 11"/>
          <p:cNvSpPr/>
          <p:nvPr/>
        </p:nvSpPr>
        <p:spPr>
          <a:xfrm>
            <a:off x="822960" y="4648200"/>
            <a:ext cx="3383280" cy="6604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Recruitment /</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Scouting</a:t>
            </a:r>
            <a:endParaRPr lang="en-US" sz="1600" dirty="0"/>
          </a:p>
        </p:txBody>
      </p:sp>
      <p:sp>
        <p:nvSpPr>
          <p:cNvPr id="15" name="Text 12"/>
          <p:cNvSpPr/>
          <p:nvPr/>
        </p:nvSpPr>
        <p:spPr>
          <a:xfrm>
            <a:off x="1005840" y="5308600"/>
            <a:ext cx="3017520" cy="508000"/>
          </a:xfrm>
          <a:prstGeom prst="rect">
            <a:avLst/>
          </a:prstGeom>
          <a:noFill/>
          <a:ln/>
        </p:spPr>
        <p:txBody>
          <a:bodyPr wrap="square" lIns="0" tIns="0" rIns="0" bIns="0" rtlCol="0" anchor="ctr"/>
          <a:lstStyle/>
          <a:p>
            <a:pPr marL="0" indent="0" algn="ctr">
              <a:buNone/>
            </a:pPr>
            <a:r>
              <a:rPr lang="en-US" sz="1400" i="1" dirty="0">
                <a:solidFill>
                  <a:srgbClr val="B8C4E0"/>
                </a:solidFill>
                <a:latin typeface="Calibri" pitchFamily="34" charset="0"/>
                <a:ea typeface="Calibri" pitchFamily="34" charset="-122"/>
                <a:cs typeface="Calibri" pitchFamily="34" charset="-120"/>
              </a:rPr>
              <a:t>Does injury recency predict value decline?</a:t>
            </a:r>
            <a:endParaRPr lang="en-US" sz="1400" dirty="0">
              <a:solidFill>
                <a:srgbClr val="B8C4E0"/>
              </a:solidFill>
            </a:endParaRPr>
          </a:p>
        </p:txBody>
      </p:sp>
      <p:sp>
        <p:nvSpPr>
          <p:cNvPr id="16" name="Shape 13"/>
          <p:cNvSpPr/>
          <p:nvPr/>
        </p:nvSpPr>
        <p:spPr>
          <a:xfrm>
            <a:off x="4434840" y="3611880"/>
            <a:ext cx="3383280" cy="2331720"/>
          </a:xfrm>
          <a:prstGeom prst="roundRect">
            <a:avLst>
              <a:gd name="adj" fmla="val 3529"/>
            </a:avLst>
          </a:prstGeom>
          <a:solidFill>
            <a:srgbClr val="16264D"/>
          </a:solidFill>
          <a:ln/>
        </p:spPr>
        <p:txBody>
          <a:bodyPr/>
          <a:lstStyle/>
          <a:p>
            <a:endParaRPr lang="en-US"/>
          </a:p>
        </p:txBody>
      </p:sp>
      <p:sp>
        <p:nvSpPr>
          <p:cNvPr id="17" name="Shape 14"/>
          <p:cNvSpPr/>
          <p:nvPr/>
        </p:nvSpPr>
        <p:spPr>
          <a:xfrm>
            <a:off x="5577840" y="3703320"/>
            <a:ext cx="1097280" cy="1097280"/>
          </a:xfrm>
          <a:prstGeom prst="ellipse">
            <a:avLst/>
          </a:prstGeom>
          <a:solidFill>
            <a:srgbClr val="1F7A4D">
              <a:alpha val="20000"/>
            </a:srgbClr>
          </a:solidFill>
          <a:ln/>
        </p:spPr>
        <p:txBody>
          <a:bodyPr/>
          <a:lstStyle/>
          <a:p>
            <a:endParaRPr lang="en-US"/>
          </a:p>
        </p:txBody>
      </p:sp>
      <p:sp>
        <p:nvSpPr>
          <p:cNvPr id="18" name="Shape 15"/>
          <p:cNvSpPr/>
          <p:nvPr/>
        </p:nvSpPr>
        <p:spPr>
          <a:xfrm>
            <a:off x="5760720" y="3886200"/>
            <a:ext cx="731520" cy="731520"/>
          </a:xfrm>
          <a:prstGeom prst="ellipse">
            <a:avLst/>
          </a:prstGeom>
          <a:solidFill>
            <a:srgbClr val="1F7A4D"/>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943600" y="4069080"/>
            <a:ext cx="365760" cy="365760"/>
          </a:xfrm>
          <a:prstGeom prst="rect">
            <a:avLst/>
          </a:prstGeom>
        </p:spPr>
      </p:pic>
      <p:sp>
        <p:nvSpPr>
          <p:cNvPr id="20" name="Text 16"/>
          <p:cNvSpPr/>
          <p:nvPr/>
        </p:nvSpPr>
        <p:spPr>
          <a:xfrm>
            <a:off x="4434840" y="4648200"/>
            <a:ext cx="3383280" cy="6604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Sporting Directors /</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Front Office</a:t>
            </a:r>
            <a:endParaRPr lang="en-US" sz="1600" dirty="0"/>
          </a:p>
        </p:txBody>
      </p:sp>
      <p:sp>
        <p:nvSpPr>
          <p:cNvPr id="21" name="Text 17"/>
          <p:cNvSpPr/>
          <p:nvPr/>
        </p:nvSpPr>
        <p:spPr>
          <a:xfrm>
            <a:off x="4617720" y="5308600"/>
            <a:ext cx="3017520" cy="508000"/>
          </a:xfrm>
          <a:prstGeom prst="rect">
            <a:avLst/>
          </a:prstGeom>
          <a:noFill/>
          <a:ln/>
        </p:spPr>
        <p:txBody>
          <a:bodyPr wrap="square" lIns="0" tIns="0" rIns="0" bIns="0" rtlCol="0" anchor="ctr"/>
          <a:lstStyle/>
          <a:p>
            <a:pPr marL="0" indent="0" algn="ctr">
              <a:buNone/>
            </a:pPr>
            <a:r>
              <a:rPr lang="en-US" sz="1400" i="1" dirty="0">
                <a:solidFill>
                  <a:srgbClr val="B8C4E0"/>
                </a:solidFill>
                <a:latin typeface="Calibri" pitchFamily="34" charset="0"/>
                <a:ea typeface="Calibri" pitchFamily="34" charset="-122"/>
                <a:cs typeface="Calibri" pitchFamily="34" charset="-120"/>
              </a:rPr>
              <a:t>Do younger players carry less risk?</a:t>
            </a:r>
            <a:endParaRPr lang="en-US" sz="1400" dirty="0">
              <a:solidFill>
                <a:srgbClr val="B8C4E0"/>
              </a:solidFill>
            </a:endParaRPr>
          </a:p>
        </p:txBody>
      </p:sp>
      <p:sp>
        <p:nvSpPr>
          <p:cNvPr id="22" name="Shape 18"/>
          <p:cNvSpPr/>
          <p:nvPr/>
        </p:nvSpPr>
        <p:spPr>
          <a:xfrm>
            <a:off x="8046720" y="3611880"/>
            <a:ext cx="3383280" cy="2331720"/>
          </a:xfrm>
          <a:prstGeom prst="roundRect">
            <a:avLst>
              <a:gd name="adj" fmla="val 3529"/>
            </a:avLst>
          </a:prstGeom>
          <a:solidFill>
            <a:srgbClr val="16264D"/>
          </a:solidFill>
          <a:ln/>
        </p:spPr>
        <p:txBody>
          <a:bodyPr/>
          <a:lstStyle/>
          <a:p>
            <a:endParaRPr lang="en-US"/>
          </a:p>
        </p:txBody>
      </p:sp>
      <p:sp>
        <p:nvSpPr>
          <p:cNvPr id="23" name="Shape 19"/>
          <p:cNvSpPr/>
          <p:nvPr/>
        </p:nvSpPr>
        <p:spPr>
          <a:xfrm>
            <a:off x="9189720" y="3703320"/>
            <a:ext cx="1097280" cy="1097280"/>
          </a:xfrm>
          <a:prstGeom prst="ellipse">
            <a:avLst/>
          </a:prstGeom>
          <a:solidFill>
            <a:srgbClr val="C0392B">
              <a:alpha val="20000"/>
            </a:srgbClr>
          </a:solidFill>
          <a:ln/>
        </p:spPr>
        <p:txBody>
          <a:bodyPr/>
          <a:lstStyle/>
          <a:p>
            <a:endParaRPr lang="en-US"/>
          </a:p>
        </p:txBody>
      </p:sp>
      <p:sp>
        <p:nvSpPr>
          <p:cNvPr id="24" name="Shape 20"/>
          <p:cNvSpPr/>
          <p:nvPr/>
        </p:nvSpPr>
        <p:spPr>
          <a:xfrm>
            <a:off x="9372600" y="3886200"/>
            <a:ext cx="731520" cy="731520"/>
          </a:xfrm>
          <a:prstGeom prst="ellipse">
            <a:avLst/>
          </a:prstGeom>
          <a:solidFill>
            <a:srgbClr val="C0392B"/>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9555480" y="4069080"/>
            <a:ext cx="365760" cy="365760"/>
          </a:xfrm>
          <a:prstGeom prst="rect">
            <a:avLst/>
          </a:prstGeom>
        </p:spPr>
      </p:pic>
      <p:sp>
        <p:nvSpPr>
          <p:cNvPr id="26" name="Text 21"/>
          <p:cNvSpPr/>
          <p:nvPr/>
        </p:nvSpPr>
        <p:spPr>
          <a:xfrm>
            <a:off x="8046720" y="4648200"/>
            <a:ext cx="3383280" cy="6604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Medical /</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Performance Staff</a:t>
            </a:r>
            <a:endParaRPr lang="en-US" sz="1600" dirty="0"/>
          </a:p>
        </p:txBody>
      </p:sp>
      <p:sp>
        <p:nvSpPr>
          <p:cNvPr id="27" name="Text 22"/>
          <p:cNvSpPr/>
          <p:nvPr/>
        </p:nvSpPr>
        <p:spPr>
          <a:xfrm>
            <a:off x="8229600" y="5308600"/>
            <a:ext cx="3017520" cy="508000"/>
          </a:xfrm>
          <a:prstGeom prst="rect">
            <a:avLst/>
          </a:prstGeom>
          <a:noFill/>
          <a:ln/>
        </p:spPr>
        <p:txBody>
          <a:bodyPr wrap="square" lIns="0" tIns="0" rIns="0" bIns="0" rtlCol="0" anchor="ctr"/>
          <a:lstStyle/>
          <a:p>
            <a:pPr marL="0" indent="0" algn="ctr">
              <a:buNone/>
            </a:pPr>
            <a:r>
              <a:rPr lang="en-US" sz="1400" i="1" dirty="0">
                <a:solidFill>
                  <a:srgbClr val="B8C4E0"/>
                </a:solidFill>
                <a:latin typeface="Calibri" pitchFamily="34" charset="0"/>
                <a:ea typeface="Calibri" pitchFamily="34" charset="-122"/>
                <a:cs typeface="Calibri" pitchFamily="34" charset="-120"/>
              </a:rPr>
              <a:t>Does position predict injury risk?</a:t>
            </a:r>
            <a:endParaRPr lang="en-US" sz="1400" dirty="0">
              <a:solidFill>
                <a:srgbClr val="B8C4E0"/>
              </a:solidFill>
            </a:endParaRPr>
          </a:p>
        </p:txBody>
      </p:sp>
      <p:sp>
        <p:nvSpPr>
          <p:cNvPr id="28" name="Text 23"/>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A8B4D0"/>
                </a:solidFill>
                <a:latin typeface="Calibri" pitchFamily="34" charset="0"/>
                <a:ea typeface="Calibri" pitchFamily="34" charset="-122"/>
                <a:cs typeface="Calibri" pitchFamily="34" charset="-120"/>
              </a:rPr>
              <a:t>05</a:t>
            </a:r>
            <a:endParaRPr lang="en-US" sz="1200" dirty="0">
              <a:solidFill>
                <a:srgbClr val="A8B4D0"/>
              </a:solidFill>
            </a:endParaRPr>
          </a:p>
        </p:txBody>
      </p:sp>
    </p:spTree>
    <p:extLst>
      <p:ext uri="{BB962C8B-B14F-4D97-AF65-F5344CB8AC3E}">
        <p14:creationId xmlns:p14="http://schemas.microsoft.com/office/powerpoint/2010/main" val="11587943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5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5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5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5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5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50"/>
                                        <p:tgtEl>
                                          <p:spTgt spid="25"/>
                                        </p:tgtEl>
                                      </p:cBhvr>
                                    </p:animEffect>
                                  </p:childTnLst>
                                </p:cTn>
                              </p:par>
                            </p:childTnLst>
                          </p:cTn>
                        </p:par>
                      </p:childTnLst>
                    </p:cTn>
                  </p:par>
                  <p:par>
                    <p:cTn id="41" fill="hold">
                      <p:stCondLst>
                        <p:cond delay="250"/>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5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50"/>
                                        <p:tgtEl>
                                          <p:spTgt spid="26"/>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450"/>
                                        <p:tgtEl>
                                          <p:spTgt spid="15"/>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697230" y="468630"/>
            <a:ext cx="754380" cy="754380"/>
          </a:xfrm>
          <a:prstGeom prst="ellipse">
            <a:avLst/>
          </a:prstGeom>
          <a:solidFill>
            <a:srgbClr val="E8A33D">
              <a:alpha val="20000"/>
            </a:srgbClr>
          </a:solidFill>
          <a:ln/>
        </p:spPr>
        <p:txBody>
          <a:bodyPr/>
          <a:lstStyle/>
          <a:p>
            <a:endParaRPr lang="en-US"/>
          </a:p>
        </p:txBody>
      </p:sp>
      <p:sp>
        <p:nvSpPr>
          <p:cNvPr id="3" name="Shape 1"/>
          <p:cNvSpPr/>
          <p:nvPr/>
        </p:nvSpPr>
        <p:spPr>
          <a:xfrm>
            <a:off x="822960" y="594360"/>
            <a:ext cx="502920" cy="502920"/>
          </a:xfrm>
          <a:prstGeom prst="ellipse">
            <a:avLst/>
          </a:prstGeom>
          <a:solidFill>
            <a:srgbClr val="E8A33D"/>
          </a:solidFill>
          <a:ln/>
        </p:spPr>
        <p:txBody>
          <a:bodyPr/>
          <a:lstStyle/>
          <a:p>
            <a:endParaRPr lang="en-US"/>
          </a:p>
        </p:txBody>
      </p:sp>
      <p:sp>
        <p:nvSpPr>
          <p:cNvPr id="5" name="Text 2"/>
          <p:cNvSpPr/>
          <p:nvPr/>
        </p:nvSpPr>
        <p:spPr>
          <a:xfrm>
            <a:off x="1481328" y="713232"/>
            <a:ext cx="4279392" cy="274320"/>
          </a:xfrm>
          <a:prstGeom prst="rect">
            <a:avLst/>
          </a:prstGeom>
          <a:noFill/>
          <a:ln/>
        </p:spPr>
        <p:txBody>
          <a:bodyPr wrap="square" lIns="0" tIns="0" rIns="0" bIns="0" rtlCol="0" anchor="ctr"/>
          <a:lstStyle/>
          <a:p>
            <a:pPr marL="0" indent="0">
              <a:buNone/>
            </a:pPr>
            <a:r>
              <a:rPr lang="en-US" sz="1400" b="1" kern="0" spc="200" dirty="0">
                <a:solidFill>
                  <a:srgbClr val="B8790C"/>
                </a:solidFill>
                <a:latin typeface="Calibri" pitchFamily="34" charset="0"/>
                <a:ea typeface="Calibri" pitchFamily="34" charset="-122"/>
                <a:cs typeface="Calibri" pitchFamily="34" charset="-120"/>
              </a:rPr>
              <a:t>RECRUITMENT / SCOUTING</a:t>
            </a:r>
            <a:endParaRPr lang="en-US" sz="1400" dirty="0"/>
          </a:p>
        </p:txBody>
      </p:sp>
      <p:sp>
        <p:nvSpPr>
          <p:cNvPr id="6" name="Text 3"/>
          <p:cNvSpPr/>
          <p:nvPr/>
        </p:nvSpPr>
        <p:spPr>
          <a:xfrm>
            <a:off x="822960" y="1188720"/>
            <a:ext cx="4937760" cy="77724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Which rising-value targets carry hidden injury risk?</a:t>
            </a:r>
            <a:endParaRPr lang="en-US" sz="1800" dirty="0"/>
          </a:p>
        </p:txBody>
      </p:sp>
      <p:sp>
        <p:nvSpPr>
          <p:cNvPr id="7" name="Shape 4"/>
          <p:cNvSpPr/>
          <p:nvPr/>
        </p:nvSpPr>
        <p:spPr>
          <a:xfrm>
            <a:off x="822960" y="2057400"/>
            <a:ext cx="4937760" cy="896112"/>
          </a:xfrm>
          <a:prstGeom prst="roundRect">
            <a:avLst>
              <a:gd name="adj" fmla="val 7143"/>
            </a:avLst>
          </a:prstGeom>
          <a:solidFill>
            <a:srgbClr val="16264D"/>
          </a:solidFill>
          <a:ln/>
        </p:spPr>
        <p:txBody>
          <a:bodyPr/>
          <a:lstStyle/>
          <a:p>
            <a:endParaRPr lang="en-US"/>
          </a:p>
        </p:txBody>
      </p:sp>
      <p:sp>
        <p:nvSpPr>
          <p:cNvPr id="8" name="Text 5"/>
          <p:cNvSpPr/>
          <p:nvPr/>
        </p:nvSpPr>
        <p:spPr>
          <a:xfrm>
            <a:off x="1024128" y="2148840"/>
            <a:ext cx="4535424" cy="228600"/>
          </a:xfrm>
          <a:prstGeom prst="rect">
            <a:avLst/>
          </a:prstGeom>
          <a:noFill/>
          <a:ln/>
        </p:spPr>
        <p:txBody>
          <a:bodyPr wrap="square" lIns="0" tIns="0" rIns="0" bIns="0"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HYPOTHESIS</a:t>
            </a:r>
            <a:endParaRPr lang="en-US" sz="1200" dirty="0"/>
          </a:p>
        </p:txBody>
      </p:sp>
      <p:sp>
        <p:nvSpPr>
          <p:cNvPr id="9" name="Text 6"/>
          <p:cNvSpPr/>
          <p:nvPr/>
        </p:nvSpPr>
        <p:spPr>
          <a:xfrm>
            <a:off x="1024128" y="2377440"/>
            <a:ext cx="4535424" cy="530352"/>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Injury recency predicts near-term value decline.</a:t>
            </a:r>
            <a:endParaRPr lang="en-US" sz="1400" dirty="0"/>
          </a:p>
        </p:txBody>
      </p:sp>
      <p:sp>
        <p:nvSpPr>
          <p:cNvPr id="10" name="Shape 7"/>
          <p:cNvSpPr/>
          <p:nvPr/>
        </p:nvSpPr>
        <p:spPr>
          <a:xfrm>
            <a:off x="822960" y="3154680"/>
            <a:ext cx="4937760" cy="420624"/>
          </a:xfrm>
          <a:prstGeom prst="roundRect">
            <a:avLst>
              <a:gd name="adj" fmla="val 50000"/>
            </a:avLst>
          </a:prstGeom>
          <a:solidFill>
            <a:srgbClr val="B8790C"/>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939800" y="3225800"/>
            <a:ext cx="254000" cy="254000"/>
          </a:xfrm>
          <a:prstGeom prst="rect">
            <a:avLst/>
          </a:prstGeom>
        </p:spPr>
      </p:pic>
      <p:sp>
        <p:nvSpPr>
          <p:cNvPr id="12" name="Text 8"/>
          <p:cNvSpPr/>
          <p:nvPr/>
        </p:nvSpPr>
        <p:spPr>
          <a:xfrm>
            <a:off x="1280160" y="3154680"/>
            <a:ext cx="4389120" cy="420624"/>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MIXED: injury history matters more than recency</a:t>
            </a:r>
            <a:endParaRPr lang="en-US" sz="1350" dirty="0"/>
          </a:p>
        </p:txBody>
      </p:sp>
      <p:pic>
        <p:nvPicPr>
          <p:cNvPr id="13" name="Image 2" descr="preencoded.png"/>
          <p:cNvPicPr>
            <a:picLocks noChangeAspect="1"/>
          </p:cNvPicPr>
          <p:nvPr/>
        </p:nvPicPr>
        <p:blipFill>
          <a:blip r:embed="rId4"/>
          <a:stretch>
            <a:fillRect/>
          </a:stretch>
        </p:blipFill>
        <p:spPr>
          <a:xfrm>
            <a:off x="800100" y="4013200"/>
            <a:ext cx="254000" cy="254000"/>
          </a:xfrm>
          <a:prstGeom prst="rect">
            <a:avLst/>
          </a:prstGeom>
        </p:spPr>
      </p:pic>
      <p:sp>
        <p:nvSpPr>
          <p:cNvPr id="14" name="Text 9"/>
          <p:cNvSpPr/>
          <p:nvPr/>
        </p:nvSpPr>
        <p:spPr>
          <a:xfrm>
            <a:off x="1152144" y="39624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Recent, moderate, and distant injuries all show flat value growth.</a:t>
            </a:r>
            <a:endParaRPr lang="en-US" sz="1400" dirty="0"/>
          </a:p>
        </p:txBody>
      </p:sp>
      <p:pic>
        <p:nvPicPr>
          <p:cNvPr id="15" name="Image 3" descr="preencoded.png"/>
          <p:cNvPicPr>
            <a:picLocks noChangeAspect="1"/>
          </p:cNvPicPr>
          <p:nvPr/>
        </p:nvPicPr>
        <p:blipFill>
          <a:blip r:embed="rId4"/>
          <a:stretch>
            <a:fillRect/>
          </a:stretch>
        </p:blipFill>
        <p:spPr>
          <a:xfrm>
            <a:off x="800100" y="4851400"/>
            <a:ext cx="254000" cy="254000"/>
          </a:xfrm>
          <a:prstGeom prst="rect">
            <a:avLst/>
          </a:prstGeom>
        </p:spPr>
      </p:pic>
      <p:sp>
        <p:nvSpPr>
          <p:cNvPr id="16" name="Text 10"/>
          <p:cNvSpPr/>
          <p:nvPr/>
        </p:nvSpPr>
        <p:spPr>
          <a:xfrm>
            <a:off x="1152144" y="48006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Players with no injury history grow +4.35% in value, on average.</a:t>
            </a:r>
            <a:endParaRPr lang="en-US" sz="1400" dirty="0"/>
          </a:p>
        </p:txBody>
      </p:sp>
      <p:pic>
        <p:nvPicPr>
          <p:cNvPr id="17" name="Image 4" descr="preencoded.png"/>
          <p:cNvPicPr>
            <a:picLocks noChangeAspect="1"/>
          </p:cNvPicPr>
          <p:nvPr/>
        </p:nvPicPr>
        <p:blipFill>
          <a:blip r:embed="rId4"/>
          <a:stretch>
            <a:fillRect/>
          </a:stretch>
        </p:blipFill>
        <p:spPr>
          <a:xfrm>
            <a:off x="800100" y="5689600"/>
            <a:ext cx="254000" cy="254000"/>
          </a:xfrm>
          <a:prstGeom prst="rect">
            <a:avLst/>
          </a:prstGeom>
        </p:spPr>
      </p:pic>
      <p:sp>
        <p:nvSpPr>
          <p:cNvPr id="18" name="Text 11"/>
          <p:cNvSpPr/>
          <p:nvPr/>
        </p:nvSpPr>
        <p:spPr>
          <a:xfrm>
            <a:off x="1152144" y="56388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The real signal is having any injury history, not how recent it is.</a:t>
            </a:r>
            <a:endParaRPr lang="en-US" sz="1400" dirty="0"/>
          </a:p>
        </p:txBody>
      </p:sp>
      <p:sp>
        <p:nvSpPr>
          <p:cNvPr id="19" name="Shape 12"/>
          <p:cNvSpPr/>
          <p:nvPr/>
        </p:nvSpPr>
        <p:spPr>
          <a:xfrm>
            <a:off x="6217920" y="594360"/>
            <a:ext cx="5148072" cy="5623560"/>
          </a:xfrm>
          <a:prstGeom prst="roundRect">
            <a:avLst>
              <a:gd name="adj" fmla="val 1599"/>
            </a:avLst>
          </a:prstGeom>
          <a:solidFill>
            <a:srgbClr val="FFFFFF"/>
          </a:solidFill>
          <a:ln/>
          <a:effectLst>
            <a:outerShdw blurRad="101600" dist="38100" dir="5400000" algn="bl" rotWithShape="0">
              <a:srgbClr val="8C93A6">
                <a:alpha val="22000"/>
              </a:srgbClr>
            </a:outerShdw>
          </a:effectLst>
        </p:spPr>
        <p:txBody>
          <a:bodyPr/>
          <a:lstStyle/>
          <a:p>
            <a:endParaRPr lang="en-US"/>
          </a:p>
        </p:txBody>
      </p:sp>
      <p:sp>
        <p:nvSpPr>
          <p:cNvPr id="20" name="Text 13"/>
          <p:cNvSpPr/>
          <p:nvPr/>
        </p:nvSpPr>
        <p:spPr>
          <a:xfrm>
            <a:off x="6537960" y="822960"/>
            <a:ext cx="4507992" cy="36576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Median value change, by injury history (%)</a:t>
            </a:r>
            <a:endParaRPr lang="en-US" sz="1350" dirty="0"/>
          </a:p>
        </p:txBody>
      </p:sp>
      <p:sp>
        <p:nvSpPr>
          <p:cNvPr id="22" name="Text 14"/>
          <p:cNvSpPr/>
          <p:nvPr/>
        </p:nvSpPr>
        <p:spPr>
          <a:xfrm>
            <a:off x="6537960" y="5029200"/>
            <a:ext cx="4507992" cy="960120"/>
          </a:xfrm>
          <a:prstGeom prst="rect">
            <a:avLst/>
          </a:prstGeom>
          <a:noFill/>
          <a:ln/>
        </p:spPr>
        <p:txBody>
          <a:bodyPr wrap="square" lIns="0" tIns="0" rIns="0" bIns="0" rtlCol="0" anchor="t"/>
          <a:lstStyle/>
          <a:p>
            <a:pPr marL="0" indent="0">
              <a:buNone/>
            </a:pPr>
            <a:r>
              <a:rPr lang="en-US" sz="1300" i="1" dirty="0">
                <a:solidFill>
                  <a:srgbClr val="44506B"/>
                </a:solidFill>
                <a:latin typeface="Calibri" pitchFamily="34" charset="0"/>
                <a:ea typeface="Calibri" pitchFamily="34" charset="-122"/>
                <a:cs typeface="Calibri" pitchFamily="34" charset="-120"/>
              </a:rPr>
              <a:t>n = 29,324 player-valuation snapshots (10,478 no-injury vs. 18,846 with any injury history, pooled across recency bands). “No prior injury” figure excludes low-starting-valuation snapshots to remove a breakout-debut artifact.</a:t>
            </a:r>
            <a:endParaRPr lang="en-US" sz="1300" dirty="0">
              <a:solidFill>
                <a:srgbClr val="44506B"/>
              </a:solidFill>
            </a:endParaRPr>
          </a:p>
        </p:txBody>
      </p:sp>
      <p:sp>
        <p:nvSpPr>
          <p:cNvPr id="24" name="Text 1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5A6478"/>
                </a:solidFill>
                <a:latin typeface="Calibri" pitchFamily="34" charset="0"/>
                <a:ea typeface="Calibri" pitchFamily="34" charset="-122"/>
                <a:cs typeface="Calibri" pitchFamily="34" charset="-120"/>
              </a:rPr>
              <a:t>06</a:t>
            </a:r>
            <a:endParaRPr lang="en-US" sz="1200" dirty="0">
              <a:solidFill>
                <a:srgbClr val="5A6478"/>
              </a:solidFill>
            </a:endParaRPr>
          </a:p>
        </p:txBody>
      </p:sp>
      <p:pic>
        <p:nvPicPr>
          <p:cNvPr id="25" name="Graphic 25" descr="Whistle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6620" y="668020"/>
            <a:ext cx="355600" cy="355600"/>
          </a:xfrm>
          <a:prstGeom prst="rect">
            <a:avLst/>
          </a:prstGeom>
        </p:spPr>
      </p:pic>
      <p:cxnSp>
        <p:nvCxnSpPr>
          <p:cNvPr id="63" name="Connector 62"/>
          <p:cNvCxnSpPr/>
          <p:nvPr/>
        </p:nvCxnSpPr>
        <p:spPr>
          <a:xfrm>
            <a:off x="8791956" y="1508760"/>
            <a:ext cx="0" cy="3108960"/>
          </a:xfrm>
          <a:prstGeom prst="line">
            <a:avLst/>
          </a:prstGeom>
          <a:ln w="12700">
            <a:solidFill>
              <a:srgbClr val="E3E6EC"/>
            </a:solidFill>
          </a:ln>
        </p:spPr>
        <p:style>
          <a:lnRef idx="2">
            <a:schemeClr val="accent1"/>
          </a:lnRef>
          <a:fillRef idx="0">
            <a:schemeClr val="accent1"/>
          </a:fillRef>
          <a:effectRef idx="1">
            <a:schemeClr val="accent1"/>
          </a:effectRef>
          <a:fontRef idx="minor">
            <a:schemeClr val="tx1"/>
          </a:fontRef>
        </p:style>
      </p:cxnSp>
      <p:sp>
        <p:nvSpPr>
          <p:cNvPr id="64" name="Isosceles Triangle 63"/>
          <p:cNvSpPr/>
          <p:nvPr/>
        </p:nvSpPr>
        <p:spPr>
          <a:xfrm>
            <a:off x="7550658" y="1430160"/>
            <a:ext cx="228600" cy="228600"/>
          </a:xfrm>
          <a:prstGeom prst="triangl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37960" y="1840160"/>
            <a:ext cx="2253996" cy="900000"/>
          </a:xfrm>
          <a:prstGeom prst="rect">
            <a:avLst/>
          </a:prstGeom>
          <a:noFill/>
        </p:spPr>
        <p:txBody>
          <a:bodyPr wrap="square" lIns="0" rIns="0" tIns="0" bIns="0">
            <a:spAutoFit/>
          </a:bodyPr>
          <a:lstStyle/>
          <a:p>
            <a:pPr algn="ctr"/>
            <a:r>
              <a:rPr sz="5000" b="1">
                <a:solidFill>
                  <a:srgbClr val="E8A33D"/>
                </a:solidFill>
                <a:latin typeface="Calibri"/>
              </a:rPr>
              <a:t>+4.35%</a:t>
            </a:r>
          </a:p>
        </p:txBody>
      </p:sp>
      <p:sp>
        <p:nvSpPr>
          <p:cNvPr id="66" name="TextBox 65"/>
          <p:cNvSpPr txBox="1"/>
          <p:nvPr/>
        </p:nvSpPr>
        <p:spPr>
          <a:xfrm>
            <a:off x="6537960" y="2780160"/>
            <a:ext cx="2253996" cy="450000"/>
          </a:xfrm>
          <a:prstGeom prst="rect">
            <a:avLst/>
          </a:prstGeom>
          <a:noFill/>
        </p:spPr>
        <p:txBody>
          <a:bodyPr wrap="square" lIns="80000" rIns="80000" tIns="0" bIns="0">
            <a:spAutoFit/>
          </a:bodyPr>
          <a:lstStyle/>
          <a:p>
            <a:pPr algn="ctr"/>
            <a:r>
              <a:rPr sz="1400" b="1">
                <a:solidFill>
                  <a:srgbClr val="1A1A1A"/>
                </a:solidFill>
                <a:latin typeface="Calibri"/>
              </a:rPr>
              <a:t>No injury history</a:t>
            </a:r>
          </a:p>
        </p:txBody>
      </p:sp>
      <p:sp>
        <p:nvSpPr>
          <p:cNvPr id="67" name="TextBox 66"/>
          <p:cNvSpPr txBox="1"/>
          <p:nvPr/>
        </p:nvSpPr>
        <p:spPr>
          <a:xfrm>
            <a:off x="6537960" y="3230160"/>
            <a:ext cx="2253996" cy="350000"/>
          </a:xfrm>
          <a:prstGeom prst="rect">
            <a:avLst/>
          </a:prstGeom>
          <a:noFill/>
        </p:spPr>
        <p:txBody>
          <a:bodyPr wrap="square" lIns="0" rIns="0" tIns="0" bIns="0">
            <a:spAutoFit/>
          </a:bodyPr>
          <a:lstStyle/>
          <a:p>
            <a:pPr algn="ctr"/>
            <a:r>
              <a:rPr sz="1100" i="1">
                <a:solidFill>
                  <a:srgbClr val="44506B"/>
                </a:solidFill>
                <a:latin typeface="Calibri"/>
              </a:rPr>
              <a:t>n = 10,478</a:t>
            </a:r>
          </a:p>
        </p:txBody>
      </p:sp>
      <p:sp>
        <p:nvSpPr>
          <p:cNvPr id="68" name="Rounded Rectangle 67"/>
          <p:cNvSpPr/>
          <p:nvPr/>
        </p:nvSpPr>
        <p:spPr>
          <a:xfrm>
            <a:off x="9768954" y="1508760"/>
            <a:ext cx="300000" cy="75000"/>
          </a:xfrm>
          <a:prstGeom prst="roundRect">
            <a:avLst>
              <a:gd name="adj" fmla="val 50000"/>
            </a:avLst>
          </a:prstGeom>
          <a:solidFill>
            <a:srgbClr val="5A64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791956" y="1840160"/>
            <a:ext cx="2253996" cy="900000"/>
          </a:xfrm>
          <a:prstGeom prst="rect">
            <a:avLst/>
          </a:prstGeom>
          <a:noFill/>
        </p:spPr>
        <p:txBody>
          <a:bodyPr wrap="square" lIns="0" rIns="0" tIns="0" bIns="0">
            <a:spAutoFit/>
          </a:bodyPr>
          <a:lstStyle/>
          <a:p>
            <a:pPr algn="ctr"/>
            <a:r>
              <a:rPr sz="5000" b="1">
                <a:solidFill>
                  <a:srgbClr val="5A6478"/>
                </a:solidFill>
                <a:latin typeface="Calibri"/>
              </a:rPr>
              <a:t>0.0%</a:t>
            </a:r>
          </a:p>
        </p:txBody>
      </p:sp>
      <p:sp>
        <p:nvSpPr>
          <p:cNvPr id="70" name="TextBox 69"/>
          <p:cNvSpPr txBox="1"/>
          <p:nvPr/>
        </p:nvSpPr>
        <p:spPr>
          <a:xfrm>
            <a:off x="8791956" y="2780160"/>
            <a:ext cx="2253996" cy="450000"/>
          </a:xfrm>
          <a:prstGeom prst="rect">
            <a:avLst/>
          </a:prstGeom>
          <a:noFill/>
        </p:spPr>
        <p:txBody>
          <a:bodyPr wrap="square" lIns="80000" rIns="80000" tIns="0" bIns="0">
            <a:spAutoFit/>
          </a:bodyPr>
          <a:lstStyle/>
          <a:p>
            <a:pPr algn="ctr"/>
            <a:r>
              <a:rPr sz="1400" b="1">
                <a:solidFill>
                  <a:srgbClr val="1A1A1A"/>
                </a:solidFill>
                <a:latin typeface="Calibri"/>
              </a:rPr>
              <a:t>Any injury history</a:t>
            </a:r>
          </a:p>
        </p:txBody>
      </p:sp>
      <p:sp>
        <p:nvSpPr>
          <p:cNvPr id="71" name="TextBox 70"/>
          <p:cNvSpPr txBox="1"/>
          <p:nvPr/>
        </p:nvSpPr>
        <p:spPr>
          <a:xfrm>
            <a:off x="8791956" y="3230160"/>
            <a:ext cx="2253996" cy="350000"/>
          </a:xfrm>
          <a:prstGeom prst="rect">
            <a:avLst/>
          </a:prstGeom>
          <a:noFill/>
        </p:spPr>
        <p:txBody>
          <a:bodyPr wrap="square" lIns="0" rIns="0" tIns="0" bIns="0">
            <a:spAutoFit/>
          </a:bodyPr>
          <a:lstStyle/>
          <a:p>
            <a:pPr algn="ctr"/>
            <a:r>
              <a:rPr sz="1100" i="1">
                <a:solidFill>
                  <a:srgbClr val="44506B"/>
                </a:solidFill>
                <a:latin typeface="Calibri"/>
              </a:rPr>
              <a:t>n = 18,846</a:t>
            </a:r>
          </a:p>
        </p:txBody>
      </p:sp>
      <p:sp>
        <p:nvSpPr>
          <p:cNvPr id="72" name="TextBox 71"/>
          <p:cNvSpPr txBox="1"/>
          <p:nvPr/>
        </p:nvSpPr>
        <p:spPr>
          <a:xfrm>
            <a:off x="822960" y="6180000"/>
            <a:ext cx="4937760" cy="210000"/>
          </a:xfrm>
          <a:prstGeom prst="rect">
            <a:avLst/>
          </a:prstGeom>
          <a:noFill/>
        </p:spPr>
        <p:txBody>
          <a:bodyPr wrap="square" lIns="0" rIns="0" tIns="0" bIns="0">
            <a:spAutoFit/>
          </a:bodyPr>
          <a:lstStyle/>
          <a:p>
            <a:pPr algn="l"/>
            <a:r>
              <a:rPr sz="1000" i="1" b="1">
                <a:solidFill>
                  <a:srgbClr val="44506B"/>
                </a:solidFill>
                <a:latin typeface="Calibri"/>
              </a:rPr>
              <a:t>Note: </a:t>
            </a:r>
            <a:r>
              <a:rPr sz="1000" i="1" b="0">
                <a:solidFill>
                  <a:srgbClr val="44506B"/>
                </a:solidFill>
                <a:latin typeface="Calibri"/>
              </a:rPr>
              <a:t>“value” = Transfermarkt market valuation, not on-pitch performance.</a:t>
            </a:r>
          </a:p>
        </p:txBody>
      </p:sp>
    </p:spTree>
    <p:extLst>
      <p:ext uri="{BB962C8B-B14F-4D97-AF65-F5344CB8AC3E}">
        <p14:creationId xmlns:p14="http://schemas.microsoft.com/office/powerpoint/2010/main" val="31209966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5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childTnLst>
                          </p:cTn>
                        </p:par>
                      </p:childTnLst>
                    </p:cTn>
                  </p:par>
                  <p:par>
                    <p:cTn id="14" fill="hold">
                      <p:stCondLst>
                        <p:cond delay="250"/>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childTnLst>
                          </p:cTn>
                        </p:par>
                      </p:childTnLst>
                    </p:cTn>
                  </p:par>
                  <p:par>
                    <p:cTn id="25" fill="hold">
                      <p:stCondLst>
                        <p:cond delay="250"/>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childTnLst>
                          </p:cTn>
                        </p:par>
                      </p:childTnLst>
                    </p:cTn>
                  </p:par>
                  <p:par>
                    <p:cTn id="33" fill="hold">
                      <p:stCondLst>
                        <p:cond delay="250"/>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childTnLst>
                          </p:cTn>
                        </p:par>
                      </p:childTnLst>
                    </p:cTn>
                  </p:par>
                  <p:par>
                    <p:cTn id="41" fill="hold">
                      <p:stCondLst>
                        <p:cond delay="250"/>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childTnLst>
                          </p:cTn>
                        </p:par>
                      </p:childTnLst>
                    </p:cTn>
                  </p:par>
                  <p:par>
                    <p:cTn id="49" fill="hold">
                      <p:stCondLst>
                        <p:cond delay="250"/>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22" presetClass="entr" presetSubtype="1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9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6302502" y="468630"/>
            <a:ext cx="754380" cy="754380"/>
          </a:xfrm>
          <a:prstGeom prst="ellipse">
            <a:avLst/>
          </a:prstGeom>
          <a:solidFill>
            <a:srgbClr val="1F7A4D">
              <a:alpha val="20000"/>
            </a:srgbClr>
          </a:solidFill>
          <a:ln/>
        </p:spPr>
        <p:txBody>
          <a:bodyPr/>
          <a:lstStyle/>
          <a:p>
            <a:endParaRPr lang="en-US"/>
          </a:p>
        </p:txBody>
      </p:sp>
      <p:sp>
        <p:nvSpPr>
          <p:cNvPr id="3" name="Shape 1"/>
          <p:cNvSpPr/>
          <p:nvPr/>
        </p:nvSpPr>
        <p:spPr>
          <a:xfrm>
            <a:off x="6428232" y="594360"/>
            <a:ext cx="502920" cy="502920"/>
          </a:xfrm>
          <a:prstGeom prst="ellipse">
            <a:avLst/>
          </a:prstGeom>
          <a:solidFill>
            <a:srgbClr val="1F7A4D"/>
          </a:solidFill>
          <a:ln/>
        </p:spPr>
        <p:txBody>
          <a:bodyPr/>
          <a:lstStyle/>
          <a:p>
            <a:endParaRPr lang="en-US"/>
          </a:p>
        </p:txBody>
      </p:sp>
      <p:sp>
        <p:nvSpPr>
          <p:cNvPr id="5" name="Text 2"/>
          <p:cNvSpPr/>
          <p:nvPr/>
        </p:nvSpPr>
        <p:spPr>
          <a:xfrm>
            <a:off x="7086600" y="713232"/>
            <a:ext cx="4279392" cy="274320"/>
          </a:xfrm>
          <a:prstGeom prst="rect">
            <a:avLst/>
          </a:prstGeom>
          <a:noFill/>
          <a:ln/>
        </p:spPr>
        <p:txBody>
          <a:bodyPr wrap="square" lIns="0" tIns="0" rIns="0" bIns="0" rtlCol="0" anchor="ctr"/>
          <a:lstStyle/>
          <a:p>
            <a:pPr marL="0" indent="0">
              <a:buNone/>
            </a:pPr>
            <a:r>
              <a:rPr lang="en-US" sz="1350" b="1" kern="0" spc="200" dirty="0">
                <a:solidFill>
                  <a:srgbClr val="1F7A4D"/>
                </a:solidFill>
                <a:latin typeface="Calibri" pitchFamily="34" charset="0"/>
                <a:ea typeface="Calibri" pitchFamily="34" charset="-122"/>
                <a:cs typeface="Calibri" pitchFamily="34" charset="-120"/>
              </a:rPr>
              <a:t>SPORTING DIRECTORS / FRONT OFFICE</a:t>
            </a:r>
            <a:endParaRPr lang="en-US" sz="1350" dirty="0"/>
          </a:p>
        </p:txBody>
      </p:sp>
      <p:sp>
        <p:nvSpPr>
          <p:cNvPr id="6" name="Text 3"/>
          <p:cNvSpPr/>
          <p:nvPr/>
        </p:nvSpPr>
        <p:spPr>
          <a:xfrm>
            <a:off x="6428232" y="1188720"/>
            <a:ext cx="4937760" cy="77724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How does injury risk change the investment case for a transfer?</a:t>
            </a:r>
            <a:endParaRPr lang="en-US" sz="1800" dirty="0"/>
          </a:p>
        </p:txBody>
      </p:sp>
      <p:sp>
        <p:nvSpPr>
          <p:cNvPr id="7" name="Shape 4"/>
          <p:cNvSpPr/>
          <p:nvPr/>
        </p:nvSpPr>
        <p:spPr>
          <a:xfrm>
            <a:off x="6428232" y="2057400"/>
            <a:ext cx="4937760" cy="896112"/>
          </a:xfrm>
          <a:prstGeom prst="roundRect">
            <a:avLst>
              <a:gd name="adj" fmla="val 7143"/>
            </a:avLst>
          </a:prstGeom>
          <a:solidFill>
            <a:srgbClr val="16264D"/>
          </a:solidFill>
          <a:ln/>
        </p:spPr>
        <p:txBody>
          <a:bodyPr/>
          <a:lstStyle/>
          <a:p>
            <a:endParaRPr lang="en-US"/>
          </a:p>
        </p:txBody>
      </p:sp>
      <p:sp>
        <p:nvSpPr>
          <p:cNvPr id="8" name="Text 5"/>
          <p:cNvSpPr/>
          <p:nvPr/>
        </p:nvSpPr>
        <p:spPr>
          <a:xfrm>
            <a:off x="6629400" y="2148840"/>
            <a:ext cx="4535424" cy="228600"/>
          </a:xfrm>
          <a:prstGeom prst="rect">
            <a:avLst/>
          </a:prstGeom>
          <a:noFill/>
          <a:ln/>
        </p:spPr>
        <p:txBody>
          <a:bodyPr wrap="square" lIns="0" tIns="0" rIns="0" bIns="0"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HYPOTHESIS</a:t>
            </a:r>
            <a:endParaRPr lang="en-US" sz="1200" dirty="0"/>
          </a:p>
        </p:txBody>
      </p:sp>
      <p:sp>
        <p:nvSpPr>
          <p:cNvPr id="9" name="Text 6"/>
          <p:cNvSpPr/>
          <p:nvPr/>
        </p:nvSpPr>
        <p:spPr>
          <a:xfrm>
            <a:off x="6629400" y="2377440"/>
            <a:ext cx="4535424" cy="530352"/>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Younger players show a better value-risk tradeoff than veterans.</a:t>
            </a:r>
            <a:endParaRPr lang="en-US" sz="1400" dirty="0"/>
          </a:p>
        </p:txBody>
      </p:sp>
      <p:sp>
        <p:nvSpPr>
          <p:cNvPr id="10" name="Shape 7"/>
          <p:cNvSpPr/>
          <p:nvPr/>
        </p:nvSpPr>
        <p:spPr>
          <a:xfrm>
            <a:off x="6428232" y="3154680"/>
            <a:ext cx="4937760" cy="420624"/>
          </a:xfrm>
          <a:prstGeom prst="roundRect">
            <a:avLst>
              <a:gd name="adj" fmla="val 50000"/>
            </a:avLst>
          </a:prstGeom>
          <a:solidFill>
            <a:srgbClr val="1F7A4D"/>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6553200" y="3225800"/>
            <a:ext cx="254000" cy="254000"/>
          </a:xfrm>
          <a:prstGeom prst="rect">
            <a:avLst/>
          </a:prstGeom>
        </p:spPr>
      </p:pic>
      <p:sp>
        <p:nvSpPr>
          <p:cNvPr id="12" name="Text 8"/>
          <p:cNvSpPr/>
          <p:nvPr/>
        </p:nvSpPr>
        <p:spPr>
          <a:xfrm>
            <a:off x="6885432" y="3154680"/>
            <a:ext cx="4389120" cy="420624"/>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SPLIT: risk confirmed, value tells a different story</a:t>
            </a:r>
            <a:endParaRPr lang="en-US" sz="1350" dirty="0"/>
          </a:p>
        </p:txBody>
      </p:sp>
      <p:pic>
        <p:nvPicPr>
          <p:cNvPr id="13" name="Image 2" descr="preencoded.png"/>
          <p:cNvPicPr>
            <a:picLocks noChangeAspect="1"/>
          </p:cNvPicPr>
          <p:nvPr/>
        </p:nvPicPr>
        <p:blipFill>
          <a:blip r:embed="rId4"/>
          <a:stretch>
            <a:fillRect/>
          </a:stretch>
        </p:blipFill>
        <p:spPr>
          <a:xfrm>
            <a:off x="6400800" y="4013200"/>
            <a:ext cx="254000" cy="254000"/>
          </a:xfrm>
          <a:prstGeom prst="rect">
            <a:avLst/>
          </a:prstGeom>
        </p:spPr>
      </p:pic>
      <p:sp>
        <p:nvSpPr>
          <p:cNvPr id="14" name="Text 9"/>
          <p:cNvSpPr/>
          <p:nvPr/>
        </p:nvSpPr>
        <p:spPr>
          <a:xfrm>
            <a:off x="6757416" y="39624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Injury rate climbs steadily with age: 2.5 up to 6.0 per 1,000 90s.</a:t>
            </a:r>
            <a:endParaRPr lang="en-US" sz="1400" dirty="0"/>
          </a:p>
        </p:txBody>
      </p:sp>
      <p:pic>
        <p:nvPicPr>
          <p:cNvPr id="15" name="Image 3" descr="preencoded.png"/>
          <p:cNvPicPr>
            <a:picLocks noChangeAspect="1"/>
          </p:cNvPicPr>
          <p:nvPr/>
        </p:nvPicPr>
        <p:blipFill>
          <a:blip r:embed="rId4"/>
          <a:stretch>
            <a:fillRect/>
          </a:stretch>
        </p:blipFill>
        <p:spPr>
          <a:xfrm>
            <a:off x="6400800" y="4851400"/>
            <a:ext cx="254000" cy="254000"/>
          </a:xfrm>
          <a:prstGeom prst="rect">
            <a:avLst/>
          </a:prstGeom>
        </p:spPr>
      </p:pic>
      <p:sp>
        <p:nvSpPr>
          <p:cNvPr id="16" name="Text 10"/>
          <p:cNvSpPr/>
          <p:nvPr/>
        </p:nvSpPr>
        <p:spPr>
          <a:xfrm>
            <a:off x="6757416" y="48006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Only the 21–24 emerging band shows real value growth: +7.1%.</a:t>
            </a:r>
            <a:endParaRPr lang="en-US" sz="1400" dirty="0"/>
          </a:p>
        </p:txBody>
      </p:sp>
      <p:pic>
        <p:nvPicPr>
          <p:cNvPr id="17" name="Image 4" descr="preencoded.png"/>
          <p:cNvPicPr>
            <a:picLocks noChangeAspect="1"/>
          </p:cNvPicPr>
          <p:nvPr/>
        </p:nvPicPr>
        <p:blipFill>
          <a:blip r:embed="rId4"/>
          <a:stretch>
            <a:fillRect/>
          </a:stretch>
        </p:blipFill>
        <p:spPr>
          <a:xfrm>
            <a:off x="6400800" y="5689600"/>
            <a:ext cx="254000" cy="254000"/>
          </a:xfrm>
          <a:prstGeom prst="rect">
            <a:avLst/>
          </a:prstGeom>
        </p:spPr>
      </p:pic>
      <p:sp>
        <p:nvSpPr>
          <p:cNvPr id="18" name="Text 11"/>
          <p:cNvSpPr/>
          <p:nvPr/>
        </p:nvSpPr>
        <p:spPr>
          <a:xfrm>
            <a:off x="6757416" y="56388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That band uniquely pairs strong growth with the lowest risk.</a:t>
            </a:r>
            <a:endParaRPr lang="en-US" sz="1400" dirty="0"/>
          </a:p>
        </p:txBody>
      </p:sp>
      <p:sp>
        <p:nvSpPr>
          <p:cNvPr id="19" name="Shape 12"/>
          <p:cNvSpPr/>
          <p:nvPr/>
        </p:nvSpPr>
        <p:spPr>
          <a:xfrm>
            <a:off x="822960" y="594360"/>
            <a:ext cx="5148072" cy="5623560"/>
          </a:xfrm>
          <a:prstGeom prst="roundRect">
            <a:avLst>
              <a:gd name="adj" fmla="val 1599"/>
            </a:avLst>
          </a:prstGeom>
          <a:solidFill>
            <a:srgbClr val="FFFFFF"/>
          </a:solidFill>
          <a:ln/>
          <a:effectLst>
            <a:outerShdw blurRad="101600" dist="38100" dir="5400000" algn="bl" rotWithShape="0">
              <a:srgbClr val="8C93A6">
                <a:alpha val="22000"/>
              </a:srgbClr>
            </a:outerShdw>
          </a:effectLst>
        </p:spPr>
        <p:txBody>
          <a:bodyPr/>
          <a:lstStyle/>
          <a:p>
            <a:endParaRPr lang="en-US"/>
          </a:p>
        </p:txBody>
      </p:sp>
      <p:sp>
        <p:nvSpPr>
          <p:cNvPr id="20" name="Text 13"/>
          <p:cNvSpPr/>
          <p:nvPr/>
        </p:nvSpPr>
        <p:spPr>
          <a:xfrm>
            <a:off x="1143000" y="822960"/>
            <a:ext cx="4507992" cy="36576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Median injury rate by age bracket (per 1,000 90s)</a:t>
            </a:r>
            <a:endParaRPr lang="en-US" sz="1350" dirty="0"/>
          </a:p>
        </p:txBody>
      </p:sp>
      <p:sp>
        <p:nvSpPr>
          <p:cNvPr id="22" name="Text 14"/>
          <p:cNvSpPr/>
          <p:nvPr/>
        </p:nvSpPr>
        <p:spPr>
          <a:xfrm>
            <a:off x="1143000" y="5029200"/>
            <a:ext cx="4507992" cy="960120"/>
          </a:xfrm>
          <a:prstGeom prst="rect">
            <a:avLst/>
          </a:prstGeom>
          <a:noFill/>
          <a:ln/>
        </p:spPr>
        <p:txBody>
          <a:bodyPr wrap="square" lIns="0" tIns="0" rIns="0" bIns="0" rtlCol="0" anchor="t"/>
          <a:lstStyle/>
          <a:p>
            <a:pPr marL="0" indent="0">
              <a:buNone/>
            </a:pPr>
            <a:r>
              <a:rPr lang="en-US" sz="1300" i="1" dirty="0">
                <a:solidFill>
                  <a:srgbClr val="44506B"/>
                </a:solidFill>
                <a:latin typeface="Calibri" pitchFamily="34" charset="0"/>
                <a:ea typeface="Calibri" pitchFamily="34" charset="-122"/>
                <a:cs typeface="Calibri" pitchFamily="34" charset="-120"/>
              </a:rPr>
              <a:t>n = 582 players with usable playing-time data. Under-21 bucket (n=4) omitted, too small to plot reliably.</a:t>
            </a:r>
            <a:endParaRPr lang="en-US" sz="1300" dirty="0">
              <a:solidFill>
                <a:srgbClr val="44506B"/>
              </a:solidFill>
            </a:endParaRPr>
          </a:p>
        </p:txBody>
      </p:sp>
      <p:sp>
        <p:nvSpPr>
          <p:cNvPr id="24" name="Text 1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5A6478"/>
                </a:solidFill>
                <a:latin typeface="Calibri" pitchFamily="34" charset="0"/>
                <a:ea typeface="Calibri" pitchFamily="34" charset="-122"/>
                <a:cs typeface="Calibri" pitchFamily="34" charset="-120"/>
              </a:rPr>
              <a:t>07</a:t>
            </a:r>
            <a:endParaRPr lang="en-US" sz="1200" dirty="0">
              <a:solidFill>
                <a:srgbClr val="5A6478"/>
              </a:solidFill>
            </a:endParaRPr>
          </a:p>
        </p:txBody>
      </p:sp>
      <p:pic>
        <p:nvPicPr>
          <p:cNvPr id="25" name="Graphic 25" descr="Soccer ball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2400" y="660400"/>
            <a:ext cx="355600" cy="355600"/>
          </a:xfrm>
          <a:prstGeom prst="rect">
            <a:avLst/>
          </a:prstGeom>
        </p:spPr>
      </p:pic>
      <p:sp>
        <p:nvSpPr>
          <p:cNvPr id="64" name="TextBox 63"/>
          <p:cNvSpPr txBox="1"/>
          <p:nvPr/>
        </p:nvSpPr>
        <p:spPr>
          <a:xfrm>
            <a:off x="6757416" y="6100000"/>
            <a:ext cx="4608576" cy="280000"/>
          </a:xfrm>
          <a:prstGeom prst="rect">
            <a:avLst/>
          </a:prstGeom>
          <a:noFill/>
        </p:spPr>
        <p:txBody>
          <a:bodyPr wrap="square" lIns="0" rIns="0" tIns="0" bIns="0">
            <a:spAutoFit/>
          </a:bodyPr>
          <a:lstStyle/>
          <a:p>
            <a:pPr algn="l"/>
            <a:r>
              <a:rPr sz="1000" i="1" b="1">
                <a:solidFill>
                  <a:srgbClr val="44506B"/>
                </a:solidFill>
                <a:latin typeface="Calibri"/>
              </a:rPr>
              <a:t>Note: </a:t>
            </a:r>
            <a:r>
              <a:rPr sz="1000" i="1" b="0">
                <a:solidFill>
                  <a:srgbClr val="44506B"/>
                </a:solidFill>
                <a:latin typeface="Calibri"/>
              </a:rPr>
              <a:t>a “90” = one full match played. Rate is per 1,000 to compare players fairly, regardless of playing time.</a:t>
            </a:r>
          </a:p>
        </p:txBody>
      </p:sp>
      <p:graphicFrame>
        <p:nvGraphicFramePr>
          <p:cNvPr id="65" name="Chart 64"/>
          <p:cNvGraphicFramePr>
            <a:graphicFrameLocks noGrp="1"/>
          </p:cNvGraphicFramePr>
          <p:nvPr/>
        </p:nvGraphicFramePr>
        <p:xfrm>
          <a:off x="1143000" y="1280160"/>
          <a:ext cx="4507992" cy="3566160"/>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30177942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5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childTnLst>
                          </p:cTn>
                        </p:par>
                      </p:childTnLst>
                    </p:cTn>
                  </p:par>
                  <p:par>
                    <p:cTn id="14" fill="hold">
                      <p:stCondLst>
                        <p:cond delay="250"/>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childTnLst>
                          </p:cTn>
                        </p:par>
                      </p:childTnLst>
                    </p:cTn>
                  </p:par>
                  <p:par>
                    <p:cTn id="25" fill="hold">
                      <p:stCondLst>
                        <p:cond delay="250"/>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childTnLst>
                          </p:cTn>
                        </p:par>
                      </p:childTnLst>
                    </p:cTn>
                  </p:par>
                  <p:par>
                    <p:cTn id="33" fill="hold">
                      <p:stCondLst>
                        <p:cond delay="250"/>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childTnLst>
                          </p:cTn>
                        </p:par>
                      </p:childTnLst>
                    </p:cTn>
                  </p:par>
                  <p:par>
                    <p:cTn id="41" fill="hold">
                      <p:stCondLst>
                        <p:cond delay="250"/>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childTnLst>
                          </p:cTn>
                        </p:par>
                      </p:childTnLst>
                    </p:cTn>
                  </p:par>
                  <p:par>
                    <p:cTn id="49" fill="hold">
                      <p:stCondLst>
                        <p:cond delay="250"/>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22" presetClass="entr" presetSubtype="1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9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697230" y="468630"/>
            <a:ext cx="754380" cy="754380"/>
          </a:xfrm>
          <a:prstGeom prst="ellipse">
            <a:avLst/>
          </a:prstGeom>
          <a:solidFill>
            <a:srgbClr val="C0392B">
              <a:alpha val="20000"/>
            </a:srgbClr>
          </a:solidFill>
          <a:ln/>
        </p:spPr>
        <p:txBody>
          <a:bodyPr/>
          <a:lstStyle/>
          <a:p>
            <a:endParaRPr lang="en-US"/>
          </a:p>
        </p:txBody>
      </p:sp>
      <p:sp>
        <p:nvSpPr>
          <p:cNvPr id="3" name="Shape 1"/>
          <p:cNvSpPr/>
          <p:nvPr/>
        </p:nvSpPr>
        <p:spPr>
          <a:xfrm>
            <a:off x="822960" y="594360"/>
            <a:ext cx="502920" cy="502920"/>
          </a:xfrm>
          <a:prstGeom prst="ellipse">
            <a:avLst/>
          </a:prstGeom>
          <a:solidFill>
            <a:srgbClr val="C0392B"/>
          </a:solidFill>
          <a:ln/>
        </p:spPr>
        <p:txBody>
          <a:bodyPr/>
          <a:lstStyle/>
          <a:p>
            <a:endParaRPr lang="en-US"/>
          </a:p>
        </p:txBody>
      </p:sp>
      <p:sp>
        <p:nvSpPr>
          <p:cNvPr id="5" name="Text 2"/>
          <p:cNvSpPr/>
          <p:nvPr/>
        </p:nvSpPr>
        <p:spPr>
          <a:xfrm>
            <a:off x="1481328" y="713232"/>
            <a:ext cx="4279392" cy="274320"/>
          </a:xfrm>
          <a:prstGeom prst="rect">
            <a:avLst/>
          </a:prstGeom>
          <a:noFill/>
          <a:ln/>
        </p:spPr>
        <p:txBody>
          <a:bodyPr wrap="square" lIns="0" tIns="0" rIns="0" bIns="0" rtlCol="0" anchor="ctr"/>
          <a:lstStyle/>
          <a:p>
            <a:pPr marL="0" indent="0">
              <a:buNone/>
            </a:pPr>
            <a:r>
              <a:rPr lang="en-US" sz="1400" b="1" kern="0" spc="200" dirty="0">
                <a:solidFill>
                  <a:srgbClr val="C0392B"/>
                </a:solidFill>
                <a:latin typeface="Calibri" pitchFamily="34" charset="0"/>
                <a:ea typeface="Calibri" pitchFamily="34" charset="-122"/>
                <a:cs typeface="Calibri" pitchFamily="34" charset="-120"/>
              </a:rPr>
              <a:t>MEDICAL / PERFORMANCE STAFF</a:t>
            </a:r>
            <a:endParaRPr lang="en-US" sz="1400" dirty="0"/>
          </a:p>
        </p:txBody>
      </p:sp>
      <p:sp>
        <p:nvSpPr>
          <p:cNvPr id="6" name="Text 3"/>
          <p:cNvSpPr/>
          <p:nvPr/>
        </p:nvSpPr>
        <p:spPr>
          <a:xfrm>
            <a:off x="822960" y="1188720"/>
            <a:ext cx="4937760" cy="77724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Which workload patterns are worth flagging before signing a player?</a:t>
            </a:r>
            <a:endParaRPr lang="en-US" sz="1800" dirty="0"/>
          </a:p>
        </p:txBody>
      </p:sp>
      <p:sp>
        <p:nvSpPr>
          <p:cNvPr id="7" name="Shape 4"/>
          <p:cNvSpPr/>
          <p:nvPr/>
        </p:nvSpPr>
        <p:spPr>
          <a:xfrm>
            <a:off x="822960" y="2057400"/>
            <a:ext cx="4937760" cy="896112"/>
          </a:xfrm>
          <a:prstGeom prst="roundRect">
            <a:avLst>
              <a:gd name="adj" fmla="val 7143"/>
            </a:avLst>
          </a:prstGeom>
          <a:solidFill>
            <a:srgbClr val="16264D"/>
          </a:solidFill>
          <a:ln/>
        </p:spPr>
        <p:txBody>
          <a:bodyPr/>
          <a:lstStyle/>
          <a:p>
            <a:endParaRPr lang="en-US"/>
          </a:p>
        </p:txBody>
      </p:sp>
      <p:sp>
        <p:nvSpPr>
          <p:cNvPr id="8" name="Text 5"/>
          <p:cNvSpPr/>
          <p:nvPr/>
        </p:nvSpPr>
        <p:spPr>
          <a:xfrm>
            <a:off x="1024128" y="2148840"/>
            <a:ext cx="4535424" cy="228600"/>
          </a:xfrm>
          <a:prstGeom prst="rect">
            <a:avLst/>
          </a:prstGeom>
          <a:noFill/>
          <a:ln/>
        </p:spPr>
        <p:txBody>
          <a:bodyPr wrap="square" lIns="0" tIns="0" rIns="0" bIns="0"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HYPOTHESIS</a:t>
            </a:r>
            <a:endParaRPr lang="en-US" sz="1200" dirty="0"/>
          </a:p>
        </p:txBody>
      </p:sp>
      <p:sp>
        <p:nvSpPr>
          <p:cNvPr id="9" name="Text 6"/>
          <p:cNvSpPr/>
          <p:nvPr/>
        </p:nvSpPr>
        <p:spPr>
          <a:xfrm>
            <a:off x="1024128" y="2377440"/>
            <a:ext cx="4535424" cy="530352"/>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Position predicts injury and workload risk.</a:t>
            </a:r>
            <a:endParaRPr lang="en-US" sz="1400" dirty="0"/>
          </a:p>
        </p:txBody>
      </p:sp>
      <p:sp>
        <p:nvSpPr>
          <p:cNvPr id="10" name="Shape 7"/>
          <p:cNvSpPr/>
          <p:nvPr/>
        </p:nvSpPr>
        <p:spPr>
          <a:xfrm>
            <a:off x="822960" y="3154680"/>
            <a:ext cx="4937760" cy="420624"/>
          </a:xfrm>
          <a:prstGeom prst="roundRect">
            <a:avLst>
              <a:gd name="adj" fmla="val 50000"/>
            </a:avLst>
          </a:prstGeom>
          <a:solidFill>
            <a:srgbClr val="6B7280"/>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939800" y="3225800"/>
            <a:ext cx="254000" cy="254000"/>
          </a:xfrm>
          <a:prstGeom prst="rect">
            <a:avLst/>
          </a:prstGeom>
        </p:spPr>
      </p:pic>
      <p:sp>
        <p:nvSpPr>
          <p:cNvPr id="12" name="Text 8"/>
          <p:cNvSpPr/>
          <p:nvPr/>
        </p:nvSpPr>
        <p:spPr>
          <a:xfrm>
            <a:off x="1280160" y="3154680"/>
            <a:ext cx="4389120" cy="420624"/>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NOT CONFIRMED, but goalkeepers stand out</a:t>
            </a:r>
            <a:endParaRPr lang="en-US" sz="1350" dirty="0"/>
          </a:p>
        </p:txBody>
      </p:sp>
      <p:pic>
        <p:nvPicPr>
          <p:cNvPr id="13" name="Image 2" descr="preencoded.png"/>
          <p:cNvPicPr>
            <a:picLocks noChangeAspect="1"/>
          </p:cNvPicPr>
          <p:nvPr/>
        </p:nvPicPr>
        <p:blipFill>
          <a:blip r:embed="rId4"/>
          <a:stretch>
            <a:fillRect/>
          </a:stretch>
        </p:blipFill>
        <p:spPr>
          <a:xfrm>
            <a:off x="800100" y="4025900"/>
            <a:ext cx="254000" cy="254000"/>
          </a:xfrm>
          <a:prstGeom prst="rect">
            <a:avLst/>
          </a:prstGeom>
        </p:spPr>
      </p:pic>
      <p:sp>
        <p:nvSpPr>
          <p:cNvPr id="14" name="Text 9"/>
          <p:cNvSpPr/>
          <p:nvPr/>
        </p:nvSpPr>
        <p:spPr>
          <a:xfrm>
            <a:off x="1152144" y="39624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Position alone does not statistically predict injury risk.</a:t>
            </a:r>
            <a:endParaRPr lang="en-US" sz="1400" dirty="0"/>
          </a:p>
        </p:txBody>
      </p:sp>
      <p:pic>
        <p:nvPicPr>
          <p:cNvPr id="15" name="Image 3" descr="preencoded.png"/>
          <p:cNvPicPr>
            <a:picLocks noChangeAspect="1"/>
          </p:cNvPicPr>
          <p:nvPr/>
        </p:nvPicPr>
        <p:blipFill>
          <a:blip r:embed="rId4"/>
          <a:stretch>
            <a:fillRect/>
          </a:stretch>
        </p:blipFill>
        <p:spPr>
          <a:xfrm>
            <a:off x="800100" y="4864100"/>
            <a:ext cx="254000" cy="254000"/>
          </a:xfrm>
          <a:prstGeom prst="rect">
            <a:avLst/>
          </a:prstGeom>
        </p:spPr>
      </p:pic>
      <p:sp>
        <p:nvSpPr>
          <p:cNvPr id="16" name="Text 10"/>
          <p:cNvSpPr/>
          <p:nvPr/>
        </p:nvSpPr>
        <p:spPr>
          <a:xfrm>
            <a:off x="1152144" y="48006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Goalkeepers still trend lower: 2.3 vs. about 4.2 for outfield.</a:t>
            </a:r>
            <a:endParaRPr lang="en-US" sz="1400" dirty="0"/>
          </a:p>
        </p:txBody>
      </p:sp>
      <p:pic>
        <p:nvPicPr>
          <p:cNvPr id="17" name="Image 4" descr="preencoded.png"/>
          <p:cNvPicPr>
            <a:picLocks noChangeAspect="1"/>
          </p:cNvPicPr>
          <p:nvPr/>
        </p:nvPicPr>
        <p:blipFill>
          <a:blip r:embed="rId4"/>
          <a:stretch>
            <a:fillRect/>
          </a:stretch>
        </p:blipFill>
        <p:spPr>
          <a:xfrm>
            <a:off x="800100" y="5702300"/>
            <a:ext cx="254000" cy="254000"/>
          </a:xfrm>
          <a:prstGeom prst="rect">
            <a:avLst/>
          </a:prstGeom>
        </p:spPr>
      </p:pic>
      <p:sp>
        <p:nvSpPr>
          <p:cNvPr id="18" name="Text 11"/>
          <p:cNvSpPr/>
          <p:nvPr/>
        </p:nvSpPr>
        <p:spPr>
          <a:xfrm>
            <a:off x="1152144" y="5638800"/>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Too few goalkeepers in the data (52) to call this confirmed.</a:t>
            </a:r>
            <a:endParaRPr lang="en-US" sz="1400" dirty="0"/>
          </a:p>
        </p:txBody>
      </p:sp>
      <p:sp>
        <p:nvSpPr>
          <p:cNvPr id="19" name="Shape 12"/>
          <p:cNvSpPr/>
          <p:nvPr/>
        </p:nvSpPr>
        <p:spPr>
          <a:xfrm>
            <a:off x="6217920" y="594360"/>
            <a:ext cx="5148072" cy="5623560"/>
          </a:xfrm>
          <a:prstGeom prst="roundRect">
            <a:avLst>
              <a:gd name="adj" fmla="val 1599"/>
            </a:avLst>
          </a:prstGeom>
          <a:solidFill>
            <a:srgbClr val="FFFFFF"/>
          </a:solidFill>
          <a:ln/>
          <a:effectLst>
            <a:outerShdw blurRad="101600" dist="38100" dir="5400000" algn="bl" rotWithShape="0">
              <a:srgbClr val="8C93A6">
                <a:alpha val="22000"/>
              </a:srgbClr>
            </a:outerShdw>
          </a:effectLst>
        </p:spPr>
        <p:txBody>
          <a:bodyPr/>
          <a:lstStyle/>
          <a:p>
            <a:endParaRPr lang="en-US"/>
          </a:p>
        </p:txBody>
      </p:sp>
      <p:sp>
        <p:nvSpPr>
          <p:cNvPr id="20" name="Text 13"/>
          <p:cNvSpPr/>
          <p:nvPr/>
        </p:nvSpPr>
        <p:spPr>
          <a:xfrm>
            <a:off x="6537960" y="822960"/>
            <a:ext cx="4507992" cy="36576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Median injuries per 1,000 90s, by position</a:t>
            </a:r>
            <a:endParaRPr lang="en-US" sz="1350" dirty="0"/>
          </a:p>
        </p:txBody>
      </p:sp>
      <p:sp>
        <p:nvSpPr>
          <p:cNvPr id="22" name="Text 14"/>
          <p:cNvSpPr/>
          <p:nvPr/>
        </p:nvSpPr>
        <p:spPr>
          <a:xfrm>
            <a:off x="6537960" y="5029200"/>
            <a:ext cx="4507992" cy="960120"/>
          </a:xfrm>
          <a:prstGeom prst="rect">
            <a:avLst/>
          </a:prstGeom>
          <a:noFill/>
          <a:ln/>
        </p:spPr>
        <p:txBody>
          <a:bodyPr wrap="square" lIns="0" tIns="0" rIns="0" bIns="0" rtlCol="0" anchor="t"/>
          <a:lstStyle/>
          <a:p>
            <a:pPr marL="0" indent="0">
              <a:buNone/>
            </a:pPr>
            <a:r>
              <a:rPr lang="en-US" sz="1300" i="1" dirty="0">
                <a:solidFill>
                  <a:srgbClr val="44506B"/>
                </a:solidFill>
                <a:latin typeface="Calibri" pitchFamily="34" charset="0"/>
                <a:ea typeface="Calibri" pitchFamily="34" charset="-122"/>
                <a:cs typeface="Calibri" pitchFamily="34" charset="-120"/>
              </a:rPr>
              <a:t>n = 582 players (Goalkeeper n=52, Defender n=217, Midfield n=182, Attack n=131).</a:t>
            </a:r>
            <a:endParaRPr lang="en-US" sz="1300" dirty="0">
              <a:solidFill>
                <a:srgbClr val="44506B"/>
              </a:solidFill>
            </a:endParaRPr>
          </a:p>
        </p:txBody>
      </p:sp>
      <p:sp>
        <p:nvSpPr>
          <p:cNvPr id="24" name="Text 1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5A6478"/>
                </a:solidFill>
                <a:latin typeface="Calibri" pitchFamily="34" charset="0"/>
                <a:ea typeface="Calibri" pitchFamily="34" charset="-122"/>
                <a:cs typeface="Calibri" pitchFamily="34" charset="-120"/>
              </a:rPr>
              <a:t>08</a:t>
            </a:r>
            <a:endParaRPr lang="en-US" sz="1200" dirty="0">
              <a:solidFill>
                <a:srgbClr val="5A6478"/>
              </a:solidFill>
            </a:endParaRPr>
          </a:p>
        </p:txBody>
      </p:sp>
      <p:pic>
        <p:nvPicPr>
          <p:cNvPr id="25" name="Graphic 25" descr="Soccer goal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4400" y="685800"/>
            <a:ext cx="304800" cy="304800"/>
          </a:xfrm>
          <a:prstGeom prst="rect">
            <a:avLst/>
          </a:prstGeom>
        </p:spPr>
      </p:pic>
      <p:sp>
        <p:nvSpPr>
          <p:cNvPr id="64" name="TextBox 63"/>
          <p:cNvSpPr txBox="1"/>
          <p:nvPr/>
        </p:nvSpPr>
        <p:spPr>
          <a:xfrm>
            <a:off x="822960" y="6100000"/>
            <a:ext cx="4937760" cy="280000"/>
          </a:xfrm>
          <a:prstGeom prst="rect">
            <a:avLst/>
          </a:prstGeom>
          <a:noFill/>
        </p:spPr>
        <p:txBody>
          <a:bodyPr wrap="square" lIns="0" rIns="0" tIns="0" bIns="0">
            <a:spAutoFit/>
          </a:bodyPr>
          <a:lstStyle/>
          <a:p>
            <a:pPr algn="l"/>
            <a:r>
              <a:rPr sz="1000" i="1" b="1">
                <a:solidFill>
                  <a:srgbClr val="44506B"/>
                </a:solidFill>
                <a:latin typeface="Calibri"/>
              </a:rPr>
              <a:t>Reminder: </a:t>
            </a:r>
            <a:r>
              <a:rPr sz="1000" i="1" b="0">
                <a:solidFill>
                  <a:srgbClr val="44506B"/>
                </a:solidFill>
                <a:latin typeface="Calibri"/>
              </a:rPr>
              <a:t>“90s” = full matches played; injuries are counted per 1,000 to stay fair across playing time (see slide 07).</a:t>
            </a:r>
          </a:p>
        </p:txBody>
      </p:sp>
      <p:graphicFrame>
        <p:nvGraphicFramePr>
          <p:cNvPr id="65" name="Chart 64"/>
          <p:cNvGraphicFramePr>
            <a:graphicFrameLocks noGrp="1"/>
          </p:cNvGraphicFramePr>
          <p:nvPr/>
        </p:nvGraphicFramePr>
        <p:xfrm>
          <a:off x="6537960" y="1280160"/>
          <a:ext cx="4507992" cy="3566160"/>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5099242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5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50"/>
                                        <p:tgtEl>
                                          <p:spTgt spid="9"/>
                                        </p:tgtEl>
                                      </p:cBhvr>
                                    </p:animEffect>
                                  </p:childTnLst>
                                </p:cTn>
                              </p:par>
                            </p:childTnLst>
                          </p:cTn>
                        </p:par>
                      </p:childTnLst>
                    </p:cTn>
                  </p:par>
                  <p:par>
                    <p:cTn id="14" fill="hold">
                      <p:stCondLst>
                        <p:cond delay="250"/>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5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50"/>
                                        <p:tgtEl>
                                          <p:spTgt spid="12"/>
                                        </p:tgtEl>
                                      </p:cBhvr>
                                    </p:animEffect>
                                  </p:childTnLst>
                                </p:cTn>
                              </p:par>
                            </p:childTnLst>
                          </p:cTn>
                        </p:par>
                      </p:childTnLst>
                    </p:cTn>
                  </p:par>
                  <p:par>
                    <p:cTn id="25" fill="hold">
                      <p:stCondLst>
                        <p:cond delay="250"/>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5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50"/>
                                        <p:tgtEl>
                                          <p:spTgt spid="14"/>
                                        </p:tgtEl>
                                      </p:cBhvr>
                                    </p:animEffect>
                                  </p:childTnLst>
                                </p:cTn>
                              </p:par>
                            </p:childTnLst>
                          </p:cTn>
                        </p:par>
                      </p:childTnLst>
                    </p:cTn>
                  </p:par>
                  <p:par>
                    <p:cTn id="33" fill="hold">
                      <p:stCondLst>
                        <p:cond delay="250"/>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5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50"/>
                                        <p:tgtEl>
                                          <p:spTgt spid="16"/>
                                        </p:tgtEl>
                                      </p:cBhvr>
                                    </p:animEffect>
                                  </p:childTnLst>
                                </p:cTn>
                              </p:par>
                            </p:childTnLst>
                          </p:cTn>
                        </p:par>
                      </p:childTnLst>
                    </p:cTn>
                  </p:par>
                  <p:par>
                    <p:cTn id="41" fill="hold">
                      <p:stCondLst>
                        <p:cond delay="250"/>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5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50"/>
                                        <p:tgtEl>
                                          <p:spTgt spid="18"/>
                                        </p:tgtEl>
                                      </p:cBhvr>
                                    </p:animEffect>
                                  </p:childTnLst>
                                </p:cTn>
                              </p:par>
                            </p:childTnLst>
                          </p:cTn>
                        </p:par>
                      </p:childTnLst>
                    </p:cTn>
                  </p:par>
                  <p:par>
                    <p:cTn id="49" fill="hold">
                      <p:stCondLst>
                        <p:cond delay="250"/>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22" presetClass="entr" presetSubtype="4"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up)">
                                      <p:cBhvr>
                                        <p:cTn id="62" dur="9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97230" y="468630"/>
            <a:ext cx="754380" cy="754380"/>
          </a:xfrm>
          <a:prstGeom prst="ellipse">
            <a:avLst/>
          </a:prstGeom>
          <a:solidFill>
            <a:srgbClr val="0F1B3D">
              <a:alpha val="20000"/>
            </a:srgbClr>
          </a:solidFill>
          <a:ln/>
        </p:spPr>
        <p:txBody>
          <a:bodyPr/>
          <a:lstStyle/>
          <a:p>
            <a:endParaRPr lang="en-US"/>
          </a:p>
        </p:txBody>
      </p:sp>
      <p:sp>
        <p:nvSpPr>
          <p:cNvPr id="3" name="Shape 1"/>
          <p:cNvSpPr/>
          <p:nvPr/>
        </p:nvSpPr>
        <p:spPr>
          <a:xfrm>
            <a:off x="822960" y="594360"/>
            <a:ext cx="502920" cy="502920"/>
          </a:xfrm>
          <a:prstGeom prst="ellipse">
            <a:avLst/>
          </a:prstGeom>
          <a:solidFill>
            <a:srgbClr val="0F1B3D"/>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69264" y="740664"/>
            <a:ext cx="210312" cy="210312"/>
          </a:xfrm>
          <a:prstGeom prst="rect">
            <a:avLst/>
          </a:prstGeom>
        </p:spPr>
      </p:pic>
      <p:sp>
        <p:nvSpPr>
          <p:cNvPr id="5" name="Text 2"/>
          <p:cNvSpPr/>
          <p:nvPr/>
        </p:nvSpPr>
        <p:spPr>
          <a:xfrm>
            <a:off x="1481328" y="713232"/>
            <a:ext cx="4279392" cy="274320"/>
          </a:xfrm>
          <a:prstGeom prst="rect">
            <a:avLst/>
          </a:prstGeom>
          <a:noFill/>
          <a:ln/>
        </p:spPr>
        <p:txBody>
          <a:bodyPr wrap="square" lIns="0" tIns="0" rIns="0" bIns="0" rtlCol="0" anchor="ctr"/>
          <a:lstStyle/>
          <a:p>
            <a:pPr marL="0" indent="0">
              <a:buNone/>
            </a:pPr>
            <a:r>
              <a:rPr lang="en-US" sz="1400" b="1" kern="0" spc="200" dirty="0">
                <a:solidFill>
                  <a:srgbClr val="0F1B3D"/>
                </a:solidFill>
                <a:latin typeface="Calibri" pitchFamily="34" charset="0"/>
                <a:ea typeface="Calibri" pitchFamily="34" charset="-122"/>
                <a:cs typeface="Calibri" pitchFamily="34" charset="-120"/>
              </a:rPr>
              <a:t>VALUE FORECAST VALIDATION</a:t>
            </a:r>
            <a:endParaRPr lang="en-US" sz="1400" dirty="0"/>
          </a:p>
        </p:txBody>
      </p:sp>
      <p:sp>
        <p:nvSpPr>
          <p:cNvPr id="6" name="Text 3"/>
          <p:cNvSpPr/>
          <p:nvPr/>
        </p:nvSpPr>
        <p:spPr>
          <a:xfrm>
            <a:off x="822960" y="1188720"/>
            <a:ext cx="4937760" cy="777240"/>
          </a:xfrm>
          <a:prstGeom prst="rect">
            <a:avLst/>
          </a:prstGeom>
          <a:noFill/>
          <a:ln/>
        </p:spPr>
        <p:txBody>
          <a:bodyPr wrap="square" lIns="0" tIns="0" rIns="0" bIns="0" rtlCol="0" anchor="ctr"/>
          <a:lstStyle/>
          <a:p>
            <a:pPr marL="0" indent="0">
              <a:buNone/>
            </a:pPr>
            <a:r>
              <a:rPr lang="en-US" sz="1800" b="1" dirty="0">
                <a:solidFill>
                  <a:srgbClr val="1A1A1A"/>
                </a:solidFill>
                <a:latin typeface="Cambria" pitchFamily="34" charset="0"/>
                <a:ea typeface="Cambria" pitchFamily="34" charset="-122"/>
                <a:cs typeface="Cambria" pitchFamily="34" charset="-120"/>
              </a:rPr>
              <a:t>Does the value-trend forecast actually work?</a:t>
            </a:r>
            <a:endParaRPr lang="en-US" sz="1800" dirty="0"/>
          </a:p>
        </p:txBody>
      </p:sp>
      <p:sp>
        <p:nvSpPr>
          <p:cNvPr id="7" name="Shape 4"/>
          <p:cNvSpPr/>
          <p:nvPr/>
        </p:nvSpPr>
        <p:spPr>
          <a:xfrm>
            <a:off x="822960" y="2057400"/>
            <a:ext cx="4937760" cy="896112"/>
          </a:xfrm>
          <a:prstGeom prst="roundRect">
            <a:avLst>
              <a:gd name="adj" fmla="val 7143"/>
            </a:avLst>
          </a:prstGeom>
          <a:solidFill>
            <a:srgbClr val="16264D"/>
          </a:solidFill>
          <a:ln/>
        </p:spPr>
        <p:txBody>
          <a:bodyPr/>
          <a:lstStyle/>
          <a:p>
            <a:endParaRPr lang="en-US"/>
          </a:p>
        </p:txBody>
      </p:sp>
      <p:sp>
        <p:nvSpPr>
          <p:cNvPr id="8" name="Text 5"/>
          <p:cNvSpPr/>
          <p:nvPr/>
        </p:nvSpPr>
        <p:spPr>
          <a:xfrm>
            <a:off x="1024128" y="2148840"/>
            <a:ext cx="4535424" cy="228600"/>
          </a:xfrm>
          <a:prstGeom prst="rect">
            <a:avLst/>
          </a:prstGeom>
          <a:noFill/>
          <a:ln/>
        </p:spPr>
        <p:txBody>
          <a:bodyPr wrap="square" lIns="0" tIns="0" rIns="0" bIns="0"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HYPOTHESIS</a:t>
            </a:r>
            <a:endParaRPr lang="en-US" sz="1200" dirty="0"/>
          </a:p>
        </p:txBody>
      </p:sp>
      <p:sp>
        <p:nvSpPr>
          <p:cNvPr id="9" name="Text 6"/>
          <p:cNvSpPr/>
          <p:nvPr/>
        </p:nvSpPr>
        <p:spPr>
          <a:xfrm>
            <a:off x="1024128" y="2377440"/>
            <a:ext cx="4535424" cy="530352"/>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A player's market value trend can be forecast from historical valuation snapshots alone.</a:t>
            </a:r>
            <a:endParaRPr lang="en-US" sz="1400" dirty="0"/>
          </a:p>
        </p:txBody>
      </p:sp>
      <p:sp>
        <p:nvSpPr>
          <p:cNvPr id="10" name="Shape 7"/>
          <p:cNvSpPr/>
          <p:nvPr/>
        </p:nvSpPr>
        <p:spPr>
          <a:xfrm>
            <a:off x="822960" y="3154680"/>
            <a:ext cx="4937760" cy="420624"/>
          </a:xfrm>
          <a:prstGeom prst="roundRect">
            <a:avLst>
              <a:gd name="adj" fmla="val 50000"/>
            </a:avLst>
          </a:prstGeom>
          <a:solidFill>
            <a:srgbClr val="C0392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69264" y="3255264"/>
            <a:ext cx="219456" cy="219456"/>
          </a:xfrm>
          <a:prstGeom prst="rect">
            <a:avLst/>
          </a:prstGeom>
        </p:spPr>
      </p:pic>
      <p:sp>
        <p:nvSpPr>
          <p:cNvPr id="12" name="Text 8"/>
          <p:cNvSpPr/>
          <p:nvPr/>
        </p:nvSpPr>
        <p:spPr>
          <a:xfrm>
            <a:off x="1280160" y="3154680"/>
            <a:ext cx="4389120" cy="420624"/>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NOT RELIABLE: worse than a coin flip</a:t>
            </a:r>
            <a:endParaRPr lang="en-US" sz="1350" dirty="0"/>
          </a:p>
        </p:txBody>
      </p:sp>
      <p:pic>
        <p:nvPicPr>
          <p:cNvPr id="13" name="Image 2" descr="preencoded.png"/>
          <p:cNvPicPr>
            <a:picLocks noChangeAspect="1"/>
          </p:cNvPicPr>
          <p:nvPr/>
        </p:nvPicPr>
        <p:blipFill>
          <a:blip r:embed="rId5"/>
          <a:stretch>
            <a:fillRect/>
          </a:stretch>
        </p:blipFill>
        <p:spPr>
          <a:xfrm>
            <a:off x="822960" y="3904488"/>
            <a:ext cx="219456" cy="219456"/>
          </a:xfrm>
          <a:prstGeom prst="rect">
            <a:avLst/>
          </a:prstGeom>
        </p:spPr>
      </p:pic>
      <p:sp>
        <p:nvSpPr>
          <p:cNvPr id="14" name="Text 9"/>
          <p:cNvSpPr/>
          <p:nvPr/>
        </p:nvSpPr>
        <p:spPr>
          <a:xfrm>
            <a:off x="1152144" y="3822192"/>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Backtested on 150 players: forecast gets the direction right only 22.7% of the time.</a:t>
            </a:r>
            <a:endParaRPr lang="en-US" sz="1400" dirty="0"/>
          </a:p>
        </p:txBody>
      </p:sp>
      <p:pic>
        <p:nvPicPr>
          <p:cNvPr id="15" name="Image 3" descr="preencoded.png"/>
          <p:cNvPicPr>
            <a:picLocks noChangeAspect="1"/>
          </p:cNvPicPr>
          <p:nvPr/>
        </p:nvPicPr>
        <p:blipFill>
          <a:blip r:embed="rId5"/>
          <a:stretch>
            <a:fillRect/>
          </a:stretch>
        </p:blipFill>
        <p:spPr>
          <a:xfrm>
            <a:off x="822960" y="4617720"/>
            <a:ext cx="219456" cy="219456"/>
          </a:xfrm>
          <a:prstGeom prst="rect">
            <a:avLst/>
          </a:prstGeom>
        </p:spPr>
      </p:pic>
      <p:sp>
        <p:nvSpPr>
          <p:cNvPr id="16" name="Text 10"/>
          <p:cNvSpPr/>
          <p:nvPr/>
        </p:nvSpPr>
        <p:spPr>
          <a:xfrm>
            <a:off x="1152144" y="4535424"/>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A coin flip would score about 50%. This model is confidently wrong, not just noisy.</a:t>
            </a:r>
            <a:endParaRPr lang="en-US" sz="1400" dirty="0"/>
          </a:p>
        </p:txBody>
      </p:sp>
      <p:pic>
        <p:nvPicPr>
          <p:cNvPr id="17" name="Image 4" descr="preencoded.png"/>
          <p:cNvPicPr>
            <a:picLocks noChangeAspect="1"/>
          </p:cNvPicPr>
          <p:nvPr/>
        </p:nvPicPr>
        <p:blipFill>
          <a:blip r:embed="rId5"/>
          <a:stretch>
            <a:fillRect/>
          </a:stretch>
        </p:blipFill>
        <p:spPr>
          <a:xfrm>
            <a:off x="822960" y="5330952"/>
            <a:ext cx="219456" cy="219456"/>
          </a:xfrm>
          <a:prstGeom prst="rect">
            <a:avLst/>
          </a:prstGeom>
        </p:spPr>
      </p:pic>
      <p:sp>
        <p:nvSpPr>
          <p:cNvPr id="18" name="Text 11"/>
          <p:cNvSpPr/>
          <p:nvPr/>
        </p:nvSpPr>
        <p:spPr>
          <a:xfrm>
            <a:off x="1152144" y="5248656"/>
            <a:ext cx="4608576" cy="530352"/>
          </a:xfrm>
          <a:prstGeom prst="rect">
            <a:avLst/>
          </a:prstGeom>
          <a:noFill/>
          <a:ln/>
        </p:spPr>
        <p:txBody>
          <a:bodyPr wrap="square" lIns="0" tIns="0" rIns="0" bIns="0" rtlCol="0" anchor="t"/>
          <a:lstStyle/>
          <a:p>
            <a:pPr marL="0" indent="0">
              <a:buNone/>
            </a:pPr>
            <a:r>
              <a:rPr lang="en-US" sz="1400" dirty="0">
                <a:solidFill>
                  <a:srgbClr val="1A1A1A"/>
                </a:solidFill>
                <a:latin typeface="Calibri" pitchFamily="34" charset="0"/>
                <a:ea typeface="Calibri" pitchFamily="34" charset="-122"/>
                <a:cs typeface="Calibri" pitchFamily="34" charset="-120"/>
              </a:rPr>
              <a:t>Magnitude error is high too: 149% median error against real held-out values.</a:t>
            </a:r>
            <a:endParaRPr lang="en-US" sz="1400" dirty="0"/>
          </a:p>
        </p:txBody>
      </p:sp>
      <p:sp>
        <p:nvSpPr>
          <p:cNvPr id="19" name="Shape 12"/>
          <p:cNvSpPr/>
          <p:nvPr/>
        </p:nvSpPr>
        <p:spPr>
          <a:xfrm>
            <a:off x="6217920" y="594360"/>
            <a:ext cx="5148072" cy="5623560"/>
          </a:xfrm>
          <a:prstGeom prst="roundRect">
            <a:avLst>
              <a:gd name="adj" fmla="val 1599"/>
            </a:avLst>
          </a:prstGeom>
          <a:solidFill>
            <a:srgbClr val="FFFFFF"/>
          </a:solidFill>
          <a:ln/>
          <a:effectLst>
            <a:outerShdw blurRad="101600" dist="38100" dir="5400000" algn="bl" rotWithShape="0">
              <a:srgbClr val="8C93A6">
                <a:alpha val="22000"/>
              </a:srgbClr>
            </a:outerShdw>
          </a:effectLst>
        </p:spPr>
        <p:txBody>
          <a:bodyPr/>
          <a:lstStyle/>
          <a:p>
            <a:endParaRPr lang="en-US"/>
          </a:p>
        </p:txBody>
      </p:sp>
      <p:sp>
        <p:nvSpPr>
          <p:cNvPr id="20" name="Text 13"/>
          <p:cNvSpPr/>
          <p:nvPr/>
        </p:nvSpPr>
        <p:spPr>
          <a:xfrm>
            <a:off x="6537960" y="822960"/>
            <a:ext cx="4507992" cy="36576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Directional accuracy vs. a coin-flip baseline (%)</a:t>
            </a:r>
            <a:endParaRPr lang="en-US" sz="1350" dirty="0"/>
          </a:p>
        </p:txBody>
      </p:sp>
      <p:sp>
        <p:nvSpPr>
          <p:cNvPr id="22" name="Text 14"/>
          <p:cNvSpPr/>
          <p:nvPr/>
        </p:nvSpPr>
        <p:spPr>
          <a:xfrm>
            <a:off x="6537960" y="5029200"/>
            <a:ext cx="4507992" cy="960120"/>
          </a:xfrm>
          <a:prstGeom prst="rect">
            <a:avLst/>
          </a:prstGeom>
          <a:noFill/>
          <a:ln/>
        </p:spPr>
        <p:txBody>
          <a:bodyPr wrap="square" lIns="0" tIns="0" rIns="0" bIns="0" rtlCol="0" anchor="t"/>
          <a:lstStyle/>
          <a:p>
            <a:pPr marL="0" indent="0">
              <a:buNone/>
            </a:pPr>
            <a:r>
              <a:rPr lang="en-US" sz="1300" i="1" dirty="0">
                <a:solidFill>
                  <a:srgbClr val="6B7280"/>
                </a:solidFill>
                <a:latin typeface="Calibri" pitchFamily="34" charset="0"/>
                <a:ea typeface="Calibri" pitchFamily="34" charset="-122"/>
                <a:cs typeface="Calibri" pitchFamily="34" charset="-120"/>
              </a:rPr>
              <a:t>n = 150 players sampled from 1,518 eligible (6+ valuation snapshots). Prophet model, log-space fit, last 2 snapshots per player held out.</a:t>
            </a:r>
            <a:endParaRPr lang="en-US" sz="1300" dirty="0"/>
          </a:p>
        </p:txBody>
      </p:sp>
      <p:sp>
        <p:nvSpPr>
          <p:cNvPr id="24" name="Text 1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A3A9B5"/>
                </a:solidFill>
                <a:latin typeface="Calibri" pitchFamily="34" charset="0"/>
                <a:ea typeface="Calibri" pitchFamily="34" charset="-122"/>
                <a:cs typeface="Calibri" pitchFamily="34" charset="-120"/>
              </a:rPr>
              <a:t>09</a:t>
            </a:r>
            <a:endParaRPr lang="en-US" sz="1000" dirty="0"/>
          </a:p>
        </p:txBody>
      </p:sp>
      <p:sp>
        <p:nvSpPr>
          <p:cNvPr id="26" name="TextBox 25"/>
          <p:cNvSpPr txBox="1"/>
          <p:nvPr/>
        </p:nvSpPr>
        <p:spPr>
          <a:xfrm>
            <a:off x="1152144" y="5820000"/>
            <a:ext cx="4608576" cy="550000"/>
          </a:xfrm>
          <a:prstGeom prst="rect">
            <a:avLst/>
          </a:prstGeom>
          <a:noFill/>
        </p:spPr>
        <p:txBody>
          <a:bodyPr wrap="square" lIns="0" rIns="0" tIns="0" bIns="0">
            <a:spAutoFit/>
          </a:bodyPr>
          <a:lstStyle/>
          <a:p>
            <a:pPr algn="l"/>
            <a:r>
              <a:rPr sz="1000" i="1" b="1">
                <a:solidFill>
                  <a:srgbClr val="44506B"/>
                </a:solidFill>
                <a:latin typeface="Calibri"/>
              </a:rPr>
              <a:t>Term check: </a:t>
            </a:r>
            <a:r>
              <a:rPr sz="1000" i="1" b="0">
                <a:solidFill>
                  <a:srgbClr val="44506B"/>
                </a:solidFill>
                <a:latin typeface="Calibri"/>
              </a:rPr>
              <a:t>“directional accuracy” = did the forecast get up-vs-down right (not the exact number). “Backtested” = tested against real past outcomes the model never saw during training.</a:t>
            </a:r>
          </a:p>
        </p:txBody>
      </p:sp>
      <p:graphicFrame>
        <p:nvGraphicFramePr>
          <p:cNvPr id="27" name="Chart 26"/>
          <p:cNvGraphicFramePr>
            <a:graphicFrameLocks noGrp="1"/>
          </p:cNvGraphicFramePr>
          <p:nvPr/>
        </p:nvGraphicFramePr>
        <p:xfrm>
          <a:off x="6537960" y="1280160"/>
          <a:ext cx="4507992" cy="3566160"/>
        </p:xfrm>
        <a:graphic>
          <a:graphicData uri="http://schemas.openxmlformats.org/drawingml/2006/chart">
            <c:chart xmlns:c="http://schemas.openxmlformats.org/drawingml/2006/chart" r:id="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365760" y="-365760"/>
            <a:ext cx="731520" cy="731520"/>
          </a:xfrm>
          <a:prstGeom prst="ellipse">
            <a:avLst/>
          </a:prstGeom>
          <a:ln w="19050">
            <a:solidFill>
              <a:srgbClr val="1F7A4D">
                <a:alpha val="45000"/>
              </a:srgbClr>
            </a:solidFill>
            <a:prstDash val="solid"/>
          </a:ln>
        </p:spPr>
        <p:txBody>
          <a:bodyPr/>
          <a:lstStyle/>
          <a:p>
            <a:endParaRPr lang="en-US"/>
          </a:p>
        </p:txBody>
      </p:sp>
      <p:sp>
        <p:nvSpPr>
          <p:cNvPr id="3" name="Shape 1"/>
          <p:cNvSpPr/>
          <p:nvPr/>
        </p:nvSpPr>
        <p:spPr>
          <a:xfrm>
            <a:off x="11825935" y="-365760"/>
            <a:ext cx="731520" cy="731520"/>
          </a:xfrm>
          <a:prstGeom prst="ellipse">
            <a:avLst/>
          </a:prstGeom>
          <a:ln w="19050">
            <a:solidFill>
              <a:srgbClr val="1F7A4D">
                <a:alpha val="45000"/>
              </a:srgbClr>
            </a:solidFill>
            <a:prstDash val="solid"/>
          </a:ln>
        </p:spPr>
        <p:txBody>
          <a:bodyPr/>
          <a:lstStyle/>
          <a:p>
            <a:endParaRPr lang="en-US"/>
          </a:p>
        </p:txBody>
      </p:sp>
      <p:sp>
        <p:nvSpPr>
          <p:cNvPr id="4" name="Shape 2"/>
          <p:cNvSpPr/>
          <p:nvPr/>
        </p:nvSpPr>
        <p:spPr>
          <a:xfrm>
            <a:off x="-365760" y="6492240"/>
            <a:ext cx="731520" cy="731520"/>
          </a:xfrm>
          <a:prstGeom prst="ellipse">
            <a:avLst/>
          </a:prstGeom>
          <a:ln w="19050">
            <a:solidFill>
              <a:srgbClr val="1F7A4D">
                <a:alpha val="45000"/>
              </a:srgbClr>
            </a:solidFill>
            <a:prstDash val="solid"/>
          </a:ln>
        </p:spPr>
        <p:txBody>
          <a:bodyPr/>
          <a:lstStyle/>
          <a:p>
            <a:endParaRPr lang="en-US"/>
          </a:p>
        </p:txBody>
      </p:sp>
      <p:sp>
        <p:nvSpPr>
          <p:cNvPr id="5" name="Shape 3"/>
          <p:cNvSpPr/>
          <p:nvPr/>
        </p:nvSpPr>
        <p:spPr>
          <a:xfrm>
            <a:off x="11825935" y="6492240"/>
            <a:ext cx="731520" cy="731520"/>
          </a:xfrm>
          <a:prstGeom prst="ellipse">
            <a:avLst/>
          </a:prstGeom>
          <a:ln w="19050">
            <a:solidFill>
              <a:srgbClr val="1F7A4D">
                <a:alpha val="45000"/>
              </a:srgbClr>
            </a:solidFill>
            <a:prstDash val="solid"/>
          </a:ln>
        </p:spPr>
        <p:txBody>
          <a:bodyPr/>
          <a:lstStyle/>
          <a:p>
            <a:endParaRPr lang="en-US"/>
          </a:p>
        </p:txBody>
      </p:sp>
      <p:sp>
        <p:nvSpPr>
          <p:cNvPr id="6" name="Shape 4"/>
          <p:cNvSpPr/>
          <p:nvPr/>
        </p:nvSpPr>
        <p:spPr>
          <a:xfrm>
            <a:off x="-1371600" y="6217920"/>
            <a:ext cx="3657600" cy="3657600"/>
          </a:xfrm>
          <a:prstGeom prst="ellipse">
            <a:avLst/>
          </a:prstGeom>
          <a:solidFill>
            <a:srgbClr val="1F7A4D">
              <a:alpha val="5000"/>
            </a:srgbClr>
          </a:solidFill>
          <a:ln w="25400">
            <a:solidFill>
              <a:srgbClr val="1F7A4D">
                <a:alpha val="38000"/>
              </a:srgbClr>
            </a:solidFill>
            <a:prstDash val="solid"/>
          </a:ln>
        </p:spPr>
        <p:txBody>
          <a:bodyPr/>
          <a:lstStyle/>
          <a:p>
            <a:endParaRPr lang="en-US"/>
          </a:p>
        </p:txBody>
      </p:sp>
      <p:sp>
        <p:nvSpPr>
          <p:cNvPr id="7" name="Shape 5"/>
          <p:cNvSpPr/>
          <p:nvPr/>
        </p:nvSpPr>
        <p:spPr>
          <a:xfrm>
            <a:off x="411480" y="8001000"/>
            <a:ext cx="91440" cy="91440"/>
          </a:xfrm>
          <a:prstGeom prst="ellipse">
            <a:avLst/>
          </a:prstGeom>
          <a:solidFill>
            <a:srgbClr val="E8A33D">
              <a:alpha val="75000"/>
            </a:srgbClr>
          </a:solidFill>
          <a:ln/>
        </p:spPr>
        <p:txBody>
          <a:bodyPr/>
          <a:lstStyle/>
          <a:p>
            <a:endParaRPr lang="en-US"/>
          </a:p>
        </p:txBody>
      </p:sp>
      <p:sp>
        <p:nvSpPr>
          <p:cNvPr id="8" name="Shape 6"/>
          <p:cNvSpPr/>
          <p:nvPr/>
        </p:nvSpPr>
        <p:spPr>
          <a:xfrm>
            <a:off x="685800" y="502920"/>
            <a:ext cx="822960" cy="822960"/>
          </a:xfrm>
          <a:prstGeom prst="ellipse">
            <a:avLst/>
          </a:prstGeom>
          <a:solidFill>
            <a:srgbClr val="E8A33D">
              <a:alpha val="20000"/>
            </a:srgbClr>
          </a:solidFill>
          <a:ln/>
        </p:spPr>
        <p:txBody>
          <a:bodyPr/>
          <a:lstStyle/>
          <a:p>
            <a:endParaRPr lang="en-US"/>
          </a:p>
        </p:txBody>
      </p:sp>
      <p:sp>
        <p:nvSpPr>
          <p:cNvPr id="9" name="Shape 7"/>
          <p:cNvSpPr/>
          <p:nvPr/>
        </p:nvSpPr>
        <p:spPr>
          <a:xfrm>
            <a:off x="822960" y="640080"/>
            <a:ext cx="548640" cy="548640"/>
          </a:xfrm>
          <a:prstGeom prst="ellipse">
            <a:avLst/>
          </a:prstGeom>
          <a:solidFill>
            <a:srgbClr val="E8A33D"/>
          </a:solidFill>
          <a:ln/>
        </p:spPr>
        <p:txBody>
          <a:bodyPr/>
          <a:lstStyle/>
          <a:p>
            <a:endParaRPr lang="en-US"/>
          </a:p>
        </p:txBody>
      </p:sp>
      <p:sp>
        <p:nvSpPr>
          <p:cNvPr id="11" name="Text 8"/>
          <p:cNvSpPr/>
          <p:nvPr/>
        </p:nvSpPr>
        <p:spPr>
          <a:xfrm>
            <a:off x="1536192" y="777240"/>
            <a:ext cx="5486400" cy="274320"/>
          </a:xfrm>
          <a:prstGeom prst="rect">
            <a:avLst/>
          </a:prstGeom>
          <a:noFill/>
          <a:ln/>
        </p:spPr>
        <p:txBody>
          <a:bodyPr wrap="square" lIns="0" tIns="0" rIns="0" bIns="0"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THE HONEST CAVEAT</a:t>
            </a:r>
            <a:endParaRPr lang="en-US" sz="1400" dirty="0"/>
          </a:p>
        </p:txBody>
      </p:sp>
      <p:graphicFrame>
        <p:nvGraphicFramePr>
          <p:cNvPr id="12" name="Chart 0"/>
          <p:cNvGraphicFramePr/>
          <p:nvPr/>
        </p:nvGraphicFramePr>
        <p:xfrm>
          <a:off x="1051560" y="1417320"/>
          <a:ext cx="30632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9"/>
          <p:cNvSpPr/>
          <p:nvPr/>
        </p:nvSpPr>
        <p:spPr>
          <a:xfrm>
            <a:off x="1051560" y="2446020"/>
            <a:ext cx="3063240" cy="7772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67%</a:t>
            </a:r>
            <a:endParaRPr lang="en-US" sz="4400" dirty="0"/>
          </a:p>
        </p:txBody>
      </p:sp>
      <p:sp>
        <p:nvSpPr>
          <p:cNvPr id="14" name="Text 10"/>
          <p:cNvSpPr/>
          <p:nvPr/>
        </p:nvSpPr>
        <p:spPr>
          <a:xfrm>
            <a:off x="1051560" y="3150108"/>
            <a:ext cx="3063240" cy="320040"/>
          </a:xfrm>
          <a:prstGeom prst="rect">
            <a:avLst/>
          </a:prstGeom>
          <a:noFill/>
          <a:ln/>
        </p:spPr>
        <p:txBody>
          <a:bodyPr wrap="square" lIns="0" tIns="0" rIns="0" bIns="0" rtlCol="0" anchor="ctr"/>
          <a:lstStyle/>
          <a:p>
            <a:pPr marL="0" indent="0" algn="ctr">
              <a:buNone/>
            </a:pPr>
            <a:r>
              <a:rPr lang="en-US" sz="1200" b="1" kern="0" spc="200" dirty="0">
                <a:solidFill>
                  <a:srgbClr val="E8A33D"/>
                </a:solidFill>
                <a:latin typeface="Calibri" pitchFamily="34" charset="0"/>
                <a:ea typeface="Calibri" pitchFamily="34" charset="-122"/>
                <a:cs typeface="Calibri" pitchFamily="34" charset="-120"/>
              </a:rPr>
              <a:t>EXCLUDED</a:t>
            </a:r>
            <a:endParaRPr lang="en-US" sz="1200" dirty="0"/>
          </a:p>
        </p:txBody>
      </p:sp>
      <p:sp>
        <p:nvSpPr>
          <p:cNvPr id="15" name="Shape 11"/>
          <p:cNvSpPr/>
          <p:nvPr/>
        </p:nvSpPr>
        <p:spPr>
          <a:xfrm>
            <a:off x="1051560" y="5156200"/>
            <a:ext cx="146304" cy="146304"/>
          </a:xfrm>
          <a:prstGeom prst="ellipse">
            <a:avLst/>
          </a:prstGeom>
          <a:solidFill>
            <a:srgbClr val="E8A33D"/>
          </a:solidFill>
          <a:ln/>
        </p:spPr>
        <p:txBody>
          <a:bodyPr/>
          <a:lstStyle/>
          <a:p>
            <a:endParaRPr lang="en-US"/>
          </a:p>
        </p:txBody>
      </p:sp>
      <p:sp>
        <p:nvSpPr>
          <p:cNvPr id="16" name="Text 12"/>
          <p:cNvSpPr/>
          <p:nvPr/>
        </p:nvSpPr>
        <p:spPr>
          <a:xfrm>
            <a:off x="1298448" y="5110480"/>
            <a:ext cx="4064000" cy="457200"/>
          </a:xfrm>
          <a:prstGeom prst="rect">
            <a:avLst/>
          </a:prstGeom>
          <a:noFill/>
          <a:ln/>
        </p:spPr>
        <p:txBody>
          <a:bodyPr wrap="square" lIns="0" tIns="0" rIns="0" bIns="0" rtlCol="0" anchor="t"/>
          <a:lstStyle/>
          <a:p>
            <a:pPr marL="0" indent="0">
              <a:buNone/>
            </a:pPr>
            <a:r>
              <a:rPr lang="en-US" sz="1400" dirty="0">
                <a:solidFill>
                  <a:srgbClr val="E8ECF5"/>
                </a:solidFill>
                <a:latin typeface="Calibri" pitchFamily="34" charset="0"/>
                <a:ea typeface="Calibri" pitchFamily="34" charset="-122"/>
                <a:cs typeface="Calibri" pitchFamily="34" charset="-120"/>
              </a:rPr>
              <a:t>1,310 players excluded, zero recorded FBref playing time</a:t>
            </a:r>
            <a:endParaRPr lang="en-US" sz="1400" dirty="0">
              <a:solidFill>
                <a:srgbClr val="E8ECF5"/>
              </a:solidFill>
            </a:endParaRPr>
          </a:p>
        </p:txBody>
      </p:sp>
      <p:sp>
        <p:nvSpPr>
          <p:cNvPr id="17" name="Shape 13"/>
          <p:cNvSpPr/>
          <p:nvPr/>
        </p:nvSpPr>
        <p:spPr>
          <a:xfrm>
            <a:off x="1051560" y="5664200"/>
            <a:ext cx="146304" cy="146304"/>
          </a:xfrm>
          <a:prstGeom prst="ellipse">
            <a:avLst/>
          </a:prstGeom>
          <a:solidFill>
            <a:srgbClr val="8494C4"/>
          </a:solidFill>
          <a:ln w="9525">
            <a:solidFill>
              <a:srgbClr val="3C4A73"/>
            </a:solidFill>
            <a:prstDash val="solid"/>
          </a:ln>
        </p:spPr>
        <p:txBody>
          <a:bodyPr/>
          <a:lstStyle/>
          <a:p>
            <a:endParaRPr lang="en-US"/>
          </a:p>
        </p:txBody>
      </p:sp>
      <p:sp>
        <p:nvSpPr>
          <p:cNvPr id="18" name="Text 14"/>
          <p:cNvSpPr/>
          <p:nvPr/>
        </p:nvSpPr>
        <p:spPr>
          <a:xfrm>
            <a:off x="1298448" y="5618480"/>
            <a:ext cx="4064000" cy="457200"/>
          </a:xfrm>
          <a:prstGeom prst="rect">
            <a:avLst/>
          </a:prstGeom>
          <a:noFill/>
          <a:ln/>
        </p:spPr>
        <p:txBody>
          <a:bodyPr wrap="square" lIns="0" tIns="0" rIns="0" bIns="0" rtlCol="0" anchor="t"/>
          <a:lstStyle/>
          <a:p>
            <a:pPr marL="0" indent="0">
              <a:buNone/>
            </a:pPr>
            <a:r>
              <a:rPr lang="en-US" sz="1400" dirty="0">
                <a:solidFill>
                  <a:srgbClr val="E8ECF5"/>
                </a:solidFill>
                <a:latin typeface="Calibri" pitchFamily="34" charset="0"/>
                <a:ea typeface="Calibri" pitchFamily="34" charset="-122"/>
                <a:cs typeface="Calibri" pitchFamily="34" charset="-120"/>
              </a:rPr>
              <a:t>649 players included, usable playing-time data</a:t>
            </a:r>
            <a:endParaRPr lang="en-US" sz="1400" dirty="0">
              <a:solidFill>
                <a:srgbClr val="E8ECF5"/>
              </a:solidFill>
            </a:endParaRPr>
          </a:p>
        </p:txBody>
      </p:sp>
      <p:sp>
        <p:nvSpPr>
          <p:cNvPr id="19" name="Shape 15"/>
          <p:cNvSpPr/>
          <p:nvPr/>
        </p:nvSpPr>
        <p:spPr>
          <a:xfrm>
            <a:off x="5440680" y="777240"/>
            <a:ext cx="5943600" cy="5394960"/>
          </a:xfrm>
          <a:prstGeom prst="roundRect">
            <a:avLst>
              <a:gd name="adj" fmla="val 1525"/>
            </a:avLst>
          </a:prstGeom>
          <a:solidFill>
            <a:srgbClr val="16264D"/>
          </a:solidFill>
          <a:ln/>
        </p:spPr>
        <p:txBody>
          <a:bodyPr/>
          <a:lstStyle/>
          <a:p>
            <a:endParaRPr lang="en-US"/>
          </a:p>
        </p:txBody>
      </p:sp>
      <p:sp>
        <p:nvSpPr>
          <p:cNvPr id="20" name="Text 16"/>
          <p:cNvSpPr/>
          <p:nvPr/>
        </p:nvSpPr>
        <p:spPr>
          <a:xfrm>
            <a:off x="5760720" y="1005840"/>
            <a:ext cx="5303520" cy="457200"/>
          </a:xfrm>
          <a:prstGeom prst="rect">
            <a:avLst/>
          </a:prstGeom>
          <a:noFill/>
          <a:ln/>
        </p:spPr>
        <p:txBody>
          <a:bodyPr wrap="square" lIns="0" tIns="0" rIns="0" bIns="0" rtlCol="0" anchor="ctr"/>
          <a:lstStyle/>
          <a:p>
            <a:pPr marL="0" indent="0">
              <a:buNone/>
            </a:pPr>
            <a:r>
              <a:rPr lang="en-US" sz="1450" b="1" dirty="0">
                <a:solidFill>
                  <a:srgbClr val="E8A33D"/>
                </a:solidFill>
                <a:latin typeface="Calibri" pitchFamily="34" charset="0"/>
                <a:ea typeface="Calibri" pitchFamily="34" charset="-122"/>
                <a:cs typeface="Calibri" pitchFamily="34" charset="-120"/>
              </a:rPr>
              <a:t>Confirmed: a real coverage gap, not a matching bug</a:t>
            </a:r>
            <a:endParaRPr lang="en-US" sz="1450" dirty="0"/>
          </a:p>
        </p:txBody>
      </p:sp>
      <p:pic>
        <p:nvPicPr>
          <p:cNvPr id="21" name="Image 1" descr="preencoded.png"/>
          <p:cNvPicPr>
            <a:picLocks noChangeAspect="1"/>
          </p:cNvPicPr>
          <p:nvPr/>
        </p:nvPicPr>
        <p:blipFill>
          <a:blip r:embed="rId4"/>
          <a:stretch>
            <a:fillRect/>
          </a:stretch>
        </p:blipFill>
        <p:spPr>
          <a:xfrm>
            <a:off x="5740400" y="1816100"/>
            <a:ext cx="254000" cy="254000"/>
          </a:xfrm>
          <a:prstGeom prst="rect">
            <a:avLst/>
          </a:prstGeom>
        </p:spPr>
      </p:pic>
      <p:sp>
        <p:nvSpPr>
          <p:cNvPr id="22" name="Text 17"/>
          <p:cNvSpPr/>
          <p:nvPr/>
        </p:nvSpPr>
        <p:spPr>
          <a:xfrm>
            <a:off x="6089904" y="1752600"/>
            <a:ext cx="4974336" cy="7772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Zero of the 1,310 have any exact FBref name match. That rules out a silent matching bug.</a:t>
            </a:r>
            <a:endParaRPr lang="en-US" sz="1400" dirty="0"/>
          </a:p>
        </p:txBody>
      </p:sp>
      <p:pic>
        <p:nvPicPr>
          <p:cNvPr id="23" name="Image 2" descr="preencoded.png"/>
          <p:cNvPicPr>
            <a:picLocks noChangeAspect="1"/>
          </p:cNvPicPr>
          <p:nvPr/>
        </p:nvPicPr>
        <p:blipFill>
          <a:blip r:embed="rId4"/>
          <a:stretch>
            <a:fillRect/>
          </a:stretch>
        </p:blipFill>
        <p:spPr>
          <a:xfrm>
            <a:off x="5740400" y="2882900"/>
            <a:ext cx="254000" cy="254000"/>
          </a:xfrm>
          <a:prstGeom prst="rect">
            <a:avLst/>
          </a:prstGeom>
        </p:spPr>
      </p:pic>
      <p:sp>
        <p:nvSpPr>
          <p:cNvPr id="24" name="Text 18"/>
          <p:cNvSpPr/>
          <p:nvPr/>
        </p:nvSpPr>
        <p:spPr>
          <a:xfrm>
            <a:off x="6089904" y="2819400"/>
            <a:ext cx="4974336" cy="7772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257 simply had no valuation yet during FBref's 2017–2024 window.</a:t>
            </a:r>
            <a:endParaRPr lang="en-US" sz="1400" dirty="0"/>
          </a:p>
        </p:txBody>
      </p:sp>
      <p:pic>
        <p:nvPicPr>
          <p:cNvPr id="25" name="Image 3" descr="preencoded.png"/>
          <p:cNvPicPr>
            <a:picLocks noChangeAspect="1"/>
          </p:cNvPicPr>
          <p:nvPr/>
        </p:nvPicPr>
        <p:blipFill>
          <a:blip r:embed="rId4"/>
          <a:stretch>
            <a:fillRect/>
          </a:stretch>
        </p:blipFill>
        <p:spPr>
          <a:xfrm>
            <a:off x="5740400" y="3949700"/>
            <a:ext cx="254000" cy="254000"/>
          </a:xfrm>
          <a:prstGeom prst="rect">
            <a:avLst/>
          </a:prstGeom>
        </p:spPr>
      </p:pic>
      <p:sp>
        <p:nvSpPr>
          <p:cNvPr id="26" name="Text 19"/>
          <p:cNvSpPr/>
          <p:nvPr/>
        </p:nvSpPr>
        <p:spPr>
          <a:xfrm>
            <a:off x="6089904" y="3886200"/>
            <a:ext cx="4974336" cy="7772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269 more looked like possible matches. Manual review found none, just shared surnames.</a:t>
            </a:r>
            <a:endParaRPr lang="en-US" sz="1400" dirty="0"/>
          </a:p>
        </p:txBody>
      </p:sp>
      <p:pic>
        <p:nvPicPr>
          <p:cNvPr id="27" name="Image 4" descr="preencoded.png"/>
          <p:cNvPicPr>
            <a:picLocks noChangeAspect="1"/>
          </p:cNvPicPr>
          <p:nvPr/>
        </p:nvPicPr>
        <p:blipFill>
          <a:blip r:embed="rId4"/>
          <a:stretch>
            <a:fillRect/>
          </a:stretch>
        </p:blipFill>
        <p:spPr>
          <a:xfrm>
            <a:off x="5740400" y="5016500"/>
            <a:ext cx="254000" cy="254000"/>
          </a:xfrm>
          <a:prstGeom prst="rect">
            <a:avLst/>
          </a:prstGeom>
        </p:spPr>
      </p:pic>
      <p:sp>
        <p:nvSpPr>
          <p:cNvPr id="28" name="Text 20"/>
          <p:cNvSpPr/>
          <p:nvPr/>
        </p:nvSpPr>
        <p:spPr>
          <a:xfrm>
            <a:off x="6089904" y="4953000"/>
            <a:ext cx="4974336" cy="7772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Some, like Donnarumma and Zubimendi, genuinely were not in the Premier League yet.</a:t>
            </a:r>
            <a:endParaRPr lang="en-US" sz="1400" dirty="0"/>
          </a:p>
        </p:txBody>
      </p:sp>
      <p:sp>
        <p:nvSpPr>
          <p:cNvPr id="29" name="Text 21"/>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A8B4D0"/>
                </a:solidFill>
                <a:latin typeface="Calibri" pitchFamily="34" charset="0"/>
                <a:ea typeface="Calibri" pitchFamily="34" charset="-122"/>
                <a:cs typeface="Calibri" pitchFamily="34" charset="-120"/>
              </a:rPr>
              <a:t>10</a:t>
            </a:r>
            <a:endParaRPr lang="en-US" sz="1200" dirty="0">
              <a:solidFill>
                <a:srgbClr val="A8B4D0"/>
              </a:solidFill>
            </a:endParaRPr>
          </a:p>
        </p:txBody>
      </p:sp>
      <p:pic>
        <p:nvPicPr>
          <p:cNvPr id="30" name="Graphic 30" descr="Football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0430" y="717550"/>
            <a:ext cx="393700" cy="393700"/>
          </a:xfrm>
          <a:prstGeom prst="rect">
            <a:avLst/>
          </a:prstGeom>
        </p:spPr>
      </p:pic>
    </p:spTree>
    <p:extLst>
      <p:ext uri="{BB962C8B-B14F-4D97-AF65-F5344CB8AC3E}">
        <p14:creationId xmlns:p14="http://schemas.microsoft.com/office/powerpoint/2010/main" val="19667521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10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par>
                    <p:cTn id="14" fill="hold">
                      <p:stCondLst>
                        <p:cond delay="250"/>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childTnLst>
                          </p:cTn>
                        </p:par>
                      </p:childTnLst>
                    </p:cTn>
                  </p:par>
                  <p:par>
                    <p:cTn id="28" fill="hold">
                      <p:stCondLst>
                        <p:cond delay="250"/>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childTnLst>
                          </p:cTn>
                        </p:par>
                      </p:childTnLst>
                    </p:cTn>
                  </p:par>
                  <p:par>
                    <p:cTn id="36" fill="hold">
                      <p:stCondLst>
                        <p:cond delay="250"/>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50"/>
                                        <p:tgtEl>
                                          <p:spTgt spid="22"/>
                                        </p:tgtEl>
                                      </p:cBhvr>
                                    </p:animEffect>
                                  </p:childTnLst>
                                </p:cTn>
                              </p:par>
                            </p:childTnLst>
                          </p:cTn>
                        </p:par>
                      </p:childTnLst>
                    </p:cTn>
                  </p:par>
                  <p:par>
                    <p:cTn id="44" fill="hold">
                      <p:stCondLst>
                        <p:cond delay="250"/>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450"/>
                                        <p:tgtEl>
                                          <p:spTgt spid="23"/>
                                        </p:tgtEl>
                                      </p:cBhvr>
                                    </p:animEffect>
                                  </p:childTnLst>
                                </p:cTn>
                              </p:par>
                              <p:par>
                                <p:cTn id="49" presetID="10"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50"/>
                                        <p:tgtEl>
                                          <p:spTgt spid="24"/>
                                        </p:tgtEl>
                                      </p:cBhvr>
                                    </p:animEffect>
                                  </p:childTnLst>
                                </p:cTn>
                              </p:par>
                            </p:childTnLst>
                          </p:cTn>
                        </p:par>
                      </p:childTnLst>
                    </p:cTn>
                  </p:par>
                  <p:par>
                    <p:cTn id="52" fill="hold">
                      <p:stCondLst>
                        <p:cond delay="250"/>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50"/>
                                        <p:tgtEl>
                                          <p:spTgt spid="25"/>
                                        </p:tgtEl>
                                      </p:cBhvr>
                                    </p:animEffect>
                                  </p:childTnLst>
                                </p:cTn>
                              </p:par>
                              <p:par>
                                <p:cTn id="57" presetID="10"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50"/>
                                        <p:tgtEl>
                                          <p:spTgt spid="26"/>
                                        </p:tgtEl>
                                      </p:cBhvr>
                                    </p:animEffect>
                                  </p:childTnLst>
                                </p:cTn>
                              </p:par>
                            </p:childTnLst>
                          </p:cTn>
                        </p:par>
                      </p:childTnLst>
                    </p:cTn>
                  </p:par>
                  <p:par>
                    <p:cTn id="60" fill="hold">
                      <p:stCondLst>
                        <p:cond delay="250"/>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50"/>
                                        <p:tgtEl>
                                          <p:spTgt spid="27"/>
                                        </p:tgtEl>
                                      </p:cBhvr>
                                    </p:animEffect>
                                  </p:childTnLst>
                                </p:cTn>
                              </p:par>
                              <p:par>
                                <p:cTn id="65" presetID="10"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594360"/>
            <a:ext cx="5486400" cy="320040"/>
          </a:xfrm>
          <a:prstGeom prst="rect">
            <a:avLst/>
          </a:prstGeom>
          <a:noFill/>
          <a:ln/>
        </p:spPr>
        <p:txBody>
          <a:bodyPr wrap="square" lIns="0" tIns="0" rIns="0" bIns="0" rtlCol="0" anchor="ctr"/>
          <a:lstStyle/>
          <a:p>
            <a:pPr marL="0" indent="0">
              <a:buNone/>
            </a:pPr>
            <a:r>
              <a:rPr lang="en-US" sz="1400" b="1" kern="0" spc="200" dirty="0">
                <a:solidFill>
                  <a:srgbClr val="1F7A4D"/>
                </a:solidFill>
                <a:latin typeface="Calibri" pitchFamily="34" charset="0"/>
                <a:ea typeface="Calibri" pitchFamily="34" charset="-122"/>
                <a:cs typeface="Calibri" pitchFamily="34" charset="-120"/>
              </a:rPr>
              <a:t>SYNTHESIS</a:t>
            </a:r>
            <a:endParaRPr lang="en-US" sz="1400" dirty="0"/>
          </a:p>
        </p:txBody>
      </p:sp>
      <p:sp>
        <p:nvSpPr>
          <p:cNvPr id="3" name="Text 1"/>
          <p:cNvSpPr/>
          <p:nvPr/>
        </p:nvSpPr>
        <p:spPr>
          <a:xfrm>
            <a:off x="777240" y="896112"/>
            <a:ext cx="9144000" cy="73152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So, worth the investment?</a:t>
            </a:r>
            <a:endParaRPr lang="en-US" sz="3200" dirty="0"/>
          </a:p>
        </p:txBody>
      </p:sp>
      <p:sp>
        <p:nvSpPr>
          <p:cNvPr id="4" name="Text 2"/>
          <p:cNvSpPr/>
          <p:nvPr/>
        </p:nvSpPr>
        <p:spPr>
          <a:xfrm>
            <a:off x="822960" y="1645920"/>
            <a:ext cx="10332720" cy="777240"/>
          </a:xfrm>
          <a:prstGeom prst="rect">
            <a:avLst/>
          </a:prstGeom>
          <a:noFill/>
          <a:ln/>
        </p:spPr>
        <p:txBody>
          <a:bodyPr wrap="square" lIns="0" tIns="0" rIns="0" bIns="0" rtlCol="0" anchor="t"/>
          <a:lstStyle/>
          <a:p>
            <a:pPr marL="0" indent="0">
              <a:buNone/>
            </a:pPr>
            <a:r>
              <a:rPr lang="en-US" sz="1350" i="1" dirty="0">
                <a:solidFill>
                  <a:srgbClr val="6B7280"/>
                </a:solidFill>
                <a:latin typeface="Calibri" pitchFamily="34" charset="0"/>
                <a:ea typeface="Calibri" pitchFamily="34" charset="-122"/>
                <a:cs typeface="Calibri" pitchFamily="34" charset="-120"/>
              </a:rPr>
              <a:t>The clearest finding: any injury history flattens value growth, not how recent it is. That matters more because the raw value-trend forecast alone is unreliable (22.7% directional accuracy, worse than a coin flip), so this is the signal that actually protects a recruitment decision.</a:t>
            </a:r>
            <a:endParaRPr lang="en-US" sz="1350" dirty="0"/>
          </a:p>
        </p:txBody>
      </p:sp>
      <p:sp>
        <p:nvSpPr>
          <p:cNvPr id="5" name="Shape 3"/>
          <p:cNvSpPr/>
          <p:nvPr/>
        </p:nvSpPr>
        <p:spPr>
          <a:xfrm>
            <a:off x="822960" y="2697480"/>
            <a:ext cx="3383280" cy="2331720"/>
          </a:xfrm>
          <a:prstGeom prst="roundRect">
            <a:avLst>
              <a:gd name="adj" fmla="val 3529"/>
            </a:avLst>
          </a:prstGeom>
          <a:solidFill>
            <a:srgbClr val="FFFFFF"/>
          </a:solidFill>
          <a:ln w="19050">
            <a:solidFill>
              <a:srgbClr val="E8A33D"/>
            </a:solidFill>
            <a:prstDash val="solid"/>
          </a:ln>
          <a:effectLst>
            <a:outerShdw blurRad="101600" dist="38100" dir="5400000" algn="bl" rotWithShape="0">
              <a:srgbClr val="8C93A6">
                <a:alpha val="22000"/>
              </a:srgbClr>
            </a:outerShdw>
          </a:effectLst>
        </p:spPr>
        <p:txBody>
          <a:bodyPr/>
          <a:lstStyle/>
          <a:p>
            <a:endParaRPr lang="en-US"/>
          </a:p>
        </p:txBody>
      </p:sp>
      <p:sp>
        <p:nvSpPr>
          <p:cNvPr id="6" name="Shape 4"/>
          <p:cNvSpPr/>
          <p:nvPr/>
        </p:nvSpPr>
        <p:spPr>
          <a:xfrm>
            <a:off x="960120" y="2834640"/>
            <a:ext cx="713232" cy="713232"/>
          </a:xfrm>
          <a:prstGeom prst="ellipse">
            <a:avLst/>
          </a:prstGeom>
          <a:solidFill>
            <a:srgbClr val="E8A33D">
              <a:alpha val="20000"/>
            </a:srgbClr>
          </a:solidFill>
          <a:ln/>
        </p:spPr>
        <p:txBody>
          <a:bodyPr/>
          <a:lstStyle/>
          <a:p>
            <a:endParaRPr lang="en-US"/>
          </a:p>
        </p:txBody>
      </p:sp>
      <p:sp>
        <p:nvSpPr>
          <p:cNvPr id="7" name="Shape 5"/>
          <p:cNvSpPr/>
          <p:nvPr/>
        </p:nvSpPr>
        <p:spPr>
          <a:xfrm>
            <a:off x="1078992" y="2953512"/>
            <a:ext cx="475488" cy="475488"/>
          </a:xfrm>
          <a:prstGeom prst="ellipse">
            <a:avLst/>
          </a:prstGeom>
          <a:solidFill>
            <a:srgbClr val="E8A33D"/>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225296" y="3099816"/>
            <a:ext cx="182880" cy="182880"/>
          </a:xfrm>
          <a:prstGeom prst="rect">
            <a:avLst/>
          </a:prstGeom>
        </p:spPr>
      </p:pic>
      <p:sp>
        <p:nvSpPr>
          <p:cNvPr id="9" name="Text 6"/>
          <p:cNvSpPr/>
          <p:nvPr/>
        </p:nvSpPr>
        <p:spPr>
          <a:xfrm>
            <a:off x="1078992" y="3008376"/>
            <a:ext cx="2560320" cy="219456"/>
          </a:xfrm>
          <a:prstGeom prst="rect">
            <a:avLst/>
          </a:prstGeom>
          <a:noFill/>
          <a:ln/>
        </p:spPr>
        <p:txBody>
          <a:bodyPr wrap="square" lIns="0" tIns="0" rIns="0" bIns="0" rtlCol="0" anchor="ctr"/>
          <a:lstStyle/>
          <a:p>
            <a:pPr marL="0" indent="0" algn="r">
              <a:buNone/>
            </a:pPr>
            <a:r>
              <a:rPr lang="en-US" sz="1100" b="1" kern="0" spc="100" dirty="0">
                <a:solidFill>
                  <a:srgbClr val="B8790C"/>
                </a:solidFill>
                <a:latin typeface="Calibri" pitchFamily="34" charset="0"/>
                <a:ea typeface="Calibri" pitchFamily="34" charset="-122"/>
                <a:cs typeface="Calibri" pitchFamily="34" charset="-120"/>
              </a:rPr>
              <a:t>STRONGEST SIGNAL</a:t>
            </a:r>
            <a:endParaRPr lang="en-US" sz="1100" dirty="0"/>
          </a:p>
        </p:txBody>
      </p:sp>
      <p:sp>
        <p:nvSpPr>
          <p:cNvPr id="10" name="Text 7"/>
          <p:cNvSpPr/>
          <p:nvPr/>
        </p:nvSpPr>
        <p:spPr>
          <a:xfrm>
            <a:off x="1078992" y="3557016"/>
            <a:ext cx="2871216"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Scouting</a:t>
            </a:r>
            <a:endParaRPr lang="en-US" sz="1400" dirty="0"/>
          </a:p>
        </p:txBody>
      </p:sp>
      <p:sp>
        <p:nvSpPr>
          <p:cNvPr id="11" name="Text 8"/>
          <p:cNvSpPr/>
          <p:nvPr/>
        </p:nvSpPr>
        <p:spPr>
          <a:xfrm>
            <a:off x="1078992" y="3922776"/>
            <a:ext cx="2871216" cy="10058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Any injury history flattens value growth.</a:t>
            </a:r>
            <a:endParaRPr lang="en-US" sz="1400" dirty="0"/>
          </a:p>
        </p:txBody>
      </p:sp>
      <p:sp>
        <p:nvSpPr>
          <p:cNvPr id="12" name="Shape 9"/>
          <p:cNvSpPr/>
          <p:nvPr/>
        </p:nvSpPr>
        <p:spPr>
          <a:xfrm>
            <a:off x="4434840" y="2697480"/>
            <a:ext cx="3383280" cy="2331720"/>
          </a:xfrm>
          <a:prstGeom prst="roundRect">
            <a:avLst>
              <a:gd name="adj" fmla="val 3529"/>
            </a:avLst>
          </a:prstGeom>
          <a:solidFill>
            <a:srgbClr val="FFFFFF"/>
          </a:solidFill>
          <a:ln/>
          <a:effectLst>
            <a:outerShdw blurRad="101600" dist="38100" dir="5400000" algn="bl" rotWithShape="0">
              <a:srgbClr val="8C93A6">
                <a:alpha val="22000"/>
              </a:srgbClr>
            </a:outerShdw>
          </a:effectLst>
        </p:spPr>
        <p:txBody>
          <a:bodyPr/>
          <a:lstStyle/>
          <a:p>
            <a:endParaRPr lang="en-US"/>
          </a:p>
        </p:txBody>
      </p:sp>
      <p:sp>
        <p:nvSpPr>
          <p:cNvPr id="13" name="Shape 10"/>
          <p:cNvSpPr/>
          <p:nvPr/>
        </p:nvSpPr>
        <p:spPr>
          <a:xfrm>
            <a:off x="4572000" y="2834640"/>
            <a:ext cx="713232" cy="713232"/>
          </a:xfrm>
          <a:prstGeom prst="ellipse">
            <a:avLst/>
          </a:prstGeom>
          <a:solidFill>
            <a:srgbClr val="1F7A4D">
              <a:alpha val="20000"/>
            </a:srgbClr>
          </a:solidFill>
          <a:ln/>
        </p:spPr>
        <p:txBody>
          <a:bodyPr/>
          <a:lstStyle/>
          <a:p>
            <a:endParaRPr lang="en-US"/>
          </a:p>
        </p:txBody>
      </p:sp>
      <p:sp>
        <p:nvSpPr>
          <p:cNvPr id="14" name="Shape 11"/>
          <p:cNvSpPr/>
          <p:nvPr/>
        </p:nvSpPr>
        <p:spPr>
          <a:xfrm>
            <a:off x="4690872" y="2953512"/>
            <a:ext cx="475488" cy="475488"/>
          </a:xfrm>
          <a:prstGeom prst="ellipse">
            <a:avLst/>
          </a:prstGeom>
          <a:solidFill>
            <a:srgbClr val="1F7A4D"/>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837176" y="3099816"/>
            <a:ext cx="182880" cy="182880"/>
          </a:xfrm>
          <a:prstGeom prst="rect">
            <a:avLst/>
          </a:prstGeom>
        </p:spPr>
      </p:pic>
      <p:sp>
        <p:nvSpPr>
          <p:cNvPr id="16" name="Text 12"/>
          <p:cNvSpPr/>
          <p:nvPr/>
        </p:nvSpPr>
        <p:spPr>
          <a:xfrm>
            <a:off x="4690872" y="3557016"/>
            <a:ext cx="2871216"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Front Office</a:t>
            </a:r>
            <a:endParaRPr lang="en-US" sz="1400" dirty="0"/>
          </a:p>
        </p:txBody>
      </p:sp>
      <p:sp>
        <p:nvSpPr>
          <p:cNvPr id="17" name="Text 13"/>
          <p:cNvSpPr/>
          <p:nvPr/>
        </p:nvSpPr>
        <p:spPr>
          <a:xfrm>
            <a:off x="4690872" y="3922776"/>
            <a:ext cx="2871216" cy="10058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21–24 is the true value-risk sweet spot.</a:t>
            </a:r>
            <a:endParaRPr lang="en-US" sz="1400" dirty="0"/>
          </a:p>
        </p:txBody>
      </p:sp>
      <p:sp>
        <p:nvSpPr>
          <p:cNvPr id="18" name="Shape 14"/>
          <p:cNvSpPr/>
          <p:nvPr/>
        </p:nvSpPr>
        <p:spPr>
          <a:xfrm>
            <a:off x="8046720" y="2697480"/>
            <a:ext cx="3383280" cy="2331720"/>
          </a:xfrm>
          <a:prstGeom prst="roundRect">
            <a:avLst>
              <a:gd name="adj" fmla="val 3529"/>
            </a:avLst>
          </a:prstGeom>
          <a:solidFill>
            <a:srgbClr val="FFFFFF"/>
          </a:solidFill>
          <a:ln/>
          <a:effectLst>
            <a:outerShdw blurRad="101600" dist="38100" dir="5400000" algn="bl" rotWithShape="0">
              <a:srgbClr val="8C93A6">
                <a:alpha val="22000"/>
              </a:srgbClr>
            </a:outerShdw>
          </a:effectLst>
        </p:spPr>
        <p:txBody>
          <a:bodyPr/>
          <a:lstStyle/>
          <a:p>
            <a:endParaRPr lang="en-US"/>
          </a:p>
        </p:txBody>
      </p:sp>
      <p:sp>
        <p:nvSpPr>
          <p:cNvPr id="19" name="Shape 15"/>
          <p:cNvSpPr/>
          <p:nvPr/>
        </p:nvSpPr>
        <p:spPr>
          <a:xfrm>
            <a:off x="8183880" y="2834640"/>
            <a:ext cx="713232" cy="713232"/>
          </a:xfrm>
          <a:prstGeom prst="ellipse">
            <a:avLst/>
          </a:prstGeom>
          <a:solidFill>
            <a:srgbClr val="C0392B">
              <a:alpha val="20000"/>
            </a:srgbClr>
          </a:solidFill>
          <a:ln/>
        </p:spPr>
        <p:txBody>
          <a:bodyPr/>
          <a:lstStyle/>
          <a:p>
            <a:endParaRPr lang="en-US"/>
          </a:p>
        </p:txBody>
      </p:sp>
      <p:sp>
        <p:nvSpPr>
          <p:cNvPr id="20" name="Shape 16"/>
          <p:cNvSpPr/>
          <p:nvPr/>
        </p:nvSpPr>
        <p:spPr>
          <a:xfrm>
            <a:off x="8302752" y="2953512"/>
            <a:ext cx="475488" cy="475488"/>
          </a:xfrm>
          <a:prstGeom prst="ellipse">
            <a:avLst/>
          </a:prstGeom>
          <a:solidFill>
            <a:srgbClr val="C0392B"/>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8449056" y="3099816"/>
            <a:ext cx="182880" cy="182880"/>
          </a:xfrm>
          <a:prstGeom prst="rect">
            <a:avLst/>
          </a:prstGeom>
        </p:spPr>
      </p:pic>
      <p:sp>
        <p:nvSpPr>
          <p:cNvPr id="22" name="Text 17"/>
          <p:cNvSpPr/>
          <p:nvPr/>
        </p:nvSpPr>
        <p:spPr>
          <a:xfrm>
            <a:off x="8302752" y="3557016"/>
            <a:ext cx="2871216" cy="36576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Medical</a:t>
            </a:r>
            <a:endParaRPr lang="en-US" sz="1400" dirty="0"/>
          </a:p>
        </p:txBody>
      </p:sp>
      <p:sp>
        <p:nvSpPr>
          <p:cNvPr id="23" name="Text 18"/>
          <p:cNvSpPr/>
          <p:nvPr/>
        </p:nvSpPr>
        <p:spPr>
          <a:xfrm>
            <a:off x="8302752" y="3922776"/>
            <a:ext cx="2871216" cy="10058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Position risk is unconfirmed. Keep monitoring workload.</a:t>
            </a:r>
            <a:endParaRPr lang="en-US" sz="1400" dirty="0"/>
          </a:p>
        </p:txBody>
      </p:sp>
      <p:sp>
        <p:nvSpPr>
          <p:cNvPr id="24" name="Shape 19"/>
          <p:cNvSpPr/>
          <p:nvPr/>
        </p:nvSpPr>
        <p:spPr>
          <a:xfrm>
            <a:off x="822960" y="5349240"/>
            <a:ext cx="10515600" cy="1051560"/>
          </a:xfrm>
          <a:prstGeom prst="roundRect">
            <a:avLst>
              <a:gd name="adj" fmla="val 7826"/>
            </a:avLst>
          </a:prstGeom>
          <a:solidFill>
            <a:srgbClr val="0F1B3D"/>
          </a:solidFill>
          <a:ln/>
        </p:spPr>
        <p:txBody>
          <a:bodyPr/>
          <a:lstStyle/>
          <a:p>
            <a:endParaRPr lang="en-US"/>
          </a:p>
        </p:txBody>
      </p:sp>
      <p:sp>
        <p:nvSpPr>
          <p:cNvPr id="25" name="Text 20"/>
          <p:cNvSpPr/>
          <p:nvPr/>
        </p:nvSpPr>
        <p:spPr>
          <a:xfrm>
            <a:off x="1051560" y="5349240"/>
            <a:ext cx="10058400" cy="1051560"/>
          </a:xfrm>
          <a:prstGeom prst="rect">
            <a:avLst/>
          </a:prstGeom>
          <a:noFill/>
          <a:ln/>
        </p:spPr>
        <p:txBody>
          <a:bodyPr wrap="square" lIns="0" tIns="0" rIns="0" bIns="0" rtlCol="0" anchor="ctr"/>
          <a:lstStyle/>
          <a:p>
            <a:pPr marL="0" indent="0">
              <a:buNone/>
            </a:pPr>
            <a:r>
              <a:rPr lang="en-US" sz="1350" b="1" dirty="0">
                <a:solidFill>
                  <a:srgbClr val="E8A33D"/>
                </a:solidFill>
                <a:latin typeface="Calibri" pitchFamily="34" charset="0"/>
                <a:ea typeface="Calibri" pitchFamily="34" charset="-122"/>
                <a:cs typeface="Calibri" pitchFamily="34" charset="-120"/>
              </a:rPr>
              <a:t>Bottom line:  </a:t>
            </a:r>
            <a:r>
              <a:rPr lang="en-US" sz="1350" dirty="0">
                <a:solidFill>
                  <a:srgbClr val="FFFFFF"/>
                </a:solidFill>
                <a:latin typeface="Calibri" pitchFamily="34" charset="0"/>
                <a:ea typeface="Calibri" pitchFamily="34" charset="-122"/>
                <a:cs typeface="Calibri" pitchFamily="34" charset="-120"/>
              </a:rPr>
              <a:t>value forecast and injury risk, read together, give recruitment a more realistic picture than a rising valuation alone, and flag exactly where that picture is still uncertain.</a:t>
            </a:r>
            <a:endParaRPr lang="en-US" sz="1350" dirty="0"/>
          </a:p>
        </p:txBody>
      </p:sp>
      <p:sp>
        <p:nvSpPr>
          <p:cNvPr id="27" name="Text 21"/>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A3A9B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2" name="Shape 0"/>
          <p:cNvSpPr/>
          <p:nvPr/>
        </p:nvSpPr>
        <p:spPr>
          <a:xfrm>
            <a:off x="-365760" y="-365760"/>
            <a:ext cx="731520" cy="731520"/>
          </a:xfrm>
          <a:prstGeom prst="ellipse">
            <a:avLst/>
          </a:prstGeom>
          <a:ln w="19050">
            <a:solidFill>
              <a:srgbClr val="1F7A4D">
                <a:alpha val="45000"/>
              </a:srgbClr>
            </a:solidFill>
            <a:prstDash val="solid"/>
          </a:ln>
        </p:spPr>
        <p:txBody>
          <a:bodyPr/>
          <a:lstStyle/>
          <a:p>
            <a:endParaRPr lang="en-US"/>
          </a:p>
        </p:txBody>
      </p:sp>
      <p:sp>
        <p:nvSpPr>
          <p:cNvPr id="3" name="Shape 1"/>
          <p:cNvSpPr/>
          <p:nvPr/>
        </p:nvSpPr>
        <p:spPr>
          <a:xfrm>
            <a:off x="11825935" y="-365760"/>
            <a:ext cx="731520" cy="731520"/>
          </a:xfrm>
          <a:prstGeom prst="ellipse">
            <a:avLst/>
          </a:prstGeom>
          <a:ln w="19050">
            <a:solidFill>
              <a:srgbClr val="1F7A4D">
                <a:alpha val="45000"/>
              </a:srgbClr>
            </a:solidFill>
            <a:prstDash val="solid"/>
          </a:ln>
        </p:spPr>
        <p:txBody>
          <a:bodyPr/>
          <a:lstStyle/>
          <a:p>
            <a:endParaRPr lang="en-US"/>
          </a:p>
        </p:txBody>
      </p:sp>
      <p:sp>
        <p:nvSpPr>
          <p:cNvPr id="4" name="Shape 2"/>
          <p:cNvSpPr/>
          <p:nvPr/>
        </p:nvSpPr>
        <p:spPr>
          <a:xfrm>
            <a:off x="-365760" y="6492240"/>
            <a:ext cx="731520" cy="731520"/>
          </a:xfrm>
          <a:prstGeom prst="ellipse">
            <a:avLst/>
          </a:prstGeom>
          <a:ln w="19050">
            <a:solidFill>
              <a:srgbClr val="1F7A4D">
                <a:alpha val="45000"/>
              </a:srgbClr>
            </a:solidFill>
            <a:prstDash val="solid"/>
          </a:ln>
        </p:spPr>
        <p:txBody>
          <a:bodyPr/>
          <a:lstStyle/>
          <a:p>
            <a:endParaRPr lang="en-US"/>
          </a:p>
        </p:txBody>
      </p:sp>
      <p:sp>
        <p:nvSpPr>
          <p:cNvPr id="5" name="Shape 3"/>
          <p:cNvSpPr/>
          <p:nvPr/>
        </p:nvSpPr>
        <p:spPr>
          <a:xfrm>
            <a:off x="11825935" y="6492240"/>
            <a:ext cx="731520" cy="731520"/>
          </a:xfrm>
          <a:prstGeom prst="ellipse">
            <a:avLst/>
          </a:prstGeom>
          <a:ln w="19050">
            <a:solidFill>
              <a:srgbClr val="1F7A4D">
                <a:alpha val="45000"/>
              </a:srgbClr>
            </a:solidFill>
            <a:prstDash val="solid"/>
          </a:ln>
        </p:spPr>
        <p:txBody>
          <a:bodyPr/>
          <a:lstStyle/>
          <a:p>
            <a:endParaRPr lang="en-US"/>
          </a:p>
        </p:txBody>
      </p:sp>
      <p:sp>
        <p:nvSpPr>
          <p:cNvPr id="6" name="Shape 4"/>
          <p:cNvSpPr/>
          <p:nvPr/>
        </p:nvSpPr>
        <p:spPr>
          <a:xfrm>
            <a:off x="7863840" y="137160"/>
            <a:ext cx="6583680" cy="6583680"/>
          </a:xfrm>
          <a:prstGeom prst="ellipse">
            <a:avLst/>
          </a:prstGeom>
          <a:solidFill>
            <a:srgbClr val="1F7A4D">
              <a:alpha val="5000"/>
            </a:srgbClr>
          </a:solidFill>
          <a:ln w="25400">
            <a:solidFill>
              <a:srgbClr val="1F7A4D">
                <a:alpha val="38000"/>
              </a:srgbClr>
            </a:solidFill>
            <a:prstDash val="solid"/>
          </a:ln>
        </p:spPr>
        <p:txBody>
          <a:bodyPr/>
          <a:lstStyle/>
          <a:p>
            <a:endParaRPr lang="en-US"/>
          </a:p>
        </p:txBody>
      </p:sp>
      <p:sp>
        <p:nvSpPr>
          <p:cNvPr id="7" name="Shape 5"/>
          <p:cNvSpPr/>
          <p:nvPr/>
        </p:nvSpPr>
        <p:spPr>
          <a:xfrm>
            <a:off x="11109960" y="3383280"/>
            <a:ext cx="91440" cy="91440"/>
          </a:xfrm>
          <a:prstGeom prst="ellipse">
            <a:avLst/>
          </a:prstGeom>
          <a:solidFill>
            <a:srgbClr val="E8A33D">
              <a:alpha val="75000"/>
            </a:srgbClr>
          </a:solidFill>
          <a:ln/>
        </p:spPr>
        <p:txBody>
          <a:bodyPr/>
          <a:lstStyle/>
          <a:p>
            <a:endParaRPr lang="en-US"/>
          </a:p>
        </p:txBody>
      </p:sp>
      <p:sp>
        <p:nvSpPr>
          <p:cNvPr id="8" name="Shape 6"/>
          <p:cNvSpPr/>
          <p:nvPr/>
        </p:nvSpPr>
        <p:spPr>
          <a:xfrm>
            <a:off x="7863840" y="3429000"/>
            <a:ext cx="4327855" cy="0"/>
          </a:xfrm>
          <a:prstGeom prst="line">
            <a:avLst/>
          </a:prstGeom>
          <a:noFill/>
          <a:ln w="25400">
            <a:solidFill>
              <a:srgbClr val="1F7A4D">
                <a:alpha val="38000"/>
              </a:srgbClr>
            </a:solidFill>
            <a:prstDash val="solid"/>
          </a:ln>
        </p:spPr>
        <p:txBody>
          <a:bodyPr/>
          <a:lstStyle/>
          <a:p>
            <a:endParaRPr lang="en-US"/>
          </a:p>
        </p:txBody>
      </p:sp>
      <p:sp>
        <p:nvSpPr>
          <p:cNvPr id="9" name="Text 7"/>
          <p:cNvSpPr/>
          <p:nvPr/>
        </p:nvSpPr>
        <p:spPr>
          <a:xfrm>
            <a:off x="822960" y="1737360"/>
            <a:ext cx="5486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E8A33D"/>
                </a:solidFill>
                <a:effectLst/>
                <a:uLnTx/>
                <a:uFillTx/>
                <a:latin typeface="Calibri" pitchFamily="34" charset="0"/>
                <a:ea typeface="Calibri" pitchFamily="34" charset="-122"/>
                <a:cs typeface="Calibri" pitchFamily="34" charset="-120"/>
              </a:rPr>
              <a:t>NOW, IN TABLEAU</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2057400"/>
            <a:ext cx="82296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See it live.</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22960" y="3063240"/>
            <a:ext cx="749808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Switching to the interactive dashboards: value vs. injury risk, age, recency, and position, with cross-filtering across every view.</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a:hlinkClick r:id="rId3" tooltip="Open the Tableau workbook"/>
          </p:cNvPr>
          <p:cNvSpPr/>
          <p:nvPr/>
        </p:nvSpPr>
        <p:spPr>
          <a:xfrm>
            <a:off x="822960" y="4160520"/>
            <a:ext cx="3931920" cy="685800"/>
          </a:xfrm>
          <a:prstGeom prst="roundRect">
            <a:avLst>
              <a:gd name="adj" fmla="val 50000"/>
            </a:avLst>
          </a:prstGeom>
          <a:solidFill>
            <a:srgbClr val="E8A33D"/>
          </a:solidFill>
          <a:ln/>
        </p:spPr>
        <p:txBody>
          <a:bodyPr/>
          <a:lstStyle/>
          <a:p>
            <a:endParaRPr lang="en-US"/>
          </a:p>
        </p:txBody>
      </p:sp>
      <p:sp>
        <p:nvSpPr>
          <p:cNvPr id="13" name="Shape 11"/>
          <p:cNvSpPr/>
          <p:nvPr/>
        </p:nvSpPr>
        <p:spPr>
          <a:xfrm rot="5400000">
            <a:off x="1298448" y="4402836"/>
            <a:ext cx="201168" cy="201168"/>
          </a:xfrm>
          <a:prstGeom prst="triangle">
            <a:avLst/>
          </a:prstGeom>
          <a:solidFill>
            <a:srgbClr val="0F1B3D"/>
          </a:solidFill>
          <a:ln/>
        </p:spPr>
        <p:txBody>
          <a:bodyPr/>
          <a:lstStyle/>
          <a:p>
            <a:endParaRPr lang="en-US"/>
          </a:p>
        </p:txBody>
      </p:sp>
      <p:sp>
        <p:nvSpPr>
          <p:cNvPr id="14" name="Text 12">
            <a:hlinkClick r:id="rId3" tooltip="Open the Tableau workbook"/>
          </p:cNvPr>
          <p:cNvSpPr/>
          <p:nvPr/>
        </p:nvSpPr>
        <p:spPr>
          <a:xfrm>
            <a:off x="1691640" y="4160520"/>
            <a:ext cx="29718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sng" strike="noStrike" kern="1200" cap="none" spc="0" normalizeH="0" baseline="0" noProof="0" dirty="0">
                <a:ln>
                  <a:noFill/>
                </a:ln>
                <a:solidFill>
                  <a:srgbClr val="0F1B3D"/>
                </a:solidFill>
                <a:effectLst/>
                <a:uLnTx/>
                <a:uFillTx/>
                <a:latin typeface="Calibri" pitchFamily="34" charset="0"/>
                <a:ea typeface="Calibri" pitchFamily="34" charset="-122"/>
                <a:cs typeface="Calibri" pitchFamily="34" charset="-120"/>
                <a:hlinkClick r:id="rId3" tooltip="Open the Tableau workbook">
                  <a:extLst>
                    <a:ext uri="{A12FA001-AC4F-418D-AE19-62706E023703}">
                      <ahyp:hlinkClr xmlns:ahyp="http://schemas.microsoft.com/office/drawing/2018/hyperlinkcolor" val="tx"/>
                    </a:ext>
                  </a:extLst>
                </a:hlinkClick>
              </a:rPr>
              <a:t>Open Tableau Dashboard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822960" y="5129784"/>
            <a:ext cx="91440" cy="91440"/>
          </a:xfrm>
          <a:prstGeom prst="ellipse">
            <a:avLst/>
          </a:prstGeom>
          <a:solidFill>
            <a:srgbClr val="E8A33D"/>
          </a:solidFill>
          <a:ln/>
        </p:spPr>
        <p:txBody>
          <a:bodyPr/>
          <a:lstStyle/>
          <a:p>
            <a:endParaRPr lang="en-US"/>
          </a:p>
        </p:txBody>
      </p:sp>
      <p:sp>
        <p:nvSpPr>
          <p:cNvPr id="16" name="Text 14"/>
          <p:cNvSpPr/>
          <p:nvPr/>
        </p:nvSpPr>
        <p:spPr>
          <a:xfrm>
            <a:off x="1051560" y="5001768"/>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AEB8D6"/>
                </a:solidFill>
                <a:effectLst/>
                <a:uLnTx/>
                <a:uFillTx/>
                <a:latin typeface="Calibri" pitchFamily="34" charset="0"/>
                <a:ea typeface="Calibri" pitchFamily="34" charset="-122"/>
                <a:cs typeface="Calibri" pitchFamily="34" charset="-120"/>
              </a:rPr>
              <a:t>Cover (navigate from here)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22960" y="5422392"/>
            <a:ext cx="91440" cy="91440"/>
          </a:xfrm>
          <a:prstGeom prst="ellipse">
            <a:avLst/>
          </a:prstGeom>
          <a:solidFill>
            <a:srgbClr val="E8A33D"/>
          </a:solidFill>
          <a:ln/>
        </p:spPr>
        <p:txBody>
          <a:bodyPr/>
          <a:lstStyle/>
          <a:p>
            <a:endParaRPr lang="en-US"/>
          </a:p>
        </p:txBody>
      </p:sp>
      <p:sp>
        <p:nvSpPr>
          <p:cNvPr id="18" name="Text 16"/>
          <p:cNvSpPr/>
          <p:nvPr/>
        </p:nvSpPr>
        <p:spPr>
          <a:xfrm>
            <a:off x="1051560" y="5294376"/>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AEB8D6"/>
                </a:solidFill>
                <a:effectLst/>
                <a:uLnTx/>
                <a:uFillTx/>
                <a:latin typeface="Calibri" pitchFamily="34" charset="0"/>
                <a:ea typeface="Calibri" pitchFamily="34" charset="-122"/>
                <a:cs typeface="Calibri" pitchFamily="34" charset="-120"/>
              </a:rPr>
              <a:t>Value Trend</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822960" y="5715000"/>
            <a:ext cx="91440" cy="91440"/>
          </a:xfrm>
          <a:prstGeom prst="ellipse">
            <a:avLst/>
          </a:prstGeom>
          <a:solidFill>
            <a:srgbClr val="E8A33D"/>
          </a:solidFill>
          <a:ln/>
        </p:spPr>
        <p:txBody>
          <a:bodyPr/>
          <a:lstStyle/>
          <a:p>
            <a:endParaRPr lang="en-US"/>
          </a:p>
        </p:txBody>
      </p:sp>
      <p:sp>
        <p:nvSpPr>
          <p:cNvPr id="20" name="Text 18"/>
          <p:cNvSpPr/>
          <p:nvPr/>
        </p:nvSpPr>
        <p:spPr>
          <a:xfrm>
            <a:off x="1051560" y="5586984"/>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AEB8D6"/>
                </a:solidFill>
                <a:effectLst/>
                <a:uLnTx/>
                <a:uFillTx/>
                <a:latin typeface="Calibri" pitchFamily="34" charset="0"/>
                <a:ea typeface="Calibri" pitchFamily="34" charset="-122"/>
                <a:cs typeface="Calibri" pitchFamily="34" charset="-120"/>
              </a:rPr>
              <a:t>Risk Summary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822960" y="6007608"/>
            <a:ext cx="91440" cy="91440"/>
          </a:xfrm>
          <a:prstGeom prst="ellipse">
            <a:avLst/>
          </a:prstGeom>
          <a:solidFill>
            <a:srgbClr val="E8A33D"/>
          </a:solidFill>
          <a:ln/>
        </p:spPr>
        <p:txBody>
          <a:bodyPr/>
          <a:lstStyle/>
          <a:p>
            <a:endParaRPr lang="en-US"/>
          </a:p>
        </p:txBody>
      </p:sp>
      <p:sp>
        <p:nvSpPr>
          <p:cNvPr id="22" name="Text 20"/>
          <p:cNvSpPr/>
          <p:nvPr/>
        </p:nvSpPr>
        <p:spPr>
          <a:xfrm>
            <a:off x="1051560" y="5879592"/>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AEB8D6"/>
                </a:solidFill>
                <a:effectLst/>
                <a:uLnTx/>
                <a:uFillTx/>
                <a:latin typeface="Calibri" pitchFamily="34" charset="0"/>
                <a:ea typeface="Calibri" pitchFamily="34" charset="-122"/>
                <a:cs typeface="Calibri" pitchFamily="34" charset="-120"/>
              </a:rPr>
              <a:t>Age &amp; Risk Profile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822960" y="6300216"/>
            <a:ext cx="91440" cy="91440"/>
          </a:xfrm>
          <a:prstGeom prst="ellipse">
            <a:avLst/>
          </a:prstGeom>
          <a:solidFill>
            <a:srgbClr val="E8A33D"/>
          </a:solidFill>
          <a:ln/>
        </p:spPr>
        <p:txBody>
          <a:bodyPr/>
          <a:lstStyle/>
          <a:p>
            <a:endParaRPr lang="en-US"/>
          </a:p>
        </p:txBody>
      </p:sp>
      <p:sp>
        <p:nvSpPr>
          <p:cNvPr id="24" name="Text 22"/>
          <p:cNvSpPr/>
          <p:nvPr/>
        </p:nvSpPr>
        <p:spPr>
          <a:xfrm>
            <a:off x="1051560" y="6172200"/>
            <a:ext cx="3657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AEB8D6"/>
                </a:solidFill>
                <a:effectLst/>
                <a:uLnTx/>
                <a:uFillTx/>
                <a:latin typeface="Calibri" pitchFamily="34" charset="0"/>
                <a:ea typeface="Calibri" pitchFamily="34" charset="-122"/>
                <a:cs typeface="Calibri" pitchFamily="34" charset="-120"/>
              </a:rPr>
              <a:t>Recency &amp; Position Risk Profile</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3"/>
          <p:cNvSpPr/>
          <p:nvPr/>
        </p:nvSpPr>
        <p:spPr>
          <a:xfrm>
            <a:off x="11368735" y="6400800"/>
            <a:ext cx="54864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E7DA6"/>
                </a:solidFill>
                <a:effectLst/>
                <a:uLnTx/>
                <a:uFillTx/>
                <a:latin typeface="Calibri" pitchFamily="34" charset="0"/>
                <a:ea typeface="Calibri" pitchFamily="34" charset="-122"/>
                <a:cs typeface="Calibri" pitchFamily="34" charset="-120"/>
              </a:rPr>
              <a:t>12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822960" y="594360"/>
            <a:ext cx="5486400" cy="320040"/>
          </a:xfrm>
          <a:prstGeom prst="rect">
            <a:avLst/>
          </a:prstGeom>
          <a:noFill/>
          <a:ln/>
        </p:spPr>
        <p:txBody>
          <a:bodyPr wrap="square" lIns="0" tIns="0" rIns="0" bIns="0" rtlCol="0" anchor="ctr"/>
          <a:lstStyle/>
          <a:p>
            <a:pPr marL="0" indent="0">
              <a:buNone/>
            </a:pPr>
            <a:r>
              <a:rPr lang="en-US" sz="1400" b="1" kern="0" spc="200" dirty="0">
                <a:solidFill>
                  <a:srgbClr val="1F7A4D"/>
                </a:solidFill>
                <a:latin typeface="Calibri" pitchFamily="34" charset="0"/>
                <a:ea typeface="Calibri" pitchFamily="34" charset="-122"/>
                <a:cs typeface="Calibri" pitchFamily="34" charset="-120"/>
              </a:rPr>
              <a:t>RECOMMENDATIONS</a:t>
            </a:r>
            <a:endParaRPr lang="en-US" sz="1400" dirty="0"/>
          </a:p>
        </p:txBody>
      </p:sp>
      <p:sp>
        <p:nvSpPr>
          <p:cNvPr id="3" name="Text 1"/>
          <p:cNvSpPr/>
          <p:nvPr/>
        </p:nvSpPr>
        <p:spPr>
          <a:xfrm>
            <a:off x="777240" y="896112"/>
            <a:ext cx="9601200" cy="73152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What this means for recruitment</a:t>
            </a:r>
            <a:endParaRPr lang="en-US" sz="3200" dirty="0"/>
          </a:p>
        </p:txBody>
      </p:sp>
      <p:sp>
        <p:nvSpPr>
          <p:cNvPr id="4" name="Shape 2"/>
          <p:cNvSpPr/>
          <p:nvPr/>
        </p:nvSpPr>
        <p:spPr>
          <a:xfrm>
            <a:off x="822960" y="2011680"/>
            <a:ext cx="10515600" cy="1188720"/>
          </a:xfrm>
          <a:prstGeom prst="roundRect">
            <a:avLst>
              <a:gd name="adj" fmla="val 6923"/>
            </a:avLst>
          </a:prstGeom>
          <a:solidFill>
            <a:srgbClr val="FFFFFF"/>
          </a:solidFill>
          <a:ln/>
          <a:effectLst>
            <a:outerShdw blurRad="88900" dist="38100" dir="5400000" algn="bl" rotWithShape="0">
              <a:srgbClr val="8C93A6">
                <a:alpha val="20000"/>
              </a:srgbClr>
            </a:outerShdw>
          </a:effectLst>
        </p:spPr>
        <p:txBody>
          <a:bodyPr/>
          <a:lstStyle/>
          <a:p>
            <a:endParaRPr lang="en-US"/>
          </a:p>
        </p:txBody>
      </p:sp>
      <p:sp>
        <p:nvSpPr>
          <p:cNvPr id="5" name="Shape 3"/>
          <p:cNvSpPr/>
          <p:nvPr/>
        </p:nvSpPr>
        <p:spPr>
          <a:xfrm>
            <a:off x="937260" y="2180844"/>
            <a:ext cx="850392" cy="850392"/>
          </a:xfrm>
          <a:prstGeom prst="ellipse">
            <a:avLst/>
          </a:prstGeom>
          <a:solidFill>
            <a:srgbClr val="E8A33D">
              <a:alpha val="20000"/>
            </a:srgbClr>
          </a:solidFill>
          <a:ln/>
        </p:spPr>
        <p:txBody>
          <a:bodyPr/>
          <a:lstStyle/>
          <a:p>
            <a:endParaRPr lang="en-US"/>
          </a:p>
        </p:txBody>
      </p:sp>
      <p:sp>
        <p:nvSpPr>
          <p:cNvPr id="6" name="Shape 4"/>
          <p:cNvSpPr/>
          <p:nvPr/>
        </p:nvSpPr>
        <p:spPr>
          <a:xfrm>
            <a:off x="1078992" y="2322576"/>
            <a:ext cx="566928" cy="566928"/>
          </a:xfrm>
          <a:prstGeom prst="ellipse">
            <a:avLst/>
          </a:prstGeom>
          <a:solidFill>
            <a:srgbClr val="E8A33D"/>
          </a:solidFill>
          <a:ln/>
        </p:spPr>
        <p:txBody>
          <a:bodyPr/>
          <a:lstStyle/>
          <a:p>
            <a:endParaRPr lang="en-US"/>
          </a:p>
        </p:txBody>
      </p:sp>
      <p:sp>
        <p:nvSpPr>
          <p:cNvPr id="8" name="Text 5"/>
          <p:cNvSpPr/>
          <p:nvPr/>
        </p:nvSpPr>
        <p:spPr>
          <a:xfrm>
            <a:off x="1920240" y="2194560"/>
            <a:ext cx="2743200" cy="822960"/>
          </a:xfrm>
          <a:prstGeom prst="rect">
            <a:avLst/>
          </a:prstGeom>
          <a:noFill/>
          <a:ln/>
        </p:spPr>
        <p:txBody>
          <a:bodyPr wrap="square" lIns="0" tIns="0" rIns="0" bIns="0" rtlCol="0" anchor="ctr"/>
          <a:lstStyle/>
          <a:p>
            <a:pPr marL="0" indent="0">
              <a:buNone/>
            </a:pPr>
            <a:r>
              <a:rPr lang="en-US" sz="1550" b="1" dirty="0">
                <a:solidFill>
                  <a:srgbClr val="1A1A1A"/>
                </a:solidFill>
                <a:latin typeface="Calibri" pitchFamily="34" charset="0"/>
                <a:ea typeface="Calibri" pitchFamily="34" charset="-122"/>
                <a:cs typeface="Calibri" pitchFamily="34" charset="-120"/>
              </a:rPr>
              <a:t>Scouting</a:t>
            </a:r>
            <a:endParaRPr lang="en-US" sz="1550" dirty="0"/>
          </a:p>
        </p:txBody>
      </p:sp>
      <p:sp>
        <p:nvSpPr>
          <p:cNvPr id="9" name="Text 6"/>
          <p:cNvSpPr/>
          <p:nvPr/>
        </p:nvSpPr>
        <p:spPr>
          <a:xfrm>
            <a:off x="4318000" y="2148840"/>
            <a:ext cx="6794500" cy="91440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Screen for any injury history, not just recent incidents. That's the pattern the data actually supports.</a:t>
            </a:r>
            <a:endParaRPr lang="en-US" sz="1400" dirty="0">
              <a:solidFill>
                <a:srgbClr val="44506B"/>
              </a:solidFill>
            </a:endParaRPr>
          </a:p>
        </p:txBody>
      </p:sp>
      <p:sp>
        <p:nvSpPr>
          <p:cNvPr id="10" name="Shape 7"/>
          <p:cNvSpPr/>
          <p:nvPr/>
        </p:nvSpPr>
        <p:spPr>
          <a:xfrm>
            <a:off x="822960" y="3429000"/>
            <a:ext cx="10515600" cy="1188720"/>
          </a:xfrm>
          <a:prstGeom prst="roundRect">
            <a:avLst>
              <a:gd name="adj" fmla="val 6923"/>
            </a:avLst>
          </a:prstGeom>
          <a:solidFill>
            <a:srgbClr val="FFFFFF"/>
          </a:solidFill>
          <a:ln/>
          <a:effectLst>
            <a:outerShdw blurRad="88900" dist="38100" dir="5400000" algn="bl" rotWithShape="0">
              <a:srgbClr val="8C93A6">
                <a:alpha val="20000"/>
              </a:srgbClr>
            </a:outerShdw>
          </a:effectLst>
        </p:spPr>
        <p:txBody>
          <a:bodyPr/>
          <a:lstStyle/>
          <a:p>
            <a:endParaRPr lang="en-US"/>
          </a:p>
        </p:txBody>
      </p:sp>
      <p:sp>
        <p:nvSpPr>
          <p:cNvPr id="11" name="Shape 8"/>
          <p:cNvSpPr/>
          <p:nvPr/>
        </p:nvSpPr>
        <p:spPr>
          <a:xfrm>
            <a:off x="937260" y="3598164"/>
            <a:ext cx="850392" cy="850392"/>
          </a:xfrm>
          <a:prstGeom prst="ellipse">
            <a:avLst/>
          </a:prstGeom>
          <a:solidFill>
            <a:srgbClr val="1F7A4D">
              <a:alpha val="20000"/>
            </a:srgbClr>
          </a:solidFill>
          <a:ln/>
        </p:spPr>
        <p:txBody>
          <a:bodyPr/>
          <a:lstStyle/>
          <a:p>
            <a:endParaRPr lang="en-US"/>
          </a:p>
        </p:txBody>
      </p:sp>
      <p:sp>
        <p:nvSpPr>
          <p:cNvPr id="12" name="Shape 9"/>
          <p:cNvSpPr/>
          <p:nvPr/>
        </p:nvSpPr>
        <p:spPr>
          <a:xfrm>
            <a:off x="1078992" y="3739896"/>
            <a:ext cx="566928" cy="566928"/>
          </a:xfrm>
          <a:prstGeom prst="ellipse">
            <a:avLst/>
          </a:prstGeom>
          <a:solidFill>
            <a:srgbClr val="1F7A4D"/>
          </a:solidFill>
          <a:ln/>
        </p:spPr>
        <p:txBody>
          <a:bodyPr/>
          <a:lstStyle/>
          <a:p>
            <a:endParaRPr lang="en-US"/>
          </a:p>
        </p:txBody>
      </p:sp>
      <p:pic>
        <p:nvPicPr>
          <p:cNvPr id="13" name="Image 1" descr="preencoded.png"/>
          <p:cNvPicPr>
            <a:picLocks noChangeAspect="1"/>
          </p:cNvPicPr>
          <p:nvPr/>
        </p:nvPicPr>
        <p:blipFill>
          <a:blip r:embed="rId3"/>
          <a:stretch>
            <a:fillRect/>
          </a:stretch>
        </p:blipFill>
        <p:spPr>
          <a:xfrm>
            <a:off x="1225296" y="3886200"/>
            <a:ext cx="274320" cy="274320"/>
          </a:xfrm>
          <a:prstGeom prst="rect">
            <a:avLst/>
          </a:prstGeom>
        </p:spPr>
      </p:pic>
      <p:sp>
        <p:nvSpPr>
          <p:cNvPr id="14" name="Text 10"/>
          <p:cNvSpPr/>
          <p:nvPr/>
        </p:nvSpPr>
        <p:spPr>
          <a:xfrm>
            <a:off x="1920240" y="3611880"/>
            <a:ext cx="2743200" cy="822960"/>
          </a:xfrm>
          <a:prstGeom prst="rect">
            <a:avLst/>
          </a:prstGeom>
          <a:noFill/>
          <a:ln/>
        </p:spPr>
        <p:txBody>
          <a:bodyPr wrap="square" lIns="0" tIns="0" rIns="0" bIns="0" rtlCol="0" anchor="ctr"/>
          <a:lstStyle/>
          <a:p>
            <a:pPr marL="0" indent="0">
              <a:buNone/>
            </a:pPr>
            <a:r>
              <a:rPr lang="en-US" sz="1550" b="1" dirty="0">
                <a:solidFill>
                  <a:srgbClr val="1A1A1A"/>
                </a:solidFill>
                <a:latin typeface="Calibri" pitchFamily="34" charset="0"/>
                <a:ea typeface="Calibri" pitchFamily="34" charset="-122"/>
                <a:cs typeface="Calibri" pitchFamily="34" charset="-120"/>
              </a:rPr>
              <a:t>Front Office</a:t>
            </a:r>
            <a:endParaRPr lang="en-US" sz="1550" dirty="0"/>
          </a:p>
        </p:txBody>
      </p:sp>
      <p:sp>
        <p:nvSpPr>
          <p:cNvPr id="15" name="Text 11"/>
          <p:cNvSpPr/>
          <p:nvPr/>
        </p:nvSpPr>
        <p:spPr>
          <a:xfrm>
            <a:off x="4318000" y="3566160"/>
            <a:ext cx="6794500" cy="91440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Weight the 21–24 age band in valuation models. It's the only bracket combining above-average growth with below-average risk.</a:t>
            </a:r>
            <a:endParaRPr lang="en-US" sz="1400" dirty="0">
              <a:solidFill>
                <a:srgbClr val="44506B"/>
              </a:solidFill>
            </a:endParaRPr>
          </a:p>
        </p:txBody>
      </p:sp>
      <p:sp>
        <p:nvSpPr>
          <p:cNvPr id="16" name="Shape 12"/>
          <p:cNvSpPr/>
          <p:nvPr/>
        </p:nvSpPr>
        <p:spPr>
          <a:xfrm>
            <a:off x="822960" y="4846320"/>
            <a:ext cx="10515600" cy="1188720"/>
          </a:xfrm>
          <a:prstGeom prst="roundRect">
            <a:avLst>
              <a:gd name="adj" fmla="val 6923"/>
            </a:avLst>
          </a:prstGeom>
          <a:solidFill>
            <a:srgbClr val="FFFFFF"/>
          </a:solidFill>
          <a:ln/>
          <a:effectLst>
            <a:outerShdw blurRad="88900" dist="38100" dir="5400000" algn="bl" rotWithShape="0">
              <a:srgbClr val="8C93A6">
                <a:alpha val="20000"/>
              </a:srgbClr>
            </a:outerShdw>
          </a:effectLst>
        </p:spPr>
        <p:txBody>
          <a:bodyPr/>
          <a:lstStyle/>
          <a:p>
            <a:endParaRPr lang="en-US"/>
          </a:p>
        </p:txBody>
      </p:sp>
      <p:sp>
        <p:nvSpPr>
          <p:cNvPr id="17" name="Shape 13"/>
          <p:cNvSpPr/>
          <p:nvPr/>
        </p:nvSpPr>
        <p:spPr>
          <a:xfrm>
            <a:off x="937260" y="5015484"/>
            <a:ext cx="850392" cy="850392"/>
          </a:xfrm>
          <a:prstGeom prst="ellipse">
            <a:avLst/>
          </a:prstGeom>
          <a:solidFill>
            <a:srgbClr val="C0392B">
              <a:alpha val="20000"/>
            </a:srgbClr>
          </a:solidFill>
          <a:ln/>
        </p:spPr>
        <p:txBody>
          <a:bodyPr/>
          <a:lstStyle/>
          <a:p>
            <a:endParaRPr lang="en-US"/>
          </a:p>
        </p:txBody>
      </p:sp>
      <p:sp>
        <p:nvSpPr>
          <p:cNvPr id="18" name="Shape 14"/>
          <p:cNvSpPr/>
          <p:nvPr/>
        </p:nvSpPr>
        <p:spPr>
          <a:xfrm>
            <a:off x="1078992" y="5157216"/>
            <a:ext cx="566928" cy="566928"/>
          </a:xfrm>
          <a:prstGeom prst="ellipse">
            <a:avLst/>
          </a:prstGeom>
          <a:solidFill>
            <a:srgbClr val="C0392B"/>
          </a:solidFill>
          <a:ln/>
        </p:spPr>
        <p:txBody>
          <a:bodyPr/>
          <a:lstStyle/>
          <a:p>
            <a:endParaRPr lang="en-US"/>
          </a:p>
        </p:txBody>
      </p:sp>
      <p:pic>
        <p:nvPicPr>
          <p:cNvPr id="19" name="Image 2" descr="preencoded.png"/>
          <p:cNvPicPr>
            <a:picLocks noChangeAspect="1"/>
          </p:cNvPicPr>
          <p:nvPr/>
        </p:nvPicPr>
        <p:blipFill>
          <a:blip r:embed="rId4"/>
          <a:stretch>
            <a:fillRect/>
          </a:stretch>
        </p:blipFill>
        <p:spPr>
          <a:xfrm>
            <a:off x="1225296" y="5303520"/>
            <a:ext cx="274320" cy="274320"/>
          </a:xfrm>
          <a:prstGeom prst="rect">
            <a:avLst/>
          </a:prstGeom>
        </p:spPr>
      </p:pic>
      <p:sp>
        <p:nvSpPr>
          <p:cNvPr id="20" name="Text 15"/>
          <p:cNvSpPr/>
          <p:nvPr/>
        </p:nvSpPr>
        <p:spPr>
          <a:xfrm>
            <a:off x="1920240" y="5029200"/>
            <a:ext cx="2743200" cy="822960"/>
          </a:xfrm>
          <a:prstGeom prst="rect">
            <a:avLst/>
          </a:prstGeom>
          <a:noFill/>
          <a:ln/>
        </p:spPr>
        <p:txBody>
          <a:bodyPr wrap="square" lIns="0" tIns="0" rIns="0" bIns="0" rtlCol="0" anchor="ctr"/>
          <a:lstStyle/>
          <a:p>
            <a:pPr marL="0" indent="0">
              <a:buNone/>
            </a:pPr>
            <a:r>
              <a:rPr lang="en-US" sz="1550" b="1" dirty="0">
                <a:solidFill>
                  <a:srgbClr val="1A1A1A"/>
                </a:solidFill>
                <a:latin typeface="Calibri" pitchFamily="34" charset="0"/>
                <a:ea typeface="Calibri" pitchFamily="34" charset="-122"/>
                <a:cs typeface="Calibri" pitchFamily="34" charset="-120"/>
              </a:rPr>
              <a:t>Medical / Performance</a:t>
            </a:r>
            <a:endParaRPr lang="en-US" sz="1550" dirty="0"/>
          </a:p>
        </p:txBody>
      </p:sp>
      <p:sp>
        <p:nvSpPr>
          <p:cNvPr id="21" name="Text 16"/>
          <p:cNvSpPr/>
          <p:nvPr/>
        </p:nvSpPr>
        <p:spPr>
          <a:xfrm>
            <a:off x="4318000" y="4983480"/>
            <a:ext cx="6794500" cy="914400"/>
          </a:xfrm>
          <a:prstGeom prst="rect">
            <a:avLst/>
          </a:prstGeom>
          <a:noFill/>
          <a:ln/>
        </p:spPr>
        <p:txBody>
          <a:bodyPr wrap="square" lIns="0" tIns="0" rIns="0" bIns="0" rtlCol="0" anchor="ctr"/>
          <a:lstStyle/>
          <a:p>
            <a:pPr marL="0" indent="0">
              <a:buNone/>
            </a:pPr>
            <a:r>
              <a:rPr lang="en-US" sz="1400" dirty="0">
                <a:solidFill>
                  <a:srgbClr val="44506B"/>
                </a:solidFill>
                <a:latin typeface="Calibri" pitchFamily="34" charset="0"/>
                <a:ea typeface="Calibri" pitchFamily="34" charset="-122"/>
                <a:cs typeface="Calibri" pitchFamily="34" charset="-120"/>
              </a:rPr>
              <a:t>Keep workload monitoring regardless of position. The goalkeeper pattern is promising but not yet statistically confirmed.</a:t>
            </a:r>
            <a:endParaRPr lang="en-US" sz="1400" dirty="0">
              <a:solidFill>
                <a:srgbClr val="44506B"/>
              </a:solidFill>
            </a:endParaRPr>
          </a:p>
        </p:txBody>
      </p:sp>
      <p:sp>
        <p:nvSpPr>
          <p:cNvPr id="22" name="Text 1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5A6478"/>
                </a:solidFill>
                <a:latin typeface="Calibri" pitchFamily="34" charset="0"/>
                <a:ea typeface="Calibri" pitchFamily="34" charset="-122"/>
                <a:cs typeface="Calibri" pitchFamily="34" charset="-120"/>
              </a:rPr>
              <a:t>13</a:t>
            </a:r>
            <a:endParaRPr lang="en-US" sz="1200" dirty="0">
              <a:solidFill>
                <a:srgbClr val="5A6478"/>
              </a:solidFill>
            </a:endParaRPr>
          </a:p>
        </p:txBody>
      </p:sp>
      <p:pic>
        <p:nvPicPr>
          <p:cNvPr id="23" name="Graphic 23" descr="Trophy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2050" y="2406650"/>
            <a:ext cx="406400" cy="406400"/>
          </a:xfrm>
          <a:prstGeom prst="rect">
            <a:avLst/>
          </a:prstGeom>
        </p:spPr>
      </p:pic>
    </p:spTree>
    <p:extLst>
      <p:ext uri="{BB962C8B-B14F-4D97-AF65-F5344CB8AC3E}">
        <p14:creationId xmlns:p14="http://schemas.microsoft.com/office/powerpoint/2010/main" val="7447093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childTnLst>
                          </p:cTn>
                        </p:par>
                      </p:childTnLst>
                    </p:cTn>
                  </p:par>
                  <p:par>
                    <p:cTn id="20" fill="hold">
                      <p:stCondLst>
                        <p:cond delay="250"/>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5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childTnLst>
                                </p:cTn>
                              </p:par>
                            </p:childTnLst>
                          </p:cTn>
                        </p:par>
                      </p:childTnLst>
                    </p:cTn>
                  </p:par>
                  <p:par>
                    <p:cTn id="40" fill="hold">
                      <p:stCondLst>
                        <p:cond delay="250"/>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5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3D"/>
        </a:solidFill>
        <a:effectLst/>
      </p:bgPr>
    </p:bg>
    <p:spTree>
      <p:nvGrpSpPr>
        <p:cNvPr id="1" name=""/>
        <p:cNvGrpSpPr/>
        <p:nvPr/>
      </p:nvGrpSpPr>
      <p:grpSpPr>
        <a:xfrm>
          <a:off x="0" y="0"/>
          <a:ext cx="0" cy="0"/>
          <a:chOff x="0" y="0"/>
          <a:chExt cx="0" cy="0"/>
        </a:xfrm>
      </p:grpSpPr>
      <p:sp>
        <p:nvSpPr>
          <p:cNvPr id="900" name="Pitch 900"/>
          <p:cNvSpPr/>
          <p:nvPr/>
        </p:nvSpPr>
        <p:spPr>
          <a:xfrm>
            <a:off x="762000" y="762000"/>
            <a:ext cx="10668000" cy="5334000"/>
          </a:xfrm>
          <a:prstGeom prst="rect">
            <a:avLst/>
          </a:prstGeom>
          <a:noFill/>
          <a:ln w="15875">
            <a:solidFill>
              <a:srgbClr val="1A2A4E"/>
            </a:solidFill>
          </a:ln>
        </p:spPr>
        <p:txBody>
          <a:bodyPr/>
          <a:lstStyle/>
          <a:p>
            <a:endParaRPr/>
          </a:p>
        </p:txBody>
      </p:sp>
      <p:sp>
        <p:nvSpPr>
          <p:cNvPr id="901" name="Pitch 901"/>
          <p:cNvSpPr/>
          <p:nvPr/>
        </p:nvSpPr>
        <p:spPr>
          <a:xfrm>
            <a:off x="6096000" y="762000"/>
            <a:ext cx="0" cy="5334000"/>
          </a:xfrm>
          <a:prstGeom prst="line">
            <a:avLst/>
          </a:prstGeom>
          <a:noFill/>
          <a:ln w="15875">
            <a:solidFill>
              <a:srgbClr val="1A2A4E"/>
            </a:solidFill>
          </a:ln>
        </p:spPr>
        <p:txBody>
          <a:bodyPr/>
          <a:lstStyle/>
          <a:p>
            <a:endParaRPr/>
          </a:p>
        </p:txBody>
      </p:sp>
      <p:sp>
        <p:nvSpPr>
          <p:cNvPr id="902" name="Pitch 902"/>
          <p:cNvSpPr/>
          <p:nvPr/>
        </p:nvSpPr>
        <p:spPr>
          <a:xfrm>
            <a:off x="5207000" y="2540000"/>
            <a:ext cx="1778000" cy="1778000"/>
          </a:xfrm>
          <a:prstGeom prst="ellipse">
            <a:avLst/>
          </a:prstGeom>
          <a:noFill/>
          <a:ln w="15875">
            <a:solidFill>
              <a:srgbClr val="1A2A4E"/>
            </a:solidFill>
          </a:ln>
        </p:spPr>
        <p:txBody>
          <a:bodyPr/>
          <a:lstStyle/>
          <a:p>
            <a:endParaRPr/>
          </a:p>
        </p:txBody>
      </p:sp>
      <p:sp>
        <p:nvSpPr>
          <p:cNvPr id="903" name="Pitch 903"/>
          <p:cNvSpPr/>
          <p:nvPr/>
        </p:nvSpPr>
        <p:spPr>
          <a:xfrm>
            <a:off x="6045200" y="3378200"/>
            <a:ext cx="101600" cy="101600"/>
          </a:xfrm>
          <a:prstGeom prst="ellipse">
            <a:avLst/>
          </a:prstGeom>
          <a:solidFill>
            <a:srgbClr val="1A2A4E"/>
          </a:solidFill>
          <a:ln w="12700">
            <a:solidFill>
              <a:srgbClr val="1A2A4E"/>
            </a:solidFill>
          </a:ln>
        </p:spPr>
        <p:txBody>
          <a:bodyPr/>
          <a:lstStyle/>
          <a:p>
            <a:endParaRPr/>
          </a:p>
        </p:txBody>
      </p:sp>
      <p:sp>
        <p:nvSpPr>
          <p:cNvPr id="904" name="Pitch 904"/>
          <p:cNvSpPr/>
          <p:nvPr/>
        </p:nvSpPr>
        <p:spPr>
          <a:xfrm>
            <a:off x="762000" y="1905000"/>
            <a:ext cx="1524000" cy="3048000"/>
          </a:xfrm>
          <a:prstGeom prst="rect">
            <a:avLst/>
          </a:prstGeom>
          <a:noFill/>
          <a:ln w="15875">
            <a:solidFill>
              <a:srgbClr val="1A2A4E"/>
            </a:solidFill>
          </a:ln>
        </p:spPr>
        <p:txBody>
          <a:bodyPr/>
          <a:lstStyle/>
          <a:p>
            <a:endParaRPr/>
          </a:p>
        </p:txBody>
      </p:sp>
      <p:sp>
        <p:nvSpPr>
          <p:cNvPr id="905" name="Pitch 905"/>
          <p:cNvSpPr/>
          <p:nvPr/>
        </p:nvSpPr>
        <p:spPr>
          <a:xfrm>
            <a:off x="762000" y="2667000"/>
            <a:ext cx="660400" cy="1524000"/>
          </a:xfrm>
          <a:prstGeom prst="rect">
            <a:avLst/>
          </a:prstGeom>
          <a:noFill/>
          <a:ln w="15875">
            <a:solidFill>
              <a:srgbClr val="1A2A4E"/>
            </a:solidFill>
          </a:ln>
        </p:spPr>
        <p:txBody>
          <a:bodyPr/>
          <a:lstStyle/>
          <a:p>
            <a:endParaRPr/>
          </a:p>
        </p:txBody>
      </p:sp>
      <p:sp>
        <p:nvSpPr>
          <p:cNvPr id="906" name="Pitch 906"/>
          <p:cNvSpPr/>
          <p:nvPr/>
        </p:nvSpPr>
        <p:spPr>
          <a:xfrm>
            <a:off x="9906000" y="1905000"/>
            <a:ext cx="1524000" cy="3048000"/>
          </a:xfrm>
          <a:prstGeom prst="rect">
            <a:avLst/>
          </a:prstGeom>
          <a:noFill/>
          <a:ln w="15875">
            <a:solidFill>
              <a:srgbClr val="1A2A4E"/>
            </a:solidFill>
          </a:ln>
        </p:spPr>
        <p:txBody>
          <a:bodyPr/>
          <a:lstStyle/>
          <a:p>
            <a:endParaRPr/>
          </a:p>
        </p:txBody>
      </p:sp>
      <p:sp>
        <p:nvSpPr>
          <p:cNvPr id="907" name="Pitch 907"/>
          <p:cNvSpPr/>
          <p:nvPr/>
        </p:nvSpPr>
        <p:spPr>
          <a:xfrm>
            <a:off x="10769600" y="2667000"/>
            <a:ext cx="660400" cy="1524000"/>
          </a:xfrm>
          <a:prstGeom prst="rect">
            <a:avLst/>
          </a:prstGeom>
          <a:noFill/>
          <a:ln w="15875">
            <a:solidFill>
              <a:srgbClr val="1A2A4E"/>
            </a:solidFill>
          </a:ln>
        </p:spPr>
        <p:txBody>
          <a:bodyPr/>
          <a:lstStyle/>
          <a:p>
            <a:endParaRPr/>
          </a:p>
        </p:txBody>
      </p:sp>
      <p:sp>
        <p:nvSpPr>
          <p:cNvPr id="2" name="Shape 0"/>
          <p:cNvSpPr/>
          <p:nvPr/>
        </p:nvSpPr>
        <p:spPr>
          <a:xfrm>
            <a:off x="-365760" y="-365760"/>
            <a:ext cx="731520" cy="731520"/>
          </a:xfrm>
          <a:prstGeom prst="ellipse">
            <a:avLst/>
          </a:prstGeom>
          <a:ln w="19050">
            <a:solidFill>
              <a:srgbClr val="1F7A4D">
                <a:alpha val="45000"/>
              </a:srgbClr>
            </a:solidFill>
            <a:prstDash val="solid"/>
          </a:ln>
        </p:spPr>
        <p:txBody>
          <a:bodyPr/>
          <a:lstStyle/>
          <a:p>
            <a:endParaRPr lang="en-US"/>
          </a:p>
        </p:txBody>
      </p:sp>
      <p:sp>
        <p:nvSpPr>
          <p:cNvPr id="3" name="Shape 1"/>
          <p:cNvSpPr/>
          <p:nvPr/>
        </p:nvSpPr>
        <p:spPr>
          <a:xfrm>
            <a:off x="11825935" y="-365760"/>
            <a:ext cx="731520" cy="731520"/>
          </a:xfrm>
          <a:prstGeom prst="ellipse">
            <a:avLst/>
          </a:prstGeom>
          <a:ln w="19050">
            <a:solidFill>
              <a:srgbClr val="1F7A4D">
                <a:alpha val="45000"/>
              </a:srgbClr>
            </a:solidFill>
            <a:prstDash val="solid"/>
          </a:ln>
        </p:spPr>
        <p:txBody>
          <a:bodyPr/>
          <a:lstStyle/>
          <a:p>
            <a:endParaRPr lang="en-US"/>
          </a:p>
        </p:txBody>
      </p:sp>
      <p:sp>
        <p:nvSpPr>
          <p:cNvPr id="4" name="Shape 2"/>
          <p:cNvSpPr/>
          <p:nvPr/>
        </p:nvSpPr>
        <p:spPr>
          <a:xfrm>
            <a:off x="-365760" y="6492240"/>
            <a:ext cx="731520" cy="731520"/>
          </a:xfrm>
          <a:prstGeom prst="ellipse">
            <a:avLst/>
          </a:prstGeom>
          <a:ln w="19050">
            <a:solidFill>
              <a:srgbClr val="1F7A4D">
                <a:alpha val="45000"/>
              </a:srgbClr>
            </a:solidFill>
            <a:prstDash val="solid"/>
          </a:ln>
        </p:spPr>
        <p:txBody>
          <a:bodyPr/>
          <a:lstStyle/>
          <a:p>
            <a:endParaRPr lang="en-US"/>
          </a:p>
        </p:txBody>
      </p:sp>
      <p:sp>
        <p:nvSpPr>
          <p:cNvPr id="5" name="Shape 3"/>
          <p:cNvSpPr/>
          <p:nvPr/>
        </p:nvSpPr>
        <p:spPr>
          <a:xfrm>
            <a:off x="11825935" y="6492240"/>
            <a:ext cx="731520" cy="731520"/>
          </a:xfrm>
          <a:prstGeom prst="ellipse">
            <a:avLst/>
          </a:prstGeom>
          <a:ln w="19050">
            <a:solidFill>
              <a:srgbClr val="1F7A4D">
                <a:alpha val="45000"/>
              </a:srgbClr>
            </a:solidFill>
            <a:prstDash val="solid"/>
          </a:ln>
        </p:spPr>
        <p:txBody>
          <a:bodyPr/>
          <a:lstStyle/>
          <a:p>
            <a:endParaRPr lang="en-US"/>
          </a:p>
        </p:txBody>
      </p:sp>
      <p:sp>
        <p:nvSpPr>
          <p:cNvPr id="6" name="Shape 4"/>
          <p:cNvSpPr/>
          <p:nvPr/>
        </p:nvSpPr>
        <p:spPr>
          <a:xfrm>
            <a:off x="-3291840" y="-3291840"/>
            <a:ext cx="4754880" cy="4754880"/>
          </a:xfrm>
          <a:prstGeom prst="ellipse">
            <a:avLst/>
          </a:prstGeom>
          <a:solidFill>
            <a:srgbClr val="1F7A4D">
              <a:alpha val="5000"/>
            </a:srgbClr>
          </a:solidFill>
          <a:ln w="25400">
            <a:solidFill>
              <a:srgbClr val="1F7A4D">
                <a:alpha val="38000"/>
              </a:srgbClr>
            </a:solidFill>
            <a:prstDash val="solid"/>
          </a:ln>
        </p:spPr>
        <p:txBody>
          <a:bodyPr/>
          <a:lstStyle/>
          <a:p>
            <a:endParaRPr lang="en-US"/>
          </a:p>
        </p:txBody>
      </p:sp>
      <p:sp>
        <p:nvSpPr>
          <p:cNvPr id="7" name="Shape 5"/>
          <p:cNvSpPr/>
          <p:nvPr/>
        </p:nvSpPr>
        <p:spPr>
          <a:xfrm>
            <a:off x="-960120" y="-960120"/>
            <a:ext cx="91440" cy="91440"/>
          </a:xfrm>
          <a:prstGeom prst="ellipse">
            <a:avLst/>
          </a:prstGeom>
          <a:solidFill>
            <a:srgbClr val="E8A33D">
              <a:alpha val="75000"/>
            </a:srgbClr>
          </a:solidFill>
          <a:ln/>
        </p:spPr>
        <p:txBody>
          <a:bodyPr/>
          <a:lstStyle/>
          <a:p>
            <a:endParaRPr lang="en-US"/>
          </a:p>
        </p:txBody>
      </p:sp>
      <p:sp>
        <p:nvSpPr>
          <p:cNvPr id="8" name="Shape 6"/>
          <p:cNvSpPr/>
          <p:nvPr/>
        </p:nvSpPr>
        <p:spPr>
          <a:xfrm>
            <a:off x="9784080" y="4480560"/>
            <a:ext cx="6583680" cy="6583680"/>
          </a:xfrm>
          <a:prstGeom prst="ellipse">
            <a:avLst/>
          </a:prstGeom>
          <a:solidFill>
            <a:srgbClr val="1F7A4D">
              <a:alpha val="5000"/>
            </a:srgbClr>
          </a:solidFill>
          <a:ln w="25400">
            <a:solidFill>
              <a:srgbClr val="1F7A4D">
                <a:alpha val="38000"/>
              </a:srgbClr>
            </a:solidFill>
            <a:prstDash val="solid"/>
          </a:ln>
        </p:spPr>
        <p:txBody>
          <a:bodyPr/>
          <a:lstStyle/>
          <a:p>
            <a:endParaRPr lang="en-US"/>
          </a:p>
        </p:txBody>
      </p:sp>
      <p:sp>
        <p:nvSpPr>
          <p:cNvPr id="9" name="Shape 7"/>
          <p:cNvSpPr/>
          <p:nvPr/>
        </p:nvSpPr>
        <p:spPr>
          <a:xfrm>
            <a:off x="13030200" y="7726680"/>
            <a:ext cx="91440" cy="91440"/>
          </a:xfrm>
          <a:prstGeom prst="ellipse">
            <a:avLst/>
          </a:prstGeom>
          <a:solidFill>
            <a:srgbClr val="E8A33D">
              <a:alpha val="75000"/>
            </a:srgbClr>
          </a:solidFill>
          <a:ln/>
        </p:spPr>
        <p:txBody>
          <a:bodyPr/>
          <a:lstStyle/>
          <a:p>
            <a:endParaRPr lang="en-US"/>
          </a:p>
        </p:txBody>
      </p:sp>
      <p:sp>
        <p:nvSpPr>
          <p:cNvPr id="10" name="Text 8"/>
          <p:cNvSpPr/>
          <p:nvPr/>
        </p:nvSpPr>
        <p:spPr>
          <a:xfrm>
            <a:off x="822960" y="2286000"/>
            <a:ext cx="8229600" cy="10972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11" name="Text 9"/>
          <p:cNvSpPr/>
          <p:nvPr/>
        </p:nvSpPr>
        <p:spPr>
          <a:xfrm>
            <a:off x="822960" y="3246120"/>
            <a:ext cx="82296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Questions welcome. Let's dig into the dashboards.</a:t>
            </a:r>
            <a:endParaRPr lang="en-US" sz="1600" dirty="0"/>
          </a:p>
        </p:txBody>
      </p:sp>
      <p:pic>
        <p:nvPicPr>
          <p:cNvPr id="12" name="Image 0" descr="preencoded.png"/>
          <p:cNvPicPr>
            <a:picLocks noChangeAspect="1"/>
          </p:cNvPicPr>
          <p:nvPr/>
        </p:nvPicPr>
        <p:blipFill>
          <a:blip r:embed="rId3"/>
          <a:stretch>
            <a:fillRect/>
          </a:stretch>
        </p:blipFill>
        <p:spPr>
          <a:xfrm>
            <a:off x="822960" y="4206240"/>
            <a:ext cx="292608" cy="292608"/>
          </a:xfrm>
          <a:prstGeom prst="rect">
            <a:avLst/>
          </a:prstGeom>
        </p:spPr>
      </p:pic>
      <p:sp>
        <p:nvSpPr>
          <p:cNvPr id="13" name="Text 10">
            <a:hlinkClick r:id="rId4"/>
          </p:cNvPr>
          <p:cNvSpPr/>
          <p:nvPr/>
        </p:nvSpPr>
        <p:spPr>
          <a:xfrm>
            <a:off x="1234440" y="4206240"/>
            <a:ext cx="7772400" cy="292608"/>
          </a:xfrm>
          <a:prstGeom prst="rect">
            <a:avLst/>
          </a:prstGeom>
          <a:noFill/>
          <a:ln/>
        </p:spPr>
        <p:txBody>
          <a:bodyPr wrap="square" lIns="0" tIns="0" rIns="0" bIns="0" rtlCol="0" anchor="ctr"/>
          <a:lstStyle/>
          <a:p>
            <a:pPr marL="0" indent="0">
              <a:buNone/>
            </a:pPr>
            <a:r>
              <a:rPr lang="en-US" sz="1300" u="sng" dirty="0">
                <a:solidFill>
                  <a:srgbClr val="E8A33D"/>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github.com/Simba90m/capstone_project_worth_the_investment_PL</a:t>
            </a:r>
            <a:endParaRPr lang="en-US" sz="1300" dirty="0"/>
          </a:p>
        </p:txBody>
      </p:sp>
      <p:sp>
        <p:nvSpPr>
          <p:cNvPr id="14" name="Text 11"/>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A8B4D0"/>
                </a:solidFill>
                <a:latin typeface="Calibri" pitchFamily="34" charset="0"/>
                <a:ea typeface="Calibri" pitchFamily="34" charset="-122"/>
                <a:cs typeface="Calibri" pitchFamily="34" charset="-120"/>
              </a:rPr>
              <a:t>14</a:t>
            </a:r>
            <a:endParaRPr lang="en-US" sz="1200" dirty="0">
              <a:solidFill>
                <a:srgbClr val="A8B4D0"/>
              </a:solidFill>
            </a:endParaRPr>
          </a:p>
        </p:txBody>
      </p:sp>
      <p:pic>
        <p:nvPicPr>
          <p:cNvPr id="908" name="Graphic 908" descr="Soccer ball on the penalty spo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52100" y="3238500"/>
            <a:ext cx="381000" cy="381000"/>
          </a:xfrm>
          <a:prstGeom prst="rect">
            <a:avLst/>
          </a:prstGeom>
        </p:spPr>
      </p:pic>
    </p:spTree>
    <p:extLst>
      <p:ext uri="{BB962C8B-B14F-4D97-AF65-F5344CB8AC3E}">
        <p14:creationId xmlns:p14="http://schemas.microsoft.com/office/powerpoint/2010/main" val="211625995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300"/>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822960" y="594360"/>
            <a:ext cx="5486400" cy="320040"/>
          </a:xfrm>
          <a:prstGeom prst="rect">
            <a:avLst/>
          </a:prstGeom>
          <a:noFill/>
          <a:ln/>
        </p:spPr>
        <p:txBody>
          <a:bodyPr wrap="square" lIns="0" tIns="0" rIns="0" bIns="0" rtlCol="0" anchor="ctr"/>
          <a:lstStyle/>
          <a:p>
            <a:pPr marL="0" indent="0">
              <a:buNone/>
            </a:pPr>
            <a:r>
              <a:rPr lang="en-US" sz="1400" b="1" kern="0" spc="200" dirty="0">
                <a:solidFill>
                  <a:srgbClr val="1F7A4D"/>
                </a:solidFill>
                <a:latin typeface="Calibri" pitchFamily="34" charset="0"/>
                <a:ea typeface="Calibri" pitchFamily="34" charset="-122"/>
                <a:cs typeface="Calibri" pitchFamily="34" charset="-120"/>
              </a:rPr>
              <a:t>ROADMAP</a:t>
            </a:r>
            <a:endParaRPr lang="en-US" sz="1400" dirty="0"/>
          </a:p>
        </p:txBody>
      </p:sp>
      <p:sp>
        <p:nvSpPr>
          <p:cNvPr id="3" name="Text 1"/>
          <p:cNvSpPr/>
          <p:nvPr/>
        </p:nvSpPr>
        <p:spPr>
          <a:xfrm>
            <a:off x="777240" y="896112"/>
            <a:ext cx="7315200" cy="731520"/>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Where we are</a:t>
            </a:r>
            <a:endParaRPr lang="en-US" sz="3200" dirty="0"/>
          </a:p>
        </p:txBody>
      </p:sp>
      <p:pic>
        <p:nvPicPr>
          <p:cNvPr id="4" name="Image 0" descr="preencoded.png"/>
          <p:cNvPicPr>
            <a:picLocks noChangeAspect="1"/>
          </p:cNvPicPr>
          <p:nvPr/>
        </p:nvPicPr>
        <p:blipFill>
          <a:blip r:embed="rId3"/>
          <a:stretch>
            <a:fillRect/>
          </a:stretch>
        </p:blipFill>
        <p:spPr>
          <a:xfrm>
            <a:off x="822960" y="1917700"/>
            <a:ext cx="310896" cy="310896"/>
          </a:xfrm>
          <a:prstGeom prst="rect">
            <a:avLst/>
          </a:prstGeom>
        </p:spPr>
      </p:pic>
      <p:sp>
        <p:nvSpPr>
          <p:cNvPr id="5" name="Text 2"/>
          <p:cNvSpPr/>
          <p:nvPr/>
        </p:nvSpPr>
        <p:spPr>
          <a:xfrm>
            <a:off x="1298448" y="1905000"/>
            <a:ext cx="6035040" cy="3657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Business question with background &amp; impact</a:t>
            </a:r>
            <a:endParaRPr lang="en-US" sz="1300" dirty="0"/>
          </a:p>
        </p:txBody>
      </p:sp>
      <p:pic>
        <p:nvPicPr>
          <p:cNvPr id="6" name="Image 1" descr="preencoded.png"/>
          <p:cNvPicPr>
            <a:picLocks noChangeAspect="1"/>
          </p:cNvPicPr>
          <p:nvPr/>
        </p:nvPicPr>
        <p:blipFill>
          <a:blip r:embed="rId3"/>
          <a:stretch>
            <a:fillRect/>
          </a:stretch>
        </p:blipFill>
        <p:spPr>
          <a:xfrm>
            <a:off x="822960" y="2679700"/>
            <a:ext cx="310896" cy="310896"/>
          </a:xfrm>
          <a:prstGeom prst="rect">
            <a:avLst/>
          </a:prstGeom>
        </p:spPr>
      </p:pic>
      <p:sp>
        <p:nvSpPr>
          <p:cNvPr id="7" name="Text 3"/>
          <p:cNvSpPr/>
          <p:nvPr/>
        </p:nvSpPr>
        <p:spPr>
          <a:xfrm>
            <a:off x="1298448" y="2667000"/>
            <a:ext cx="6035040" cy="3657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Technical analysis in Python + SQL + Tableau</a:t>
            </a:r>
            <a:endParaRPr lang="en-US" sz="1300" dirty="0"/>
          </a:p>
        </p:txBody>
      </p:sp>
      <p:pic>
        <p:nvPicPr>
          <p:cNvPr id="8" name="Image 2" descr="preencoded.png"/>
          <p:cNvPicPr>
            <a:picLocks noChangeAspect="1"/>
          </p:cNvPicPr>
          <p:nvPr/>
        </p:nvPicPr>
        <p:blipFill>
          <a:blip r:embed="rId3"/>
          <a:stretch>
            <a:fillRect/>
          </a:stretch>
        </p:blipFill>
        <p:spPr>
          <a:xfrm>
            <a:off x="822960" y="3441700"/>
            <a:ext cx="310896" cy="310896"/>
          </a:xfrm>
          <a:prstGeom prst="rect">
            <a:avLst/>
          </a:prstGeom>
        </p:spPr>
      </p:pic>
      <p:sp>
        <p:nvSpPr>
          <p:cNvPr id="9" name="Text 4"/>
          <p:cNvSpPr/>
          <p:nvPr/>
        </p:nvSpPr>
        <p:spPr>
          <a:xfrm>
            <a:off x="1298448" y="3429000"/>
            <a:ext cx="6035040" cy="3657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Work stored in a GitHub repository</a:t>
            </a:r>
            <a:endParaRPr lang="en-US" sz="1300" dirty="0"/>
          </a:p>
        </p:txBody>
      </p:sp>
      <p:pic>
        <p:nvPicPr>
          <p:cNvPr id="10" name="Image 3" descr="preencoded.png"/>
          <p:cNvPicPr>
            <a:picLocks noChangeAspect="1"/>
          </p:cNvPicPr>
          <p:nvPr/>
        </p:nvPicPr>
        <p:blipFill>
          <a:blip r:embed="rId3"/>
          <a:stretch>
            <a:fillRect/>
          </a:stretch>
        </p:blipFill>
        <p:spPr>
          <a:xfrm>
            <a:off x="822960" y="4203700"/>
            <a:ext cx="310896" cy="310896"/>
          </a:xfrm>
          <a:prstGeom prst="rect">
            <a:avLst/>
          </a:prstGeom>
        </p:spPr>
      </p:pic>
      <p:sp>
        <p:nvSpPr>
          <p:cNvPr id="11" name="Text 5"/>
          <p:cNvSpPr/>
          <p:nvPr/>
        </p:nvSpPr>
        <p:spPr>
          <a:xfrm>
            <a:off x="1298448" y="4191000"/>
            <a:ext cx="6035040" cy="3657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Data stored in a SQL database (DuckDB)</a:t>
            </a:r>
            <a:endParaRPr lang="en-US" sz="1300" dirty="0"/>
          </a:p>
        </p:txBody>
      </p:sp>
      <p:pic>
        <p:nvPicPr>
          <p:cNvPr id="12" name="Image 4" descr="preencoded.png"/>
          <p:cNvPicPr>
            <a:picLocks noChangeAspect="1"/>
          </p:cNvPicPr>
          <p:nvPr/>
        </p:nvPicPr>
        <p:blipFill>
          <a:blip r:embed="rId3"/>
          <a:stretch>
            <a:fillRect/>
          </a:stretch>
        </p:blipFill>
        <p:spPr>
          <a:xfrm>
            <a:off x="822960" y="4965700"/>
            <a:ext cx="310896" cy="310896"/>
          </a:xfrm>
          <a:prstGeom prst="rect">
            <a:avLst/>
          </a:prstGeom>
        </p:spPr>
      </p:pic>
      <p:sp>
        <p:nvSpPr>
          <p:cNvPr id="13" name="Text 6"/>
          <p:cNvSpPr/>
          <p:nvPr/>
        </p:nvSpPr>
        <p:spPr>
          <a:xfrm>
            <a:off x="1298448" y="4953000"/>
            <a:ext cx="6035040" cy="36576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Multiple, genuinely-own data sources (3 combined)</a:t>
            </a:r>
            <a:endParaRPr lang="en-US" sz="1300" dirty="0"/>
          </a:p>
        </p:txBody>
      </p:sp>
      <p:sp>
        <p:nvSpPr>
          <p:cNvPr id="14" name="Shape 7"/>
          <p:cNvSpPr/>
          <p:nvPr/>
        </p:nvSpPr>
        <p:spPr>
          <a:xfrm>
            <a:off x="822960" y="5727700"/>
            <a:ext cx="310896" cy="310896"/>
          </a:xfrm>
          <a:prstGeom prst="ellipse">
            <a:avLst/>
          </a:prstGeom>
          <a:solidFill>
            <a:srgbClr val="1F7A4D"/>
          </a:solidFill>
          <a:ln/>
        </p:spPr>
        <p:txBody>
          <a:bodyPr/>
          <a:lstStyle/>
          <a:p>
            <a:endParaRPr lang="en-US"/>
          </a:p>
        </p:txBody>
      </p:sp>
      <p:sp>
        <p:nvSpPr>
          <p:cNvPr id="15" name="Text 8"/>
          <p:cNvSpPr/>
          <p:nvPr/>
        </p:nvSpPr>
        <p:spPr>
          <a:xfrm>
            <a:off x="1298448" y="5715000"/>
            <a:ext cx="6035040" cy="365760"/>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Final presentation, slides in repo</a:t>
            </a:r>
            <a:endParaRPr lang="en-US" sz="1300" dirty="0">
              <a:solidFill>
                <a:srgbClr val="4A5568"/>
              </a:solidFill>
            </a:endParaRPr>
          </a:p>
        </p:txBody>
      </p:sp>
      <p:sp>
        <p:nvSpPr>
          <p:cNvPr id="16" name="Shape 9"/>
          <p:cNvSpPr/>
          <p:nvPr/>
        </p:nvSpPr>
        <p:spPr>
          <a:xfrm>
            <a:off x="7818120" y="1920240"/>
            <a:ext cx="3520440" cy="4206240"/>
          </a:xfrm>
          <a:prstGeom prst="roundRect">
            <a:avLst>
              <a:gd name="adj" fmla="val 2338"/>
            </a:avLst>
          </a:prstGeom>
          <a:solidFill>
            <a:srgbClr val="0F1B3D"/>
          </a:solidFill>
          <a:ln/>
        </p:spPr>
        <p:txBody>
          <a:bodyPr/>
          <a:lstStyle/>
          <a:p>
            <a:endParaRPr lang="en-US"/>
          </a:p>
        </p:txBody>
      </p:sp>
      <p:sp>
        <p:nvSpPr>
          <p:cNvPr id="17" name="Text 10"/>
          <p:cNvSpPr/>
          <p:nvPr/>
        </p:nvSpPr>
        <p:spPr>
          <a:xfrm>
            <a:off x="8092440" y="2121408"/>
            <a:ext cx="3017520" cy="365760"/>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Capstone timeline</a:t>
            </a:r>
            <a:endParaRPr lang="en-US" sz="1300" dirty="0"/>
          </a:p>
        </p:txBody>
      </p:sp>
      <p:sp>
        <p:nvSpPr>
          <p:cNvPr id="18" name="Shape 11"/>
          <p:cNvSpPr/>
          <p:nvPr/>
        </p:nvSpPr>
        <p:spPr>
          <a:xfrm>
            <a:off x="8092440" y="2633472"/>
            <a:ext cx="146304" cy="146304"/>
          </a:xfrm>
          <a:prstGeom prst="ellipse">
            <a:avLst/>
          </a:prstGeom>
          <a:solidFill>
            <a:srgbClr val="3C4A73"/>
          </a:solidFill>
          <a:ln/>
        </p:spPr>
        <p:txBody>
          <a:bodyPr/>
          <a:lstStyle/>
          <a:p>
            <a:endParaRPr lang="en-US"/>
          </a:p>
        </p:txBody>
      </p:sp>
      <p:sp>
        <p:nvSpPr>
          <p:cNvPr id="19" name="Text 12"/>
          <p:cNvSpPr/>
          <p:nvPr/>
        </p:nvSpPr>
        <p:spPr>
          <a:xfrm>
            <a:off x="8366760" y="2532888"/>
            <a:ext cx="1005840" cy="292608"/>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Week 1</a:t>
            </a:r>
            <a:endParaRPr lang="en-US" sz="1300" dirty="0"/>
          </a:p>
        </p:txBody>
      </p:sp>
      <p:sp>
        <p:nvSpPr>
          <p:cNvPr id="20" name="Text 13"/>
          <p:cNvSpPr/>
          <p:nvPr/>
        </p:nvSpPr>
        <p:spPr>
          <a:xfrm>
            <a:off x="8366760" y="2807208"/>
            <a:ext cx="2834640" cy="411480"/>
          </a:xfrm>
          <a:prstGeom prst="rect">
            <a:avLst/>
          </a:prstGeom>
          <a:noFill/>
          <a:ln/>
        </p:spPr>
        <p:txBody>
          <a:bodyPr wrap="square" lIns="0" tIns="0" rIns="0" bIns="0" rtlCol="0" anchor="ctr"/>
          <a:lstStyle/>
          <a:p>
            <a:pPr marL="0" indent="0">
              <a:buNone/>
            </a:pPr>
            <a:r>
              <a:rPr lang="en-US" sz="1300" dirty="0">
                <a:solidFill>
                  <a:srgbClr val="B8C4E0"/>
                </a:solidFill>
                <a:latin typeface="Calibri" pitchFamily="34" charset="0"/>
                <a:ea typeface="Calibri" pitchFamily="34" charset="-122"/>
                <a:cs typeface="Calibri" pitchFamily="34" charset="-120"/>
              </a:rPr>
              <a:t>Plan: hypothesis, data inventory</a:t>
            </a:r>
            <a:endParaRPr lang="en-US" sz="1300" dirty="0">
              <a:solidFill>
                <a:srgbClr val="B8C4E0"/>
              </a:solidFill>
            </a:endParaRPr>
          </a:p>
        </p:txBody>
      </p:sp>
      <p:sp>
        <p:nvSpPr>
          <p:cNvPr id="21" name="Shape 14"/>
          <p:cNvSpPr/>
          <p:nvPr/>
        </p:nvSpPr>
        <p:spPr>
          <a:xfrm>
            <a:off x="8092440" y="3291840"/>
            <a:ext cx="146304" cy="146304"/>
          </a:xfrm>
          <a:prstGeom prst="ellipse">
            <a:avLst/>
          </a:prstGeom>
          <a:solidFill>
            <a:srgbClr val="3C4A73"/>
          </a:solidFill>
          <a:ln/>
        </p:spPr>
        <p:txBody>
          <a:bodyPr/>
          <a:lstStyle/>
          <a:p>
            <a:endParaRPr lang="en-US"/>
          </a:p>
        </p:txBody>
      </p:sp>
      <p:sp>
        <p:nvSpPr>
          <p:cNvPr id="22" name="Text 15"/>
          <p:cNvSpPr/>
          <p:nvPr/>
        </p:nvSpPr>
        <p:spPr>
          <a:xfrm>
            <a:off x="8366760" y="3191256"/>
            <a:ext cx="1005840" cy="292608"/>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Week 2</a:t>
            </a:r>
            <a:endParaRPr lang="en-US" sz="1300" dirty="0"/>
          </a:p>
        </p:txBody>
      </p:sp>
      <p:sp>
        <p:nvSpPr>
          <p:cNvPr id="23" name="Text 16"/>
          <p:cNvSpPr/>
          <p:nvPr/>
        </p:nvSpPr>
        <p:spPr>
          <a:xfrm>
            <a:off x="8366760" y="3465576"/>
            <a:ext cx="2834640" cy="411480"/>
          </a:xfrm>
          <a:prstGeom prst="rect">
            <a:avLst/>
          </a:prstGeom>
          <a:noFill/>
          <a:ln/>
        </p:spPr>
        <p:txBody>
          <a:bodyPr wrap="square" lIns="0" tIns="0" rIns="0" bIns="0" rtlCol="0" anchor="ctr"/>
          <a:lstStyle/>
          <a:p>
            <a:pPr marL="0" indent="0">
              <a:buNone/>
            </a:pPr>
            <a:r>
              <a:rPr lang="en-US" sz="1300" dirty="0">
                <a:solidFill>
                  <a:srgbClr val="B8C4E0"/>
                </a:solidFill>
                <a:latin typeface="Calibri" pitchFamily="34" charset="0"/>
                <a:ea typeface="Calibri" pitchFamily="34" charset="-122"/>
                <a:cs typeface="Calibri" pitchFamily="34" charset="-120"/>
              </a:rPr>
              <a:t>Foundations: ETL, dbt, DuckDB</a:t>
            </a:r>
            <a:endParaRPr lang="en-US" sz="1300" dirty="0">
              <a:solidFill>
                <a:srgbClr val="B8C4E0"/>
              </a:solidFill>
            </a:endParaRPr>
          </a:p>
        </p:txBody>
      </p:sp>
      <p:sp>
        <p:nvSpPr>
          <p:cNvPr id="24" name="Shape 17"/>
          <p:cNvSpPr/>
          <p:nvPr/>
        </p:nvSpPr>
        <p:spPr>
          <a:xfrm>
            <a:off x="8092440" y="3950208"/>
            <a:ext cx="146304" cy="146304"/>
          </a:xfrm>
          <a:prstGeom prst="ellipse">
            <a:avLst/>
          </a:prstGeom>
          <a:solidFill>
            <a:srgbClr val="3C4A73"/>
          </a:solidFill>
          <a:ln/>
        </p:spPr>
        <p:txBody>
          <a:bodyPr/>
          <a:lstStyle/>
          <a:p>
            <a:endParaRPr lang="en-US"/>
          </a:p>
        </p:txBody>
      </p:sp>
      <p:sp>
        <p:nvSpPr>
          <p:cNvPr id="25" name="Text 18"/>
          <p:cNvSpPr/>
          <p:nvPr/>
        </p:nvSpPr>
        <p:spPr>
          <a:xfrm>
            <a:off x="8366760" y="3849624"/>
            <a:ext cx="1005840" cy="292608"/>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Week 3</a:t>
            </a:r>
            <a:endParaRPr lang="en-US" sz="1300" dirty="0"/>
          </a:p>
        </p:txBody>
      </p:sp>
      <p:sp>
        <p:nvSpPr>
          <p:cNvPr id="26" name="Text 19"/>
          <p:cNvSpPr/>
          <p:nvPr/>
        </p:nvSpPr>
        <p:spPr>
          <a:xfrm>
            <a:off x="8366760" y="4123944"/>
            <a:ext cx="2834640" cy="411480"/>
          </a:xfrm>
          <a:prstGeom prst="rect">
            <a:avLst/>
          </a:prstGeom>
          <a:noFill/>
          <a:ln/>
        </p:spPr>
        <p:txBody>
          <a:bodyPr wrap="square" lIns="0" tIns="0" rIns="0" bIns="0" rtlCol="0" anchor="ctr"/>
          <a:lstStyle/>
          <a:p>
            <a:pPr marL="0" indent="0">
              <a:buNone/>
            </a:pPr>
            <a:r>
              <a:rPr lang="en-US" sz="1300" dirty="0">
                <a:solidFill>
                  <a:srgbClr val="B8C4E0"/>
                </a:solidFill>
                <a:latin typeface="Calibri" pitchFamily="34" charset="0"/>
                <a:ea typeface="Calibri" pitchFamily="34" charset="-122"/>
                <a:cs typeface="Calibri" pitchFamily="34" charset="-120"/>
              </a:rPr>
              <a:t>Build: analysis, statistical tests</a:t>
            </a:r>
            <a:endParaRPr lang="en-US" sz="1300" dirty="0">
              <a:solidFill>
                <a:srgbClr val="B8C4E0"/>
              </a:solidFill>
            </a:endParaRPr>
          </a:p>
        </p:txBody>
      </p:sp>
      <p:sp>
        <p:nvSpPr>
          <p:cNvPr id="27" name="Shape 20"/>
          <p:cNvSpPr/>
          <p:nvPr/>
        </p:nvSpPr>
        <p:spPr>
          <a:xfrm>
            <a:off x="8092440" y="4608576"/>
            <a:ext cx="146304" cy="146304"/>
          </a:xfrm>
          <a:prstGeom prst="ellipse">
            <a:avLst/>
          </a:prstGeom>
          <a:solidFill>
            <a:srgbClr val="3C4A73"/>
          </a:solidFill>
          <a:ln/>
        </p:spPr>
        <p:txBody>
          <a:bodyPr/>
          <a:lstStyle/>
          <a:p>
            <a:endParaRPr lang="en-US"/>
          </a:p>
        </p:txBody>
      </p:sp>
      <p:sp>
        <p:nvSpPr>
          <p:cNvPr id="28" name="Text 21"/>
          <p:cNvSpPr/>
          <p:nvPr/>
        </p:nvSpPr>
        <p:spPr>
          <a:xfrm>
            <a:off x="8366760" y="4507992"/>
            <a:ext cx="1005840" cy="292608"/>
          </a:xfrm>
          <a:prstGeom prst="rect">
            <a:avLst/>
          </a:prstGeom>
          <a:noFill/>
          <a:ln/>
        </p:spPr>
        <p:txBody>
          <a:bodyPr wrap="square" lIns="0" tIns="0" rIns="0" bIns="0" rtlCol="0" anchor="ctr"/>
          <a:lstStyle/>
          <a:p>
            <a:pPr marL="0" indent="0">
              <a:buNone/>
            </a:pPr>
            <a:r>
              <a:rPr lang="en-US" sz="1300" b="1" dirty="0">
                <a:solidFill>
                  <a:srgbClr val="CADCFC"/>
                </a:solidFill>
                <a:latin typeface="Calibri" pitchFamily="34" charset="0"/>
                <a:ea typeface="Calibri" pitchFamily="34" charset="-122"/>
                <a:cs typeface="Calibri" pitchFamily="34" charset="-120"/>
              </a:rPr>
              <a:t>Week 4</a:t>
            </a:r>
            <a:endParaRPr lang="en-US" sz="1300" dirty="0"/>
          </a:p>
        </p:txBody>
      </p:sp>
      <p:sp>
        <p:nvSpPr>
          <p:cNvPr id="29" name="Text 22"/>
          <p:cNvSpPr/>
          <p:nvPr/>
        </p:nvSpPr>
        <p:spPr>
          <a:xfrm>
            <a:off x="8366760" y="4782312"/>
            <a:ext cx="2834640" cy="411480"/>
          </a:xfrm>
          <a:prstGeom prst="rect">
            <a:avLst/>
          </a:prstGeom>
          <a:noFill/>
          <a:ln/>
        </p:spPr>
        <p:txBody>
          <a:bodyPr wrap="square" lIns="0" tIns="0" rIns="0" bIns="0" rtlCol="0" anchor="ctr"/>
          <a:lstStyle/>
          <a:p>
            <a:pPr marL="0" indent="0">
              <a:buNone/>
            </a:pPr>
            <a:r>
              <a:rPr lang="en-US" sz="1300" dirty="0">
                <a:solidFill>
                  <a:srgbClr val="B8C4E0"/>
                </a:solidFill>
                <a:latin typeface="Calibri" pitchFamily="34" charset="0"/>
                <a:ea typeface="Calibri" pitchFamily="34" charset="-122"/>
                <a:cs typeface="Calibri" pitchFamily="34" charset="-120"/>
              </a:rPr>
              <a:t>Polish: Tableau, rehearsal, freeze</a:t>
            </a:r>
            <a:endParaRPr lang="en-US" sz="1300" dirty="0">
              <a:solidFill>
                <a:srgbClr val="B8C4E0"/>
              </a:solidFill>
            </a:endParaRPr>
          </a:p>
        </p:txBody>
      </p:sp>
      <p:sp>
        <p:nvSpPr>
          <p:cNvPr id="30" name="Shape 23"/>
          <p:cNvSpPr/>
          <p:nvPr/>
        </p:nvSpPr>
        <p:spPr>
          <a:xfrm>
            <a:off x="8092440" y="5266944"/>
            <a:ext cx="146304" cy="146304"/>
          </a:xfrm>
          <a:prstGeom prst="ellipse">
            <a:avLst/>
          </a:prstGeom>
          <a:solidFill>
            <a:srgbClr val="E8A33D"/>
          </a:solidFill>
          <a:ln/>
        </p:spPr>
        <p:txBody>
          <a:bodyPr/>
          <a:lstStyle/>
          <a:p>
            <a:endParaRPr lang="en-US"/>
          </a:p>
        </p:txBody>
      </p:sp>
      <p:sp>
        <p:nvSpPr>
          <p:cNvPr id="31" name="Text 24"/>
          <p:cNvSpPr/>
          <p:nvPr/>
        </p:nvSpPr>
        <p:spPr>
          <a:xfrm>
            <a:off x="8366760" y="5166360"/>
            <a:ext cx="1005840" cy="292608"/>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Sep 29</a:t>
            </a:r>
            <a:endParaRPr lang="en-US" sz="1300" dirty="0"/>
          </a:p>
        </p:txBody>
      </p:sp>
      <p:sp>
        <p:nvSpPr>
          <p:cNvPr id="32" name="Text 25"/>
          <p:cNvSpPr/>
          <p:nvPr/>
        </p:nvSpPr>
        <p:spPr>
          <a:xfrm>
            <a:off x="8366760" y="5440680"/>
            <a:ext cx="2834640" cy="411480"/>
          </a:xfrm>
          <a:prstGeom prst="rect">
            <a:avLst/>
          </a:prstGeom>
          <a:noFill/>
          <a:ln/>
        </p:spPr>
        <p:txBody>
          <a:bodyPr wrap="square" lIns="0" tIns="0" rIns="0" bIns="0" rtlCol="0" anchor="ctr"/>
          <a:lstStyle/>
          <a:p>
            <a:pPr marL="0" indent="0">
              <a:buNone/>
            </a:pPr>
            <a:r>
              <a:rPr lang="en-US" sz="1300" dirty="0">
                <a:solidFill>
                  <a:srgbClr val="B8C4E0"/>
                </a:solidFill>
                <a:latin typeface="Calibri" pitchFamily="34" charset="0"/>
                <a:ea typeface="Calibri" pitchFamily="34" charset="-122"/>
                <a:cs typeface="Calibri" pitchFamily="34" charset="-120"/>
              </a:rPr>
              <a:t>Capstone Event</a:t>
            </a:r>
            <a:endParaRPr lang="en-US" sz="1300" dirty="0">
              <a:solidFill>
                <a:srgbClr val="B8C4E0"/>
              </a:solidFill>
            </a:endParaRPr>
          </a:p>
        </p:txBody>
      </p:sp>
      <p:sp>
        <p:nvSpPr>
          <p:cNvPr id="33" name="Text 26"/>
          <p:cNvSpPr/>
          <p:nvPr/>
        </p:nvSpPr>
        <p:spPr>
          <a:xfrm>
            <a:off x="825500" y="6400800"/>
            <a:ext cx="8890000" cy="274320"/>
          </a:xfrm>
          <a:prstGeom prst="rect">
            <a:avLst/>
          </a:prstGeom>
          <a:noFill/>
          <a:ln/>
        </p:spPr>
        <p:txBody>
          <a:bodyPr wrap="square" lIns="0" tIns="0" rIns="0" bIns="0" rtlCol="0" anchor="ctr"/>
          <a:lstStyle/>
          <a:p>
            <a:pPr marL="0" indent="0">
              <a:buNone/>
            </a:pPr>
            <a:r>
              <a:rPr lang="en-US" sz="1300" i="1" dirty="0">
                <a:solidFill>
                  <a:srgbClr val="5A6478"/>
                </a:solidFill>
                <a:latin typeface="Calibri" pitchFamily="34" charset="0"/>
                <a:ea typeface="Calibri" pitchFamily="34" charset="-122"/>
                <a:cs typeface="Calibri" pitchFamily="34" charset="-120"/>
              </a:rPr>
              <a:t>Kickoff Aug 26, 2026 to Capstone Event Sep 29, 2026. Today: final presentation and live Tableau walkthrough.</a:t>
            </a:r>
            <a:endParaRPr lang="en-US" sz="1300" dirty="0">
              <a:solidFill>
                <a:srgbClr val="5A6478"/>
              </a:solidFill>
            </a:endParaRPr>
          </a:p>
        </p:txBody>
      </p:sp>
      <p:sp>
        <p:nvSpPr>
          <p:cNvPr id="34" name="Text 2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rgbClr val="5A6478"/>
                </a:solidFill>
                <a:latin typeface="Calibri" pitchFamily="34" charset="0"/>
                <a:ea typeface="Calibri" pitchFamily="34" charset="-122"/>
                <a:cs typeface="Calibri" pitchFamily="34" charset="-120"/>
              </a:rPr>
              <a:t>15</a:t>
            </a:r>
            <a:endParaRPr lang="en-US" sz="1200" dirty="0">
              <a:solidFill>
                <a:srgbClr val="5A6478"/>
              </a:solidFill>
            </a:endParaRPr>
          </a:p>
        </p:txBody>
      </p:sp>
      <p:sp>
        <p:nvSpPr>
          <p:cNvPr id="87" name="TextBox 86"/>
          <p:cNvSpPr txBox="1"/>
          <p:nvPr/>
        </p:nvSpPr>
        <p:spPr>
          <a:xfrm>
            <a:off x="822960" y="5727700"/>
            <a:ext cx="310896" cy="310896"/>
          </a:xfrm>
          <a:prstGeom prst="rect">
            <a:avLst/>
          </a:prstGeom>
          <a:noFill/>
        </p:spPr>
        <p:txBody>
          <a:bodyPr wrap="none" lIns="0" rIns="0" tIns="0" bIns="0" anchor="ctr">
            <a:spAutoFit/>
          </a:bodyPr>
          <a:lstStyle/>
          <a:p>
            <a:pPr algn="ctr"/>
            <a:r>
              <a:rPr sz="1400" b="1">
                <a:solidFill>
                  <a:srgbClr val="FFFFFF"/>
                </a:solidFill>
                <a:latin typeface="Calibri"/>
              </a:rPr>
              <a:t>✓</a:t>
            </a:r>
          </a:p>
        </p:txBody>
      </p:sp>
    </p:spTree>
    <p:extLst>
      <p:ext uri="{BB962C8B-B14F-4D97-AF65-F5344CB8AC3E}">
        <p14:creationId xmlns:p14="http://schemas.microsoft.com/office/powerpoint/2010/main" val="392326306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00"/>
                                        <p:tgtEl>
                                          <p:spTgt spid="17"/>
                                        </p:tgtEl>
                                      </p:cBhvr>
                                    </p:animEffect>
                                  </p:childTnLst>
                                </p:cTn>
                              </p:par>
                            </p:childTnLst>
                          </p:cTn>
                        </p:par>
                      </p:childTnLst>
                    </p:cTn>
                  </p:par>
                  <p:par>
                    <p:cTn id="17" fill="hold">
                      <p:stCondLst>
                        <p:cond delay="200"/>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00"/>
                                        <p:tgtEl>
                                          <p:spTgt spid="7"/>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40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00"/>
                                        <p:tgtEl>
                                          <p:spTgt spid="20"/>
                                        </p:tgtEl>
                                      </p:cBhvr>
                                    </p:animEffect>
                                  </p:childTnLst>
                                </p:cTn>
                              </p:par>
                            </p:childTnLst>
                          </p:cTn>
                        </p:par>
                      </p:childTnLst>
                    </p:cTn>
                  </p:par>
                  <p:par>
                    <p:cTn id="31" fill="hold">
                      <p:stCondLst>
                        <p:cond delay="200"/>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00"/>
                                        <p:tgtEl>
                                          <p:spTgt spid="22"/>
                                        </p:tgtEl>
                                      </p:cBhvr>
                                    </p:animEffect>
                                  </p:childTnLst>
                                </p:cTn>
                              </p:par>
                              <p:par>
                                <p:cTn id="36" presetID="10"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4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400"/>
                                        <p:tgtEl>
                                          <p:spTgt spid="8"/>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00"/>
                                        <p:tgtEl>
                                          <p:spTgt spid="23"/>
                                        </p:tgtEl>
                                      </p:cBhvr>
                                    </p:animEffect>
                                  </p:childTnLst>
                                </p:cTn>
                              </p:par>
                            </p:childTnLst>
                          </p:cTn>
                        </p:par>
                      </p:childTnLst>
                    </p:cTn>
                  </p:par>
                  <p:par>
                    <p:cTn id="45" fill="hold">
                      <p:stCondLst>
                        <p:cond delay="200"/>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400"/>
                                        <p:tgtEl>
                                          <p:spTgt spid="11"/>
                                        </p:tgtEl>
                                      </p:cBhvr>
                                    </p:animEffect>
                                  </p:childTnLst>
                                </p:cTn>
                              </p:par>
                              <p:par>
                                <p:cTn id="56" presetID="10"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400"/>
                                        <p:tgtEl>
                                          <p:spTgt spid="10"/>
                                        </p:tgtEl>
                                      </p:cBhvr>
                                    </p:animEffect>
                                  </p:childTnLst>
                                </p:cTn>
                              </p:par>
                            </p:childTnLst>
                          </p:cTn>
                        </p:par>
                      </p:childTnLst>
                    </p:cTn>
                  </p:par>
                  <p:par>
                    <p:cTn id="59" fill="hold">
                      <p:stCondLst>
                        <p:cond delay="200"/>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00"/>
                                        <p:tgtEl>
                                          <p:spTgt spid="28"/>
                                        </p:tgtEl>
                                      </p:cBhvr>
                                    </p:animEffect>
                                  </p:childTnLst>
                                </p:cTn>
                              </p:par>
                              <p:par>
                                <p:cTn id="64" presetID="10"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400"/>
                                        <p:tgtEl>
                                          <p:spTgt spid="29"/>
                                        </p:tgtEl>
                                      </p:cBhvr>
                                    </p:animEffect>
                                  </p:childTnLst>
                                </p:cTn>
                              </p:par>
                              <p:par>
                                <p:cTn id="67" presetID="10" presetClass="entr" presetSubtype="0" fill="hold"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400"/>
                                        <p:tgtEl>
                                          <p:spTgt spid="13"/>
                                        </p:tgtEl>
                                      </p:cBhvr>
                                    </p:animEffect>
                                  </p:childTnLst>
                                </p:cTn>
                              </p:par>
                              <p:par>
                                <p:cTn id="70" presetID="10" presetClass="entr" presetSubtype="0" fill="hold"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400"/>
                                        <p:tgtEl>
                                          <p:spTgt spid="12"/>
                                        </p:tgtEl>
                                      </p:cBhvr>
                                    </p:animEffect>
                                  </p:childTnLst>
                                </p:cTn>
                              </p:par>
                            </p:childTnLst>
                          </p:cTn>
                        </p:par>
                      </p:childTnLst>
                    </p:cTn>
                  </p:par>
                  <p:par>
                    <p:cTn id="73" fill="hold">
                      <p:stCondLst>
                        <p:cond delay="200"/>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00"/>
                                        <p:tgtEl>
                                          <p:spTgt spid="31"/>
                                        </p:tgtEl>
                                      </p:cBhvr>
                                    </p:animEffect>
                                  </p:childTnLst>
                                </p:cTn>
                              </p:par>
                              <p:par>
                                <p:cTn id="78" presetID="10" presetClass="entr" presetSubtype="0" fill="hold"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400"/>
                                        <p:tgtEl>
                                          <p:spTgt spid="32"/>
                                        </p:tgtEl>
                                      </p:cBhvr>
                                    </p:animEffect>
                                  </p:childTnLst>
                                </p:cTn>
                              </p:par>
                              <p:par>
                                <p:cTn id="81" presetID="10" presetClass="entr" presetSubtype="0" fill="hold" nodeType="with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400"/>
                                        <p:tgtEl>
                                          <p:spTgt spid="15"/>
                                        </p:tgtEl>
                                      </p:cBhvr>
                                    </p:animEffect>
                                  </p:childTnLst>
                                </p:cTn>
                              </p:par>
                              <p:par>
                                <p:cTn id="84" presetID="10" presetClass="entr" presetSubtype="0" fill="hold"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2011</Words>
  <Application>Microsoft Office PowerPoint</Application>
  <PresentationFormat>Widescreen</PresentationFormat>
  <Paragraphs>207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Mahmoud Abdelaziz</cp:lastModifiedBy>
  <cp:revision>4</cp:revision>
  <dcterms:created xsi:type="dcterms:W3CDTF">2026-08-28T17:32:46Z</dcterms:created>
  <dcterms:modified xsi:type="dcterms:W3CDTF">2026-08-30T09:31:27Z</dcterms:modified>
</cp:coreProperties>
</file>